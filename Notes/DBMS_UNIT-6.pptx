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2"/>
  </p:notesMasterIdLst>
  <p:sldIdLst>
    <p:sldId id="404" r:id="rId2"/>
    <p:sldId id="380" r:id="rId3"/>
    <p:sldId id="381" r:id="rId4"/>
    <p:sldId id="382" r:id="rId5"/>
    <p:sldId id="383" r:id="rId6"/>
    <p:sldId id="384" r:id="rId7"/>
    <p:sldId id="385" r:id="rId8"/>
    <p:sldId id="386" r:id="rId9"/>
    <p:sldId id="387" r:id="rId10"/>
    <p:sldId id="388" r:id="rId11"/>
    <p:sldId id="389" r:id="rId12"/>
    <p:sldId id="390" r:id="rId13"/>
    <p:sldId id="391" r:id="rId14"/>
    <p:sldId id="392" r:id="rId15"/>
    <p:sldId id="393" r:id="rId16"/>
    <p:sldId id="394" r:id="rId17"/>
    <p:sldId id="395" r:id="rId18"/>
    <p:sldId id="396" r:id="rId19"/>
    <p:sldId id="397" r:id="rId20"/>
    <p:sldId id="398" r:id="rId21"/>
    <p:sldId id="399" r:id="rId22"/>
    <p:sldId id="400" r:id="rId23"/>
    <p:sldId id="401" r:id="rId24"/>
    <p:sldId id="402" r:id="rId25"/>
    <p:sldId id="403" r:id="rId26"/>
    <p:sldId id="447" r:id="rId27"/>
    <p:sldId id="405" r:id="rId28"/>
    <p:sldId id="406" r:id="rId29"/>
    <p:sldId id="407" r:id="rId30"/>
    <p:sldId id="408" r:id="rId31"/>
    <p:sldId id="409" r:id="rId32"/>
    <p:sldId id="410" r:id="rId33"/>
    <p:sldId id="411" r:id="rId34"/>
    <p:sldId id="412" r:id="rId35"/>
    <p:sldId id="413" r:id="rId36"/>
    <p:sldId id="414" r:id="rId37"/>
    <p:sldId id="415" r:id="rId38"/>
    <p:sldId id="416" r:id="rId39"/>
    <p:sldId id="417" r:id="rId40"/>
    <p:sldId id="418" r:id="rId41"/>
    <p:sldId id="437" r:id="rId42"/>
    <p:sldId id="419" r:id="rId43"/>
    <p:sldId id="420" r:id="rId44"/>
    <p:sldId id="421" r:id="rId45"/>
    <p:sldId id="423" r:id="rId46"/>
    <p:sldId id="424" r:id="rId47"/>
    <p:sldId id="425" r:id="rId48"/>
    <p:sldId id="426" r:id="rId49"/>
    <p:sldId id="427" r:id="rId50"/>
    <p:sldId id="428" r:id="rId51"/>
    <p:sldId id="429" r:id="rId52"/>
    <p:sldId id="430" r:id="rId53"/>
    <p:sldId id="431" r:id="rId54"/>
    <p:sldId id="432" r:id="rId55"/>
    <p:sldId id="434" r:id="rId56"/>
    <p:sldId id="435" r:id="rId57"/>
    <p:sldId id="433" r:id="rId58"/>
    <p:sldId id="436" r:id="rId59"/>
    <p:sldId id="448" r:id="rId60"/>
    <p:sldId id="449" r:id="rId61"/>
    <p:sldId id="438" r:id="rId62"/>
    <p:sldId id="439" r:id="rId63"/>
    <p:sldId id="440" r:id="rId64"/>
    <p:sldId id="441" r:id="rId65"/>
    <p:sldId id="442" r:id="rId66"/>
    <p:sldId id="443" r:id="rId67"/>
    <p:sldId id="444" r:id="rId68"/>
    <p:sldId id="445" r:id="rId69"/>
    <p:sldId id="446" r:id="rId70"/>
    <p:sldId id="450" r:id="rId71"/>
    <p:sldId id="451" r:id="rId72"/>
    <p:sldId id="452" r:id="rId73"/>
    <p:sldId id="453" r:id="rId74"/>
    <p:sldId id="454" r:id="rId75"/>
    <p:sldId id="455" r:id="rId76"/>
    <p:sldId id="456" r:id="rId77"/>
    <p:sldId id="457" r:id="rId78"/>
    <p:sldId id="458" r:id="rId79"/>
    <p:sldId id="459" r:id="rId80"/>
    <p:sldId id="460" r:id="rId81"/>
    <p:sldId id="461" r:id="rId82"/>
    <p:sldId id="462" r:id="rId83"/>
    <p:sldId id="463" r:id="rId84"/>
    <p:sldId id="465" r:id="rId85"/>
    <p:sldId id="467" r:id="rId86"/>
    <p:sldId id="466" r:id="rId87"/>
    <p:sldId id="468" r:id="rId88"/>
    <p:sldId id="469" r:id="rId89"/>
    <p:sldId id="470" r:id="rId90"/>
    <p:sldId id="471" r:id="rId91"/>
    <p:sldId id="472" r:id="rId92"/>
    <p:sldId id="295" r:id="rId93"/>
    <p:sldId id="296" r:id="rId94"/>
    <p:sldId id="297" r:id="rId95"/>
    <p:sldId id="298" r:id="rId96"/>
    <p:sldId id="474" r:id="rId97"/>
    <p:sldId id="299" r:id="rId98"/>
    <p:sldId id="300" r:id="rId99"/>
    <p:sldId id="301" r:id="rId100"/>
    <p:sldId id="316" r:id="rId101"/>
    <p:sldId id="345" r:id="rId102"/>
    <p:sldId id="346" r:id="rId103"/>
    <p:sldId id="347" r:id="rId104"/>
    <p:sldId id="348" r:id="rId105"/>
    <p:sldId id="473" r:id="rId106"/>
    <p:sldId id="320" r:id="rId107"/>
    <p:sldId id="321" r:id="rId108"/>
    <p:sldId id="475" r:id="rId109"/>
    <p:sldId id="302" r:id="rId110"/>
    <p:sldId id="303" r:id="rId111"/>
    <p:sldId id="317" r:id="rId112"/>
    <p:sldId id="322" r:id="rId113"/>
    <p:sldId id="323" r:id="rId114"/>
    <p:sldId id="324" r:id="rId115"/>
    <p:sldId id="325" r:id="rId116"/>
    <p:sldId id="327" r:id="rId117"/>
    <p:sldId id="330" r:id="rId118"/>
    <p:sldId id="331" r:id="rId119"/>
    <p:sldId id="326" r:id="rId120"/>
    <p:sldId id="476" r:id="rId121"/>
    <p:sldId id="305" r:id="rId122"/>
    <p:sldId id="328" r:id="rId123"/>
    <p:sldId id="329" r:id="rId124"/>
    <p:sldId id="318" r:id="rId125"/>
    <p:sldId id="319" r:id="rId126"/>
    <p:sldId id="307" r:id="rId127"/>
    <p:sldId id="332" r:id="rId128"/>
    <p:sldId id="333" r:id="rId129"/>
    <p:sldId id="334" r:id="rId130"/>
    <p:sldId id="335" r:id="rId131"/>
    <p:sldId id="336" r:id="rId132"/>
    <p:sldId id="337" r:id="rId133"/>
    <p:sldId id="308" r:id="rId134"/>
    <p:sldId id="338" r:id="rId135"/>
    <p:sldId id="314" r:id="rId136"/>
    <p:sldId id="340" r:id="rId137"/>
    <p:sldId id="341" r:id="rId138"/>
    <p:sldId id="342" r:id="rId139"/>
    <p:sldId id="343" r:id="rId140"/>
    <p:sldId id="344" r:id="rId141"/>
    <p:sldId id="339" r:id="rId142"/>
    <p:sldId id="349" r:id="rId143"/>
    <p:sldId id="350" r:id="rId144"/>
    <p:sldId id="351" r:id="rId145"/>
    <p:sldId id="352" r:id="rId146"/>
    <p:sldId id="353" r:id="rId147"/>
    <p:sldId id="355" r:id="rId148"/>
    <p:sldId id="356" r:id="rId149"/>
    <p:sldId id="357" r:id="rId150"/>
    <p:sldId id="358" r:id="rId151"/>
    <p:sldId id="359" r:id="rId152"/>
    <p:sldId id="360" r:id="rId153"/>
    <p:sldId id="361" r:id="rId154"/>
    <p:sldId id="362" r:id="rId155"/>
    <p:sldId id="363" r:id="rId156"/>
    <p:sldId id="364" r:id="rId157"/>
    <p:sldId id="365" r:id="rId158"/>
    <p:sldId id="366" r:id="rId159"/>
    <p:sldId id="367" r:id="rId160"/>
    <p:sldId id="377" r:id="rId161"/>
    <p:sldId id="368" r:id="rId162"/>
    <p:sldId id="369" r:id="rId163"/>
    <p:sldId id="378" r:id="rId164"/>
    <p:sldId id="379" r:id="rId165"/>
    <p:sldId id="371" r:id="rId166"/>
    <p:sldId id="372" r:id="rId167"/>
    <p:sldId id="373" r:id="rId168"/>
    <p:sldId id="374" r:id="rId169"/>
    <p:sldId id="375" r:id="rId170"/>
    <p:sldId id="376" r:id="rId17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26" autoAdjust="0"/>
    <p:restoredTop sz="94660"/>
  </p:normalViewPr>
  <p:slideViewPr>
    <p:cSldViewPr>
      <p:cViewPr varScale="1">
        <p:scale>
          <a:sx n="64" d="100"/>
          <a:sy n="64" d="100"/>
        </p:scale>
        <p:origin x="156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7CD2EE-112B-42A8-B9B4-1A068C694B56}" type="datetimeFigureOut">
              <a:rPr lang="en-US" smtClean="0"/>
              <a:pPr/>
              <a:t>12/1/2025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A44F6CC-D7C0-4B76-9B69-D539F314AB0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A44F6CC-D7C0-4B76-9B69-D539F314AB00}" type="slidenum">
              <a:rPr lang="en-US" smtClean="0"/>
              <a:pPr/>
              <a:t>132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A44F6CC-D7C0-4B76-9B69-D539F314AB00}" type="slidenum">
              <a:rPr lang="en-US" smtClean="0"/>
              <a:pPr/>
              <a:t>133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A44F6CC-D7C0-4B76-9B69-D539F314AB00}" type="slidenum">
              <a:rPr lang="en-US" smtClean="0"/>
              <a:pPr/>
              <a:t>134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4.wmf"/></Relationships>
</file>

<file path=ppt/slides/_rels/slide168.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bin"/><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365126"/>
            <a:ext cx="8951119" cy="735013"/>
          </a:xfrm>
        </p:spPr>
        <p:txBody>
          <a:bodyPr>
            <a:normAutofit fontScale="90000"/>
          </a:bodyPr>
          <a:lstStyle/>
          <a:p>
            <a:r>
              <a:rPr lang="en-US" sz="3600" b="1" dirty="0">
                <a:solidFill>
                  <a:srgbClr val="FF0000"/>
                </a:solidFill>
                <a:latin typeface="Times New Roman" panose="02020603050405020304" pitchFamily="18" charset="0"/>
                <a:cs typeface="Times New Roman" panose="02020603050405020304" pitchFamily="18" charset="0"/>
              </a:rPr>
              <a:t>UNIT VI: TRANSACTION   AND CONCURRENCY</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92881" y="1397000"/>
            <a:ext cx="8733235" cy="4351338"/>
          </a:xfrm>
        </p:spPr>
        <p:txBody>
          <a:bodyPr>
            <a:normAutofit fontScale="70000" lnSpcReduction="20000"/>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Syllabus</a:t>
            </a:r>
            <a:r>
              <a:rPr lang="en-US" dirty="0">
                <a:latin typeface="Times New Roman" panose="02020603050405020304" pitchFamily="18" charset="0"/>
                <a:cs typeface="Times New Roman" panose="02020603050405020304" pitchFamily="18" charset="0"/>
              </a:rPr>
              <a:t>:</a:t>
            </a:r>
          </a:p>
          <a:p>
            <a:pPr marL="0" indent="0" algn="just">
              <a:lnSpc>
                <a:spcPct val="150000"/>
              </a:lnSpc>
              <a:buNone/>
            </a:pPr>
            <a:r>
              <a:rPr lang="en-US" dirty="0">
                <a:solidFill>
                  <a:srgbClr val="002060"/>
                </a:solidFill>
                <a:latin typeface="Times New Roman" panose="02020603050405020304" pitchFamily="18" charset="0"/>
                <a:cs typeface="Times New Roman" panose="02020603050405020304" pitchFamily="18" charset="0"/>
              </a:rPr>
              <a:t>Introduction to Transaction Processing, Transaction and System Concepts, Desirable Properties of    Transactions, Characterizing Schedules based on Recoverability, Characterizing Schedules based on Serializability. Introduction to Concurrency Control, Two Phase Locking Techniques, Concurrency Control on Timestamp Ordering, Validation Concurrency Control Techniques, Granularity of Data items and Multiple Granularity Locking, Recovery Concepts, Recovery Techniques Based on Deferred and Immediate Update, Shadow Paging. </a:t>
            </a:r>
          </a:p>
        </p:txBody>
      </p:sp>
    </p:spTree>
    <p:extLst>
      <p:ext uri="{BB962C8B-B14F-4D97-AF65-F5344CB8AC3E}">
        <p14:creationId xmlns:p14="http://schemas.microsoft.com/office/powerpoint/2010/main" val="765661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365126"/>
            <a:ext cx="8951119" cy="735013"/>
          </a:xfrm>
        </p:spPr>
        <p:txBody>
          <a:bodyPr>
            <a:norm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TRANSACTION</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92882" y="1225550"/>
            <a:ext cx="8733235" cy="4351338"/>
          </a:xfrm>
        </p:spPr>
        <p:txBody>
          <a:bodyPr>
            <a:normAutofit/>
          </a:bodyPr>
          <a:lstStyle/>
          <a:p>
            <a:pPr marL="0" indent="0" algn="just">
              <a:lnSpc>
                <a:spcPct val="150000"/>
              </a:lnSpc>
              <a:buNone/>
            </a:pPr>
            <a:r>
              <a:rPr lang="en-US" b="1" u="sng" dirty="0">
                <a:solidFill>
                  <a:srgbClr val="FF0000"/>
                </a:solidFill>
                <a:latin typeface="Times New Roman" panose="02020603050405020304" pitchFamily="18" charset="0"/>
                <a:cs typeface="Times New Roman" panose="02020603050405020304" pitchFamily="18" charset="0"/>
              </a:rPr>
              <a:t>Definition</a:t>
            </a:r>
            <a:r>
              <a:rPr lang="en-US" dirty="0">
                <a:solidFill>
                  <a:srgbClr val="002060"/>
                </a:solidFill>
                <a:latin typeface="Times New Roman" panose="02020603050405020304" pitchFamily="18" charset="0"/>
                <a:cs typeface="Times New Roman" panose="02020603050405020304" pitchFamily="18" charset="0"/>
              </a:rPr>
              <a:t>:</a:t>
            </a:r>
          </a:p>
          <a:p>
            <a:pPr marL="0" indent="0" algn="just">
              <a:lnSpc>
                <a:spcPct val="150000"/>
              </a:lnSpc>
              <a:buNone/>
            </a:pPr>
            <a:r>
              <a:rPr lang="en-US" dirty="0">
                <a:solidFill>
                  <a:srgbClr val="002060"/>
                </a:solidFill>
                <a:latin typeface="Times New Roman" panose="02020603050405020304" pitchFamily="18" charset="0"/>
                <a:cs typeface="Times New Roman" panose="02020603050405020304" pitchFamily="18" charset="0"/>
              </a:rPr>
              <a:t>	A transaction can be defined as an action or series of actions that is carried out by a single user or application program to perform operations for accessing the contents of the database. </a:t>
            </a:r>
          </a:p>
        </p:txBody>
      </p:sp>
    </p:spTree>
    <p:extLst>
      <p:ext uri="{BB962C8B-B14F-4D97-AF65-F5344CB8AC3E}">
        <p14:creationId xmlns:p14="http://schemas.microsoft.com/office/powerpoint/2010/main" val="4240711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735013"/>
          </a:xfrm>
        </p:spPr>
        <p:txBody>
          <a:bodyPr>
            <a:norm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TRANSACTION</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6442" y="611187"/>
            <a:ext cx="8947547" cy="6103938"/>
          </a:xfrm>
        </p:spPr>
        <p:txBody>
          <a:bodyPr>
            <a:normAutofit fontScale="92500" lnSpcReduction="20000"/>
          </a:bodyPr>
          <a:lstStyle/>
          <a:p>
            <a:pPr marL="0" indent="0" algn="just">
              <a:lnSpc>
                <a:spcPct val="150000"/>
              </a:lnSpc>
              <a:spcBef>
                <a:spcPts val="0"/>
              </a:spcBef>
              <a:buFont typeface="Wingdings" panose="05000000000000000000" pitchFamily="2" charset="2"/>
              <a:buChar char="v"/>
            </a:pPr>
            <a:r>
              <a:rPr lang="en-US" sz="2600" dirty="0">
                <a:solidFill>
                  <a:srgbClr val="002060"/>
                </a:solidFill>
                <a:latin typeface="Times New Roman" panose="02020603050405020304" pitchFamily="18" charset="0"/>
                <a:cs typeface="Times New Roman" panose="02020603050405020304" pitchFamily="18" charset="0"/>
              </a:rPr>
              <a:t>The operations can include retrieval (</a:t>
            </a:r>
            <a:r>
              <a:rPr lang="en-US" sz="2600" dirty="0">
                <a:solidFill>
                  <a:srgbClr val="FF0000"/>
                </a:solidFill>
                <a:latin typeface="Times New Roman" panose="02020603050405020304" pitchFamily="18" charset="0"/>
                <a:cs typeface="Times New Roman" panose="02020603050405020304" pitchFamily="18" charset="0"/>
              </a:rPr>
              <a:t>Read</a:t>
            </a:r>
            <a:r>
              <a:rPr lang="en-US" sz="2600" dirty="0">
                <a:solidFill>
                  <a:srgbClr val="002060"/>
                </a:solidFill>
                <a:latin typeface="Times New Roman" panose="02020603050405020304" pitchFamily="18" charset="0"/>
                <a:cs typeface="Times New Roman" panose="02020603050405020304" pitchFamily="18" charset="0"/>
              </a:rPr>
              <a:t>), insertion (</a:t>
            </a:r>
            <a:r>
              <a:rPr lang="en-US" sz="2600" dirty="0">
                <a:solidFill>
                  <a:srgbClr val="FF0000"/>
                </a:solidFill>
                <a:latin typeface="Times New Roman" panose="02020603050405020304" pitchFamily="18" charset="0"/>
                <a:cs typeface="Times New Roman" panose="02020603050405020304" pitchFamily="18" charset="0"/>
              </a:rPr>
              <a:t>Write</a:t>
            </a:r>
            <a:r>
              <a:rPr lang="en-US" sz="2600" dirty="0">
                <a:solidFill>
                  <a:srgbClr val="002060"/>
                </a:solidFill>
                <a:latin typeface="Times New Roman" panose="02020603050405020304" pitchFamily="18" charset="0"/>
                <a:cs typeface="Times New Roman" panose="02020603050405020304" pitchFamily="18" charset="0"/>
              </a:rPr>
              <a:t>), deletion (</a:t>
            </a:r>
            <a:r>
              <a:rPr lang="en-US" sz="2600" dirty="0">
                <a:solidFill>
                  <a:srgbClr val="FF0000"/>
                </a:solidFill>
                <a:latin typeface="Times New Roman" panose="02020603050405020304" pitchFamily="18" charset="0"/>
                <a:cs typeface="Times New Roman" panose="02020603050405020304" pitchFamily="18" charset="0"/>
              </a:rPr>
              <a:t>Write</a:t>
            </a:r>
            <a:r>
              <a:rPr lang="en-US" sz="2600" dirty="0">
                <a:solidFill>
                  <a:srgbClr val="002060"/>
                </a:solidFill>
                <a:latin typeface="Times New Roman" panose="02020603050405020304" pitchFamily="18" charset="0"/>
                <a:cs typeface="Times New Roman" panose="02020603050405020304" pitchFamily="18" charset="0"/>
              </a:rPr>
              <a:t>),  and modification (</a:t>
            </a:r>
            <a:r>
              <a:rPr lang="en-US" sz="2600" dirty="0">
                <a:solidFill>
                  <a:srgbClr val="FF0000"/>
                </a:solidFill>
                <a:latin typeface="Times New Roman" panose="02020603050405020304" pitchFamily="18" charset="0"/>
                <a:cs typeface="Times New Roman" panose="02020603050405020304" pitchFamily="18" charset="0"/>
              </a:rPr>
              <a:t>Write</a:t>
            </a:r>
            <a:r>
              <a:rPr lang="en-US" sz="2600" dirty="0">
                <a:solidFill>
                  <a:srgbClr val="002060"/>
                </a:solidFill>
                <a:latin typeface="Times New Roman" panose="02020603050405020304" pitchFamily="18" charset="0"/>
                <a:cs typeface="Times New Roman" panose="02020603050405020304" pitchFamily="18" charset="0"/>
              </a:rPr>
              <a:t>).  </a:t>
            </a:r>
          </a:p>
          <a:p>
            <a:pPr marL="0" indent="0" algn="just">
              <a:lnSpc>
                <a:spcPct val="150000"/>
              </a:lnSpc>
              <a:spcBef>
                <a:spcPts val="0"/>
              </a:spcBef>
              <a:buFont typeface="Wingdings" panose="05000000000000000000" pitchFamily="2" charset="2"/>
              <a:buChar char="v"/>
            </a:pPr>
            <a:r>
              <a:rPr lang="en-US" sz="2600" dirty="0">
                <a:solidFill>
                  <a:srgbClr val="002060"/>
                </a:solidFill>
                <a:latin typeface="Times New Roman" panose="02020603050405020304" pitchFamily="18" charset="0"/>
                <a:cs typeface="Times New Roman" panose="02020603050405020304" pitchFamily="18" charset="0"/>
              </a:rPr>
              <a:t>A transaction must be either </a:t>
            </a:r>
            <a:r>
              <a:rPr lang="en-US" sz="2600" dirty="0">
                <a:solidFill>
                  <a:srgbClr val="FF0000"/>
                </a:solidFill>
                <a:latin typeface="Times New Roman" panose="02020603050405020304" pitchFamily="18" charset="0"/>
                <a:cs typeface="Times New Roman" panose="02020603050405020304" pitchFamily="18" charset="0"/>
              </a:rPr>
              <a:t>completed</a:t>
            </a:r>
            <a:r>
              <a:rPr lang="en-US" sz="2600" dirty="0">
                <a:solidFill>
                  <a:srgbClr val="002060"/>
                </a:solidFill>
                <a:latin typeface="Times New Roman" panose="02020603050405020304" pitchFamily="18" charset="0"/>
                <a:cs typeface="Times New Roman" panose="02020603050405020304" pitchFamily="18" charset="0"/>
              </a:rPr>
              <a:t> or </a:t>
            </a:r>
            <a:r>
              <a:rPr lang="en-US" sz="2600" dirty="0">
                <a:solidFill>
                  <a:srgbClr val="FF0000"/>
                </a:solidFill>
                <a:latin typeface="Times New Roman" panose="02020603050405020304" pitchFamily="18" charset="0"/>
                <a:cs typeface="Times New Roman" panose="02020603050405020304" pitchFamily="18" charset="0"/>
              </a:rPr>
              <a:t>aborted</a:t>
            </a:r>
            <a:r>
              <a:rPr lang="en-US" sz="2600" dirty="0">
                <a:solidFill>
                  <a:srgbClr val="002060"/>
                </a:solidFill>
                <a:latin typeface="Times New Roman" panose="02020603050405020304" pitchFamily="18" charset="0"/>
                <a:cs typeface="Times New Roman" panose="02020603050405020304" pitchFamily="18" charset="0"/>
              </a:rPr>
              <a:t>. </a:t>
            </a:r>
          </a:p>
          <a:p>
            <a:pPr marL="0" indent="0" algn="just">
              <a:lnSpc>
                <a:spcPct val="150000"/>
              </a:lnSpc>
              <a:spcBef>
                <a:spcPts val="0"/>
              </a:spcBef>
              <a:buFont typeface="Wingdings" panose="05000000000000000000" pitchFamily="2" charset="2"/>
              <a:buChar char="v"/>
            </a:pPr>
            <a:r>
              <a:rPr lang="en-US" sz="2600" dirty="0">
                <a:solidFill>
                  <a:srgbClr val="002060"/>
                </a:solidFill>
                <a:latin typeface="Times New Roman" panose="02020603050405020304" pitchFamily="18" charset="0"/>
                <a:cs typeface="Times New Roman" panose="02020603050405020304" pitchFamily="18" charset="0"/>
              </a:rPr>
              <a:t>It can either be embedded within an </a:t>
            </a:r>
            <a:r>
              <a:rPr lang="en-US" sz="2600" dirty="0">
                <a:solidFill>
                  <a:srgbClr val="FF0000"/>
                </a:solidFill>
                <a:latin typeface="Times New Roman" panose="02020603050405020304" pitchFamily="18" charset="0"/>
                <a:cs typeface="Times New Roman" panose="02020603050405020304" pitchFamily="18" charset="0"/>
              </a:rPr>
              <a:t>application program </a:t>
            </a:r>
            <a:r>
              <a:rPr lang="en-US" sz="2600" dirty="0">
                <a:solidFill>
                  <a:srgbClr val="002060"/>
                </a:solidFill>
                <a:latin typeface="Times New Roman" panose="02020603050405020304" pitchFamily="18" charset="0"/>
                <a:cs typeface="Times New Roman" panose="02020603050405020304" pitchFamily="18" charset="0"/>
              </a:rPr>
              <a:t>or can be specified interactively via a </a:t>
            </a:r>
            <a:r>
              <a:rPr lang="en-US" sz="2600" dirty="0">
                <a:solidFill>
                  <a:srgbClr val="FF0000"/>
                </a:solidFill>
                <a:latin typeface="Times New Roman" panose="02020603050405020304" pitchFamily="18" charset="0"/>
                <a:cs typeface="Times New Roman" panose="02020603050405020304" pitchFamily="18" charset="0"/>
              </a:rPr>
              <a:t>high-level</a:t>
            </a:r>
            <a:r>
              <a:rPr lang="en-US" sz="2600" dirty="0">
                <a:solidFill>
                  <a:srgbClr val="002060"/>
                </a:solidFill>
                <a:latin typeface="Times New Roman" panose="02020603050405020304" pitchFamily="18" charset="0"/>
                <a:cs typeface="Times New Roman" panose="02020603050405020304" pitchFamily="18" charset="0"/>
              </a:rPr>
              <a:t> query language such as PL/SQL. </a:t>
            </a:r>
          </a:p>
          <a:p>
            <a:pPr marL="0" indent="0" algn="just">
              <a:lnSpc>
                <a:spcPct val="150000"/>
              </a:lnSpc>
              <a:spcBef>
                <a:spcPts val="0"/>
              </a:spcBef>
              <a:buFont typeface="Wingdings" panose="05000000000000000000" pitchFamily="2" charset="2"/>
              <a:buChar char="v"/>
            </a:pPr>
            <a:r>
              <a:rPr lang="en-US" sz="2600" dirty="0">
                <a:solidFill>
                  <a:srgbClr val="002060"/>
                </a:solidFill>
                <a:latin typeface="Times New Roman" panose="02020603050405020304" pitchFamily="18" charset="0"/>
                <a:cs typeface="Times New Roman" panose="02020603050405020304" pitchFamily="18" charset="0"/>
              </a:rPr>
              <a:t>Its execution preserves the </a:t>
            </a:r>
            <a:r>
              <a:rPr lang="en-US" sz="2600" dirty="0">
                <a:solidFill>
                  <a:srgbClr val="FF0000"/>
                </a:solidFill>
                <a:latin typeface="Times New Roman" panose="02020603050405020304" pitchFamily="18" charset="0"/>
                <a:cs typeface="Times New Roman" panose="02020603050405020304" pitchFamily="18" charset="0"/>
              </a:rPr>
              <a:t>consistency</a:t>
            </a:r>
            <a:r>
              <a:rPr lang="en-US" sz="2600" dirty="0">
                <a:solidFill>
                  <a:srgbClr val="002060"/>
                </a:solidFill>
                <a:latin typeface="Times New Roman" panose="02020603050405020304" pitchFamily="18" charset="0"/>
                <a:cs typeface="Times New Roman" panose="02020603050405020304" pitchFamily="18" charset="0"/>
              </a:rPr>
              <a:t> of the database. </a:t>
            </a:r>
          </a:p>
          <a:p>
            <a:pPr marL="0" indent="0" algn="just">
              <a:lnSpc>
                <a:spcPct val="150000"/>
              </a:lnSpc>
              <a:spcBef>
                <a:spcPts val="0"/>
              </a:spcBef>
              <a:buFont typeface="Wingdings" panose="05000000000000000000" pitchFamily="2" charset="2"/>
              <a:buChar char="v"/>
            </a:pPr>
            <a:r>
              <a:rPr lang="en-US" sz="2600" dirty="0">
                <a:solidFill>
                  <a:srgbClr val="002060"/>
                </a:solidFill>
                <a:latin typeface="Times New Roman" panose="02020603050405020304" pitchFamily="18" charset="0"/>
                <a:cs typeface="Times New Roman" panose="02020603050405020304" pitchFamily="18" charset="0"/>
              </a:rPr>
              <a:t>Each transaction should access shared data </a:t>
            </a:r>
            <a:r>
              <a:rPr lang="en-US" sz="2600" dirty="0">
                <a:solidFill>
                  <a:srgbClr val="FF0000"/>
                </a:solidFill>
                <a:latin typeface="Times New Roman" panose="02020603050405020304" pitchFamily="18" charset="0"/>
                <a:cs typeface="Times New Roman" panose="02020603050405020304" pitchFamily="18" charset="0"/>
              </a:rPr>
              <a:t>without interfering </a:t>
            </a:r>
            <a:r>
              <a:rPr lang="en-US" sz="2600" dirty="0">
                <a:solidFill>
                  <a:srgbClr val="002060"/>
                </a:solidFill>
                <a:latin typeface="Times New Roman" panose="02020603050405020304" pitchFamily="18" charset="0"/>
                <a:cs typeface="Times New Roman" panose="02020603050405020304" pitchFamily="18" charset="0"/>
              </a:rPr>
              <a:t>the other transactions.</a:t>
            </a:r>
          </a:p>
          <a:p>
            <a:pPr marL="0" indent="0" algn="just">
              <a:lnSpc>
                <a:spcPct val="150000"/>
              </a:lnSpc>
              <a:spcBef>
                <a:spcPts val="0"/>
              </a:spcBef>
              <a:buFont typeface="Wingdings" panose="05000000000000000000" pitchFamily="2" charset="2"/>
              <a:buChar char="v"/>
            </a:pPr>
            <a:r>
              <a:rPr lang="en-US" sz="2600" dirty="0">
                <a:solidFill>
                  <a:srgbClr val="002060"/>
                </a:solidFill>
                <a:latin typeface="Times New Roman" panose="02020603050405020304" pitchFamily="18" charset="0"/>
                <a:cs typeface="Times New Roman" panose="02020603050405020304" pitchFamily="18" charset="0"/>
              </a:rPr>
              <a:t>Whenever a transaction successfully completes its execution; its effect should be </a:t>
            </a:r>
            <a:r>
              <a:rPr lang="en-US" sz="2600" dirty="0">
                <a:solidFill>
                  <a:srgbClr val="FF0000"/>
                </a:solidFill>
                <a:latin typeface="Times New Roman" panose="02020603050405020304" pitchFamily="18" charset="0"/>
                <a:cs typeface="Times New Roman" panose="02020603050405020304" pitchFamily="18" charset="0"/>
              </a:rPr>
              <a:t>permanent</a:t>
            </a:r>
            <a:r>
              <a:rPr lang="en-US" sz="2600" dirty="0">
                <a:solidFill>
                  <a:srgbClr val="002060"/>
                </a:solidFill>
                <a:latin typeface="Times New Roman" panose="02020603050405020304" pitchFamily="18" charset="0"/>
                <a:cs typeface="Times New Roman" panose="02020603050405020304" pitchFamily="18" charset="0"/>
              </a:rPr>
              <a:t>. </a:t>
            </a:r>
          </a:p>
          <a:p>
            <a:pPr marL="0" indent="0" algn="just">
              <a:lnSpc>
                <a:spcPct val="150000"/>
              </a:lnSpc>
              <a:spcBef>
                <a:spcPts val="0"/>
              </a:spcBef>
              <a:buFont typeface="Wingdings" panose="05000000000000000000" pitchFamily="2" charset="2"/>
              <a:buChar char="v"/>
            </a:pPr>
            <a:r>
              <a:rPr lang="en-US" sz="2600" dirty="0">
                <a:solidFill>
                  <a:srgbClr val="002060"/>
                </a:solidFill>
                <a:latin typeface="Times New Roman" panose="02020603050405020304" pitchFamily="18" charset="0"/>
                <a:cs typeface="Times New Roman" panose="02020603050405020304" pitchFamily="18" charset="0"/>
              </a:rPr>
              <a:t>A transaction is a </a:t>
            </a:r>
            <a:r>
              <a:rPr lang="en-US" sz="2600" dirty="0">
                <a:solidFill>
                  <a:srgbClr val="FF0000"/>
                </a:solidFill>
                <a:latin typeface="Times New Roman" panose="02020603050405020304" pitchFamily="18" charset="0"/>
                <a:cs typeface="Times New Roman" panose="02020603050405020304" pitchFamily="18" charset="0"/>
              </a:rPr>
              <a:t>sequence</a:t>
            </a:r>
            <a:r>
              <a:rPr lang="en-US" sz="2600" dirty="0">
                <a:solidFill>
                  <a:srgbClr val="002060"/>
                </a:solidFill>
                <a:latin typeface="Times New Roman" panose="02020603050405020304" pitchFamily="18" charset="0"/>
                <a:cs typeface="Times New Roman" panose="02020603050405020304" pitchFamily="18" charset="0"/>
              </a:rPr>
              <a:t> of READ and WRITE actions that are </a:t>
            </a:r>
            <a:r>
              <a:rPr lang="en-US" sz="2600" dirty="0">
                <a:solidFill>
                  <a:srgbClr val="FF0000"/>
                </a:solidFill>
                <a:latin typeface="Times New Roman" panose="02020603050405020304" pitchFamily="18" charset="0"/>
                <a:cs typeface="Times New Roman" panose="02020603050405020304" pitchFamily="18" charset="0"/>
              </a:rPr>
              <a:t>grouped together </a:t>
            </a:r>
            <a:r>
              <a:rPr lang="en-US" sz="2600" dirty="0">
                <a:solidFill>
                  <a:srgbClr val="002060"/>
                </a:solidFill>
                <a:latin typeface="Times New Roman" panose="02020603050405020304" pitchFamily="18" charset="0"/>
                <a:cs typeface="Times New Roman" panose="02020603050405020304" pitchFamily="18" charset="0"/>
              </a:rPr>
              <a:t>to from a database access. </a:t>
            </a:r>
          </a:p>
          <a:p>
            <a:pPr marL="0" indent="0" algn="just">
              <a:lnSpc>
                <a:spcPct val="150000"/>
              </a:lnSpc>
              <a:spcBef>
                <a:spcPts val="0"/>
              </a:spcBef>
              <a:buNone/>
            </a:pPr>
            <a:endParaRPr lang="en-US" sz="2600" dirty="0">
              <a:solidFill>
                <a:srgbClr val="002060"/>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1111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735013"/>
          </a:xfrm>
        </p:spPr>
        <p:txBody>
          <a:bodyPr>
            <a:norm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TRANSACTION</a:t>
            </a:r>
            <a:endParaRPr lang="en-US" sz="3600"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97947670"/>
              </p:ext>
            </p:extLst>
          </p:nvPr>
        </p:nvGraphicFramePr>
        <p:xfrm>
          <a:off x="173645" y="1266528"/>
          <a:ext cx="5079209" cy="5102800"/>
        </p:xfrm>
        <a:graphic>
          <a:graphicData uri="http://schemas.openxmlformats.org/drawingml/2006/table">
            <a:tbl>
              <a:tblPr firstRow="1" firstCol="1" bandRow="1">
                <a:tableStyleId>{5C22544A-7EE6-4342-B048-85BDC9FD1C3A}</a:tableStyleId>
              </a:tblPr>
              <a:tblGrid>
                <a:gridCol w="1468043">
                  <a:extLst>
                    <a:ext uri="{9D8B030D-6E8A-4147-A177-3AD203B41FA5}">
                      <a16:colId xmlns:a16="http://schemas.microsoft.com/office/drawing/2014/main" val="20000"/>
                    </a:ext>
                  </a:extLst>
                </a:gridCol>
                <a:gridCol w="3611166">
                  <a:extLst>
                    <a:ext uri="{9D8B030D-6E8A-4147-A177-3AD203B41FA5}">
                      <a16:colId xmlns:a16="http://schemas.microsoft.com/office/drawing/2014/main" val="20001"/>
                    </a:ext>
                  </a:extLst>
                </a:gridCol>
              </a:tblGrid>
              <a:tr h="0">
                <a:tc>
                  <a:txBody>
                    <a:bodyPr/>
                    <a:lstStyle/>
                    <a:p>
                      <a:pPr marL="0" marR="0">
                        <a:lnSpc>
                          <a:spcPct val="150000"/>
                        </a:lnSpc>
                        <a:spcBef>
                          <a:spcPts val="0"/>
                        </a:spcBef>
                        <a:spcAft>
                          <a:spcPts val="0"/>
                        </a:spcAft>
                      </a:pPr>
                      <a:r>
                        <a:rPr lang="en-US" sz="2000" b="1" dirty="0">
                          <a:solidFill>
                            <a:srgbClr val="FF0000"/>
                          </a:solidFill>
                          <a:effectLst/>
                          <a:latin typeface="Times New Roman" panose="02020603050405020304" pitchFamily="18" charset="0"/>
                          <a:cs typeface="Times New Roman" panose="02020603050405020304" pitchFamily="18" charset="0"/>
                        </a:rPr>
                        <a:t>OPERATIONS</a:t>
                      </a:r>
                      <a:endParaRPr lang="en-US" sz="20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nSpc>
                          <a:spcPct val="150000"/>
                        </a:lnSpc>
                        <a:spcBef>
                          <a:spcPts val="0"/>
                        </a:spcBef>
                        <a:spcAft>
                          <a:spcPts val="0"/>
                        </a:spcAft>
                      </a:pPr>
                      <a:r>
                        <a:rPr lang="en-US" sz="2000" b="1" dirty="0">
                          <a:solidFill>
                            <a:srgbClr val="FF0000"/>
                          </a:solidFill>
                          <a:effectLst/>
                          <a:latin typeface="Times New Roman" panose="02020603050405020304" pitchFamily="18" charset="0"/>
                          <a:cs typeface="Times New Roman" panose="02020603050405020304" pitchFamily="18" charset="0"/>
                        </a:rPr>
                        <a:t>DESCRIPTIONS</a:t>
                      </a:r>
                      <a:endParaRPr lang="en-US" sz="20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0">
                <a:tc>
                  <a:txBody>
                    <a:bodyPr/>
                    <a:lstStyle/>
                    <a:p>
                      <a:pPr marL="0" marR="0">
                        <a:lnSpc>
                          <a:spcPct val="150000"/>
                        </a:lnSpc>
                        <a:spcBef>
                          <a:spcPts val="0"/>
                        </a:spcBef>
                        <a:spcAft>
                          <a:spcPts val="0"/>
                        </a:spcAft>
                      </a:pPr>
                      <a:r>
                        <a:rPr lang="en-US" sz="2000" b="0" dirty="0">
                          <a:solidFill>
                            <a:srgbClr val="002060"/>
                          </a:solidFill>
                          <a:effectLst/>
                          <a:latin typeface="Times New Roman" panose="02020603050405020304" pitchFamily="18" charset="0"/>
                          <a:cs typeface="Times New Roman" panose="02020603050405020304" pitchFamily="18" charset="0"/>
                        </a:rPr>
                        <a:t>Retrieve</a:t>
                      </a:r>
                      <a:endParaRPr lang="en-US" sz="2000" b="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nSpc>
                          <a:spcPct val="150000"/>
                        </a:lnSpc>
                        <a:spcBef>
                          <a:spcPts val="0"/>
                        </a:spcBef>
                        <a:spcAft>
                          <a:spcPts val="0"/>
                        </a:spcAft>
                      </a:pPr>
                      <a:r>
                        <a:rPr lang="en-US" sz="2000" b="0">
                          <a:solidFill>
                            <a:srgbClr val="002060"/>
                          </a:solidFill>
                          <a:effectLst/>
                          <a:latin typeface="Times New Roman" panose="02020603050405020304" pitchFamily="18" charset="0"/>
                          <a:cs typeface="Times New Roman" panose="02020603050405020304" pitchFamily="18" charset="0"/>
                        </a:rPr>
                        <a:t>To retrieve data stored in a database.</a:t>
                      </a:r>
                      <a:endParaRPr lang="en-US" sz="2000" b="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marR="0">
                        <a:lnSpc>
                          <a:spcPct val="150000"/>
                        </a:lnSpc>
                        <a:spcBef>
                          <a:spcPts val="0"/>
                        </a:spcBef>
                        <a:spcAft>
                          <a:spcPts val="0"/>
                        </a:spcAft>
                      </a:pPr>
                      <a:r>
                        <a:rPr lang="en-US" sz="2000" b="0">
                          <a:solidFill>
                            <a:srgbClr val="002060"/>
                          </a:solidFill>
                          <a:effectLst/>
                          <a:latin typeface="Times New Roman" panose="02020603050405020304" pitchFamily="18" charset="0"/>
                          <a:cs typeface="Times New Roman" panose="02020603050405020304" pitchFamily="18" charset="0"/>
                        </a:rPr>
                        <a:t>Insert</a:t>
                      </a:r>
                      <a:endParaRPr lang="en-US" sz="2000" b="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nSpc>
                          <a:spcPct val="150000"/>
                        </a:lnSpc>
                        <a:spcBef>
                          <a:spcPts val="0"/>
                        </a:spcBef>
                        <a:spcAft>
                          <a:spcPts val="0"/>
                        </a:spcAft>
                      </a:pPr>
                      <a:r>
                        <a:rPr lang="en-US" sz="2000" b="0">
                          <a:solidFill>
                            <a:srgbClr val="002060"/>
                          </a:solidFill>
                          <a:effectLst/>
                          <a:latin typeface="Times New Roman" panose="02020603050405020304" pitchFamily="18" charset="0"/>
                          <a:cs typeface="Times New Roman" panose="02020603050405020304" pitchFamily="18" charset="0"/>
                        </a:rPr>
                        <a:t>To store new data in database.</a:t>
                      </a:r>
                      <a:endParaRPr lang="en-US" sz="2000" b="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marL="0" marR="0">
                        <a:lnSpc>
                          <a:spcPct val="150000"/>
                        </a:lnSpc>
                        <a:spcBef>
                          <a:spcPts val="0"/>
                        </a:spcBef>
                        <a:spcAft>
                          <a:spcPts val="0"/>
                        </a:spcAft>
                      </a:pPr>
                      <a:r>
                        <a:rPr lang="en-US" sz="2000" b="0">
                          <a:solidFill>
                            <a:srgbClr val="002060"/>
                          </a:solidFill>
                          <a:effectLst/>
                          <a:latin typeface="Times New Roman" panose="02020603050405020304" pitchFamily="18" charset="0"/>
                          <a:cs typeface="Times New Roman" panose="02020603050405020304" pitchFamily="18" charset="0"/>
                        </a:rPr>
                        <a:t>Delete</a:t>
                      </a:r>
                      <a:endParaRPr lang="en-US" sz="2000" b="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nSpc>
                          <a:spcPct val="150000"/>
                        </a:lnSpc>
                        <a:spcBef>
                          <a:spcPts val="0"/>
                        </a:spcBef>
                        <a:spcAft>
                          <a:spcPts val="0"/>
                        </a:spcAft>
                      </a:pPr>
                      <a:r>
                        <a:rPr lang="en-US" sz="2000" b="0" dirty="0">
                          <a:solidFill>
                            <a:srgbClr val="002060"/>
                          </a:solidFill>
                          <a:effectLst/>
                          <a:latin typeface="Times New Roman" panose="02020603050405020304" pitchFamily="18" charset="0"/>
                          <a:cs typeface="Times New Roman" panose="02020603050405020304" pitchFamily="18" charset="0"/>
                        </a:rPr>
                        <a:t>To delete existing data from database.</a:t>
                      </a:r>
                      <a:endParaRPr lang="en-US" sz="2000" b="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marR="0">
                        <a:lnSpc>
                          <a:spcPct val="150000"/>
                        </a:lnSpc>
                        <a:spcBef>
                          <a:spcPts val="0"/>
                        </a:spcBef>
                        <a:spcAft>
                          <a:spcPts val="0"/>
                        </a:spcAft>
                      </a:pPr>
                      <a:r>
                        <a:rPr lang="en-US" sz="2000" b="0">
                          <a:solidFill>
                            <a:srgbClr val="002060"/>
                          </a:solidFill>
                          <a:effectLst/>
                          <a:latin typeface="Times New Roman" panose="02020603050405020304" pitchFamily="18" charset="0"/>
                          <a:cs typeface="Times New Roman" panose="02020603050405020304" pitchFamily="18" charset="0"/>
                        </a:rPr>
                        <a:t>Update</a:t>
                      </a:r>
                      <a:endParaRPr lang="en-US" sz="2000" b="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nSpc>
                          <a:spcPct val="150000"/>
                        </a:lnSpc>
                        <a:spcBef>
                          <a:spcPts val="0"/>
                        </a:spcBef>
                        <a:spcAft>
                          <a:spcPts val="0"/>
                        </a:spcAft>
                      </a:pPr>
                      <a:r>
                        <a:rPr lang="en-US" sz="2000" b="0">
                          <a:solidFill>
                            <a:srgbClr val="002060"/>
                          </a:solidFill>
                          <a:effectLst/>
                          <a:latin typeface="Times New Roman" panose="02020603050405020304" pitchFamily="18" charset="0"/>
                          <a:cs typeface="Times New Roman" panose="02020603050405020304" pitchFamily="18" charset="0"/>
                        </a:rPr>
                        <a:t>To modify existing data in database.</a:t>
                      </a:r>
                      <a:endParaRPr lang="en-US" sz="2000" b="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0">
                <a:tc>
                  <a:txBody>
                    <a:bodyPr/>
                    <a:lstStyle/>
                    <a:p>
                      <a:pPr marL="0" marR="0">
                        <a:lnSpc>
                          <a:spcPct val="150000"/>
                        </a:lnSpc>
                        <a:spcBef>
                          <a:spcPts val="0"/>
                        </a:spcBef>
                        <a:spcAft>
                          <a:spcPts val="0"/>
                        </a:spcAft>
                      </a:pPr>
                      <a:r>
                        <a:rPr lang="en-US" sz="2000" b="0">
                          <a:solidFill>
                            <a:srgbClr val="002060"/>
                          </a:solidFill>
                          <a:effectLst/>
                          <a:latin typeface="Times New Roman" panose="02020603050405020304" pitchFamily="18" charset="0"/>
                          <a:cs typeface="Times New Roman" panose="02020603050405020304" pitchFamily="18" charset="0"/>
                        </a:rPr>
                        <a:t>Commit</a:t>
                      </a:r>
                      <a:endParaRPr lang="en-US" sz="2000" b="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nSpc>
                          <a:spcPct val="150000"/>
                        </a:lnSpc>
                        <a:spcBef>
                          <a:spcPts val="0"/>
                        </a:spcBef>
                        <a:spcAft>
                          <a:spcPts val="0"/>
                        </a:spcAft>
                      </a:pPr>
                      <a:r>
                        <a:rPr lang="en-US" sz="2000" b="0">
                          <a:solidFill>
                            <a:srgbClr val="002060"/>
                          </a:solidFill>
                          <a:effectLst/>
                          <a:latin typeface="Times New Roman" panose="02020603050405020304" pitchFamily="18" charset="0"/>
                          <a:cs typeface="Times New Roman" panose="02020603050405020304" pitchFamily="18" charset="0"/>
                        </a:rPr>
                        <a:t>To save the work done permanently.</a:t>
                      </a:r>
                      <a:endParaRPr lang="en-US" sz="2000" b="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0">
                <a:tc>
                  <a:txBody>
                    <a:bodyPr/>
                    <a:lstStyle/>
                    <a:p>
                      <a:pPr marL="0" marR="0">
                        <a:lnSpc>
                          <a:spcPct val="150000"/>
                        </a:lnSpc>
                        <a:spcBef>
                          <a:spcPts val="0"/>
                        </a:spcBef>
                        <a:spcAft>
                          <a:spcPts val="0"/>
                        </a:spcAft>
                      </a:pPr>
                      <a:r>
                        <a:rPr lang="en-US" sz="2000" b="0">
                          <a:solidFill>
                            <a:srgbClr val="002060"/>
                          </a:solidFill>
                          <a:effectLst/>
                          <a:latin typeface="Times New Roman" panose="02020603050405020304" pitchFamily="18" charset="0"/>
                          <a:cs typeface="Times New Roman" panose="02020603050405020304" pitchFamily="18" charset="0"/>
                        </a:rPr>
                        <a:t>Rollback</a:t>
                      </a:r>
                      <a:endParaRPr lang="en-US" sz="2000" b="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nSpc>
                          <a:spcPct val="150000"/>
                        </a:lnSpc>
                        <a:spcBef>
                          <a:spcPts val="0"/>
                        </a:spcBef>
                        <a:spcAft>
                          <a:spcPts val="0"/>
                        </a:spcAft>
                      </a:pPr>
                      <a:r>
                        <a:rPr lang="en-US" sz="2000" b="0" dirty="0">
                          <a:solidFill>
                            <a:srgbClr val="002060"/>
                          </a:solidFill>
                          <a:effectLst/>
                          <a:latin typeface="Times New Roman" panose="02020603050405020304" pitchFamily="18" charset="0"/>
                          <a:cs typeface="Times New Roman" panose="02020603050405020304" pitchFamily="18" charset="0"/>
                        </a:rPr>
                        <a:t>To undo the work done.</a:t>
                      </a:r>
                      <a:endParaRPr lang="en-US" sz="2000" b="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Rectangle 1"/>
          <p:cNvSpPr>
            <a:spLocks noChangeArrowheads="1"/>
          </p:cNvSpPr>
          <p:nvPr/>
        </p:nvSpPr>
        <p:spPr bwMode="auto">
          <a:xfrm>
            <a:off x="173646" y="769939"/>
            <a:ext cx="43075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sz="24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B</a:t>
            </a:r>
            <a:r>
              <a:rPr kumimoji="0" lang="en-US" sz="24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asic database access operations:</a:t>
            </a:r>
            <a:endParaRPr kumimoji="0" lang="en-US" sz="2400" b="0" i="0" u="none" strike="noStrike" cap="none" normalizeH="0" baseline="0" dirty="0">
              <a:ln>
                <a:noFill/>
              </a:ln>
              <a:solidFill>
                <a:srgbClr val="002060"/>
              </a:solidFill>
              <a:effectLst/>
              <a:latin typeface="Arial" panose="020B0604020202020204" pitchFamily="34" charset="0"/>
            </a:endParaRPr>
          </a:p>
        </p:txBody>
      </p:sp>
    </p:spTree>
    <p:extLst>
      <p:ext uri="{BB962C8B-B14F-4D97-AF65-F5344CB8AC3E}">
        <p14:creationId xmlns:p14="http://schemas.microsoft.com/office/powerpoint/2010/main" val="204418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735013"/>
          </a:xfrm>
        </p:spPr>
        <p:txBody>
          <a:bodyPr>
            <a:norm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TRANSACTION</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735013"/>
            <a:ext cx="9033272" cy="4351338"/>
          </a:xfrm>
        </p:spPr>
        <p:txBody>
          <a:bodyPr>
            <a:normAutofit fontScale="92500" lnSpcReduction="20000"/>
          </a:bodyPr>
          <a:lstStyle/>
          <a:p>
            <a:pPr marL="457200" indent="-457200" algn="just">
              <a:lnSpc>
                <a:spcPct val="150000"/>
              </a:lnSpc>
              <a:buFont typeface="Wingdings" panose="05000000000000000000" pitchFamily="2" charset="2"/>
              <a:buChar char="v"/>
            </a:pPr>
            <a:r>
              <a:rPr lang="en-US" dirty="0">
                <a:solidFill>
                  <a:srgbClr val="002060"/>
                </a:solidFill>
                <a:latin typeface="Times New Roman" panose="02020603050405020304" pitchFamily="18" charset="0"/>
                <a:cs typeface="Times New Roman" panose="02020603050405020304" pitchFamily="18" charset="0"/>
              </a:rPr>
              <a:t>Transaction that changes the contents of the database must alter the database from </a:t>
            </a:r>
            <a:r>
              <a:rPr lang="en-US" dirty="0">
                <a:solidFill>
                  <a:srgbClr val="FF0000"/>
                </a:solidFill>
                <a:latin typeface="Times New Roman" panose="02020603050405020304" pitchFamily="18" charset="0"/>
                <a:cs typeface="Times New Roman" panose="02020603050405020304" pitchFamily="18" charset="0"/>
              </a:rPr>
              <a:t>one </a:t>
            </a:r>
            <a:r>
              <a:rPr lang="en-US" dirty="0">
                <a:solidFill>
                  <a:srgbClr val="FF0000"/>
                </a:solidFill>
                <a:effectLst/>
                <a:latin typeface="Times New Roman" panose="02020603050405020304" pitchFamily="18" charset="0"/>
                <a:cs typeface="Times New Roman" panose="02020603050405020304" pitchFamily="18" charset="0"/>
              </a:rPr>
              <a:t>consistent state </a:t>
            </a:r>
            <a:r>
              <a:rPr lang="en-US" dirty="0">
                <a:solidFill>
                  <a:srgbClr val="002060"/>
                </a:solidFill>
                <a:effectLst/>
                <a:latin typeface="Times New Roman" panose="02020603050405020304" pitchFamily="18" charset="0"/>
                <a:cs typeface="Times New Roman" panose="02020603050405020304" pitchFamily="18" charset="0"/>
              </a:rPr>
              <a:t>to</a:t>
            </a:r>
            <a:r>
              <a:rPr lang="en-US" dirty="0">
                <a:solidFill>
                  <a:srgbClr val="FF0000"/>
                </a:solidFill>
                <a:effectLst/>
                <a:latin typeface="Times New Roman" panose="02020603050405020304" pitchFamily="18" charset="0"/>
                <a:cs typeface="Times New Roman" panose="02020603050405020304" pitchFamily="18" charset="0"/>
              </a:rPr>
              <a:t> another</a:t>
            </a:r>
            <a:r>
              <a:rPr lang="en-US" dirty="0">
                <a:solidFill>
                  <a:srgbClr val="002060"/>
                </a:solidFill>
                <a:effectLst/>
                <a:latin typeface="Times New Roman" panose="02020603050405020304" pitchFamily="18" charset="0"/>
                <a:cs typeface="Times New Roman" panose="02020603050405020304" pitchFamily="18" charset="0"/>
              </a:rPr>
              <a:t>. </a:t>
            </a:r>
          </a:p>
          <a:p>
            <a:pPr marL="457200" indent="-457200">
              <a:lnSpc>
                <a:spcPct val="150000"/>
              </a:lnSpc>
              <a:buFont typeface="Wingdings" panose="05000000000000000000" pitchFamily="2" charset="2"/>
              <a:buChar char="v"/>
            </a:pPr>
            <a:r>
              <a:rPr lang="en-US" dirty="0">
                <a:solidFill>
                  <a:srgbClr val="002060"/>
                </a:solidFill>
                <a:latin typeface="Times New Roman" panose="02020603050405020304" pitchFamily="18" charset="0"/>
                <a:cs typeface="Times New Roman" panose="02020603050405020304" pitchFamily="18" charset="0"/>
              </a:rPr>
              <a:t>A consistent database state is one in which all data integrity constraints are satisfied.</a:t>
            </a:r>
            <a:br>
              <a:rPr lang="en-US" dirty="0">
                <a:solidFill>
                  <a:srgbClr val="002060"/>
                </a:solidFill>
                <a:latin typeface="Times New Roman" panose="02020603050405020304" pitchFamily="18" charset="0"/>
                <a:cs typeface="Times New Roman" panose="02020603050405020304" pitchFamily="18" charset="0"/>
              </a:rPr>
            </a:br>
            <a:r>
              <a:rPr lang="en-US" dirty="0">
                <a:solidFill>
                  <a:srgbClr val="002060"/>
                </a:solidFill>
                <a:latin typeface="Times New Roman" panose="02020603050405020304" pitchFamily="18" charset="0"/>
                <a:cs typeface="Times New Roman" panose="02020603050405020304" pitchFamily="18" charset="0"/>
              </a:rPr>
              <a:t>To ensure database consistency, every </a:t>
            </a:r>
            <a:r>
              <a:rPr lang="en-US" dirty="0">
                <a:solidFill>
                  <a:srgbClr val="FF0000"/>
                </a:solidFill>
                <a:latin typeface="Times New Roman" panose="02020603050405020304" pitchFamily="18" charset="0"/>
                <a:cs typeface="Times New Roman" panose="02020603050405020304" pitchFamily="18" charset="0"/>
              </a:rPr>
              <a:t>transaction must begin with </a:t>
            </a:r>
            <a:r>
              <a:rPr lang="en-US" dirty="0">
                <a:solidFill>
                  <a:srgbClr val="002060"/>
                </a:solidFill>
                <a:latin typeface="Times New Roman" panose="02020603050405020304" pitchFamily="18" charset="0"/>
                <a:cs typeface="Times New Roman" panose="02020603050405020304" pitchFamily="18" charset="0"/>
              </a:rPr>
              <a:t>the database in a </a:t>
            </a:r>
            <a:r>
              <a:rPr lang="en-US" dirty="0">
                <a:solidFill>
                  <a:srgbClr val="FF0000"/>
                </a:solidFill>
                <a:latin typeface="Times New Roman" panose="02020603050405020304" pitchFamily="18" charset="0"/>
                <a:cs typeface="Times New Roman" panose="02020603050405020304" pitchFamily="18" charset="0"/>
              </a:rPr>
              <a:t>known consistent state</a:t>
            </a:r>
            <a:r>
              <a:rPr lang="en-US" dirty="0">
                <a:solidFill>
                  <a:srgbClr val="002060"/>
                </a:solidFill>
                <a:latin typeface="Times New Roman" panose="02020603050405020304" pitchFamily="18" charset="0"/>
                <a:cs typeface="Times New Roman" panose="02020603050405020304" pitchFamily="18" charset="0"/>
              </a:rPr>
              <a:t>.</a:t>
            </a:r>
            <a:endParaRPr lang="en-US" dirty="0">
              <a:solidFill>
                <a:srgbClr val="002060"/>
              </a:solidFill>
              <a:effectLst/>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2525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735013"/>
          </a:xfrm>
        </p:spPr>
        <p:txBody>
          <a:bodyPr>
            <a:normAutofit fontScale="90000"/>
          </a:bodyPr>
          <a:lstStyle/>
          <a:p>
            <a:pPr algn="ctr"/>
            <a:r>
              <a:rPr lang="en-US" sz="3600" b="1" u="sng" dirty="0">
                <a:solidFill>
                  <a:srgbClr val="FF0000"/>
                </a:solidFill>
                <a:latin typeface="Times New Roman" panose="02020603050405020304" pitchFamily="18" charset="0"/>
                <a:cs typeface="Times New Roman" panose="02020603050405020304" pitchFamily="18" charset="0"/>
              </a:rPr>
              <a:t>Transaction Execution and Problems</a:t>
            </a:r>
            <a:br>
              <a:rPr lang="en-US" sz="3600" b="1" u="sng" dirty="0">
                <a:solidFill>
                  <a:srgbClr val="FF0000"/>
                </a:solidFill>
                <a:latin typeface="Times New Roman" panose="02020603050405020304" pitchFamily="18" charset="0"/>
                <a:cs typeface="Times New Roman" panose="02020603050405020304" pitchFamily="18" charset="0"/>
              </a:rPr>
            </a:b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6441" y="735012"/>
            <a:ext cx="8936831" cy="6122987"/>
          </a:xfrm>
        </p:spPr>
        <p:txBody>
          <a:bodyPr/>
          <a:lstStyle/>
          <a:p>
            <a:pPr marL="0" indent="0">
              <a:buNone/>
            </a:pPr>
            <a:endParaRPr lang="en-US" u="sng" dirty="0">
              <a:solidFill>
                <a:srgbClr val="FF0000"/>
              </a:solidFill>
              <a:latin typeface="Times New Roman" panose="02020603050405020304" pitchFamily="18" charset="0"/>
              <a:cs typeface="Times New Roman" panose="02020603050405020304" pitchFamily="18" charset="0"/>
            </a:endParaRPr>
          </a:p>
          <a:p>
            <a:pPr marL="0" indent="0">
              <a:buNone/>
            </a:pPr>
            <a:endParaRPr lang="en-US" dirty="0"/>
          </a:p>
        </p:txBody>
      </p:sp>
      <p:pic>
        <p:nvPicPr>
          <p:cNvPr id="5" name="Picture 4"/>
          <p:cNvPicPr>
            <a:picLocks noChangeAspect="1"/>
          </p:cNvPicPr>
          <p:nvPr/>
        </p:nvPicPr>
        <p:blipFill>
          <a:blip r:embed="rId2"/>
          <a:stretch>
            <a:fillRect/>
          </a:stretch>
        </p:blipFill>
        <p:spPr>
          <a:xfrm>
            <a:off x="280392" y="367506"/>
            <a:ext cx="6600826" cy="3176588"/>
          </a:xfrm>
          <a:prstGeom prst="rect">
            <a:avLst/>
          </a:prstGeom>
        </p:spPr>
      </p:pic>
      <p:sp>
        <p:nvSpPr>
          <p:cNvPr id="6" name="Rectangle 5"/>
          <p:cNvSpPr/>
          <p:nvPr/>
        </p:nvSpPr>
        <p:spPr>
          <a:xfrm>
            <a:off x="55365" y="3243263"/>
            <a:ext cx="9088635" cy="3970318"/>
          </a:xfrm>
          <a:prstGeom prst="rect">
            <a:avLst/>
          </a:prstGeom>
        </p:spPr>
        <p:txBody>
          <a:bodyPr wrap="square">
            <a:spAutoFit/>
          </a:bodyPr>
          <a:lstStyle/>
          <a:p>
            <a:pPr>
              <a:lnSpc>
                <a:spcPct val="150000"/>
              </a:lnSpc>
              <a:spcBef>
                <a:spcPts val="0"/>
              </a:spcBef>
              <a:buFont typeface="Wingdings" panose="05000000000000000000" pitchFamily="2" charset="2"/>
              <a:buChar char="v"/>
            </a:pPr>
            <a:r>
              <a:rPr lang="en-US" sz="2800" dirty="0">
                <a:solidFill>
                  <a:srgbClr val="002060"/>
                </a:solidFill>
                <a:latin typeface="Times New Roman" panose="02020603050405020304" pitchFamily="18" charset="0"/>
                <a:cs typeface="Times New Roman" panose="02020603050405020304" pitchFamily="18" charset="0"/>
              </a:rPr>
              <a:t>A transaction which successfully completes its execution is said to have been </a:t>
            </a:r>
            <a:r>
              <a:rPr lang="en-US" sz="2800" dirty="0">
                <a:solidFill>
                  <a:srgbClr val="FF0000"/>
                </a:solidFill>
                <a:latin typeface="Times New Roman" panose="02020603050405020304" pitchFamily="18" charset="0"/>
                <a:cs typeface="Times New Roman" panose="02020603050405020304" pitchFamily="18" charset="0"/>
              </a:rPr>
              <a:t>committed</a:t>
            </a:r>
            <a:r>
              <a:rPr lang="en-US" sz="2800" dirty="0">
                <a:solidFill>
                  <a:srgbClr val="002060"/>
                </a:solidFill>
                <a:latin typeface="Times New Roman" panose="02020603050405020304" pitchFamily="18" charset="0"/>
                <a:cs typeface="Times New Roman" panose="02020603050405020304" pitchFamily="18" charset="0"/>
              </a:rPr>
              <a:t>. Otherwise, the transaction is </a:t>
            </a:r>
            <a:r>
              <a:rPr lang="en-US" sz="2800" dirty="0">
                <a:solidFill>
                  <a:srgbClr val="FF0000"/>
                </a:solidFill>
                <a:latin typeface="Times New Roman" panose="02020603050405020304" pitchFamily="18" charset="0"/>
                <a:cs typeface="Times New Roman" panose="02020603050405020304" pitchFamily="18" charset="0"/>
              </a:rPr>
              <a:t>aborted</a:t>
            </a:r>
            <a:r>
              <a:rPr lang="en-US" sz="2800" dirty="0">
                <a:solidFill>
                  <a:srgbClr val="002060"/>
                </a:solidFill>
                <a:latin typeface="Times New Roman" panose="02020603050405020304" pitchFamily="18" charset="0"/>
                <a:cs typeface="Times New Roman" panose="02020603050405020304" pitchFamily="18" charset="0"/>
              </a:rPr>
              <a:t>.</a:t>
            </a:r>
          </a:p>
          <a:p>
            <a:pPr>
              <a:lnSpc>
                <a:spcPct val="150000"/>
              </a:lnSpc>
              <a:spcBef>
                <a:spcPts val="0"/>
              </a:spcBef>
              <a:buFont typeface="Wingdings" panose="05000000000000000000" pitchFamily="2" charset="2"/>
              <a:buChar char="v"/>
            </a:pPr>
            <a:r>
              <a:rPr lang="en-US" sz="2800" dirty="0">
                <a:solidFill>
                  <a:srgbClr val="002060"/>
                </a:solidFill>
                <a:latin typeface="Times New Roman" panose="02020603050405020304" pitchFamily="18" charset="0"/>
                <a:cs typeface="Times New Roman" panose="02020603050405020304" pitchFamily="18" charset="0"/>
              </a:rPr>
              <a:t>Thus, if a committed transaction performs any update operation on the database, its effect </a:t>
            </a:r>
            <a:r>
              <a:rPr lang="en-US" sz="2800" dirty="0">
                <a:solidFill>
                  <a:srgbClr val="FF0000"/>
                </a:solidFill>
                <a:latin typeface="Times New Roman" panose="02020603050405020304" pitchFamily="18" charset="0"/>
                <a:cs typeface="Times New Roman" panose="02020603050405020304" pitchFamily="18" charset="0"/>
              </a:rPr>
              <a:t>must be reflected on the database </a:t>
            </a:r>
            <a:r>
              <a:rPr lang="en-US" sz="2800" dirty="0">
                <a:solidFill>
                  <a:srgbClr val="002060"/>
                </a:solidFill>
                <a:latin typeface="Times New Roman" panose="02020603050405020304" pitchFamily="18" charset="0"/>
                <a:cs typeface="Times New Roman" panose="02020603050405020304" pitchFamily="18" charset="0"/>
              </a:rPr>
              <a:t>even if there is a failure.</a:t>
            </a:r>
          </a:p>
        </p:txBody>
      </p:sp>
    </p:spTree>
    <p:extLst>
      <p:ext uri="{BB962C8B-B14F-4D97-AF65-F5344CB8AC3E}">
        <p14:creationId xmlns:p14="http://schemas.microsoft.com/office/powerpoint/2010/main" val="44020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 calcmode="lin" valueType="num">
                                      <p:cBhvr additive="base">
                                        <p:cTn id="1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735013"/>
          </a:xfrm>
        </p:spPr>
        <p:txBody>
          <a:bodyPr>
            <a:norm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TRANSACTION</a:t>
            </a:r>
            <a:endParaRPr lang="en-US" sz="3600"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876706532"/>
              </p:ext>
            </p:extLst>
          </p:nvPr>
        </p:nvGraphicFramePr>
        <p:xfrm>
          <a:off x="228600" y="914400"/>
          <a:ext cx="8648700" cy="5212400"/>
        </p:xfrm>
        <a:graphic>
          <a:graphicData uri="http://schemas.openxmlformats.org/drawingml/2006/table">
            <a:tbl>
              <a:tblPr firstRow="1" firstCol="1" bandRow="1">
                <a:tableStyleId>{5C22544A-7EE6-4342-B048-85BDC9FD1C3A}</a:tableStyleId>
              </a:tblPr>
              <a:tblGrid>
                <a:gridCol w="1864519">
                  <a:extLst>
                    <a:ext uri="{9D8B030D-6E8A-4147-A177-3AD203B41FA5}">
                      <a16:colId xmlns:a16="http://schemas.microsoft.com/office/drawing/2014/main" val="20000"/>
                    </a:ext>
                  </a:extLst>
                </a:gridCol>
                <a:gridCol w="6784181">
                  <a:extLst>
                    <a:ext uri="{9D8B030D-6E8A-4147-A177-3AD203B41FA5}">
                      <a16:colId xmlns:a16="http://schemas.microsoft.com/office/drawing/2014/main" val="20001"/>
                    </a:ext>
                  </a:extLst>
                </a:gridCol>
              </a:tblGrid>
              <a:tr h="0">
                <a:tc>
                  <a:txBody>
                    <a:bodyPr/>
                    <a:lstStyle/>
                    <a:p>
                      <a:pPr marL="0" marR="0">
                        <a:lnSpc>
                          <a:spcPct val="150000"/>
                        </a:lnSpc>
                        <a:spcBef>
                          <a:spcPts val="0"/>
                        </a:spcBef>
                        <a:spcAft>
                          <a:spcPts val="0"/>
                        </a:spcAft>
                      </a:pPr>
                      <a:r>
                        <a:rPr lang="en-US" sz="2000" dirty="0">
                          <a:solidFill>
                            <a:srgbClr val="FF0000"/>
                          </a:solidFill>
                          <a:effectLst/>
                          <a:latin typeface="Times New Roman" panose="02020603050405020304" pitchFamily="18" charset="0"/>
                          <a:cs typeface="Times New Roman" panose="02020603050405020304" pitchFamily="18" charset="0"/>
                        </a:rPr>
                        <a:t>STATE</a:t>
                      </a:r>
                      <a:endParaRPr lang="en-US" sz="20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nSpc>
                          <a:spcPct val="150000"/>
                        </a:lnSpc>
                        <a:spcBef>
                          <a:spcPts val="0"/>
                        </a:spcBef>
                        <a:spcAft>
                          <a:spcPts val="0"/>
                        </a:spcAft>
                      </a:pPr>
                      <a:r>
                        <a:rPr lang="en-US" sz="2000" dirty="0">
                          <a:solidFill>
                            <a:srgbClr val="FF0000"/>
                          </a:solidFill>
                          <a:effectLst/>
                          <a:latin typeface="Times New Roman" panose="02020603050405020304" pitchFamily="18" charset="0"/>
                          <a:cs typeface="Times New Roman" panose="02020603050405020304" pitchFamily="18" charset="0"/>
                        </a:rPr>
                        <a:t>DESCRIPTION</a:t>
                      </a:r>
                      <a:endParaRPr lang="en-US" sz="20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0">
                <a:tc>
                  <a:txBody>
                    <a:bodyPr/>
                    <a:lstStyle/>
                    <a:p>
                      <a:pPr marL="0" marR="0">
                        <a:lnSpc>
                          <a:spcPct val="150000"/>
                        </a:lnSpc>
                        <a:spcBef>
                          <a:spcPts val="0"/>
                        </a:spcBef>
                        <a:spcAft>
                          <a:spcPts val="0"/>
                        </a:spcAft>
                      </a:pPr>
                      <a:r>
                        <a:rPr lang="en-US" sz="2000" dirty="0">
                          <a:solidFill>
                            <a:srgbClr val="002060"/>
                          </a:solidFill>
                          <a:effectLst/>
                          <a:latin typeface="Times New Roman" panose="02020603050405020304" pitchFamily="18" charset="0"/>
                          <a:cs typeface="Times New Roman" panose="02020603050405020304" pitchFamily="18" charset="0"/>
                        </a:rPr>
                        <a:t>Active state</a:t>
                      </a:r>
                      <a:endParaRPr lang="en-US" sz="20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nSpc>
                          <a:spcPct val="150000"/>
                        </a:lnSpc>
                        <a:spcBef>
                          <a:spcPts val="0"/>
                        </a:spcBef>
                        <a:spcAft>
                          <a:spcPts val="0"/>
                        </a:spcAft>
                      </a:pPr>
                      <a:r>
                        <a:rPr lang="en-US" sz="2000" dirty="0">
                          <a:solidFill>
                            <a:srgbClr val="002060"/>
                          </a:solidFill>
                          <a:effectLst/>
                          <a:latin typeface="Times New Roman" panose="02020603050405020304" pitchFamily="18" charset="0"/>
                          <a:cs typeface="Times New Roman" panose="02020603050405020304" pitchFamily="18" charset="0"/>
                        </a:rPr>
                        <a:t> A transaction goes into an active state immediately after it starts execution, where it can issue READ and WRITE operations.</a:t>
                      </a:r>
                      <a:endParaRPr lang="en-US" sz="20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marR="0">
                        <a:lnSpc>
                          <a:spcPct val="150000"/>
                        </a:lnSpc>
                        <a:spcBef>
                          <a:spcPts val="0"/>
                        </a:spcBef>
                        <a:spcAft>
                          <a:spcPts val="0"/>
                        </a:spcAft>
                      </a:pPr>
                      <a:r>
                        <a:rPr lang="en-US" sz="2000">
                          <a:solidFill>
                            <a:srgbClr val="002060"/>
                          </a:solidFill>
                          <a:effectLst/>
                          <a:latin typeface="Times New Roman" panose="02020603050405020304" pitchFamily="18" charset="0"/>
                          <a:cs typeface="Times New Roman" panose="02020603050405020304" pitchFamily="18" charset="0"/>
                        </a:rPr>
                        <a:t>Partially committed</a:t>
                      </a:r>
                      <a:endParaRPr lang="en-US" sz="200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nSpc>
                          <a:spcPct val="150000"/>
                        </a:lnSpc>
                        <a:spcBef>
                          <a:spcPts val="0"/>
                        </a:spcBef>
                        <a:spcAft>
                          <a:spcPts val="0"/>
                        </a:spcAft>
                      </a:pPr>
                      <a:r>
                        <a:rPr lang="en-US" sz="2000" dirty="0">
                          <a:solidFill>
                            <a:srgbClr val="002060"/>
                          </a:solidFill>
                          <a:effectLst/>
                          <a:latin typeface="Times New Roman" panose="02020603050405020304" pitchFamily="18" charset="0"/>
                          <a:cs typeface="Times New Roman" panose="02020603050405020304" pitchFamily="18" charset="0"/>
                        </a:rPr>
                        <a:t>When the transaction ends, it moves to the partially committed state. </a:t>
                      </a:r>
                      <a:endParaRPr lang="en-US" sz="20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marL="0" marR="0">
                        <a:lnSpc>
                          <a:spcPct val="150000"/>
                        </a:lnSpc>
                        <a:spcBef>
                          <a:spcPts val="0"/>
                        </a:spcBef>
                        <a:spcAft>
                          <a:spcPts val="0"/>
                        </a:spcAft>
                      </a:pPr>
                      <a:r>
                        <a:rPr lang="en-US" sz="2000">
                          <a:solidFill>
                            <a:srgbClr val="002060"/>
                          </a:solidFill>
                          <a:effectLst/>
                          <a:latin typeface="Times New Roman" panose="02020603050405020304" pitchFamily="18" charset="0"/>
                          <a:cs typeface="Times New Roman" panose="02020603050405020304" pitchFamily="18" charset="0"/>
                        </a:rPr>
                        <a:t>Aborted</a:t>
                      </a:r>
                      <a:endParaRPr lang="en-US" sz="200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nSpc>
                          <a:spcPct val="150000"/>
                        </a:lnSpc>
                        <a:spcBef>
                          <a:spcPts val="0"/>
                        </a:spcBef>
                        <a:spcAft>
                          <a:spcPts val="0"/>
                        </a:spcAft>
                      </a:pPr>
                      <a:r>
                        <a:rPr lang="en-US" sz="2000" dirty="0">
                          <a:solidFill>
                            <a:srgbClr val="002060"/>
                          </a:solidFill>
                          <a:effectLst/>
                          <a:latin typeface="Times New Roman" panose="02020603050405020304" pitchFamily="18" charset="0"/>
                          <a:cs typeface="Times New Roman" panose="02020603050405020304" pitchFamily="18" charset="0"/>
                        </a:rPr>
                        <a:t>When the normal execution can no longer be performed.</a:t>
                      </a:r>
                      <a:br>
                        <a:rPr lang="en-US" sz="2000" dirty="0">
                          <a:solidFill>
                            <a:srgbClr val="002060"/>
                          </a:solidFill>
                          <a:effectLst/>
                          <a:latin typeface="Times New Roman" panose="02020603050405020304" pitchFamily="18" charset="0"/>
                          <a:cs typeface="Times New Roman" panose="02020603050405020304" pitchFamily="18" charset="0"/>
                        </a:rPr>
                      </a:br>
                      <a:r>
                        <a:rPr lang="en-US" sz="2000" dirty="0">
                          <a:solidFill>
                            <a:srgbClr val="FF0000"/>
                          </a:solidFill>
                          <a:effectLst/>
                          <a:latin typeface="Times New Roman" panose="02020603050405020304" pitchFamily="18" charset="0"/>
                          <a:cs typeface="Times New Roman" panose="02020603050405020304" pitchFamily="18" charset="0"/>
                        </a:rPr>
                        <a:t>Failed</a:t>
                      </a:r>
                      <a:r>
                        <a:rPr lang="en-US" sz="2000" dirty="0">
                          <a:solidFill>
                            <a:srgbClr val="002060"/>
                          </a:solidFill>
                          <a:effectLst/>
                          <a:latin typeface="Times New Roman" panose="02020603050405020304" pitchFamily="18" charset="0"/>
                          <a:cs typeface="Times New Roman" panose="02020603050405020304" pitchFamily="18" charset="0"/>
                        </a:rPr>
                        <a:t> or </a:t>
                      </a:r>
                      <a:r>
                        <a:rPr lang="en-US" sz="2000" dirty="0">
                          <a:solidFill>
                            <a:srgbClr val="FF0000"/>
                          </a:solidFill>
                          <a:effectLst/>
                          <a:latin typeface="Times New Roman" panose="02020603050405020304" pitchFamily="18" charset="0"/>
                          <a:cs typeface="Times New Roman" panose="02020603050405020304" pitchFamily="18" charset="0"/>
                        </a:rPr>
                        <a:t>aborted</a:t>
                      </a:r>
                      <a:r>
                        <a:rPr lang="en-US" sz="2000" dirty="0">
                          <a:solidFill>
                            <a:srgbClr val="002060"/>
                          </a:solidFill>
                          <a:effectLst/>
                          <a:latin typeface="Times New Roman" panose="02020603050405020304" pitchFamily="18" charset="0"/>
                          <a:cs typeface="Times New Roman" panose="02020603050405020304" pitchFamily="18" charset="0"/>
                        </a:rPr>
                        <a:t> transactions may be restarted later, either automatically or after being resubmitted by the user as new transactions.</a:t>
                      </a:r>
                      <a:endParaRPr lang="en-US" sz="20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marR="0">
                        <a:lnSpc>
                          <a:spcPct val="150000"/>
                        </a:lnSpc>
                        <a:spcBef>
                          <a:spcPts val="0"/>
                        </a:spcBef>
                        <a:spcAft>
                          <a:spcPts val="0"/>
                        </a:spcAft>
                      </a:pPr>
                      <a:r>
                        <a:rPr lang="en-US" sz="2000">
                          <a:solidFill>
                            <a:srgbClr val="002060"/>
                          </a:solidFill>
                          <a:effectLst/>
                          <a:latin typeface="Times New Roman" panose="02020603050405020304" pitchFamily="18" charset="0"/>
                          <a:cs typeface="Times New Roman" panose="02020603050405020304" pitchFamily="18" charset="0"/>
                        </a:rPr>
                        <a:t>Committed</a:t>
                      </a:r>
                      <a:endParaRPr lang="en-US" sz="200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nSpc>
                          <a:spcPct val="150000"/>
                        </a:lnSpc>
                        <a:spcBef>
                          <a:spcPts val="0"/>
                        </a:spcBef>
                        <a:spcAft>
                          <a:spcPts val="0"/>
                        </a:spcAft>
                      </a:pPr>
                      <a:r>
                        <a:rPr lang="en-US" sz="2000" dirty="0">
                          <a:solidFill>
                            <a:srgbClr val="002060"/>
                          </a:solidFill>
                          <a:effectLst/>
                          <a:latin typeface="Times New Roman" panose="02020603050405020304" pitchFamily="18" charset="0"/>
                          <a:cs typeface="Times New Roman" panose="02020603050405020304" pitchFamily="18" charset="0"/>
                        </a:rPr>
                        <a:t>After successful completion of transaction.</a:t>
                      </a:r>
                      <a:br>
                        <a:rPr lang="en-US" sz="2000" dirty="0">
                          <a:solidFill>
                            <a:srgbClr val="002060"/>
                          </a:solidFill>
                          <a:effectLst/>
                          <a:latin typeface="Times New Roman" panose="02020603050405020304" pitchFamily="18" charset="0"/>
                          <a:cs typeface="Times New Roman" panose="02020603050405020304" pitchFamily="18" charset="0"/>
                        </a:rPr>
                      </a:br>
                      <a:r>
                        <a:rPr lang="en-US" sz="2000" dirty="0">
                          <a:solidFill>
                            <a:srgbClr val="002060"/>
                          </a:solidFill>
                          <a:effectLst/>
                          <a:latin typeface="Times New Roman" panose="02020603050405020304" pitchFamily="18" charset="0"/>
                          <a:cs typeface="Times New Roman" panose="02020603050405020304" pitchFamily="18" charset="0"/>
                        </a:rPr>
                        <a:t>A transaction is said to be in a committed state if it has partially committed and it can be ensured that it will never be aborted. </a:t>
                      </a:r>
                      <a:endParaRPr lang="en-US" sz="20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76632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Transaction Execution with SQL</a:t>
            </a:r>
            <a:endParaRPr lang="en-US"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500063"/>
            <a:ext cx="9033272" cy="6357937"/>
          </a:xfrm>
        </p:spPr>
        <p:txBody>
          <a:bodyPr>
            <a:normAutofit fontScale="92500" lnSpcReduction="10000"/>
          </a:bodyPr>
          <a:lstStyle/>
          <a:p>
            <a:pPr algn="just">
              <a:lnSpc>
                <a:spcPct val="150000"/>
              </a:lnSpc>
              <a:buFont typeface="Wingdings" panose="05000000000000000000" pitchFamily="2" charset="2"/>
              <a:buChar char="v"/>
            </a:pPr>
            <a:r>
              <a:rPr lang="en-US" sz="2600" dirty="0">
                <a:solidFill>
                  <a:srgbClr val="002060"/>
                </a:solidFill>
                <a:latin typeface="Times New Roman" panose="02020603050405020304" pitchFamily="18" charset="0"/>
                <a:cs typeface="Times New Roman" panose="02020603050405020304" pitchFamily="18" charset="0"/>
              </a:rPr>
              <a:t>Transaction support is provided by two SQL statements namely </a:t>
            </a:r>
            <a:r>
              <a:rPr lang="en-US" sz="2600" dirty="0">
                <a:solidFill>
                  <a:srgbClr val="FF0000"/>
                </a:solidFill>
                <a:latin typeface="Times New Roman" panose="02020603050405020304" pitchFamily="18" charset="0"/>
                <a:cs typeface="Times New Roman" panose="02020603050405020304" pitchFamily="18" charset="0"/>
              </a:rPr>
              <a:t>COMMIT</a:t>
            </a:r>
            <a:r>
              <a:rPr lang="en-US" sz="2600" dirty="0">
                <a:solidFill>
                  <a:srgbClr val="002060"/>
                </a:solidFill>
                <a:latin typeface="Times New Roman" panose="02020603050405020304" pitchFamily="18" charset="0"/>
                <a:cs typeface="Times New Roman" panose="02020603050405020304" pitchFamily="18" charset="0"/>
              </a:rPr>
              <a:t> and </a:t>
            </a:r>
            <a:r>
              <a:rPr lang="en-US" sz="2600" dirty="0">
                <a:solidFill>
                  <a:srgbClr val="FF0000"/>
                </a:solidFill>
                <a:latin typeface="Times New Roman" panose="02020603050405020304" pitchFamily="18" charset="0"/>
                <a:cs typeface="Times New Roman" panose="02020603050405020304" pitchFamily="18" charset="0"/>
              </a:rPr>
              <a:t>ROLLBACK</a:t>
            </a:r>
            <a:r>
              <a:rPr lang="en-US" sz="2600" dirty="0">
                <a:solidFill>
                  <a:srgbClr val="002060"/>
                </a:solidFill>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v"/>
            </a:pPr>
            <a:r>
              <a:rPr lang="en-US" sz="2600" dirty="0">
                <a:solidFill>
                  <a:srgbClr val="002060"/>
                </a:solidFill>
                <a:latin typeface="Times New Roman" panose="02020603050405020304" pitchFamily="18" charset="0"/>
                <a:cs typeface="Times New Roman" panose="02020603050405020304" pitchFamily="18" charset="0"/>
              </a:rPr>
              <a:t>Transaction sequence is initiated by a </a:t>
            </a:r>
            <a:r>
              <a:rPr lang="en-US" sz="2600" dirty="0">
                <a:solidFill>
                  <a:srgbClr val="FF0000"/>
                </a:solidFill>
                <a:latin typeface="Times New Roman" panose="02020603050405020304" pitchFamily="18" charset="0"/>
                <a:cs typeface="Times New Roman" panose="02020603050405020304" pitchFamily="18" charset="0"/>
              </a:rPr>
              <a:t>user</a:t>
            </a:r>
            <a:r>
              <a:rPr lang="en-US" sz="2600" dirty="0">
                <a:solidFill>
                  <a:srgbClr val="002060"/>
                </a:solidFill>
                <a:latin typeface="Times New Roman" panose="02020603050405020304" pitchFamily="18" charset="0"/>
                <a:cs typeface="Times New Roman" panose="02020603050405020304" pitchFamily="18" charset="0"/>
              </a:rPr>
              <a:t> or an </a:t>
            </a:r>
            <a:r>
              <a:rPr lang="en-US" sz="2600" dirty="0">
                <a:solidFill>
                  <a:srgbClr val="FF0000"/>
                </a:solidFill>
                <a:latin typeface="Times New Roman" panose="02020603050405020304" pitchFamily="18" charset="0"/>
                <a:cs typeface="Times New Roman" panose="02020603050405020304" pitchFamily="18" charset="0"/>
              </a:rPr>
              <a:t>application program</a:t>
            </a:r>
            <a:r>
              <a:rPr lang="en-US" sz="2600" dirty="0">
                <a:solidFill>
                  <a:srgbClr val="002060"/>
                </a:solidFill>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v"/>
            </a:pPr>
            <a:r>
              <a:rPr lang="en-US" sz="2600" dirty="0">
                <a:solidFill>
                  <a:srgbClr val="002060"/>
                </a:solidFill>
                <a:latin typeface="Times New Roman" panose="02020603050405020304" pitchFamily="18" charset="0"/>
                <a:cs typeface="Times New Roman" panose="02020603050405020304" pitchFamily="18" charset="0"/>
              </a:rPr>
              <a:t>It must continue through all succeeding SQL statements until one of the following </a:t>
            </a:r>
            <a:r>
              <a:rPr lang="en-US" sz="2600" dirty="0">
                <a:solidFill>
                  <a:srgbClr val="FF0000"/>
                </a:solidFill>
                <a:latin typeface="Times New Roman" panose="02020603050405020304" pitchFamily="18" charset="0"/>
                <a:cs typeface="Times New Roman" panose="02020603050405020304" pitchFamily="18" charset="0"/>
              </a:rPr>
              <a:t>four events</a:t>
            </a:r>
            <a:r>
              <a:rPr lang="en-US" sz="2600" dirty="0">
                <a:solidFill>
                  <a:srgbClr val="002060"/>
                </a:solidFill>
                <a:latin typeface="Times New Roman" panose="02020603050405020304" pitchFamily="18" charset="0"/>
                <a:cs typeface="Times New Roman" panose="02020603050405020304" pitchFamily="18" charset="0"/>
              </a:rPr>
              <a:t> occur:</a:t>
            </a:r>
          </a:p>
          <a:p>
            <a:pPr marL="914400" lvl="0" indent="-457200" algn="just">
              <a:lnSpc>
                <a:spcPct val="150000"/>
              </a:lnSpc>
              <a:buClr>
                <a:srgbClr val="FF0000"/>
              </a:buClr>
              <a:buFont typeface="+mj-lt"/>
              <a:buAutoNum type="arabicParenR"/>
            </a:pPr>
            <a:r>
              <a:rPr lang="en-US" sz="2600" dirty="0">
                <a:solidFill>
                  <a:srgbClr val="002060"/>
                </a:solidFill>
                <a:latin typeface="Times New Roman" panose="02020603050405020304" pitchFamily="18" charset="0"/>
                <a:cs typeface="Times New Roman" panose="02020603050405020304" pitchFamily="18" charset="0"/>
              </a:rPr>
              <a:t>A </a:t>
            </a:r>
            <a:r>
              <a:rPr lang="en-US" sz="2600" b="1" dirty="0">
                <a:solidFill>
                  <a:srgbClr val="FF0000"/>
                </a:solidFill>
                <a:latin typeface="Times New Roman" panose="02020603050405020304" pitchFamily="18" charset="0"/>
                <a:cs typeface="Times New Roman" panose="02020603050405020304" pitchFamily="18" charset="0"/>
              </a:rPr>
              <a:t>COMMIT statement </a:t>
            </a:r>
            <a:r>
              <a:rPr lang="en-US" sz="2600" dirty="0">
                <a:solidFill>
                  <a:srgbClr val="002060"/>
                </a:solidFill>
                <a:latin typeface="Times New Roman" panose="02020603050405020304" pitchFamily="18" charset="0"/>
                <a:cs typeface="Times New Roman" panose="02020603050405020304" pitchFamily="18" charset="0"/>
              </a:rPr>
              <a:t>is reached, in which case all changes are </a:t>
            </a:r>
            <a:r>
              <a:rPr lang="en-US" sz="2600" u="sng" dirty="0">
                <a:solidFill>
                  <a:srgbClr val="002060"/>
                </a:solidFill>
                <a:latin typeface="Times New Roman" panose="02020603050405020304" pitchFamily="18" charset="0"/>
                <a:cs typeface="Times New Roman" panose="02020603050405020304" pitchFamily="18" charset="0"/>
              </a:rPr>
              <a:t>permanently recorded</a:t>
            </a:r>
            <a:r>
              <a:rPr lang="en-US" sz="2600" dirty="0">
                <a:solidFill>
                  <a:srgbClr val="002060"/>
                </a:solidFill>
                <a:latin typeface="Times New Roman" panose="02020603050405020304" pitchFamily="18" charset="0"/>
                <a:cs typeface="Times New Roman" panose="02020603050405020304" pitchFamily="18" charset="0"/>
              </a:rPr>
              <a:t> within the database. </a:t>
            </a:r>
          </a:p>
          <a:p>
            <a:pPr marL="457200" lvl="0" indent="0" algn="just">
              <a:lnSpc>
                <a:spcPct val="150000"/>
              </a:lnSpc>
              <a:buClr>
                <a:srgbClr val="FF0000"/>
              </a:buClr>
              <a:buNone/>
            </a:pPr>
            <a:r>
              <a:rPr lang="en-US" sz="2600" dirty="0">
                <a:solidFill>
                  <a:srgbClr val="002060"/>
                </a:solidFill>
                <a:latin typeface="Times New Roman" panose="02020603050405020304" pitchFamily="18" charset="0"/>
                <a:cs typeface="Times New Roman" panose="02020603050405020304" pitchFamily="18" charset="0"/>
              </a:rPr>
              <a:t>	The COMMIT statement </a:t>
            </a:r>
            <a:r>
              <a:rPr lang="en-US" sz="2600" dirty="0">
                <a:solidFill>
                  <a:srgbClr val="FF0000"/>
                </a:solidFill>
                <a:latin typeface="Times New Roman" panose="02020603050405020304" pitchFamily="18" charset="0"/>
                <a:cs typeface="Times New Roman" panose="02020603050405020304" pitchFamily="18" charset="0"/>
              </a:rPr>
              <a:t>automatically ends </a:t>
            </a:r>
            <a:r>
              <a:rPr lang="en-US" sz="2600" dirty="0">
                <a:solidFill>
                  <a:srgbClr val="002060"/>
                </a:solidFill>
                <a:latin typeface="Times New Roman" panose="02020603050405020304" pitchFamily="18" charset="0"/>
                <a:cs typeface="Times New Roman" panose="02020603050405020304" pitchFamily="18" charset="0"/>
              </a:rPr>
              <a:t>the SQL transaction. </a:t>
            </a:r>
          </a:p>
          <a:p>
            <a:pPr marL="457200" lvl="0" indent="0" algn="just">
              <a:lnSpc>
                <a:spcPct val="150000"/>
              </a:lnSpc>
              <a:buClr>
                <a:srgbClr val="FF0000"/>
              </a:buClr>
              <a:buNone/>
            </a:pPr>
            <a:r>
              <a:rPr lang="en-US" sz="2600" dirty="0">
                <a:solidFill>
                  <a:srgbClr val="002060"/>
                </a:solidFill>
                <a:latin typeface="Times New Roman" panose="02020603050405020304" pitchFamily="18" charset="0"/>
                <a:cs typeface="Times New Roman" panose="02020603050405020304" pitchFamily="18" charset="0"/>
              </a:rPr>
              <a:t>	The COMMIT operations indicates </a:t>
            </a:r>
            <a:r>
              <a:rPr lang="en-US" sz="2600" dirty="0">
                <a:solidFill>
                  <a:srgbClr val="FF0000"/>
                </a:solidFill>
                <a:latin typeface="Times New Roman" panose="02020603050405020304" pitchFamily="18" charset="0"/>
                <a:cs typeface="Times New Roman" panose="02020603050405020304" pitchFamily="18" charset="0"/>
              </a:rPr>
              <a:t>successful end-of-transaction</a:t>
            </a:r>
            <a:r>
              <a:rPr lang="en-US" sz="2600" dirty="0">
                <a:solidFill>
                  <a:srgbClr val="002060"/>
                </a:solidFill>
                <a:latin typeface="Times New Roman" panose="02020603050405020304" pitchFamily="18" charset="0"/>
                <a:cs typeface="Times New Roman" panose="02020603050405020304" pitchFamily="18" charset="0"/>
              </a:rPr>
              <a:t>. </a:t>
            </a:r>
          </a:p>
          <a:p>
            <a:endParaRPr lang="en-US" dirty="0"/>
          </a:p>
          <a:p>
            <a:endParaRPr lang="en-US" dirty="0"/>
          </a:p>
          <a:p>
            <a:endParaRPr lang="en-US" dirty="0"/>
          </a:p>
        </p:txBody>
      </p:sp>
    </p:spTree>
    <p:extLst>
      <p:ext uri="{BB962C8B-B14F-4D97-AF65-F5344CB8AC3E}">
        <p14:creationId xmlns:p14="http://schemas.microsoft.com/office/powerpoint/2010/main" val="1379724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Transaction Execution with SQL </a:t>
            </a:r>
            <a:r>
              <a:rPr lang="en-US" sz="2000" b="1" dirty="0">
                <a:solidFill>
                  <a:srgbClr val="FF0000"/>
                </a:solidFill>
                <a:latin typeface="Times New Roman" panose="02020603050405020304" pitchFamily="18" charset="0"/>
                <a:cs typeface="Times New Roman" panose="02020603050405020304" pitchFamily="18" charset="0"/>
              </a:rPr>
              <a:t>(Cont…)</a:t>
            </a:r>
            <a:endParaRPr lang="en-US" sz="20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599" y="500063"/>
            <a:ext cx="8804673" cy="6129337"/>
          </a:xfrm>
        </p:spPr>
        <p:txBody>
          <a:bodyPr>
            <a:normAutofit fontScale="92500" lnSpcReduction="20000"/>
          </a:bodyPr>
          <a:lstStyle/>
          <a:p>
            <a:pPr marL="465138" lvl="0" indent="-344488" algn="just">
              <a:lnSpc>
                <a:spcPct val="150000"/>
              </a:lnSpc>
              <a:buClr>
                <a:srgbClr val="FF0000"/>
              </a:buClr>
              <a:buFont typeface="+mj-lt"/>
              <a:buAutoNum type="arabicParenR" startAt="2"/>
            </a:pPr>
            <a:r>
              <a:rPr lang="en-US" sz="2600" dirty="0">
                <a:solidFill>
                  <a:srgbClr val="002060"/>
                </a:solidFill>
                <a:latin typeface="Times New Roman" panose="02020603050405020304" pitchFamily="18" charset="0"/>
                <a:cs typeface="Times New Roman" panose="02020603050405020304" pitchFamily="18" charset="0"/>
              </a:rPr>
              <a:t>A </a:t>
            </a:r>
            <a:r>
              <a:rPr lang="en-US" sz="2600" b="1" dirty="0">
                <a:solidFill>
                  <a:srgbClr val="FF0000"/>
                </a:solidFill>
                <a:latin typeface="Times New Roman" panose="02020603050405020304" pitchFamily="18" charset="0"/>
                <a:cs typeface="Times New Roman" panose="02020603050405020304" pitchFamily="18" charset="0"/>
              </a:rPr>
              <a:t>ROLLBACK statement </a:t>
            </a:r>
            <a:r>
              <a:rPr lang="en-US" sz="2600" dirty="0">
                <a:solidFill>
                  <a:srgbClr val="002060"/>
                </a:solidFill>
                <a:latin typeface="Times New Roman" panose="02020603050405020304" pitchFamily="18" charset="0"/>
                <a:cs typeface="Times New Roman" panose="02020603050405020304" pitchFamily="18" charset="0"/>
              </a:rPr>
              <a:t>is reached, in which case all the changes are </a:t>
            </a:r>
            <a:r>
              <a:rPr lang="en-US" sz="2600" dirty="0">
                <a:solidFill>
                  <a:srgbClr val="FF0000"/>
                </a:solidFill>
                <a:latin typeface="Times New Roman" panose="02020603050405020304" pitchFamily="18" charset="0"/>
                <a:cs typeface="Times New Roman" panose="02020603050405020304" pitchFamily="18" charset="0"/>
              </a:rPr>
              <a:t>aborted</a:t>
            </a:r>
            <a:r>
              <a:rPr lang="en-US" sz="2600" dirty="0">
                <a:solidFill>
                  <a:srgbClr val="002060"/>
                </a:solidFill>
                <a:latin typeface="Times New Roman" panose="02020603050405020304" pitchFamily="18" charset="0"/>
                <a:cs typeface="Times New Roman" panose="02020603050405020304" pitchFamily="18" charset="0"/>
              </a:rPr>
              <a:t> and the database is rolled back to its </a:t>
            </a:r>
            <a:r>
              <a:rPr lang="en-US" sz="2600" dirty="0">
                <a:solidFill>
                  <a:srgbClr val="FF0000"/>
                </a:solidFill>
                <a:latin typeface="Times New Roman" panose="02020603050405020304" pitchFamily="18" charset="0"/>
                <a:cs typeface="Times New Roman" panose="02020603050405020304" pitchFamily="18" charset="0"/>
              </a:rPr>
              <a:t>previous consistent state</a:t>
            </a:r>
            <a:r>
              <a:rPr lang="en-US" sz="2600" dirty="0">
                <a:solidFill>
                  <a:srgbClr val="002060"/>
                </a:solidFill>
                <a:latin typeface="Times New Roman" panose="02020603050405020304" pitchFamily="18" charset="0"/>
                <a:cs typeface="Times New Roman" panose="02020603050405020304" pitchFamily="18" charset="0"/>
              </a:rPr>
              <a:t>. </a:t>
            </a:r>
          </a:p>
          <a:p>
            <a:pPr marL="465138" lvl="0" indent="-344488" algn="just">
              <a:lnSpc>
                <a:spcPct val="150000"/>
              </a:lnSpc>
              <a:buClr>
                <a:srgbClr val="FF0000"/>
              </a:buClr>
              <a:buNone/>
            </a:pPr>
            <a:r>
              <a:rPr lang="en-US" sz="2600" dirty="0">
                <a:solidFill>
                  <a:srgbClr val="002060"/>
                </a:solidFill>
                <a:latin typeface="Times New Roman" panose="02020603050405020304" pitchFamily="18" charset="0"/>
                <a:cs typeface="Times New Roman" panose="02020603050405020304" pitchFamily="18" charset="0"/>
              </a:rPr>
              <a:t>	The ROLLBACK operation indicates </a:t>
            </a:r>
            <a:r>
              <a:rPr lang="en-US" sz="2600" dirty="0">
                <a:solidFill>
                  <a:srgbClr val="FF0000"/>
                </a:solidFill>
                <a:latin typeface="Times New Roman" panose="02020603050405020304" pitchFamily="18" charset="0"/>
                <a:cs typeface="Times New Roman" panose="02020603050405020304" pitchFamily="18" charset="0"/>
              </a:rPr>
              <a:t>unsuccessful</a:t>
            </a:r>
            <a:r>
              <a:rPr lang="en-US" sz="2600" dirty="0">
                <a:solidFill>
                  <a:srgbClr val="002060"/>
                </a:solidFill>
                <a:latin typeface="Times New Roman" panose="02020603050405020304" pitchFamily="18" charset="0"/>
                <a:cs typeface="Times New Roman" panose="02020603050405020304" pitchFamily="18" charset="0"/>
              </a:rPr>
              <a:t> end-of- </a:t>
            </a:r>
          </a:p>
          <a:p>
            <a:pPr marL="465138" lvl="0" indent="-344488" algn="just">
              <a:lnSpc>
                <a:spcPct val="150000"/>
              </a:lnSpc>
              <a:buClr>
                <a:srgbClr val="FF0000"/>
              </a:buClr>
              <a:buNone/>
            </a:pPr>
            <a:r>
              <a:rPr lang="en-US" sz="2600" dirty="0">
                <a:solidFill>
                  <a:srgbClr val="002060"/>
                </a:solidFill>
                <a:latin typeface="Times New Roman" panose="02020603050405020304" pitchFamily="18" charset="0"/>
                <a:cs typeface="Times New Roman" panose="02020603050405020304" pitchFamily="18" charset="0"/>
              </a:rPr>
              <a:t>	transaction. </a:t>
            </a:r>
          </a:p>
          <a:p>
            <a:pPr marL="465138" lvl="0" indent="-344488" algn="just">
              <a:lnSpc>
                <a:spcPct val="150000"/>
              </a:lnSpc>
              <a:buClr>
                <a:srgbClr val="FF0000"/>
              </a:buClr>
              <a:buFont typeface="+mj-lt"/>
              <a:buAutoNum type="arabicParenR" startAt="3"/>
            </a:pPr>
            <a:r>
              <a:rPr lang="en-US" sz="2600" dirty="0">
                <a:solidFill>
                  <a:srgbClr val="002060"/>
                </a:solidFill>
                <a:latin typeface="Times New Roman" panose="02020603050405020304" pitchFamily="18" charset="0"/>
                <a:cs typeface="Times New Roman" panose="02020603050405020304" pitchFamily="18" charset="0"/>
              </a:rPr>
              <a:t>The end of a program is successfully reached, in which case all changes are permanently recorded within the database. This action is equivalent to COMMIT. </a:t>
            </a:r>
          </a:p>
          <a:p>
            <a:pPr marL="465138" lvl="0" indent="-344488" algn="just">
              <a:lnSpc>
                <a:spcPct val="150000"/>
              </a:lnSpc>
              <a:buClr>
                <a:srgbClr val="FF0000"/>
              </a:buClr>
              <a:buFont typeface="+mj-lt"/>
              <a:buAutoNum type="arabicParenR" startAt="3"/>
            </a:pPr>
            <a:r>
              <a:rPr lang="en-US" sz="2600" dirty="0">
                <a:solidFill>
                  <a:srgbClr val="002060"/>
                </a:solidFill>
                <a:latin typeface="Times New Roman" panose="02020603050405020304" pitchFamily="18" charset="0"/>
                <a:cs typeface="Times New Roman" panose="02020603050405020304" pitchFamily="18" charset="0"/>
              </a:rPr>
              <a:t>The program is </a:t>
            </a:r>
            <a:r>
              <a:rPr lang="en-US" sz="2600" dirty="0">
                <a:solidFill>
                  <a:srgbClr val="FF0000"/>
                </a:solidFill>
                <a:latin typeface="Times New Roman" panose="02020603050405020304" pitchFamily="18" charset="0"/>
                <a:cs typeface="Times New Roman" panose="02020603050405020304" pitchFamily="18" charset="0"/>
              </a:rPr>
              <a:t>abnormally terminated</a:t>
            </a:r>
            <a:r>
              <a:rPr lang="en-US" sz="2600" dirty="0">
                <a:solidFill>
                  <a:srgbClr val="002060"/>
                </a:solidFill>
                <a:latin typeface="Times New Roman" panose="02020603050405020304" pitchFamily="18" charset="0"/>
                <a:cs typeface="Times New Roman" panose="02020603050405020304" pitchFamily="18" charset="0"/>
              </a:rPr>
              <a:t>, in which case the changes made in the database are aborted and the database is rolled back to its </a:t>
            </a:r>
            <a:r>
              <a:rPr lang="en-US" sz="2600" dirty="0">
                <a:solidFill>
                  <a:srgbClr val="FF0000"/>
                </a:solidFill>
                <a:latin typeface="Times New Roman" panose="02020603050405020304" pitchFamily="18" charset="0"/>
                <a:cs typeface="Times New Roman" panose="02020603050405020304" pitchFamily="18" charset="0"/>
              </a:rPr>
              <a:t>previous consistent state</a:t>
            </a:r>
            <a:r>
              <a:rPr lang="en-US" sz="2600" dirty="0">
                <a:solidFill>
                  <a:srgbClr val="002060"/>
                </a:solidFill>
                <a:latin typeface="Times New Roman" panose="02020603050405020304" pitchFamily="18" charset="0"/>
                <a:cs typeface="Times New Roman" panose="02020603050405020304" pitchFamily="18" charset="0"/>
              </a:rPr>
              <a:t>. This action is equivalent to </a:t>
            </a:r>
            <a:r>
              <a:rPr lang="en-US" sz="2600" dirty="0">
                <a:solidFill>
                  <a:srgbClr val="FF0000"/>
                </a:solidFill>
                <a:latin typeface="Times New Roman" panose="02020603050405020304" pitchFamily="18" charset="0"/>
                <a:cs typeface="Times New Roman" panose="02020603050405020304" pitchFamily="18" charset="0"/>
              </a:rPr>
              <a:t>ROLLBACK</a:t>
            </a:r>
            <a:r>
              <a:rPr lang="en-US" sz="2600" dirty="0">
                <a:solidFill>
                  <a:srgbClr val="002060"/>
                </a:solidFill>
                <a:latin typeface="Times New Roman" panose="02020603050405020304" pitchFamily="18" charset="0"/>
                <a:cs typeface="Times New Roman" panose="02020603050405020304" pitchFamily="18" charset="0"/>
              </a:rPr>
              <a:t>.</a:t>
            </a:r>
            <a:endParaRPr lang="en-US" dirty="0"/>
          </a:p>
        </p:txBody>
      </p:sp>
    </p:spTree>
    <p:extLst>
      <p:ext uri="{BB962C8B-B14F-4D97-AF65-F5344CB8AC3E}">
        <p14:creationId xmlns:p14="http://schemas.microsoft.com/office/powerpoint/2010/main" val="3364126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TRANSACTION PROPERTIES</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500063"/>
            <a:ext cx="9033272" cy="6357937"/>
          </a:xfrm>
        </p:spPr>
        <p:txBody>
          <a:bodyPr>
            <a:normAutofit/>
          </a:bodyPr>
          <a:lstStyle/>
          <a:p>
            <a:endParaRPr lang="en-US" dirty="0"/>
          </a:p>
          <a:p>
            <a:endParaRPr lang="en-US" dirty="0"/>
          </a:p>
          <a:p>
            <a:endParaRPr lang="en-US" dirty="0"/>
          </a:p>
        </p:txBody>
      </p:sp>
      <p:sp>
        <p:nvSpPr>
          <p:cNvPr id="4" name="Rectangle 3"/>
          <p:cNvSpPr/>
          <p:nvPr/>
        </p:nvSpPr>
        <p:spPr>
          <a:xfrm>
            <a:off x="96440" y="694774"/>
            <a:ext cx="8936832" cy="5678478"/>
          </a:xfrm>
          <a:prstGeom prst="rect">
            <a:avLst/>
          </a:prstGeom>
        </p:spPr>
        <p:txBody>
          <a:bodyPr wrap="square">
            <a:spAutoFit/>
          </a:bodyPr>
          <a:lstStyle/>
          <a:p>
            <a:pPr algn="just">
              <a:lnSpc>
                <a:spcPct val="150000"/>
              </a:lnSpc>
            </a:pPr>
            <a:r>
              <a:rPr lang="en-US" sz="2800" dirty="0">
                <a:solidFill>
                  <a:srgbClr val="002060"/>
                </a:solidFill>
                <a:latin typeface="Times New Roman" panose="02020603050405020304" pitchFamily="18" charset="0"/>
                <a:cs typeface="Times New Roman" panose="02020603050405020304" pitchFamily="18" charset="0"/>
              </a:rPr>
              <a:t>A transaction must have the four properties, called </a:t>
            </a:r>
            <a:r>
              <a:rPr lang="en-US" sz="2800" b="1" dirty="0">
                <a:solidFill>
                  <a:srgbClr val="FF0000"/>
                </a:solidFill>
                <a:latin typeface="Times New Roman" panose="02020603050405020304" pitchFamily="18" charset="0"/>
                <a:cs typeface="Times New Roman" panose="02020603050405020304" pitchFamily="18" charset="0"/>
              </a:rPr>
              <a:t>ACID</a:t>
            </a:r>
            <a:r>
              <a:rPr lang="en-US" sz="2800" dirty="0">
                <a:solidFill>
                  <a:srgbClr val="002060"/>
                </a:solidFill>
                <a:latin typeface="Times New Roman" panose="02020603050405020304" pitchFamily="18" charset="0"/>
                <a:cs typeface="Times New Roman" panose="02020603050405020304" pitchFamily="18" charset="0"/>
              </a:rPr>
              <a:t> properties (also called ACIDITY of a transaction), to ensure that a database remains stable state after the transaction is executed:</a:t>
            </a:r>
          </a:p>
          <a:p>
            <a:pPr marL="914400" lvl="0" indent="-457200" algn="just">
              <a:lnSpc>
                <a:spcPct val="150000"/>
              </a:lnSpc>
              <a:buFont typeface="+mj-lt"/>
              <a:buAutoNum type="arabicPeriod"/>
            </a:pPr>
            <a:r>
              <a:rPr lang="en-US" sz="2800" b="1" dirty="0">
                <a:solidFill>
                  <a:srgbClr val="FF0000"/>
                </a:solidFill>
                <a:latin typeface="Times New Roman" panose="02020603050405020304" pitchFamily="18" charset="0"/>
                <a:cs typeface="Times New Roman" panose="02020603050405020304" pitchFamily="18" charset="0"/>
              </a:rPr>
              <a:t>A</a:t>
            </a:r>
            <a:r>
              <a:rPr lang="en-US" sz="2800" dirty="0">
                <a:solidFill>
                  <a:srgbClr val="002060"/>
                </a:solidFill>
                <a:latin typeface="Times New Roman" panose="02020603050405020304" pitchFamily="18" charset="0"/>
                <a:cs typeface="Times New Roman" panose="02020603050405020304" pitchFamily="18" charset="0"/>
              </a:rPr>
              <a:t>tomicity. </a:t>
            </a:r>
          </a:p>
          <a:p>
            <a:pPr marL="914400" lvl="0" indent="-457200" algn="just">
              <a:lnSpc>
                <a:spcPct val="150000"/>
              </a:lnSpc>
              <a:buFont typeface="+mj-lt"/>
              <a:buAutoNum type="arabicPeriod"/>
            </a:pPr>
            <a:r>
              <a:rPr lang="en-US" sz="2800" b="1" dirty="0">
                <a:solidFill>
                  <a:srgbClr val="FF0000"/>
                </a:solidFill>
                <a:latin typeface="Times New Roman" panose="02020603050405020304" pitchFamily="18" charset="0"/>
                <a:cs typeface="Times New Roman" panose="02020603050405020304" pitchFamily="18" charset="0"/>
              </a:rPr>
              <a:t>C</a:t>
            </a:r>
            <a:r>
              <a:rPr lang="en-US" sz="2800" dirty="0">
                <a:solidFill>
                  <a:srgbClr val="002060"/>
                </a:solidFill>
                <a:latin typeface="Times New Roman" panose="02020603050405020304" pitchFamily="18" charset="0"/>
                <a:cs typeface="Times New Roman" panose="02020603050405020304" pitchFamily="18" charset="0"/>
              </a:rPr>
              <a:t>onsistency.</a:t>
            </a:r>
          </a:p>
          <a:p>
            <a:pPr marL="914400" lvl="0" indent="-457200" algn="just">
              <a:lnSpc>
                <a:spcPct val="150000"/>
              </a:lnSpc>
              <a:buFont typeface="+mj-lt"/>
              <a:buAutoNum type="arabicPeriod"/>
            </a:pPr>
            <a:r>
              <a:rPr lang="en-US" sz="2800" b="1" dirty="0">
                <a:solidFill>
                  <a:srgbClr val="FF0000"/>
                </a:solidFill>
                <a:latin typeface="Times New Roman" panose="02020603050405020304" pitchFamily="18" charset="0"/>
                <a:cs typeface="Times New Roman" panose="02020603050405020304" pitchFamily="18" charset="0"/>
              </a:rPr>
              <a:t>I</a:t>
            </a:r>
            <a:r>
              <a:rPr lang="en-US" sz="2800" dirty="0">
                <a:solidFill>
                  <a:srgbClr val="002060"/>
                </a:solidFill>
                <a:latin typeface="Times New Roman" panose="02020603050405020304" pitchFamily="18" charset="0"/>
                <a:cs typeface="Times New Roman" panose="02020603050405020304" pitchFamily="18" charset="0"/>
              </a:rPr>
              <a:t>solation.</a:t>
            </a:r>
          </a:p>
          <a:p>
            <a:pPr marL="914400" lvl="0" indent="-457200" algn="just">
              <a:lnSpc>
                <a:spcPct val="150000"/>
              </a:lnSpc>
              <a:buFont typeface="+mj-lt"/>
              <a:buAutoNum type="arabicPeriod"/>
            </a:pPr>
            <a:r>
              <a:rPr lang="en-US" sz="2800" b="1" dirty="0">
                <a:solidFill>
                  <a:srgbClr val="FF0000"/>
                </a:solidFill>
                <a:latin typeface="Times New Roman" panose="02020603050405020304" pitchFamily="18" charset="0"/>
                <a:cs typeface="Times New Roman" panose="02020603050405020304" pitchFamily="18" charset="0"/>
              </a:rPr>
              <a:t>D</a:t>
            </a:r>
            <a:r>
              <a:rPr lang="en-US" sz="2800" dirty="0">
                <a:solidFill>
                  <a:srgbClr val="002060"/>
                </a:solidFill>
                <a:latin typeface="Times New Roman" panose="02020603050405020304" pitchFamily="18" charset="0"/>
                <a:cs typeface="Times New Roman" panose="02020603050405020304" pitchFamily="18" charset="0"/>
              </a:rPr>
              <a:t>urability.</a:t>
            </a:r>
          </a:p>
          <a:p>
            <a:pPr algn="just">
              <a:lnSpc>
                <a:spcPct val="150000"/>
              </a:lnSpc>
            </a:pPr>
            <a:endParaRPr lang="en-US" dirty="0"/>
          </a:p>
        </p:txBody>
      </p:sp>
    </p:spTree>
    <p:extLst>
      <p:ext uri="{BB962C8B-B14F-4D97-AF65-F5344CB8AC3E}">
        <p14:creationId xmlns:p14="http://schemas.microsoft.com/office/powerpoint/2010/main" val="1513033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TRANSACTION PROPERTIES</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500063"/>
            <a:ext cx="9033272" cy="6357937"/>
          </a:xfrm>
        </p:spPr>
        <p:txBody>
          <a:bodyPr>
            <a:normAutofit/>
          </a:bodyPr>
          <a:lstStyle/>
          <a:p>
            <a:endParaRPr lang="en-US" dirty="0"/>
          </a:p>
          <a:p>
            <a:endParaRPr lang="en-US" dirty="0"/>
          </a:p>
          <a:p>
            <a:endParaRPr lang="en-US" dirty="0"/>
          </a:p>
        </p:txBody>
      </p:sp>
      <p:sp>
        <p:nvSpPr>
          <p:cNvPr id="4" name="Rectangle 3"/>
          <p:cNvSpPr/>
          <p:nvPr/>
        </p:nvSpPr>
        <p:spPr>
          <a:xfrm>
            <a:off x="96440" y="500061"/>
            <a:ext cx="8936832" cy="5262979"/>
          </a:xfrm>
          <a:prstGeom prst="rect">
            <a:avLst/>
          </a:prstGeom>
        </p:spPr>
        <p:txBody>
          <a:bodyPr wrap="square">
            <a:spAutoFit/>
          </a:bodyPr>
          <a:lstStyle/>
          <a:p>
            <a:pPr algn="just">
              <a:lnSpc>
                <a:spcPct val="150000"/>
              </a:lnSpc>
            </a:pPr>
            <a:r>
              <a:rPr lang="en-US" sz="28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1. Atomicity:</a:t>
            </a:r>
            <a:r>
              <a:rPr lang="en-US" sz="2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p>
          <a:p>
            <a:pPr marL="914400" indent="-457200" algn="just">
              <a:lnSpc>
                <a:spcPct val="150000"/>
              </a:lnSpc>
              <a:buFont typeface="Wingdings" panose="05000000000000000000" pitchFamily="2" charset="2"/>
              <a:buChar char="v"/>
            </a:pPr>
            <a:r>
              <a:rPr lang="en-US"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Atomicity refers to the guarantee that either </a:t>
            </a: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all of the tasks </a:t>
            </a:r>
            <a:r>
              <a:rPr lang="en-US"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of a transaction are performed or </a:t>
            </a: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none of them are</a:t>
            </a:r>
            <a:r>
              <a:rPr lang="en-US"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p>
          <a:p>
            <a:pPr marL="914400" indent="-457200" algn="just">
              <a:lnSpc>
                <a:spcPct val="150000"/>
              </a:lnSpc>
              <a:buFont typeface="Wingdings" panose="05000000000000000000" pitchFamily="2" charset="2"/>
              <a:buChar char="v"/>
            </a:pPr>
            <a:r>
              <a:rPr lang="en-US"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Database modifications must follow an </a:t>
            </a:r>
            <a:r>
              <a:rPr lang="en-US" sz="28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all </a:t>
            </a:r>
            <a:r>
              <a:rPr lang="en-US" sz="2800" u="sng"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or</a:t>
            </a:r>
            <a:r>
              <a:rPr lang="en-US" sz="28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nothing rule</a:t>
            </a:r>
            <a:r>
              <a:rPr lang="en-US"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p>
          <a:p>
            <a:pPr marL="914400" indent="-457200" algn="just">
              <a:lnSpc>
                <a:spcPct val="150000"/>
              </a:lnSpc>
              <a:buFont typeface="Wingdings" panose="05000000000000000000" pitchFamily="2" charset="2"/>
              <a:buChar char="v"/>
            </a:pPr>
            <a:r>
              <a:rPr lang="en-US"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Each transaction is said to be atomic if when </a:t>
            </a:r>
            <a:r>
              <a:rPr lang="en-US" sz="2800" u="sng"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one part of the transaction fails, the entire transaction fails</a:t>
            </a:r>
            <a:r>
              <a:rPr lang="en-US"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a:r>
            <a:endParaRPr lang="en-US" dirty="0"/>
          </a:p>
        </p:txBody>
      </p:sp>
    </p:spTree>
    <p:extLst>
      <p:ext uri="{BB962C8B-B14F-4D97-AF65-F5344CB8AC3E}">
        <p14:creationId xmlns:p14="http://schemas.microsoft.com/office/powerpoint/2010/main" val="667955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TRANSACTION PROPERTIES</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500063"/>
            <a:ext cx="9033272" cy="6357937"/>
          </a:xfrm>
        </p:spPr>
        <p:txBody>
          <a:bodyPr>
            <a:normAutofit/>
          </a:bodyPr>
          <a:lstStyle/>
          <a:p>
            <a:endParaRPr lang="en-US" dirty="0"/>
          </a:p>
          <a:p>
            <a:endParaRPr lang="en-US" dirty="0"/>
          </a:p>
          <a:p>
            <a:endParaRPr lang="en-US" dirty="0"/>
          </a:p>
        </p:txBody>
      </p:sp>
      <p:sp>
        <p:nvSpPr>
          <p:cNvPr id="4" name="Rectangle 3"/>
          <p:cNvSpPr/>
          <p:nvPr/>
        </p:nvSpPr>
        <p:spPr>
          <a:xfrm>
            <a:off x="96440" y="500061"/>
            <a:ext cx="8936832" cy="5011949"/>
          </a:xfrm>
          <a:prstGeom prst="rect">
            <a:avLst/>
          </a:prstGeom>
        </p:spPr>
        <p:txBody>
          <a:bodyPr wrap="square">
            <a:spAutoFit/>
          </a:bodyPr>
          <a:lstStyle/>
          <a:p>
            <a:pPr lvl="0" eaLnBrk="0" fontAlgn="base" hangingPunct="0">
              <a:lnSpc>
                <a:spcPct val="150000"/>
              </a:lnSpc>
              <a:spcBef>
                <a:spcPct val="0"/>
              </a:spcBef>
              <a:spcAft>
                <a:spcPct val="0"/>
              </a:spcAft>
            </a:pPr>
            <a:r>
              <a:rPr lang="en-US" sz="2400" b="1" dirty="0">
                <a:solidFill>
                  <a:srgbClr val="FF0000"/>
                </a:solidFill>
                <a:latin typeface="Times New Roman" panose="02020603050405020304" pitchFamily="18" charset="0"/>
                <a:cs typeface="Times New Roman" panose="02020603050405020304" pitchFamily="18" charset="0"/>
              </a:rPr>
              <a:t>2. Consistency:</a:t>
            </a:r>
            <a:endParaRPr lang="en-US" sz="2400" dirty="0">
              <a:solidFill>
                <a:srgbClr val="002060"/>
              </a:solidFill>
              <a:latin typeface="Times New Roman" panose="02020603050405020304" pitchFamily="18" charset="0"/>
              <a:cs typeface="Times New Roman" panose="02020603050405020304" pitchFamily="18" charset="0"/>
            </a:endParaRPr>
          </a:p>
          <a:p>
            <a:pPr marL="914400" lvl="0" indent="-457200" algn="just" eaLnBrk="0" fontAlgn="base" hangingPunct="0">
              <a:lnSpc>
                <a:spcPct val="150000"/>
              </a:lnSpc>
              <a:spcBef>
                <a:spcPct val="0"/>
              </a:spcBef>
              <a:spcAft>
                <a:spcPct val="0"/>
              </a:spcAft>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The consistency property ensures that the database </a:t>
            </a:r>
            <a:r>
              <a:rPr lang="en-US" sz="2400" u="sng" dirty="0">
                <a:solidFill>
                  <a:srgbClr val="FF0000"/>
                </a:solidFill>
                <a:latin typeface="Times New Roman" panose="02020603050405020304" pitchFamily="18" charset="0"/>
                <a:cs typeface="Times New Roman" panose="02020603050405020304" pitchFamily="18" charset="0"/>
              </a:rPr>
              <a:t>remains in a consistent state</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solidFill>
                  <a:srgbClr val="002060"/>
                </a:solidFill>
                <a:latin typeface="Times New Roman" panose="02020603050405020304" pitchFamily="18" charset="0"/>
                <a:cs typeface="Times New Roman" panose="02020603050405020304" pitchFamily="18" charset="0"/>
              </a:rPr>
              <a:t>(reliable) before the start of the transaction and after the transaction is over (</a:t>
            </a:r>
            <a:r>
              <a:rPr lang="en-US" sz="2400" u="sng" dirty="0">
                <a:solidFill>
                  <a:srgbClr val="002060"/>
                </a:solidFill>
                <a:latin typeface="Times New Roman" panose="02020603050405020304" pitchFamily="18" charset="0"/>
                <a:cs typeface="Times New Roman" panose="02020603050405020304" pitchFamily="18" charset="0"/>
              </a:rPr>
              <a:t>whether successful or not</a:t>
            </a:r>
            <a:r>
              <a:rPr lang="en-US" sz="2400" dirty="0">
                <a:solidFill>
                  <a:srgbClr val="002060"/>
                </a:solidFill>
                <a:latin typeface="Times New Roman" panose="02020603050405020304" pitchFamily="18" charset="0"/>
                <a:cs typeface="Times New Roman" panose="02020603050405020304" pitchFamily="18" charset="0"/>
              </a:rPr>
              <a:t>). </a:t>
            </a:r>
          </a:p>
          <a:p>
            <a:pPr lvl="0" eaLnBrk="0" fontAlgn="base" hangingPunct="0">
              <a:lnSpc>
                <a:spcPct val="150000"/>
              </a:lnSpc>
              <a:spcBef>
                <a:spcPct val="0"/>
              </a:spcBef>
              <a:spcAft>
                <a:spcPct val="0"/>
              </a:spcAft>
            </a:pPr>
            <a:r>
              <a:rPr lang="en-US" sz="2400" b="1" dirty="0">
                <a:solidFill>
                  <a:srgbClr val="FF0000"/>
                </a:solidFill>
                <a:latin typeface="Times New Roman" panose="02020603050405020304" pitchFamily="18" charset="0"/>
                <a:cs typeface="Times New Roman" panose="02020603050405020304" pitchFamily="18" charset="0"/>
              </a:rPr>
              <a:t>3. Isolation:</a:t>
            </a:r>
          </a:p>
          <a:p>
            <a:pPr marL="914400" lvl="0" indent="-457200" algn="just" eaLnBrk="0" fontAlgn="base" hangingPunct="0">
              <a:lnSpc>
                <a:spcPct val="150000"/>
              </a:lnSpc>
              <a:spcBef>
                <a:spcPct val="0"/>
              </a:spcBef>
              <a:spcAft>
                <a:spcPct val="0"/>
              </a:spcAft>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Isolation refers to that </a:t>
            </a:r>
            <a:r>
              <a:rPr lang="en-US" sz="2400" dirty="0">
                <a:solidFill>
                  <a:srgbClr val="FF0000"/>
                </a:solidFill>
                <a:latin typeface="Times New Roman" panose="02020603050405020304" pitchFamily="18" charset="0"/>
                <a:cs typeface="Times New Roman" panose="02020603050405020304" pitchFamily="18" charset="0"/>
              </a:rPr>
              <a:t>other operations </a:t>
            </a:r>
            <a:r>
              <a:rPr lang="en-US" sz="2400" dirty="0">
                <a:solidFill>
                  <a:srgbClr val="002060"/>
                </a:solidFill>
                <a:latin typeface="Times New Roman" panose="02020603050405020304" pitchFamily="18" charset="0"/>
                <a:cs typeface="Times New Roman" panose="02020603050405020304" pitchFamily="18" charset="0"/>
              </a:rPr>
              <a:t>cannot access or see the data in an intermediate state </a:t>
            </a:r>
            <a:r>
              <a:rPr lang="en-US" sz="2400" dirty="0">
                <a:solidFill>
                  <a:srgbClr val="FF0000"/>
                </a:solidFill>
                <a:latin typeface="Times New Roman" panose="02020603050405020304" pitchFamily="18" charset="0"/>
                <a:cs typeface="Times New Roman" panose="02020603050405020304" pitchFamily="18" charset="0"/>
              </a:rPr>
              <a:t>during a transaction</a:t>
            </a:r>
            <a:r>
              <a:rPr lang="en-US" sz="2400" dirty="0">
                <a:solidFill>
                  <a:srgbClr val="002060"/>
                </a:solidFill>
                <a:latin typeface="Times New Roman" panose="02020603050405020304" pitchFamily="18" charset="0"/>
                <a:cs typeface="Times New Roman" panose="02020603050405020304" pitchFamily="18" charset="0"/>
              </a:rPr>
              <a:t>. </a:t>
            </a:r>
          </a:p>
          <a:p>
            <a:pPr marL="914400" lvl="0" indent="-457200" algn="just" eaLnBrk="0" fontAlgn="base" hangingPunct="0">
              <a:lnSpc>
                <a:spcPct val="150000"/>
              </a:lnSpc>
              <a:spcBef>
                <a:spcPct val="0"/>
              </a:spcBef>
              <a:spcAft>
                <a:spcPct val="0"/>
              </a:spcAft>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Each transaction is unaware of another transactions executing concurrently in the system. (</a:t>
            </a:r>
            <a:r>
              <a:rPr lang="en-US" sz="2400" u="sng" dirty="0">
                <a:solidFill>
                  <a:srgbClr val="FF0000"/>
                </a:solidFill>
                <a:latin typeface="Times New Roman" panose="02020603050405020304" pitchFamily="18" charset="0"/>
                <a:cs typeface="Times New Roman" panose="02020603050405020304" pitchFamily="18" charset="0"/>
              </a:rPr>
              <a:t>Concurrency Control</a:t>
            </a:r>
            <a:r>
              <a:rPr lang="en-US" sz="2400" dirty="0">
                <a:solidFill>
                  <a:srgbClr val="00206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27109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TRANSACTION PROCESSING</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500063"/>
            <a:ext cx="9033272" cy="6357937"/>
          </a:xfrm>
        </p:spPr>
        <p:txBody>
          <a:bodyPr>
            <a:normAutofit/>
          </a:bodyPr>
          <a:lstStyle/>
          <a:p>
            <a:pPr marL="0" indent="0" algn="just">
              <a:lnSpc>
                <a:spcPct val="150000"/>
              </a:lnSpc>
              <a:spcBef>
                <a:spcPts val="0"/>
              </a:spcBef>
              <a:buNone/>
            </a:pPr>
            <a:r>
              <a:rPr lang="en-US" b="1" dirty="0">
                <a:solidFill>
                  <a:srgbClr val="FF0000"/>
                </a:solidFill>
                <a:latin typeface="Times New Roman" panose="02020603050405020304" pitchFamily="18" charset="0"/>
                <a:cs typeface="Times New Roman" panose="02020603050405020304" pitchFamily="18" charset="0"/>
              </a:rPr>
              <a:t>4. Durability:</a:t>
            </a:r>
          </a:p>
          <a:p>
            <a:pPr marL="914400" indent="-457200" algn="just">
              <a:lnSpc>
                <a:spcPct val="150000"/>
              </a:lnSpc>
              <a:buFont typeface="Wingdings" panose="05000000000000000000" pitchFamily="2" charset="2"/>
              <a:buChar char="v"/>
            </a:pPr>
            <a:r>
              <a:rPr lang="en-US" dirty="0">
                <a:solidFill>
                  <a:srgbClr val="002060"/>
                </a:solidFill>
                <a:latin typeface="Times New Roman" panose="02020603050405020304" pitchFamily="18" charset="0"/>
                <a:cs typeface="Times New Roman" panose="02020603050405020304" pitchFamily="18" charset="0"/>
              </a:rPr>
              <a:t>Once a transaction has committed its changes, these changes must never get lost due to subsequent (system) failures. (</a:t>
            </a:r>
            <a:r>
              <a:rPr lang="en-US" dirty="0">
                <a:solidFill>
                  <a:srgbClr val="FF0000"/>
                </a:solidFill>
                <a:latin typeface="Times New Roman" panose="02020603050405020304" pitchFamily="18" charset="0"/>
                <a:cs typeface="Times New Roman" panose="02020603050405020304" pitchFamily="18" charset="0"/>
              </a:rPr>
              <a:t>Recovery</a:t>
            </a:r>
            <a:r>
              <a:rPr lang="en-US" dirty="0">
                <a:solidFill>
                  <a:srgbClr val="002060"/>
                </a:solidFill>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4165562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TRANSACTION LOG (JOURNAL)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500063"/>
            <a:ext cx="9033272" cy="6357937"/>
          </a:xfrm>
        </p:spPr>
        <p:txBody>
          <a:bodyPr>
            <a:noAutofit/>
          </a:bodyPr>
          <a:lstStyle/>
          <a:p>
            <a:pPr marL="457200" indent="-457200" algn="just">
              <a:lnSpc>
                <a:spcPct val="150000"/>
              </a:lnSpc>
              <a:spcBef>
                <a:spcPts val="0"/>
              </a:spcBef>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DBMSs maintain a </a:t>
            </a:r>
            <a:r>
              <a:rPr lang="en-US" sz="2400" dirty="0">
                <a:solidFill>
                  <a:srgbClr val="FF0000"/>
                </a:solidFill>
                <a:latin typeface="Times New Roman" panose="02020603050405020304" pitchFamily="18" charset="0"/>
                <a:cs typeface="Times New Roman" panose="02020603050405020304" pitchFamily="18" charset="0"/>
              </a:rPr>
              <a:t>transaction record </a:t>
            </a:r>
            <a:r>
              <a:rPr lang="en-US" sz="2400" dirty="0">
                <a:solidFill>
                  <a:srgbClr val="002060"/>
                </a:solidFill>
                <a:latin typeface="Times New Roman" panose="02020603050405020304" pitchFamily="18" charset="0"/>
                <a:cs typeface="Times New Roman" panose="02020603050405020304" pitchFamily="18" charset="0"/>
              </a:rPr>
              <a:t>of every change made to the database into a log (also called </a:t>
            </a:r>
            <a:r>
              <a:rPr lang="en-US" sz="2400" dirty="0">
                <a:solidFill>
                  <a:srgbClr val="FF0000"/>
                </a:solidFill>
                <a:latin typeface="Times New Roman" panose="02020603050405020304" pitchFamily="18" charset="0"/>
                <a:cs typeface="Times New Roman" panose="02020603050405020304" pitchFamily="18" charset="0"/>
              </a:rPr>
              <a:t>journal</a:t>
            </a:r>
            <a:r>
              <a:rPr lang="en-US" sz="2400" dirty="0">
                <a:solidFill>
                  <a:srgbClr val="002060"/>
                </a:solidFill>
                <a:latin typeface="Times New Roman" panose="02020603050405020304" pitchFamily="18" charset="0"/>
                <a:cs typeface="Times New Roman" panose="02020603050405020304" pitchFamily="18" charset="0"/>
              </a:rPr>
              <a:t>).</a:t>
            </a:r>
          </a:p>
          <a:p>
            <a:pPr marL="457200" indent="-457200" algn="just">
              <a:lnSpc>
                <a:spcPct val="150000"/>
              </a:lnSpc>
              <a:spcBef>
                <a:spcPts val="0"/>
              </a:spcBef>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Log is a </a:t>
            </a:r>
            <a:r>
              <a:rPr lang="en-US" sz="2400" dirty="0">
                <a:solidFill>
                  <a:srgbClr val="FF0000"/>
                </a:solidFill>
                <a:latin typeface="Times New Roman" panose="02020603050405020304" pitchFamily="18" charset="0"/>
                <a:cs typeface="Times New Roman" panose="02020603050405020304" pitchFamily="18" charset="0"/>
              </a:rPr>
              <a:t>record of all transactions </a:t>
            </a:r>
            <a:r>
              <a:rPr lang="en-US" sz="2400" dirty="0">
                <a:solidFill>
                  <a:srgbClr val="002060"/>
                </a:solidFill>
                <a:latin typeface="Times New Roman" panose="02020603050405020304" pitchFamily="18" charset="0"/>
                <a:cs typeface="Times New Roman" panose="02020603050405020304" pitchFamily="18" charset="0"/>
              </a:rPr>
              <a:t>and the corresponding changes to the database. </a:t>
            </a:r>
          </a:p>
          <a:p>
            <a:pPr marL="457200" indent="-457200" algn="just">
              <a:lnSpc>
                <a:spcPct val="150000"/>
              </a:lnSpc>
              <a:spcBef>
                <a:spcPts val="0"/>
              </a:spcBef>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The information stored in the log is used by the DBMS for a </a:t>
            </a:r>
            <a:r>
              <a:rPr lang="en-US" sz="2400" u="sng" dirty="0">
                <a:solidFill>
                  <a:srgbClr val="FF0000"/>
                </a:solidFill>
                <a:latin typeface="Times New Roman" panose="02020603050405020304" pitchFamily="18" charset="0"/>
                <a:cs typeface="Times New Roman" panose="02020603050405020304" pitchFamily="18" charset="0"/>
              </a:rPr>
              <a:t>recovery. </a:t>
            </a:r>
          </a:p>
          <a:p>
            <a:pPr marL="457200" indent="-457200" algn="just">
              <a:lnSpc>
                <a:spcPct val="150000"/>
              </a:lnSpc>
              <a:spcBef>
                <a:spcPts val="0"/>
              </a:spcBef>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The DBMS </a:t>
            </a:r>
            <a:r>
              <a:rPr lang="en-US" sz="2400" dirty="0">
                <a:solidFill>
                  <a:srgbClr val="FF0000"/>
                </a:solidFill>
                <a:latin typeface="Times New Roman" panose="02020603050405020304" pitchFamily="18" charset="0"/>
                <a:cs typeface="Times New Roman" panose="02020603050405020304" pitchFamily="18" charset="0"/>
              </a:rPr>
              <a:t>automatically update the transaction log </a:t>
            </a:r>
            <a:r>
              <a:rPr lang="en-US" sz="2400" dirty="0">
                <a:solidFill>
                  <a:srgbClr val="002060"/>
                </a:solidFill>
                <a:latin typeface="Times New Roman" panose="02020603050405020304" pitchFamily="18" charset="0"/>
                <a:cs typeface="Times New Roman" panose="02020603050405020304" pitchFamily="18" charset="0"/>
              </a:rPr>
              <a:t>while executing transactions that modify the database.</a:t>
            </a:r>
          </a:p>
          <a:p>
            <a:pPr marL="457200" indent="-457200" algn="just">
              <a:lnSpc>
                <a:spcPct val="150000"/>
              </a:lnSpc>
              <a:spcBef>
                <a:spcPts val="0"/>
              </a:spcBef>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The transaction </a:t>
            </a:r>
            <a:r>
              <a:rPr lang="en-US" sz="2400" dirty="0">
                <a:solidFill>
                  <a:srgbClr val="FF0000"/>
                </a:solidFill>
                <a:latin typeface="Times New Roman" panose="02020603050405020304" pitchFamily="18" charset="0"/>
                <a:cs typeface="Times New Roman" panose="02020603050405020304" pitchFamily="18" charset="0"/>
              </a:rPr>
              <a:t>log stores before-and-after data </a:t>
            </a:r>
            <a:r>
              <a:rPr lang="en-US" sz="2400" dirty="0">
                <a:solidFill>
                  <a:srgbClr val="002060"/>
                </a:solidFill>
                <a:latin typeface="Times New Roman" panose="02020603050405020304" pitchFamily="18" charset="0"/>
                <a:cs typeface="Times New Roman" panose="02020603050405020304" pitchFamily="18" charset="0"/>
              </a:rPr>
              <a:t>about the database. </a:t>
            </a:r>
          </a:p>
          <a:p>
            <a:pPr marL="457200" indent="-457200" algn="just">
              <a:lnSpc>
                <a:spcPct val="150000"/>
              </a:lnSpc>
              <a:spcBef>
                <a:spcPts val="0"/>
              </a:spcBef>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The </a:t>
            </a:r>
            <a:r>
              <a:rPr lang="en-US" sz="2400" dirty="0">
                <a:solidFill>
                  <a:srgbClr val="FF0000"/>
                </a:solidFill>
                <a:latin typeface="Times New Roman" panose="02020603050405020304" pitchFamily="18" charset="0"/>
                <a:cs typeface="Times New Roman" panose="02020603050405020304" pitchFamily="18" charset="0"/>
              </a:rPr>
              <a:t>beginning </a:t>
            </a:r>
            <a:r>
              <a:rPr lang="en-US" sz="2400" dirty="0">
                <a:solidFill>
                  <a:srgbClr val="002060"/>
                </a:solidFill>
                <a:latin typeface="Times New Roman" panose="02020603050405020304" pitchFamily="18" charset="0"/>
                <a:cs typeface="Times New Roman" panose="02020603050405020304" pitchFamily="18" charset="0"/>
              </a:rPr>
              <a:t>and the </a:t>
            </a:r>
            <a:r>
              <a:rPr lang="en-US" sz="2400" dirty="0">
                <a:solidFill>
                  <a:srgbClr val="FF0000"/>
                </a:solidFill>
                <a:latin typeface="Times New Roman" panose="02020603050405020304" pitchFamily="18" charset="0"/>
                <a:cs typeface="Times New Roman" panose="02020603050405020304" pitchFamily="18" charset="0"/>
              </a:rPr>
              <a:t>ending </a:t>
            </a:r>
            <a:r>
              <a:rPr lang="en-US" sz="2400" dirty="0">
                <a:solidFill>
                  <a:srgbClr val="002060"/>
                </a:solidFill>
                <a:latin typeface="Times New Roman" panose="02020603050405020304" pitchFamily="18" charset="0"/>
                <a:cs typeface="Times New Roman" panose="02020603050405020304" pitchFamily="18" charset="0"/>
              </a:rPr>
              <a:t>of the transaction are also recorded in the transaction log.</a:t>
            </a:r>
          </a:p>
          <a:p>
            <a:pPr marL="0" indent="0" algn="just">
              <a:lnSpc>
                <a:spcPct val="150000"/>
              </a:lnSpc>
              <a:spcBef>
                <a:spcPts val="0"/>
              </a:spcBef>
              <a:buNone/>
            </a:pPr>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3494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TRANSACTION LOG (JOURNAL)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500063"/>
            <a:ext cx="9033272" cy="6357937"/>
          </a:xfrm>
        </p:spPr>
        <p:txBody>
          <a:bodyPr>
            <a:noAutofit/>
          </a:bodyPr>
          <a:lstStyle/>
          <a:p>
            <a:pPr marL="0" indent="0" algn="just">
              <a:buNone/>
            </a:pPr>
            <a:r>
              <a:rPr lang="en-US" sz="2400" dirty="0">
                <a:solidFill>
                  <a:srgbClr val="002060"/>
                </a:solidFill>
                <a:latin typeface="Times New Roman" panose="02020603050405020304" pitchFamily="18" charset="0"/>
                <a:cs typeface="Times New Roman" panose="02020603050405020304" pitchFamily="18" charset="0"/>
              </a:rPr>
              <a:t>For each transaction, the following data is recorded on the log:</a:t>
            </a:r>
          </a:p>
          <a:p>
            <a:pPr marL="914400" indent="-457200" algn="just">
              <a:buFont typeface="+mj-lt"/>
              <a:buAutoNum type="arabicParenR"/>
            </a:pPr>
            <a:r>
              <a:rPr lang="en-US" sz="2400" dirty="0">
                <a:solidFill>
                  <a:srgbClr val="002060"/>
                </a:solidFill>
                <a:latin typeface="Times New Roman" panose="02020603050405020304" pitchFamily="18" charset="0"/>
                <a:cs typeface="Times New Roman" panose="02020603050405020304" pitchFamily="18" charset="0"/>
              </a:rPr>
              <a:t>A </a:t>
            </a:r>
            <a:r>
              <a:rPr lang="en-US" sz="2400" dirty="0">
                <a:solidFill>
                  <a:srgbClr val="FF0000"/>
                </a:solidFill>
                <a:latin typeface="Times New Roman" panose="02020603050405020304" pitchFamily="18" charset="0"/>
                <a:cs typeface="Times New Roman" panose="02020603050405020304" pitchFamily="18" charset="0"/>
              </a:rPr>
              <a:t>start-of-transaction</a:t>
            </a:r>
            <a:r>
              <a:rPr lang="en-US" sz="2400" dirty="0">
                <a:solidFill>
                  <a:srgbClr val="002060"/>
                </a:solidFill>
                <a:latin typeface="Times New Roman" panose="02020603050405020304" pitchFamily="18" charset="0"/>
                <a:cs typeface="Times New Roman" panose="02020603050405020304" pitchFamily="18" charset="0"/>
              </a:rPr>
              <a:t> marker.</a:t>
            </a:r>
          </a:p>
          <a:p>
            <a:pPr marL="914400" indent="-457200" algn="just">
              <a:buFont typeface="+mj-lt"/>
              <a:buAutoNum type="arabicParenR"/>
            </a:pPr>
            <a:r>
              <a:rPr lang="en-US" sz="2400" dirty="0">
                <a:solidFill>
                  <a:srgbClr val="002060"/>
                </a:solidFill>
                <a:latin typeface="Times New Roman" panose="02020603050405020304" pitchFamily="18" charset="0"/>
                <a:cs typeface="Times New Roman" panose="02020603050405020304" pitchFamily="18" charset="0"/>
              </a:rPr>
              <a:t>The transaction identifier which could include </a:t>
            </a:r>
            <a:r>
              <a:rPr lang="en-US" sz="2400" dirty="0">
                <a:solidFill>
                  <a:srgbClr val="FF0000"/>
                </a:solidFill>
                <a:latin typeface="Times New Roman" panose="02020603050405020304" pitchFamily="18" charset="0"/>
                <a:cs typeface="Times New Roman" panose="02020603050405020304" pitchFamily="18" charset="0"/>
              </a:rPr>
              <a:t>who </a:t>
            </a:r>
            <a:r>
              <a:rPr lang="en-US" sz="2400" dirty="0">
                <a:solidFill>
                  <a:srgbClr val="002060"/>
                </a:solidFill>
                <a:latin typeface="Times New Roman" panose="02020603050405020304" pitchFamily="18" charset="0"/>
                <a:cs typeface="Times New Roman" panose="02020603050405020304" pitchFamily="18" charset="0"/>
              </a:rPr>
              <a:t>and </a:t>
            </a:r>
            <a:r>
              <a:rPr lang="en-US" sz="2400" dirty="0">
                <a:solidFill>
                  <a:srgbClr val="FF0000"/>
                </a:solidFill>
                <a:latin typeface="Times New Roman" panose="02020603050405020304" pitchFamily="18" charset="0"/>
                <a:cs typeface="Times New Roman" panose="02020603050405020304" pitchFamily="18" charset="0"/>
              </a:rPr>
              <a:t>where</a:t>
            </a:r>
            <a:r>
              <a:rPr lang="en-US" sz="2400" dirty="0">
                <a:solidFill>
                  <a:srgbClr val="002060"/>
                </a:solidFill>
                <a:latin typeface="Times New Roman" panose="02020603050405020304" pitchFamily="18" charset="0"/>
                <a:cs typeface="Times New Roman" panose="02020603050405020304" pitchFamily="18" charset="0"/>
              </a:rPr>
              <a:t> information.</a:t>
            </a:r>
          </a:p>
          <a:p>
            <a:pPr marL="914400" indent="-457200" algn="just">
              <a:buFont typeface="+mj-lt"/>
              <a:buAutoNum type="arabicParenR"/>
            </a:pPr>
            <a:r>
              <a:rPr lang="en-US" sz="2400" dirty="0">
                <a:solidFill>
                  <a:srgbClr val="002060"/>
                </a:solidFill>
                <a:latin typeface="Times New Roman" panose="02020603050405020304" pitchFamily="18" charset="0"/>
                <a:cs typeface="Times New Roman" panose="02020603050405020304" pitchFamily="18" charset="0"/>
              </a:rPr>
              <a:t>The record identifiers which include the identifiers for the </a:t>
            </a:r>
            <a:r>
              <a:rPr lang="en-US" sz="2400" dirty="0">
                <a:solidFill>
                  <a:srgbClr val="FF0000"/>
                </a:solidFill>
                <a:latin typeface="Times New Roman" panose="02020603050405020304" pitchFamily="18" charset="0"/>
                <a:cs typeface="Times New Roman" panose="02020603050405020304" pitchFamily="18" charset="0"/>
              </a:rPr>
              <a:t>record occurrences</a:t>
            </a:r>
            <a:r>
              <a:rPr lang="en-US" sz="2400" dirty="0">
                <a:solidFill>
                  <a:srgbClr val="002060"/>
                </a:solidFill>
                <a:latin typeface="Times New Roman" panose="02020603050405020304" pitchFamily="18" charset="0"/>
                <a:cs typeface="Times New Roman" panose="02020603050405020304" pitchFamily="18" charset="0"/>
              </a:rPr>
              <a:t>.</a:t>
            </a:r>
          </a:p>
          <a:p>
            <a:pPr marL="914400" indent="-457200" algn="just">
              <a:buFont typeface="+mj-lt"/>
              <a:buAutoNum type="arabicParenR"/>
            </a:pPr>
            <a:r>
              <a:rPr lang="en-US" sz="2400" dirty="0">
                <a:solidFill>
                  <a:srgbClr val="002060"/>
                </a:solidFill>
                <a:latin typeface="Times New Roman" panose="02020603050405020304" pitchFamily="18" charset="0"/>
                <a:cs typeface="Times New Roman" panose="02020603050405020304" pitchFamily="18" charset="0"/>
              </a:rPr>
              <a:t>The operation(s) performed on the records (</a:t>
            </a:r>
            <a:r>
              <a:rPr lang="en-US" sz="2400" dirty="0">
                <a:solidFill>
                  <a:srgbClr val="FF0000"/>
                </a:solidFill>
                <a:latin typeface="Times New Roman" panose="02020603050405020304" pitchFamily="18" charset="0"/>
                <a:cs typeface="Times New Roman" panose="02020603050405020304" pitchFamily="18" charset="0"/>
              </a:rPr>
              <a:t>insert, delete, modify</a:t>
            </a:r>
            <a:r>
              <a:rPr lang="en-US" sz="2400" dirty="0">
                <a:solidFill>
                  <a:srgbClr val="002060"/>
                </a:solidFill>
                <a:latin typeface="Times New Roman" panose="02020603050405020304" pitchFamily="18" charset="0"/>
                <a:cs typeface="Times New Roman" panose="02020603050405020304" pitchFamily="18" charset="0"/>
              </a:rPr>
              <a:t>).</a:t>
            </a:r>
          </a:p>
          <a:p>
            <a:pPr marL="914400" indent="-457200" algn="just">
              <a:buFont typeface="+mj-lt"/>
              <a:buAutoNum type="arabicParenR"/>
            </a:pPr>
            <a:r>
              <a:rPr lang="en-US" sz="2400" dirty="0">
                <a:solidFill>
                  <a:srgbClr val="002060"/>
                </a:solidFill>
                <a:latin typeface="Times New Roman" panose="02020603050405020304" pitchFamily="18" charset="0"/>
                <a:cs typeface="Times New Roman" panose="02020603050405020304" pitchFamily="18" charset="0"/>
              </a:rPr>
              <a:t>The </a:t>
            </a:r>
            <a:r>
              <a:rPr lang="en-US" sz="2400" dirty="0">
                <a:solidFill>
                  <a:srgbClr val="FF0000"/>
                </a:solidFill>
                <a:latin typeface="Times New Roman" panose="02020603050405020304" pitchFamily="18" charset="0"/>
                <a:cs typeface="Times New Roman" panose="02020603050405020304" pitchFamily="18" charset="0"/>
              </a:rPr>
              <a:t>previous value(s</a:t>
            </a:r>
            <a:r>
              <a:rPr lang="en-US" sz="2400" dirty="0">
                <a:solidFill>
                  <a:srgbClr val="002060"/>
                </a:solidFill>
                <a:latin typeface="Times New Roman" panose="02020603050405020304" pitchFamily="18" charset="0"/>
                <a:cs typeface="Times New Roman" panose="02020603050405020304" pitchFamily="18" charset="0"/>
              </a:rPr>
              <a:t>) of the modified data. </a:t>
            </a:r>
          </a:p>
          <a:p>
            <a:pPr marL="914400" indent="-457200" algn="just">
              <a:buFont typeface="+mj-lt"/>
              <a:buAutoNum type="arabicParenR"/>
            </a:pPr>
            <a:r>
              <a:rPr lang="en-US" sz="2400" dirty="0">
                <a:solidFill>
                  <a:srgbClr val="002060"/>
                </a:solidFill>
                <a:latin typeface="Times New Roman" panose="02020603050405020304" pitchFamily="18" charset="0"/>
                <a:cs typeface="Times New Roman" panose="02020603050405020304" pitchFamily="18" charset="0"/>
              </a:rPr>
              <a:t>The </a:t>
            </a:r>
            <a:r>
              <a:rPr lang="en-US" sz="2400" dirty="0">
                <a:solidFill>
                  <a:srgbClr val="FF0000"/>
                </a:solidFill>
                <a:latin typeface="Times New Roman" panose="02020603050405020304" pitchFamily="18" charset="0"/>
                <a:cs typeface="Times New Roman" panose="02020603050405020304" pitchFamily="18" charset="0"/>
              </a:rPr>
              <a:t>updated value</a:t>
            </a:r>
            <a:r>
              <a:rPr lang="en-US" sz="2400" dirty="0">
                <a:solidFill>
                  <a:srgbClr val="002060"/>
                </a:solidFill>
                <a:latin typeface="Times New Roman" panose="02020603050405020304" pitchFamily="18" charset="0"/>
                <a:cs typeface="Times New Roman" panose="02020603050405020304" pitchFamily="18" charset="0"/>
              </a:rPr>
              <a:t>(s) of the modified record(s). </a:t>
            </a:r>
          </a:p>
          <a:p>
            <a:pPr marL="914400" indent="-457200" algn="just">
              <a:buFont typeface="+mj-lt"/>
              <a:buAutoNum type="arabicParenR"/>
            </a:pPr>
            <a:r>
              <a:rPr lang="en-US" sz="2400" dirty="0">
                <a:solidFill>
                  <a:srgbClr val="002060"/>
                </a:solidFill>
                <a:latin typeface="Times New Roman" panose="02020603050405020304" pitchFamily="18" charset="0"/>
                <a:cs typeface="Times New Roman" panose="02020603050405020304" pitchFamily="18" charset="0"/>
              </a:rPr>
              <a:t>A </a:t>
            </a:r>
            <a:r>
              <a:rPr lang="en-US" sz="2400" dirty="0">
                <a:solidFill>
                  <a:srgbClr val="FF0000"/>
                </a:solidFill>
                <a:latin typeface="Times New Roman" panose="02020603050405020304" pitchFamily="18" charset="0"/>
                <a:cs typeface="Times New Roman" panose="02020603050405020304" pitchFamily="18" charset="0"/>
              </a:rPr>
              <a:t>commit transaction marker </a:t>
            </a:r>
            <a:r>
              <a:rPr lang="en-US" sz="2400" dirty="0">
                <a:solidFill>
                  <a:srgbClr val="002060"/>
                </a:solidFill>
                <a:latin typeface="Times New Roman" panose="02020603050405020304" pitchFamily="18" charset="0"/>
                <a:cs typeface="Times New Roman" panose="02020603050405020304" pitchFamily="18" charset="0"/>
              </a:rPr>
              <a:t>if the transaction is committed, otherwise an abort or rollback transaction marker.</a:t>
            </a:r>
          </a:p>
          <a:p>
            <a:pPr marL="0" indent="0" algn="just">
              <a:spcBef>
                <a:spcPts val="0"/>
              </a:spcBef>
              <a:buNone/>
            </a:pPr>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337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CONCURRENCY CONTROL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500063"/>
            <a:ext cx="9033272" cy="6357937"/>
          </a:xfrm>
        </p:spPr>
        <p:txBody>
          <a:bodyPr>
            <a:noAutofit/>
          </a:bodyPr>
          <a:lstStyle/>
          <a:p>
            <a:pPr marL="457200" indent="-457200" algn="just">
              <a:lnSpc>
                <a:spcPct val="150000"/>
              </a:lnSpc>
              <a:spcBef>
                <a:spcPts val="0"/>
              </a:spcBef>
              <a:buFont typeface="Wingdings" panose="05000000000000000000" pitchFamily="2" charset="2"/>
              <a:buChar char="v"/>
            </a:pPr>
            <a:r>
              <a:rPr lang="en-US" sz="2400" b="1" dirty="0">
                <a:solidFill>
                  <a:srgbClr val="FF0000"/>
                </a:solidFill>
                <a:latin typeface="Times New Roman" panose="02020603050405020304" pitchFamily="18" charset="0"/>
                <a:cs typeface="Times New Roman" panose="02020603050405020304" pitchFamily="18" charset="0"/>
              </a:rPr>
              <a:t>Concurrency control</a:t>
            </a:r>
            <a:r>
              <a:rPr lang="en-US" sz="2400" dirty="0">
                <a:solidFill>
                  <a:srgbClr val="002060"/>
                </a:solidFill>
                <a:latin typeface="Times New Roman" panose="02020603050405020304" pitchFamily="18" charset="0"/>
                <a:cs typeface="Times New Roman" panose="02020603050405020304" pitchFamily="18" charset="0"/>
              </a:rPr>
              <a:t> is the process of managing simultaneous execution of transactions in a multiprocessing database system without interfere with one another.</a:t>
            </a:r>
          </a:p>
          <a:p>
            <a:pPr marL="457200" indent="-457200" algn="just">
              <a:lnSpc>
                <a:spcPct val="150000"/>
              </a:lnSpc>
              <a:spcBef>
                <a:spcPts val="0"/>
              </a:spcBef>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DBMS allows </a:t>
            </a:r>
            <a:r>
              <a:rPr lang="en-US" sz="2400" dirty="0">
                <a:solidFill>
                  <a:srgbClr val="FF0000"/>
                </a:solidFill>
                <a:latin typeface="Times New Roman" panose="02020603050405020304" pitchFamily="18" charset="0"/>
                <a:cs typeface="Times New Roman" panose="02020603050405020304" pitchFamily="18" charset="0"/>
              </a:rPr>
              <a:t>many transactions </a:t>
            </a:r>
            <a:r>
              <a:rPr lang="en-US" sz="2400" dirty="0">
                <a:solidFill>
                  <a:srgbClr val="002060"/>
                </a:solidFill>
                <a:latin typeface="Times New Roman" panose="02020603050405020304" pitchFamily="18" charset="0"/>
                <a:cs typeface="Times New Roman" panose="02020603050405020304" pitchFamily="18" charset="0"/>
              </a:rPr>
              <a:t>to access the </a:t>
            </a:r>
            <a:r>
              <a:rPr lang="en-US" sz="2400" dirty="0">
                <a:solidFill>
                  <a:srgbClr val="FF0000"/>
                </a:solidFill>
                <a:latin typeface="Times New Roman" panose="02020603050405020304" pitchFamily="18" charset="0"/>
                <a:cs typeface="Times New Roman" panose="02020603050405020304" pitchFamily="18" charset="0"/>
              </a:rPr>
              <a:t>same database at the same </a:t>
            </a:r>
            <a:r>
              <a:rPr lang="en-US" sz="2400" dirty="0">
                <a:solidFill>
                  <a:srgbClr val="002060"/>
                </a:solidFill>
                <a:latin typeface="Times New Roman" panose="02020603050405020304" pitchFamily="18" charset="0"/>
                <a:cs typeface="Times New Roman" panose="02020603050405020304" pitchFamily="18" charset="0"/>
              </a:rPr>
              <a:t>time without interfering with each other.</a:t>
            </a:r>
          </a:p>
          <a:p>
            <a:pPr marL="457200" indent="-457200" algn="just">
              <a:lnSpc>
                <a:spcPct val="150000"/>
              </a:lnSpc>
              <a:spcBef>
                <a:spcPts val="0"/>
              </a:spcBef>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The primary goal of concurrency is to </a:t>
            </a:r>
            <a:r>
              <a:rPr lang="en-US" sz="2400" dirty="0">
                <a:solidFill>
                  <a:srgbClr val="FF0000"/>
                </a:solidFill>
                <a:latin typeface="Times New Roman" panose="02020603050405020304" pitchFamily="18" charset="0"/>
                <a:cs typeface="Times New Roman" panose="02020603050405020304" pitchFamily="18" charset="0"/>
              </a:rPr>
              <a:t>ensure the atomicity </a:t>
            </a:r>
            <a:r>
              <a:rPr lang="en-US" sz="2400" dirty="0">
                <a:solidFill>
                  <a:srgbClr val="002060"/>
                </a:solidFill>
                <a:latin typeface="Times New Roman" panose="02020603050405020304" pitchFamily="18" charset="0"/>
                <a:cs typeface="Times New Roman" panose="02020603050405020304" pitchFamily="18" charset="0"/>
              </a:rPr>
              <a:t>of the execution of transactions in a multi-user database environment.</a:t>
            </a:r>
          </a:p>
          <a:p>
            <a:pPr marL="457200" indent="-457200" algn="just">
              <a:lnSpc>
                <a:spcPct val="150000"/>
              </a:lnSpc>
              <a:spcBef>
                <a:spcPts val="0"/>
              </a:spcBef>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Concurrency controls mechanisms attempt to </a:t>
            </a:r>
            <a:r>
              <a:rPr lang="en-US" sz="2400" dirty="0">
                <a:solidFill>
                  <a:srgbClr val="FF0000"/>
                </a:solidFill>
                <a:latin typeface="Times New Roman" panose="02020603050405020304" pitchFamily="18" charset="0"/>
                <a:cs typeface="Times New Roman" panose="02020603050405020304" pitchFamily="18" charset="0"/>
              </a:rPr>
              <a:t>interleave (parallel) READ and WRITE operations of multiple transactions </a:t>
            </a:r>
            <a:r>
              <a:rPr lang="en-US" sz="2400" dirty="0">
                <a:solidFill>
                  <a:srgbClr val="002060"/>
                </a:solidFill>
                <a:latin typeface="Times New Roman" panose="02020603050405020304" pitchFamily="18" charset="0"/>
                <a:cs typeface="Times New Roman" panose="02020603050405020304" pitchFamily="18" charset="0"/>
              </a:rPr>
              <a:t>so that the interleaved execution produces results that are identical to the results of a serial schedule execution.</a:t>
            </a:r>
          </a:p>
          <a:p>
            <a:pPr marL="0" indent="0" algn="just">
              <a:lnSpc>
                <a:spcPct val="150000"/>
              </a:lnSpc>
              <a:spcBef>
                <a:spcPts val="0"/>
              </a:spcBef>
              <a:buNone/>
            </a:pPr>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1089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CONCURRENCY CONTROL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500063"/>
            <a:ext cx="9033272" cy="6357937"/>
          </a:xfrm>
        </p:spPr>
        <p:txBody>
          <a:bodyPr>
            <a:noAutofit/>
          </a:bodyPr>
          <a:lstStyle/>
          <a:p>
            <a:pPr marL="0" indent="0" algn="just">
              <a:lnSpc>
                <a:spcPct val="150000"/>
              </a:lnSpc>
              <a:buNone/>
            </a:pPr>
            <a:r>
              <a:rPr lang="en-US" b="1" u="sng" dirty="0">
                <a:solidFill>
                  <a:srgbClr val="FF0000"/>
                </a:solidFill>
                <a:latin typeface="Times New Roman" panose="02020603050405020304" pitchFamily="18" charset="0"/>
                <a:cs typeface="Times New Roman" panose="02020603050405020304" pitchFamily="18" charset="0"/>
              </a:rPr>
              <a:t>Need for Concurrency Control:</a:t>
            </a:r>
            <a:endParaRPr lang="en-US" u="sng" dirty="0">
              <a:solidFill>
                <a:srgbClr val="FF0000"/>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US" dirty="0">
                <a:solidFill>
                  <a:srgbClr val="002060"/>
                </a:solidFill>
                <a:latin typeface="Times New Roman" panose="02020603050405020304" pitchFamily="18" charset="0"/>
                <a:cs typeface="Times New Roman" panose="02020603050405020304" pitchFamily="18" charset="0"/>
              </a:rPr>
              <a:t>When transactions are executed in an uncontrolled manner, several problems can occur.</a:t>
            </a:r>
          </a:p>
          <a:p>
            <a:pPr marL="1371600" indent="-514350" algn="just">
              <a:lnSpc>
                <a:spcPct val="150000"/>
              </a:lnSpc>
              <a:buClr>
                <a:srgbClr val="FF0000"/>
              </a:buClr>
              <a:buFont typeface="+mj-lt"/>
              <a:buAutoNum type="arabicPeriod"/>
            </a:pPr>
            <a:r>
              <a:rPr lang="en-US" dirty="0">
                <a:solidFill>
                  <a:srgbClr val="002060"/>
                </a:solidFill>
                <a:latin typeface="Times New Roman" panose="02020603050405020304" pitchFamily="18" charset="0"/>
                <a:cs typeface="Times New Roman" panose="02020603050405020304" pitchFamily="18" charset="0"/>
              </a:rPr>
              <a:t>Lost updates.</a:t>
            </a:r>
          </a:p>
          <a:p>
            <a:pPr marL="1371600" indent="-514350" algn="just">
              <a:lnSpc>
                <a:spcPct val="150000"/>
              </a:lnSpc>
              <a:buClr>
                <a:srgbClr val="FF0000"/>
              </a:buClr>
              <a:buFont typeface="+mj-lt"/>
              <a:buAutoNum type="arabicPeriod"/>
            </a:pPr>
            <a:r>
              <a:rPr lang="en-US" dirty="0">
                <a:solidFill>
                  <a:srgbClr val="002060"/>
                </a:solidFill>
                <a:latin typeface="Times New Roman" panose="02020603050405020304" pitchFamily="18" charset="0"/>
                <a:cs typeface="Times New Roman" panose="02020603050405020304" pitchFamily="18" charset="0"/>
              </a:rPr>
              <a:t>Dirty read (or uncommitted data).</a:t>
            </a:r>
          </a:p>
          <a:p>
            <a:pPr marL="1371600" indent="-514350" algn="just">
              <a:lnSpc>
                <a:spcPct val="150000"/>
              </a:lnSpc>
              <a:buClr>
                <a:srgbClr val="FF0000"/>
              </a:buClr>
              <a:buFont typeface="+mj-lt"/>
              <a:buAutoNum type="arabicPeriod"/>
            </a:pPr>
            <a:r>
              <a:rPr lang="en-US" dirty="0">
                <a:solidFill>
                  <a:srgbClr val="002060"/>
                </a:solidFill>
                <a:latin typeface="Times New Roman" panose="02020603050405020304" pitchFamily="18" charset="0"/>
                <a:cs typeface="Times New Roman" panose="02020603050405020304" pitchFamily="18" charset="0"/>
              </a:rPr>
              <a:t>Unrepeatable read (or inconsistent retrievals).</a:t>
            </a:r>
          </a:p>
          <a:p>
            <a:pPr marL="0" indent="0" algn="just">
              <a:lnSpc>
                <a:spcPct val="150000"/>
              </a:lnSpc>
              <a:spcBef>
                <a:spcPts val="0"/>
              </a:spcBef>
              <a:buNone/>
            </a:pPr>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9562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CONCURRENCY CONTROL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500063"/>
            <a:ext cx="9033272" cy="6357937"/>
          </a:xfrm>
        </p:spPr>
        <p:txBody>
          <a:bodyPr>
            <a:noAutofit/>
          </a:bodyPr>
          <a:lstStyle/>
          <a:p>
            <a:pPr marL="0" indent="0" algn="just">
              <a:lnSpc>
                <a:spcPct val="150000"/>
              </a:lnSpc>
              <a:buNone/>
            </a:pPr>
            <a:r>
              <a:rPr lang="en-US" sz="2400" b="1" u="sng" dirty="0">
                <a:solidFill>
                  <a:srgbClr val="FF0000"/>
                </a:solidFill>
                <a:latin typeface="Times New Roman" panose="02020603050405020304" pitchFamily="18" charset="0"/>
                <a:cs typeface="Times New Roman" panose="02020603050405020304" pitchFamily="18" charset="0"/>
              </a:rPr>
              <a:t>1. Lost Update Problem :</a:t>
            </a:r>
            <a:endParaRPr lang="en-US" sz="2400" u="sng" dirty="0">
              <a:solidFill>
                <a:srgbClr val="FF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A lost update problem occurs when two transactions that </a:t>
            </a:r>
            <a:r>
              <a:rPr lang="en-US" sz="2400" dirty="0">
                <a:solidFill>
                  <a:srgbClr val="FF0000"/>
                </a:solidFill>
                <a:latin typeface="Times New Roman" panose="02020603050405020304" pitchFamily="18" charset="0"/>
                <a:cs typeface="Times New Roman" panose="02020603050405020304" pitchFamily="18" charset="0"/>
              </a:rPr>
              <a:t>access the same database </a:t>
            </a:r>
            <a:r>
              <a:rPr lang="en-US" sz="2400" dirty="0">
                <a:solidFill>
                  <a:srgbClr val="002060"/>
                </a:solidFill>
                <a:latin typeface="Times New Roman" panose="02020603050405020304" pitchFamily="18" charset="0"/>
                <a:cs typeface="Times New Roman" panose="02020603050405020304" pitchFamily="18" charset="0"/>
              </a:rPr>
              <a:t>items that makes the value of database item incorrect.</a:t>
            </a:r>
          </a:p>
          <a:p>
            <a:pPr marL="457200" indent="-457200" algn="just">
              <a:buFont typeface="Wingdings" panose="05000000000000000000" pitchFamily="2" charset="2"/>
              <a:buChar char="v"/>
            </a:pPr>
            <a:r>
              <a:rPr lang="en-US" sz="2400" u="sng" dirty="0">
                <a:solidFill>
                  <a:srgbClr val="FF0000"/>
                </a:solidFill>
                <a:latin typeface="Times New Roman" panose="02020603050405020304" pitchFamily="18" charset="0"/>
                <a:cs typeface="Times New Roman" panose="02020603050405020304" pitchFamily="18" charset="0"/>
              </a:rPr>
              <a:t>Example</a:t>
            </a:r>
            <a:r>
              <a:rPr lang="en-US" sz="2400" dirty="0">
                <a:solidFill>
                  <a:srgbClr val="002060"/>
                </a:solidFill>
                <a:latin typeface="Times New Roman" panose="02020603050405020304" pitchFamily="18" charset="0"/>
                <a:cs typeface="Times New Roman" panose="02020603050405020304" pitchFamily="18" charset="0"/>
              </a:rPr>
              <a:t>: If transactions </a:t>
            </a:r>
            <a:r>
              <a:rPr lang="en-US" sz="2400" dirty="0">
                <a:solidFill>
                  <a:srgbClr val="FF0000"/>
                </a:solidFill>
                <a:latin typeface="Times New Roman" panose="02020603050405020304" pitchFamily="18" charset="0"/>
                <a:cs typeface="Times New Roman" panose="02020603050405020304" pitchFamily="18" charset="0"/>
              </a:rPr>
              <a:t>T1 </a:t>
            </a:r>
            <a:r>
              <a:rPr lang="en-US" sz="2400" dirty="0">
                <a:solidFill>
                  <a:srgbClr val="002060"/>
                </a:solidFill>
                <a:latin typeface="Times New Roman" panose="02020603050405020304" pitchFamily="18" charset="0"/>
                <a:cs typeface="Times New Roman" panose="02020603050405020304" pitchFamily="18" charset="0"/>
              </a:rPr>
              <a:t>and</a:t>
            </a:r>
            <a:r>
              <a:rPr lang="en-US" sz="2400" dirty="0">
                <a:solidFill>
                  <a:srgbClr val="FF0000"/>
                </a:solidFill>
                <a:latin typeface="Times New Roman" panose="02020603050405020304" pitchFamily="18" charset="0"/>
                <a:cs typeface="Times New Roman" panose="02020603050405020304" pitchFamily="18" charset="0"/>
              </a:rPr>
              <a:t> T2 </a:t>
            </a:r>
            <a:r>
              <a:rPr lang="en-US" sz="2400" dirty="0">
                <a:solidFill>
                  <a:srgbClr val="002060"/>
                </a:solidFill>
                <a:latin typeface="Times New Roman" panose="02020603050405020304" pitchFamily="18" charset="0"/>
                <a:cs typeface="Times New Roman" panose="02020603050405020304" pitchFamily="18" charset="0"/>
              </a:rPr>
              <a:t>both read a record and then update it, the effects of the first update will be overwritten by the second update.</a:t>
            </a:r>
          </a:p>
          <a:p>
            <a:pPr marL="0" indent="0" algn="just">
              <a:lnSpc>
                <a:spcPct val="150000"/>
              </a:lnSpc>
              <a:buNone/>
            </a:pPr>
            <a:endParaRPr lang="en-US" sz="2400" dirty="0">
              <a:solidFill>
                <a:srgbClr val="002060"/>
              </a:solidFill>
              <a:latin typeface="Times New Roman" panose="02020603050405020304" pitchFamily="18" charset="0"/>
              <a:cs typeface="Times New Roman" panose="02020603050405020304" pitchFamily="18" charset="0"/>
            </a:endParaRPr>
          </a:p>
          <a:p>
            <a:pPr marL="0" indent="0" algn="just">
              <a:lnSpc>
                <a:spcPct val="150000"/>
              </a:lnSpc>
              <a:spcBef>
                <a:spcPts val="0"/>
              </a:spcBef>
              <a:buNone/>
            </a:pPr>
            <a:endParaRPr lang="en-US" sz="2400"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516890961"/>
              </p:ext>
            </p:extLst>
          </p:nvPr>
        </p:nvGraphicFramePr>
        <p:xfrm>
          <a:off x="2590800" y="2971800"/>
          <a:ext cx="4305300" cy="3322320"/>
        </p:xfrm>
        <a:graphic>
          <a:graphicData uri="http://schemas.openxmlformats.org/drawingml/2006/table">
            <a:tbl>
              <a:tblPr firstRow="1" bandRow="1">
                <a:tableStyleId>{5C22544A-7EE6-4342-B048-85BDC9FD1C3A}</a:tableStyleId>
              </a:tblPr>
              <a:tblGrid>
                <a:gridCol w="1664990">
                  <a:extLst>
                    <a:ext uri="{9D8B030D-6E8A-4147-A177-3AD203B41FA5}">
                      <a16:colId xmlns:a16="http://schemas.microsoft.com/office/drawing/2014/main" val="20000"/>
                    </a:ext>
                  </a:extLst>
                </a:gridCol>
                <a:gridCol w="1215932">
                  <a:extLst>
                    <a:ext uri="{9D8B030D-6E8A-4147-A177-3AD203B41FA5}">
                      <a16:colId xmlns:a16="http://schemas.microsoft.com/office/drawing/2014/main" val="20001"/>
                    </a:ext>
                  </a:extLst>
                </a:gridCol>
                <a:gridCol w="1424378">
                  <a:extLst>
                    <a:ext uri="{9D8B030D-6E8A-4147-A177-3AD203B41FA5}">
                      <a16:colId xmlns:a16="http://schemas.microsoft.com/office/drawing/2014/main" val="20002"/>
                    </a:ext>
                  </a:extLst>
                </a:gridCol>
              </a:tblGrid>
              <a:tr h="370840">
                <a:tc>
                  <a:txBody>
                    <a:bodyPr/>
                    <a:lstStyle/>
                    <a:p>
                      <a:pPr algn="ctr" fontAlgn="t"/>
                      <a:r>
                        <a:rPr lang="en-US" sz="2000" b="1" dirty="0">
                          <a:solidFill>
                            <a:srgbClr val="FF0000"/>
                          </a:solidFill>
                          <a:effectLst/>
                          <a:latin typeface="Times New Roman" panose="02020603050405020304" pitchFamily="18" charset="0"/>
                          <a:cs typeface="Times New Roman" panose="02020603050405020304" pitchFamily="18" charset="0"/>
                        </a:rPr>
                        <a:t>Transaction- T1</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2000" b="1" dirty="0">
                          <a:solidFill>
                            <a:srgbClr val="FF0000"/>
                          </a:solidFill>
                          <a:effectLst/>
                          <a:latin typeface="Times New Roman" panose="02020603050405020304" pitchFamily="18" charset="0"/>
                          <a:cs typeface="Times New Roman" panose="02020603050405020304" pitchFamily="18" charset="0"/>
                        </a:rPr>
                        <a:t>Time</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2000" b="1" dirty="0">
                          <a:solidFill>
                            <a:srgbClr val="FF0000"/>
                          </a:solidFill>
                          <a:effectLst/>
                          <a:latin typeface="Times New Roman" panose="02020603050405020304" pitchFamily="18" charset="0"/>
                          <a:cs typeface="Times New Roman" panose="02020603050405020304" pitchFamily="18" charset="0"/>
                        </a:rPr>
                        <a:t>TransactionT2</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t0</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b="1">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fontAlgn="t"/>
                      <a:r>
                        <a:rPr lang="en-US" b="1" dirty="0">
                          <a:solidFill>
                            <a:srgbClr val="002060"/>
                          </a:solidFill>
                          <a:effectLst/>
                          <a:latin typeface="Times New Roman" panose="02020603050405020304" pitchFamily="18" charset="0"/>
                          <a:cs typeface="Times New Roman" panose="02020603050405020304" pitchFamily="18" charset="0"/>
                        </a:rPr>
                        <a:t>Read X</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t1</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b="1">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t2</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b="1">
                          <a:solidFill>
                            <a:srgbClr val="002060"/>
                          </a:solidFill>
                          <a:effectLst/>
                          <a:latin typeface="Times New Roman" panose="02020603050405020304" pitchFamily="18" charset="0"/>
                          <a:cs typeface="Times New Roman" panose="02020603050405020304" pitchFamily="18" charset="0"/>
                        </a:rPr>
                        <a:t>Read X</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fontAlgn="t"/>
                      <a:r>
                        <a:rPr lang="en-US" b="1">
                          <a:solidFill>
                            <a:srgbClr val="002060"/>
                          </a:solidFill>
                          <a:effectLst/>
                          <a:latin typeface="Times New Roman" panose="02020603050405020304" pitchFamily="18" charset="0"/>
                          <a:cs typeface="Times New Roman" panose="02020603050405020304" pitchFamily="18" charset="0"/>
                        </a:rPr>
                        <a:t>Update X</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t3</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b="1">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fontAlgn="t"/>
                      <a:r>
                        <a:rPr lang="en-US" b="1">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t4</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b="1" dirty="0">
                          <a:solidFill>
                            <a:srgbClr val="002060"/>
                          </a:solidFill>
                          <a:effectLst/>
                          <a:latin typeface="Times New Roman" panose="02020603050405020304" pitchFamily="18" charset="0"/>
                          <a:cs typeface="Times New Roman" panose="02020603050405020304" pitchFamily="18" charset="0"/>
                        </a:rPr>
                        <a:t>Update X</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fontAlgn="t"/>
                      <a:r>
                        <a:rPr lang="en-US" b="1">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t5</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56226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CONCURRENCY CONTROL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8698" y="250032"/>
            <a:ext cx="8954574" cy="6357937"/>
          </a:xfrm>
        </p:spPr>
        <p:txBody>
          <a:bodyPr>
            <a:noAutofit/>
          </a:bodyPr>
          <a:lstStyle/>
          <a:p>
            <a:pPr marL="0" indent="0" algn="just">
              <a:lnSpc>
                <a:spcPct val="150000"/>
              </a:lnSpc>
              <a:buNone/>
            </a:pPr>
            <a:r>
              <a:rPr lang="en-US" sz="2400" b="1" u="sng" dirty="0">
                <a:solidFill>
                  <a:srgbClr val="FF0000"/>
                </a:solidFill>
                <a:latin typeface="Times New Roman" panose="02020603050405020304" pitchFamily="18" charset="0"/>
                <a:cs typeface="Times New Roman" panose="02020603050405020304" pitchFamily="18" charset="0"/>
              </a:rPr>
              <a:t>1. Lost Update Problem :</a:t>
            </a:r>
          </a:p>
          <a:p>
            <a:pPr marL="0" indent="0" algn="just">
              <a:lnSpc>
                <a:spcPct val="150000"/>
              </a:lnSpc>
              <a:buNone/>
            </a:pPr>
            <a:endParaRPr lang="en-US" sz="2400" u="sng" dirty="0">
              <a:solidFill>
                <a:srgbClr val="FF0000"/>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sz="2400" dirty="0">
              <a:solidFill>
                <a:srgbClr val="002060"/>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sz="2400" dirty="0">
              <a:solidFill>
                <a:srgbClr val="002060"/>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sz="2400" dirty="0">
              <a:solidFill>
                <a:srgbClr val="002060"/>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sz="2400" dirty="0">
              <a:solidFill>
                <a:srgbClr val="002060"/>
              </a:solidFill>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startAt="4"/>
            </a:pPr>
            <a:endParaRPr lang="en-US" sz="2400"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025741376"/>
              </p:ext>
            </p:extLst>
          </p:nvPr>
        </p:nvGraphicFramePr>
        <p:xfrm>
          <a:off x="109539" y="808286"/>
          <a:ext cx="3090860" cy="2987040"/>
        </p:xfrm>
        <a:graphic>
          <a:graphicData uri="http://schemas.openxmlformats.org/drawingml/2006/table">
            <a:tbl>
              <a:tblPr firstRow="1" bandRow="1">
                <a:tableStyleId>{5C22544A-7EE6-4342-B048-85BDC9FD1C3A}</a:tableStyleId>
              </a:tblPr>
              <a:tblGrid>
                <a:gridCol w="1097223">
                  <a:extLst>
                    <a:ext uri="{9D8B030D-6E8A-4147-A177-3AD203B41FA5}">
                      <a16:colId xmlns:a16="http://schemas.microsoft.com/office/drawing/2014/main" val="20000"/>
                    </a:ext>
                  </a:extLst>
                </a:gridCol>
                <a:gridCol w="794970">
                  <a:extLst>
                    <a:ext uri="{9D8B030D-6E8A-4147-A177-3AD203B41FA5}">
                      <a16:colId xmlns:a16="http://schemas.microsoft.com/office/drawing/2014/main" val="20001"/>
                    </a:ext>
                  </a:extLst>
                </a:gridCol>
                <a:gridCol w="1198667">
                  <a:extLst>
                    <a:ext uri="{9D8B030D-6E8A-4147-A177-3AD203B41FA5}">
                      <a16:colId xmlns:a16="http://schemas.microsoft.com/office/drawing/2014/main" val="20002"/>
                    </a:ext>
                  </a:extLst>
                </a:gridCol>
              </a:tblGrid>
              <a:tr h="370840">
                <a:tc>
                  <a:txBody>
                    <a:bodyPr/>
                    <a:lstStyle/>
                    <a:p>
                      <a:pPr algn="ctr" fontAlgn="t"/>
                      <a:r>
                        <a:rPr lang="en-US" b="1" dirty="0">
                          <a:solidFill>
                            <a:srgbClr val="FF0000"/>
                          </a:solidFill>
                          <a:effectLst/>
                          <a:latin typeface="Times New Roman" panose="02020603050405020304" pitchFamily="18" charset="0"/>
                          <a:cs typeface="Times New Roman" panose="02020603050405020304" pitchFamily="18" charset="0"/>
                        </a:rPr>
                        <a:t>T1</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FF0000"/>
                          </a:solidFill>
                          <a:effectLst/>
                          <a:latin typeface="Times New Roman" panose="02020603050405020304" pitchFamily="18" charset="0"/>
                          <a:cs typeface="Times New Roman" panose="02020603050405020304" pitchFamily="18" charset="0"/>
                        </a:rPr>
                        <a:t>Time</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FF0000"/>
                          </a:solidFill>
                          <a:effectLst/>
                          <a:latin typeface="Times New Roman" panose="02020603050405020304" pitchFamily="18" charset="0"/>
                          <a:cs typeface="Times New Roman" panose="02020603050405020304" pitchFamily="18" charset="0"/>
                        </a:rPr>
                        <a:t>T2</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t0</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fontAlgn="t"/>
                      <a:r>
                        <a:rPr lang="en-US" b="1" dirty="0">
                          <a:solidFill>
                            <a:srgbClr val="002060"/>
                          </a:solidFill>
                          <a:effectLst/>
                          <a:latin typeface="Times New Roman" panose="02020603050405020304" pitchFamily="18" charset="0"/>
                          <a:cs typeface="Times New Roman" panose="02020603050405020304" pitchFamily="18" charset="0"/>
                        </a:rPr>
                        <a:t>Read X</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t1</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b="1">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fontAlgn="t"/>
                      <a:r>
                        <a:rPr lang="en-US" b="1">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t2</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b="1" dirty="0">
                          <a:solidFill>
                            <a:srgbClr val="002060"/>
                          </a:solidFill>
                          <a:effectLst/>
                          <a:latin typeface="Times New Roman" panose="02020603050405020304" pitchFamily="18" charset="0"/>
                          <a:cs typeface="Times New Roman" panose="02020603050405020304" pitchFamily="18" charset="0"/>
                        </a:rPr>
                        <a:t>Read X</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fontAlgn="t"/>
                      <a:r>
                        <a:rPr lang="en-US" b="1">
                          <a:solidFill>
                            <a:srgbClr val="002060"/>
                          </a:solidFill>
                          <a:effectLst/>
                          <a:latin typeface="Times New Roman" panose="02020603050405020304" pitchFamily="18" charset="0"/>
                          <a:cs typeface="Times New Roman" panose="02020603050405020304" pitchFamily="18" charset="0"/>
                        </a:rPr>
                        <a:t>Update X</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t3</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fontAlgn="t"/>
                      <a:r>
                        <a:rPr lang="en-US" b="1">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t4</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b="1" dirty="0">
                          <a:solidFill>
                            <a:srgbClr val="002060"/>
                          </a:solidFill>
                          <a:effectLst/>
                          <a:latin typeface="Times New Roman" panose="02020603050405020304" pitchFamily="18" charset="0"/>
                          <a:cs typeface="Times New Roman" panose="02020603050405020304" pitchFamily="18" charset="0"/>
                        </a:rPr>
                        <a:t>Update X</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fontAlgn="t"/>
                      <a:r>
                        <a:rPr lang="en-US" b="1">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t5</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Rectangle 4"/>
          <p:cNvSpPr/>
          <p:nvPr/>
        </p:nvSpPr>
        <p:spPr>
          <a:xfrm>
            <a:off x="3429000" y="691693"/>
            <a:ext cx="5604273" cy="5170646"/>
          </a:xfrm>
          <a:prstGeom prst="rect">
            <a:avLst/>
          </a:prstGeom>
        </p:spPr>
        <p:txBody>
          <a:bodyPr wrap="square">
            <a:spAutoFit/>
          </a:bodyPr>
          <a:lstStyle/>
          <a:p>
            <a:pPr marL="225425" indent="-225425" algn="just">
              <a:lnSpc>
                <a:spcPct val="150000"/>
              </a:lnSpc>
              <a:buFont typeface="+mj-lt"/>
              <a:buAutoNum type="arabicPeriod"/>
            </a:pPr>
            <a:r>
              <a:rPr lang="en-US" sz="2000" b="1" dirty="0">
                <a:solidFill>
                  <a:srgbClr val="002060"/>
                </a:solidFill>
                <a:latin typeface="Times New Roman" panose="02020603050405020304" pitchFamily="18" charset="0"/>
                <a:cs typeface="Times New Roman" panose="02020603050405020304" pitchFamily="18" charset="0"/>
              </a:rPr>
              <a:t>At </a:t>
            </a:r>
            <a:r>
              <a:rPr lang="en-US" sz="2000" b="1" dirty="0">
                <a:solidFill>
                  <a:srgbClr val="FF0000"/>
                </a:solidFill>
                <a:latin typeface="Times New Roman" panose="02020603050405020304" pitchFamily="18" charset="0"/>
                <a:cs typeface="Times New Roman" panose="02020603050405020304" pitchFamily="18" charset="0"/>
              </a:rPr>
              <a:t>time t1 </a:t>
            </a:r>
            <a:r>
              <a:rPr lang="en-US" sz="2000" b="1" dirty="0">
                <a:solidFill>
                  <a:srgbClr val="002060"/>
                </a:solidFill>
                <a:latin typeface="Times New Roman" panose="02020603050405020304" pitchFamily="18" charset="0"/>
                <a:cs typeface="Times New Roman" panose="02020603050405020304" pitchFamily="18" charset="0"/>
              </a:rPr>
              <a:t>, Transactions-</a:t>
            </a:r>
            <a:r>
              <a:rPr lang="en-US" sz="2000" b="1" dirty="0">
                <a:solidFill>
                  <a:srgbClr val="FF0000"/>
                </a:solidFill>
                <a:latin typeface="Times New Roman" panose="02020603050405020304" pitchFamily="18" charset="0"/>
                <a:cs typeface="Times New Roman" panose="02020603050405020304" pitchFamily="18" charset="0"/>
              </a:rPr>
              <a:t>T1 reads value of X</a:t>
            </a:r>
            <a:r>
              <a:rPr lang="en-US" sz="2000" b="1" dirty="0">
                <a:solidFill>
                  <a:srgbClr val="002060"/>
                </a:solidFill>
                <a:latin typeface="Times New Roman" panose="02020603050405020304" pitchFamily="18" charset="0"/>
                <a:cs typeface="Times New Roman" panose="02020603050405020304" pitchFamily="18" charset="0"/>
              </a:rPr>
              <a:t>.</a:t>
            </a:r>
          </a:p>
          <a:p>
            <a:pPr marL="225425" indent="-225425" algn="just">
              <a:lnSpc>
                <a:spcPct val="150000"/>
              </a:lnSpc>
              <a:buFont typeface="+mj-lt"/>
              <a:buAutoNum type="arabicPeriod"/>
            </a:pPr>
            <a:r>
              <a:rPr lang="en-US" sz="2000" b="1" dirty="0">
                <a:solidFill>
                  <a:srgbClr val="002060"/>
                </a:solidFill>
                <a:latin typeface="Times New Roman" panose="02020603050405020304" pitchFamily="18" charset="0"/>
                <a:cs typeface="Times New Roman" panose="02020603050405020304" pitchFamily="18" charset="0"/>
              </a:rPr>
              <a:t>At </a:t>
            </a:r>
            <a:r>
              <a:rPr lang="en-US" sz="2000" b="1" dirty="0">
                <a:solidFill>
                  <a:srgbClr val="FF0000"/>
                </a:solidFill>
                <a:latin typeface="Times New Roman" panose="02020603050405020304" pitchFamily="18" charset="0"/>
                <a:cs typeface="Times New Roman" panose="02020603050405020304" pitchFamily="18" charset="0"/>
              </a:rPr>
              <a:t>time t2 </a:t>
            </a:r>
            <a:r>
              <a:rPr lang="en-US" sz="2000" b="1" dirty="0">
                <a:solidFill>
                  <a:srgbClr val="002060"/>
                </a:solidFill>
                <a:latin typeface="Times New Roman" panose="02020603050405020304" pitchFamily="18" charset="0"/>
                <a:cs typeface="Times New Roman" panose="02020603050405020304" pitchFamily="18" charset="0"/>
              </a:rPr>
              <a:t>, Transactions-</a:t>
            </a:r>
            <a:r>
              <a:rPr lang="en-US" sz="2000" b="1" dirty="0">
                <a:solidFill>
                  <a:srgbClr val="FF0000"/>
                </a:solidFill>
                <a:latin typeface="Times New Roman" panose="02020603050405020304" pitchFamily="18" charset="0"/>
                <a:cs typeface="Times New Roman" panose="02020603050405020304" pitchFamily="18" charset="0"/>
              </a:rPr>
              <a:t>T2 reads value of X</a:t>
            </a:r>
            <a:r>
              <a:rPr lang="en-US" sz="2000" b="1" dirty="0">
                <a:solidFill>
                  <a:srgbClr val="002060"/>
                </a:solidFill>
                <a:latin typeface="Times New Roman" panose="02020603050405020304" pitchFamily="18" charset="0"/>
                <a:cs typeface="Times New Roman" panose="02020603050405020304" pitchFamily="18" charset="0"/>
              </a:rPr>
              <a:t>.</a:t>
            </a:r>
          </a:p>
          <a:p>
            <a:pPr marL="225425" indent="-225425" algn="just">
              <a:lnSpc>
                <a:spcPct val="150000"/>
              </a:lnSpc>
              <a:buFont typeface="+mj-lt"/>
              <a:buAutoNum type="arabicPeriod"/>
            </a:pPr>
            <a:r>
              <a:rPr lang="en-US" sz="2000" b="1" dirty="0">
                <a:solidFill>
                  <a:srgbClr val="002060"/>
                </a:solidFill>
                <a:latin typeface="Times New Roman" panose="02020603050405020304" pitchFamily="18" charset="0"/>
                <a:cs typeface="Times New Roman" panose="02020603050405020304" pitchFamily="18" charset="0"/>
              </a:rPr>
              <a:t>At </a:t>
            </a:r>
            <a:r>
              <a:rPr lang="en-US" sz="2000" b="1" dirty="0">
                <a:solidFill>
                  <a:srgbClr val="FF0000"/>
                </a:solidFill>
                <a:latin typeface="Times New Roman" panose="02020603050405020304" pitchFamily="18" charset="0"/>
                <a:cs typeface="Times New Roman" panose="02020603050405020304" pitchFamily="18" charset="0"/>
              </a:rPr>
              <a:t>time t3</a:t>
            </a:r>
            <a:r>
              <a:rPr lang="en-US" sz="2000" b="1" dirty="0">
                <a:solidFill>
                  <a:srgbClr val="002060"/>
                </a:solidFill>
                <a:latin typeface="Times New Roman" panose="02020603050405020304" pitchFamily="18" charset="0"/>
                <a:cs typeface="Times New Roman" panose="02020603050405020304" pitchFamily="18" charset="0"/>
              </a:rPr>
              <a:t>, Transactions-</a:t>
            </a:r>
            <a:r>
              <a:rPr lang="en-US" sz="2000" b="1" dirty="0">
                <a:solidFill>
                  <a:srgbClr val="FF0000"/>
                </a:solidFill>
                <a:latin typeface="Times New Roman" panose="02020603050405020304" pitchFamily="18" charset="0"/>
                <a:cs typeface="Times New Roman" panose="02020603050405020304" pitchFamily="18" charset="0"/>
              </a:rPr>
              <a:t>T1 writes value of X </a:t>
            </a:r>
            <a:r>
              <a:rPr lang="en-US" sz="2000" b="1" dirty="0">
                <a:solidFill>
                  <a:srgbClr val="002060"/>
                </a:solidFill>
                <a:latin typeface="Times New Roman" panose="02020603050405020304" pitchFamily="18" charset="0"/>
                <a:cs typeface="Times New Roman" panose="02020603050405020304" pitchFamily="18" charset="0"/>
              </a:rPr>
              <a:t>on the basis  of the value seen at time t1.</a:t>
            </a:r>
          </a:p>
          <a:p>
            <a:pPr marL="225425" indent="-225425" algn="just">
              <a:lnSpc>
                <a:spcPct val="150000"/>
              </a:lnSpc>
              <a:buFont typeface="+mj-lt"/>
              <a:buAutoNum type="arabicPeriod"/>
            </a:pPr>
            <a:r>
              <a:rPr lang="en-US" sz="2000" b="1" dirty="0">
                <a:solidFill>
                  <a:srgbClr val="002060"/>
                </a:solidFill>
                <a:latin typeface="Times New Roman" panose="02020603050405020304" pitchFamily="18" charset="0"/>
                <a:cs typeface="Times New Roman" panose="02020603050405020304" pitchFamily="18" charset="0"/>
              </a:rPr>
              <a:t>At ti</a:t>
            </a:r>
            <a:r>
              <a:rPr lang="en-US" sz="2000" b="1" dirty="0">
                <a:solidFill>
                  <a:srgbClr val="FF0000"/>
                </a:solidFill>
                <a:latin typeface="Times New Roman" panose="02020603050405020304" pitchFamily="18" charset="0"/>
                <a:cs typeface="Times New Roman" panose="02020603050405020304" pitchFamily="18" charset="0"/>
              </a:rPr>
              <a:t>me t4</a:t>
            </a:r>
            <a:r>
              <a:rPr lang="en-US" sz="2000" b="1" dirty="0">
                <a:solidFill>
                  <a:srgbClr val="002060"/>
                </a:solidFill>
                <a:latin typeface="Times New Roman" panose="02020603050405020304" pitchFamily="18" charset="0"/>
                <a:cs typeface="Times New Roman" panose="02020603050405020304" pitchFamily="18" charset="0"/>
              </a:rPr>
              <a:t>, Transactions – </a:t>
            </a:r>
            <a:r>
              <a:rPr lang="en-US" sz="2000" b="1" dirty="0">
                <a:solidFill>
                  <a:srgbClr val="FF0000"/>
                </a:solidFill>
                <a:latin typeface="Times New Roman" panose="02020603050405020304" pitchFamily="18" charset="0"/>
                <a:cs typeface="Times New Roman" panose="02020603050405020304" pitchFamily="18" charset="0"/>
              </a:rPr>
              <a:t>T2 writes value of X </a:t>
            </a:r>
            <a:r>
              <a:rPr lang="en-US" sz="2000" b="1" dirty="0">
                <a:solidFill>
                  <a:srgbClr val="002060"/>
                </a:solidFill>
                <a:latin typeface="Times New Roman" panose="02020603050405020304" pitchFamily="18" charset="0"/>
                <a:cs typeface="Times New Roman" panose="02020603050405020304" pitchFamily="18" charset="0"/>
              </a:rPr>
              <a:t>on the basis  of the value seen at time t2.</a:t>
            </a:r>
          </a:p>
          <a:p>
            <a:pPr marL="457200" indent="-457200" algn="just">
              <a:lnSpc>
                <a:spcPct val="150000"/>
              </a:lnSpc>
              <a:buNone/>
            </a:pPr>
            <a:r>
              <a:rPr lang="en-US" sz="2000" dirty="0">
                <a:solidFill>
                  <a:srgbClr val="002060"/>
                </a:solidFill>
                <a:latin typeface="Times New Roman" panose="02020603050405020304" pitchFamily="18" charset="0"/>
                <a:cs typeface="Times New Roman" panose="02020603050405020304" pitchFamily="18" charset="0"/>
              </a:rPr>
              <a:t>5. </a:t>
            </a:r>
            <a:r>
              <a:rPr lang="en-US" sz="2000" b="1" dirty="0">
                <a:solidFill>
                  <a:srgbClr val="002060"/>
                </a:solidFill>
                <a:latin typeface="Times New Roman" panose="02020603050405020304" pitchFamily="18" charset="0"/>
                <a:cs typeface="Times New Roman" panose="02020603050405020304" pitchFamily="18" charset="0"/>
              </a:rPr>
              <a:t>Update of </a:t>
            </a:r>
            <a:r>
              <a:rPr lang="en-US" sz="2000" b="1" u="sng" dirty="0">
                <a:solidFill>
                  <a:srgbClr val="FF0000"/>
                </a:solidFill>
                <a:latin typeface="Times New Roman" panose="02020603050405020304" pitchFamily="18" charset="0"/>
                <a:cs typeface="Times New Roman" panose="02020603050405020304" pitchFamily="18" charset="0"/>
              </a:rPr>
              <a:t>Transactions-T1 is lost </a:t>
            </a:r>
            <a:r>
              <a:rPr lang="en-US" sz="2000" b="1" dirty="0">
                <a:solidFill>
                  <a:srgbClr val="002060"/>
                </a:solidFill>
                <a:latin typeface="Times New Roman" panose="02020603050405020304" pitchFamily="18" charset="0"/>
                <a:cs typeface="Times New Roman" panose="02020603050405020304" pitchFamily="18" charset="0"/>
              </a:rPr>
              <a:t>at time t4, because </a:t>
            </a:r>
            <a:r>
              <a:rPr lang="en-US" sz="2000" b="1" u="sng" dirty="0">
                <a:solidFill>
                  <a:srgbClr val="FF0000"/>
                </a:solidFill>
                <a:latin typeface="Times New Roman" panose="02020603050405020304" pitchFamily="18" charset="0"/>
                <a:cs typeface="Times New Roman" panose="02020603050405020304" pitchFamily="18" charset="0"/>
              </a:rPr>
              <a:t>Transactions-T2 overwrites </a:t>
            </a:r>
            <a:r>
              <a:rPr lang="en-US" sz="2000" b="1" dirty="0">
                <a:solidFill>
                  <a:srgbClr val="002060"/>
                </a:solidFill>
                <a:latin typeface="Times New Roman" panose="02020603050405020304" pitchFamily="18" charset="0"/>
                <a:cs typeface="Times New Roman" panose="02020603050405020304" pitchFamily="18" charset="0"/>
              </a:rPr>
              <a:t>it without looking at its current value.</a:t>
            </a:r>
          </a:p>
          <a:p>
            <a:pPr marL="457200" indent="-457200" algn="just">
              <a:lnSpc>
                <a:spcPct val="150000"/>
              </a:lnSpc>
              <a:buNone/>
            </a:pPr>
            <a:r>
              <a:rPr lang="en-US" sz="2000" b="1" dirty="0">
                <a:solidFill>
                  <a:srgbClr val="002060"/>
                </a:solidFill>
                <a:latin typeface="Times New Roman" panose="02020603050405020304" pitchFamily="18" charset="0"/>
                <a:cs typeface="Times New Roman" panose="02020603050405020304" pitchFamily="18" charset="0"/>
              </a:rPr>
              <a:t>6. Such type of problem is referred as the </a:t>
            </a:r>
            <a:r>
              <a:rPr lang="en-US" sz="2000" b="1" dirty="0">
                <a:solidFill>
                  <a:srgbClr val="FF0000"/>
                </a:solidFill>
                <a:latin typeface="Times New Roman" panose="02020603050405020304" pitchFamily="18" charset="0"/>
                <a:cs typeface="Times New Roman" panose="02020603050405020304" pitchFamily="18" charset="0"/>
              </a:rPr>
              <a:t>Update Lost Problem</a:t>
            </a:r>
            <a:r>
              <a:rPr lang="en-US" sz="2000" b="1" dirty="0">
                <a:solidFill>
                  <a:srgbClr val="00206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59662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CONCURRENCY CONTROL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304800"/>
            <a:ext cx="5520928" cy="6357937"/>
          </a:xfrm>
        </p:spPr>
        <p:txBody>
          <a:bodyPr>
            <a:noAutofit/>
          </a:bodyPr>
          <a:lstStyle/>
          <a:p>
            <a:pPr marL="0" indent="0" algn="just">
              <a:lnSpc>
                <a:spcPct val="150000"/>
              </a:lnSpc>
              <a:buNone/>
            </a:pPr>
            <a:r>
              <a:rPr lang="en-US" sz="2400" b="1" u="sng" dirty="0">
                <a:solidFill>
                  <a:srgbClr val="FF0000"/>
                </a:solidFill>
                <a:latin typeface="Times New Roman" panose="02020603050405020304" pitchFamily="18" charset="0"/>
                <a:cs typeface="Times New Roman" panose="02020603050405020304" pitchFamily="18" charset="0"/>
              </a:rPr>
              <a:t>2. Dirty Read Problem:</a:t>
            </a:r>
          </a:p>
          <a:p>
            <a:pPr marL="225425" indent="-225425" algn="just">
              <a:lnSpc>
                <a:spcPct val="150000"/>
              </a:lnSpc>
              <a:buFont typeface="Wingdings" panose="05000000000000000000" pitchFamily="2" charset="2"/>
              <a:buChar char="v"/>
            </a:pPr>
            <a:r>
              <a:rPr lang="en-US" sz="2200" dirty="0">
                <a:solidFill>
                  <a:srgbClr val="002060"/>
                </a:solidFill>
                <a:latin typeface="Times New Roman" panose="02020603050405020304" pitchFamily="18" charset="0"/>
                <a:cs typeface="Times New Roman" panose="02020603050405020304" pitchFamily="18" charset="0"/>
              </a:rPr>
              <a:t>A dirty read problem occurs when one transaction updates a database item and then that transaction fails for some reason.</a:t>
            </a:r>
          </a:p>
          <a:p>
            <a:pPr marL="225425" indent="-225425" algn="just">
              <a:lnSpc>
                <a:spcPct val="150000"/>
              </a:lnSpc>
              <a:buFont typeface="Wingdings" panose="05000000000000000000" pitchFamily="2" charset="2"/>
              <a:buChar char="v"/>
            </a:pPr>
            <a:r>
              <a:rPr lang="en-US" sz="2200" dirty="0">
                <a:solidFill>
                  <a:srgbClr val="002060"/>
                </a:solidFill>
                <a:latin typeface="Times New Roman" panose="02020603050405020304" pitchFamily="18" charset="0"/>
                <a:cs typeface="Times New Roman" panose="02020603050405020304" pitchFamily="18" charset="0"/>
              </a:rPr>
              <a:t>The updated database item is accessed by another transaction before it is changed back to the original value.</a:t>
            </a:r>
          </a:p>
          <a:p>
            <a:pPr marL="225425" indent="-225425" algn="just">
              <a:lnSpc>
                <a:spcPct val="150000"/>
              </a:lnSpc>
              <a:buFont typeface="Wingdings" panose="05000000000000000000" pitchFamily="2" charset="2"/>
              <a:buChar char="v"/>
            </a:pPr>
            <a:r>
              <a:rPr lang="en-US" sz="2200" b="1" u="sng" dirty="0">
                <a:solidFill>
                  <a:srgbClr val="FF0000"/>
                </a:solidFill>
                <a:latin typeface="Times New Roman" panose="02020603050405020304" pitchFamily="18" charset="0"/>
                <a:cs typeface="Times New Roman" panose="02020603050405020304" pitchFamily="18" charset="0"/>
              </a:rPr>
              <a:t>Example</a:t>
            </a:r>
            <a:r>
              <a:rPr lang="en-US" sz="2200" b="1" dirty="0">
                <a:solidFill>
                  <a:srgbClr val="002060"/>
                </a:solidFill>
                <a:latin typeface="Times New Roman" panose="02020603050405020304" pitchFamily="18" charset="0"/>
                <a:cs typeface="Times New Roman" panose="02020603050405020304" pitchFamily="18" charset="0"/>
              </a:rPr>
              <a:t>: </a:t>
            </a:r>
            <a:r>
              <a:rPr lang="en-US" sz="2200" dirty="0">
                <a:solidFill>
                  <a:srgbClr val="002060"/>
                </a:solidFill>
                <a:latin typeface="Times New Roman" panose="02020603050405020304" pitchFamily="18" charset="0"/>
                <a:cs typeface="Times New Roman" panose="02020603050405020304" pitchFamily="18" charset="0"/>
              </a:rPr>
              <a:t>A transaction </a:t>
            </a:r>
            <a:r>
              <a:rPr lang="en-US" sz="2200" dirty="0">
                <a:solidFill>
                  <a:srgbClr val="FF0000"/>
                </a:solidFill>
                <a:latin typeface="Times New Roman" panose="02020603050405020304" pitchFamily="18" charset="0"/>
                <a:cs typeface="Times New Roman" panose="02020603050405020304" pitchFamily="18" charset="0"/>
              </a:rPr>
              <a:t>T2 updates a record</a:t>
            </a:r>
            <a:r>
              <a:rPr lang="en-US" sz="2200" dirty="0">
                <a:solidFill>
                  <a:srgbClr val="002060"/>
                </a:solidFill>
                <a:latin typeface="Times New Roman" panose="02020603050405020304" pitchFamily="18" charset="0"/>
                <a:cs typeface="Times New Roman" panose="02020603050405020304" pitchFamily="18" charset="0"/>
              </a:rPr>
              <a:t>, which is read by the transaction T1.</a:t>
            </a:r>
          </a:p>
          <a:p>
            <a:pPr marL="225425" indent="-225425" algn="just">
              <a:lnSpc>
                <a:spcPct val="150000"/>
              </a:lnSpc>
              <a:buFont typeface="Wingdings" panose="05000000000000000000" pitchFamily="2" charset="2"/>
              <a:buChar char="v"/>
            </a:pPr>
            <a:r>
              <a:rPr lang="en-US" sz="2200" dirty="0">
                <a:solidFill>
                  <a:srgbClr val="002060"/>
                </a:solidFill>
                <a:latin typeface="Times New Roman" panose="02020603050405020304" pitchFamily="18" charset="0"/>
                <a:cs typeface="Times New Roman" panose="02020603050405020304" pitchFamily="18" charset="0"/>
              </a:rPr>
              <a:t>Then </a:t>
            </a:r>
            <a:r>
              <a:rPr lang="en-US" sz="2200" dirty="0">
                <a:solidFill>
                  <a:srgbClr val="FF0000"/>
                </a:solidFill>
                <a:latin typeface="Times New Roman" panose="02020603050405020304" pitchFamily="18" charset="0"/>
                <a:cs typeface="Times New Roman" panose="02020603050405020304" pitchFamily="18" charset="0"/>
              </a:rPr>
              <a:t>T2 aborts </a:t>
            </a:r>
            <a:r>
              <a:rPr lang="en-US" sz="2200" dirty="0">
                <a:solidFill>
                  <a:srgbClr val="002060"/>
                </a:solidFill>
                <a:latin typeface="Times New Roman" panose="02020603050405020304" pitchFamily="18" charset="0"/>
                <a:cs typeface="Times New Roman" panose="02020603050405020304" pitchFamily="18" charset="0"/>
              </a:rPr>
              <a:t>and </a:t>
            </a:r>
            <a:r>
              <a:rPr lang="en-US" sz="2200" dirty="0">
                <a:solidFill>
                  <a:srgbClr val="FF0000"/>
                </a:solidFill>
                <a:latin typeface="Times New Roman" panose="02020603050405020304" pitchFamily="18" charset="0"/>
                <a:cs typeface="Times New Roman" panose="02020603050405020304" pitchFamily="18" charset="0"/>
              </a:rPr>
              <a:t>T2</a:t>
            </a:r>
            <a:r>
              <a:rPr lang="en-US" sz="2200" dirty="0">
                <a:solidFill>
                  <a:srgbClr val="002060"/>
                </a:solidFill>
                <a:latin typeface="Times New Roman" panose="02020603050405020304" pitchFamily="18" charset="0"/>
                <a:cs typeface="Times New Roman" panose="02020603050405020304" pitchFamily="18" charset="0"/>
              </a:rPr>
              <a:t> now has values which have </a:t>
            </a:r>
            <a:r>
              <a:rPr lang="en-US" sz="2200" dirty="0">
                <a:solidFill>
                  <a:srgbClr val="FF0000"/>
                </a:solidFill>
                <a:latin typeface="Times New Roman" panose="02020603050405020304" pitchFamily="18" charset="0"/>
                <a:cs typeface="Times New Roman" panose="02020603050405020304" pitchFamily="18" charset="0"/>
              </a:rPr>
              <a:t>never formed part of the stable database</a:t>
            </a:r>
            <a:r>
              <a:rPr lang="en-US" sz="2200" dirty="0">
                <a:solidFill>
                  <a:srgbClr val="002060"/>
                </a:solidFill>
                <a:latin typeface="Times New Roman" panose="02020603050405020304" pitchFamily="18" charset="0"/>
                <a:cs typeface="Times New Roman" panose="02020603050405020304" pitchFamily="18" charset="0"/>
              </a:rPr>
              <a:t>. </a:t>
            </a:r>
          </a:p>
        </p:txBody>
      </p:sp>
      <p:graphicFrame>
        <p:nvGraphicFramePr>
          <p:cNvPr id="5" name="Table 4"/>
          <p:cNvGraphicFramePr>
            <a:graphicFrameLocks noGrp="1"/>
          </p:cNvGraphicFramePr>
          <p:nvPr>
            <p:extLst>
              <p:ext uri="{D42A27DB-BD31-4B8C-83A1-F6EECF244321}">
                <p14:modId xmlns:p14="http://schemas.microsoft.com/office/powerpoint/2010/main" val="4205504742"/>
              </p:ext>
            </p:extLst>
          </p:nvPr>
        </p:nvGraphicFramePr>
        <p:xfrm>
          <a:off x="5791200" y="990600"/>
          <a:ext cx="3200400" cy="3048001"/>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14399">
                  <a:extLst>
                    <a:ext uri="{9D8B030D-6E8A-4147-A177-3AD203B41FA5}">
                      <a16:colId xmlns:a16="http://schemas.microsoft.com/office/drawing/2014/main" val="20001"/>
                    </a:ext>
                  </a:extLst>
                </a:gridCol>
                <a:gridCol w="1066801">
                  <a:extLst>
                    <a:ext uri="{9D8B030D-6E8A-4147-A177-3AD203B41FA5}">
                      <a16:colId xmlns:a16="http://schemas.microsoft.com/office/drawing/2014/main" val="20002"/>
                    </a:ext>
                  </a:extLst>
                </a:gridCol>
              </a:tblGrid>
              <a:tr h="527276">
                <a:tc>
                  <a:txBody>
                    <a:bodyPr/>
                    <a:lstStyle/>
                    <a:p>
                      <a:pPr algn="ctr" fontAlgn="t"/>
                      <a:r>
                        <a:rPr lang="en-US" b="1" dirty="0">
                          <a:solidFill>
                            <a:srgbClr val="FF0000"/>
                          </a:solidFill>
                          <a:effectLst/>
                          <a:latin typeface="Times New Roman" panose="02020603050405020304" pitchFamily="18" charset="0"/>
                          <a:cs typeface="Times New Roman" panose="02020603050405020304" pitchFamily="18" charset="0"/>
                        </a:rPr>
                        <a:t>T1</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FF0000"/>
                          </a:solidFill>
                          <a:effectLst/>
                          <a:latin typeface="Times New Roman" panose="02020603050405020304" pitchFamily="18" charset="0"/>
                          <a:cs typeface="Times New Roman" panose="02020603050405020304" pitchFamily="18" charset="0"/>
                        </a:rPr>
                        <a:t>Time</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FF0000"/>
                          </a:solidFill>
                          <a:effectLst/>
                          <a:latin typeface="Times New Roman" panose="02020603050405020304" pitchFamily="18" charset="0"/>
                          <a:cs typeface="Times New Roman" panose="02020603050405020304" pitchFamily="18" charset="0"/>
                        </a:rPr>
                        <a:t>T2</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04145">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t0</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04145">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t1</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Update X</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4145">
                <a:tc>
                  <a:txBody>
                    <a:bodyPr/>
                    <a:lstStyle/>
                    <a:p>
                      <a:pPr algn="ctr" fontAlgn="t"/>
                      <a:r>
                        <a:rPr lang="en-US" b="1">
                          <a:solidFill>
                            <a:srgbClr val="002060"/>
                          </a:solidFill>
                          <a:effectLst/>
                          <a:latin typeface="Times New Roman" panose="02020603050405020304" pitchFamily="18" charset="0"/>
                          <a:cs typeface="Times New Roman" panose="02020603050405020304" pitchFamily="18" charset="0"/>
                        </a:rPr>
                        <a:t>Read X</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t2</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4145">
                <a:tc>
                  <a:txBody>
                    <a:bodyPr/>
                    <a:lstStyle/>
                    <a:p>
                      <a:pPr algn="ctr" fontAlgn="t"/>
                      <a:r>
                        <a:rPr lang="en-US" b="1">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t3</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Rollback</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04145">
                <a:tc>
                  <a:txBody>
                    <a:bodyPr/>
                    <a:lstStyle/>
                    <a:p>
                      <a:pPr algn="ctr" fontAlgn="t"/>
                      <a:r>
                        <a:rPr lang="en-US" b="1">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t4</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39100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CONCURRENCY CONTROL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7872" y="500063"/>
            <a:ext cx="5520928" cy="5672137"/>
          </a:xfrm>
        </p:spPr>
        <p:txBody>
          <a:bodyPr>
            <a:noAutofit/>
          </a:bodyPr>
          <a:lstStyle/>
          <a:p>
            <a:pPr marL="0" indent="0" algn="just">
              <a:lnSpc>
                <a:spcPct val="150000"/>
              </a:lnSpc>
              <a:buNone/>
            </a:pPr>
            <a:r>
              <a:rPr lang="en-US" sz="2400" b="1" u="sng" dirty="0">
                <a:solidFill>
                  <a:srgbClr val="FF0000"/>
                </a:solidFill>
                <a:latin typeface="Times New Roman" panose="02020603050405020304" pitchFamily="18" charset="0"/>
                <a:cs typeface="Times New Roman" panose="02020603050405020304" pitchFamily="18" charset="0"/>
              </a:rPr>
              <a:t>2. Dirty Read Problem:</a:t>
            </a:r>
          </a:p>
          <a:p>
            <a:pPr marL="225425" indent="-225425" algn="just">
              <a:lnSpc>
                <a:spcPct val="150000"/>
              </a:lnSpc>
              <a:buFont typeface="+mj-lt"/>
              <a:buAutoNum type="arabicPeriod"/>
            </a:pPr>
            <a:r>
              <a:rPr lang="en-US" sz="2200" dirty="0">
                <a:solidFill>
                  <a:srgbClr val="002060"/>
                </a:solidFill>
                <a:latin typeface="Times New Roman" panose="02020603050405020304" pitchFamily="18" charset="0"/>
                <a:cs typeface="Times New Roman" panose="02020603050405020304" pitchFamily="18" charset="0"/>
              </a:rPr>
              <a:t>At </a:t>
            </a:r>
            <a:r>
              <a:rPr lang="en-US" sz="2200" dirty="0">
                <a:solidFill>
                  <a:srgbClr val="FF0000"/>
                </a:solidFill>
                <a:latin typeface="Times New Roman" panose="02020603050405020304" pitchFamily="18" charset="0"/>
                <a:cs typeface="Times New Roman" panose="02020603050405020304" pitchFamily="18" charset="0"/>
              </a:rPr>
              <a:t>time t1 </a:t>
            </a:r>
            <a:r>
              <a:rPr lang="en-US" sz="2200" dirty="0">
                <a:solidFill>
                  <a:srgbClr val="002060"/>
                </a:solidFill>
                <a:latin typeface="Times New Roman" panose="02020603050405020304" pitchFamily="18" charset="0"/>
                <a:cs typeface="Times New Roman" panose="02020603050405020304" pitchFamily="18" charset="0"/>
              </a:rPr>
              <a:t>, Transactions-</a:t>
            </a:r>
            <a:r>
              <a:rPr lang="en-US" sz="2200" dirty="0">
                <a:solidFill>
                  <a:srgbClr val="FF0000"/>
                </a:solidFill>
                <a:latin typeface="Times New Roman" panose="02020603050405020304" pitchFamily="18" charset="0"/>
                <a:cs typeface="Times New Roman" panose="02020603050405020304" pitchFamily="18" charset="0"/>
              </a:rPr>
              <a:t>T2 writes </a:t>
            </a:r>
            <a:r>
              <a:rPr lang="en-US" sz="2200" dirty="0">
                <a:solidFill>
                  <a:srgbClr val="002060"/>
                </a:solidFill>
                <a:latin typeface="Times New Roman" panose="02020603050405020304" pitchFamily="18" charset="0"/>
                <a:cs typeface="Times New Roman" panose="02020603050405020304" pitchFamily="18" charset="0"/>
              </a:rPr>
              <a:t>value of </a:t>
            </a:r>
            <a:r>
              <a:rPr lang="en-US" sz="2200" dirty="0">
                <a:solidFill>
                  <a:srgbClr val="FF0000"/>
                </a:solidFill>
                <a:latin typeface="Times New Roman" panose="02020603050405020304" pitchFamily="18" charset="0"/>
                <a:cs typeface="Times New Roman" panose="02020603050405020304" pitchFamily="18" charset="0"/>
              </a:rPr>
              <a:t>X</a:t>
            </a:r>
            <a:r>
              <a:rPr lang="en-US" sz="2200" dirty="0">
                <a:solidFill>
                  <a:srgbClr val="002060"/>
                </a:solidFill>
                <a:latin typeface="Times New Roman" panose="02020603050405020304" pitchFamily="18" charset="0"/>
                <a:cs typeface="Times New Roman" panose="02020603050405020304" pitchFamily="18" charset="0"/>
              </a:rPr>
              <a:t>.</a:t>
            </a:r>
          </a:p>
          <a:p>
            <a:pPr marL="225425" indent="-225425" algn="just">
              <a:lnSpc>
                <a:spcPct val="150000"/>
              </a:lnSpc>
              <a:buFont typeface="+mj-lt"/>
              <a:buAutoNum type="arabicPeriod"/>
            </a:pPr>
            <a:r>
              <a:rPr lang="en-US" sz="2200" dirty="0">
                <a:solidFill>
                  <a:srgbClr val="002060"/>
                </a:solidFill>
                <a:latin typeface="Times New Roman" panose="02020603050405020304" pitchFamily="18" charset="0"/>
                <a:cs typeface="Times New Roman" panose="02020603050405020304" pitchFamily="18" charset="0"/>
              </a:rPr>
              <a:t>At </a:t>
            </a:r>
            <a:r>
              <a:rPr lang="en-US" sz="2200" dirty="0">
                <a:solidFill>
                  <a:srgbClr val="FF0000"/>
                </a:solidFill>
                <a:latin typeface="Times New Roman" panose="02020603050405020304" pitchFamily="18" charset="0"/>
                <a:cs typeface="Times New Roman" panose="02020603050405020304" pitchFamily="18" charset="0"/>
              </a:rPr>
              <a:t>time t2</a:t>
            </a:r>
            <a:r>
              <a:rPr lang="en-US" sz="2200" dirty="0">
                <a:solidFill>
                  <a:srgbClr val="002060"/>
                </a:solidFill>
                <a:latin typeface="Times New Roman" panose="02020603050405020304" pitchFamily="18" charset="0"/>
                <a:cs typeface="Times New Roman" panose="02020603050405020304" pitchFamily="18" charset="0"/>
              </a:rPr>
              <a:t> , Transactions-</a:t>
            </a:r>
            <a:r>
              <a:rPr lang="en-US" sz="2200" dirty="0">
                <a:solidFill>
                  <a:srgbClr val="FF0000"/>
                </a:solidFill>
                <a:latin typeface="Times New Roman" panose="02020603050405020304" pitchFamily="18" charset="0"/>
                <a:cs typeface="Times New Roman" panose="02020603050405020304" pitchFamily="18" charset="0"/>
              </a:rPr>
              <a:t>T1</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FF0000"/>
                </a:solidFill>
                <a:latin typeface="Times New Roman" panose="02020603050405020304" pitchFamily="18" charset="0"/>
                <a:cs typeface="Times New Roman" panose="02020603050405020304" pitchFamily="18" charset="0"/>
              </a:rPr>
              <a:t>reads</a:t>
            </a:r>
            <a:r>
              <a:rPr lang="en-US" sz="2200" dirty="0">
                <a:solidFill>
                  <a:srgbClr val="002060"/>
                </a:solidFill>
                <a:latin typeface="Times New Roman" panose="02020603050405020304" pitchFamily="18" charset="0"/>
                <a:cs typeface="Times New Roman" panose="02020603050405020304" pitchFamily="18" charset="0"/>
              </a:rPr>
              <a:t> value of </a:t>
            </a:r>
            <a:r>
              <a:rPr lang="en-US" sz="2200" dirty="0">
                <a:solidFill>
                  <a:srgbClr val="FF0000"/>
                </a:solidFill>
                <a:latin typeface="Times New Roman" panose="02020603050405020304" pitchFamily="18" charset="0"/>
                <a:cs typeface="Times New Roman" panose="02020603050405020304" pitchFamily="18" charset="0"/>
              </a:rPr>
              <a:t>X</a:t>
            </a:r>
            <a:r>
              <a:rPr lang="en-US" sz="2200" dirty="0">
                <a:solidFill>
                  <a:srgbClr val="002060"/>
                </a:solidFill>
                <a:latin typeface="Times New Roman" panose="02020603050405020304" pitchFamily="18" charset="0"/>
                <a:cs typeface="Times New Roman" panose="02020603050405020304" pitchFamily="18" charset="0"/>
              </a:rPr>
              <a:t>.</a:t>
            </a:r>
          </a:p>
          <a:p>
            <a:pPr marL="225425" indent="-225425" algn="just">
              <a:lnSpc>
                <a:spcPct val="150000"/>
              </a:lnSpc>
              <a:buFont typeface="+mj-lt"/>
              <a:buAutoNum type="arabicPeriod"/>
            </a:pPr>
            <a:r>
              <a:rPr lang="en-US" sz="2200" dirty="0">
                <a:solidFill>
                  <a:srgbClr val="002060"/>
                </a:solidFill>
                <a:latin typeface="Times New Roman" panose="02020603050405020304" pitchFamily="18" charset="0"/>
                <a:cs typeface="Times New Roman" panose="02020603050405020304" pitchFamily="18" charset="0"/>
              </a:rPr>
              <a:t>At </a:t>
            </a:r>
            <a:r>
              <a:rPr lang="en-US" sz="2200" dirty="0">
                <a:solidFill>
                  <a:srgbClr val="FF0000"/>
                </a:solidFill>
                <a:latin typeface="Times New Roman" panose="02020603050405020304" pitchFamily="18" charset="0"/>
                <a:cs typeface="Times New Roman" panose="02020603050405020304" pitchFamily="18" charset="0"/>
              </a:rPr>
              <a:t>time t3</a:t>
            </a:r>
            <a:r>
              <a:rPr lang="en-US" sz="2200" dirty="0">
                <a:solidFill>
                  <a:srgbClr val="002060"/>
                </a:solidFill>
                <a:latin typeface="Times New Roman" panose="02020603050405020304" pitchFamily="18" charset="0"/>
                <a:cs typeface="Times New Roman" panose="02020603050405020304" pitchFamily="18" charset="0"/>
              </a:rPr>
              <a:t> , Transactions</a:t>
            </a:r>
            <a:r>
              <a:rPr lang="en-US" sz="2200" dirty="0">
                <a:solidFill>
                  <a:srgbClr val="FF0000"/>
                </a:solidFill>
                <a:latin typeface="Times New Roman" panose="02020603050405020304" pitchFamily="18" charset="0"/>
                <a:cs typeface="Times New Roman" panose="02020603050405020304" pitchFamily="18" charset="0"/>
              </a:rPr>
              <a:t> -T2 rollbacks</a:t>
            </a:r>
            <a:r>
              <a:rPr lang="en-US" sz="2200" dirty="0">
                <a:solidFill>
                  <a:srgbClr val="002060"/>
                </a:solidFill>
                <a:latin typeface="Times New Roman" panose="02020603050405020304" pitchFamily="18" charset="0"/>
                <a:cs typeface="Times New Roman" panose="02020603050405020304" pitchFamily="18" charset="0"/>
              </a:rPr>
              <a:t>.</a:t>
            </a:r>
          </a:p>
          <a:p>
            <a:pPr marL="225425" indent="-225425" algn="just">
              <a:lnSpc>
                <a:spcPct val="150000"/>
              </a:lnSpc>
              <a:buFont typeface="+mj-lt"/>
              <a:buAutoNum type="arabicPeriod"/>
            </a:pPr>
            <a:r>
              <a:rPr lang="en-US" sz="2200" dirty="0">
                <a:solidFill>
                  <a:srgbClr val="002060"/>
                </a:solidFill>
                <a:latin typeface="Times New Roman" panose="02020603050405020304" pitchFamily="18" charset="0"/>
                <a:cs typeface="Times New Roman" panose="02020603050405020304" pitchFamily="18" charset="0"/>
              </a:rPr>
              <a:t>Transaction-</a:t>
            </a:r>
            <a:r>
              <a:rPr lang="en-US" sz="2200" dirty="0">
                <a:solidFill>
                  <a:srgbClr val="FF0000"/>
                </a:solidFill>
                <a:latin typeface="Times New Roman" panose="02020603050405020304" pitchFamily="18" charset="0"/>
                <a:cs typeface="Times New Roman" panose="02020603050405020304" pitchFamily="18" charset="0"/>
              </a:rPr>
              <a:t>T1</a:t>
            </a:r>
            <a:r>
              <a:rPr lang="en-US" sz="2200" dirty="0">
                <a:solidFill>
                  <a:srgbClr val="002060"/>
                </a:solidFill>
                <a:latin typeface="Times New Roman" panose="02020603050405020304" pitchFamily="18" charset="0"/>
                <a:cs typeface="Times New Roman" panose="02020603050405020304" pitchFamily="18" charset="0"/>
              </a:rPr>
              <a:t> now has value which has never become part of the stable database.</a:t>
            </a:r>
          </a:p>
          <a:p>
            <a:pPr marL="225425" indent="-225425" algn="just">
              <a:lnSpc>
                <a:spcPct val="150000"/>
              </a:lnSpc>
              <a:buFont typeface="+mj-lt"/>
              <a:buAutoNum type="arabicPeriod"/>
            </a:pPr>
            <a:r>
              <a:rPr lang="en-US" sz="2200" dirty="0">
                <a:solidFill>
                  <a:srgbClr val="002060"/>
                </a:solidFill>
                <a:latin typeface="Times New Roman" panose="02020603050405020304" pitchFamily="18" charset="0"/>
                <a:cs typeface="Times New Roman" panose="02020603050405020304" pitchFamily="18" charset="0"/>
              </a:rPr>
              <a:t>Such type of problem is referred as the </a:t>
            </a:r>
            <a:r>
              <a:rPr lang="en-US" sz="2200" b="1" u="sng" dirty="0">
                <a:solidFill>
                  <a:srgbClr val="FF0000"/>
                </a:solidFill>
                <a:latin typeface="Times New Roman" panose="02020603050405020304" pitchFamily="18" charset="0"/>
                <a:cs typeface="Times New Roman" panose="02020603050405020304" pitchFamily="18" charset="0"/>
              </a:rPr>
              <a:t>Dirty Read.</a:t>
            </a:r>
          </a:p>
        </p:txBody>
      </p:sp>
      <p:graphicFrame>
        <p:nvGraphicFramePr>
          <p:cNvPr id="5" name="Table 4"/>
          <p:cNvGraphicFramePr>
            <a:graphicFrameLocks noGrp="1"/>
          </p:cNvGraphicFramePr>
          <p:nvPr/>
        </p:nvGraphicFramePr>
        <p:xfrm>
          <a:off x="5791199" y="1171576"/>
          <a:ext cx="3145632" cy="2579899"/>
        </p:xfrm>
        <a:graphic>
          <a:graphicData uri="http://schemas.openxmlformats.org/drawingml/2006/table">
            <a:tbl>
              <a:tblPr firstRow="1" bandRow="1">
                <a:tableStyleId>{5C22544A-7EE6-4342-B048-85BDC9FD1C3A}</a:tableStyleId>
              </a:tblPr>
              <a:tblGrid>
                <a:gridCol w="1180969">
                  <a:extLst>
                    <a:ext uri="{9D8B030D-6E8A-4147-A177-3AD203B41FA5}">
                      <a16:colId xmlns:a16="http://schemas.microsoft.com/office/drawing/2014/main" val="20000"/>
                    </a:ext>
                  </a:extLst>
                </a:gridCol>
                <a:gridCol w="903094">
                  <a:extLst>
                    <a:ext uri="{9D8B030D-6E8A-4147-A177-3AD203B41FA5}">
                      <a16:colId xmlns:a16="http://schemas.microsoft.com/office/drawing/2014/main" val="20001"/>
                    </a:ext>
                  </a:extLst>
                </a:gridCol>
                <a:gridCol w="1061569">
                  <a:extLst>
                    <a:ext uri="{9D8B030D-6E8A-4147-A177-3AD203B41FA5}">
                      <a16:colId xmlns:a16="http://schemas.microsoft.com/office/drawing/2014/main" val="20002"/>
                    </a:ext>
                  </a:extLst>
                </a:gridCol>
              </a:tblGrid>
              <a:tr h="446299">
                <a:tc>
                  <a:txBody>
                    <a:bodyPr/>
                    <a:lstStyle/>
                    <a:p>
                      <a:pPr algn="ctr" fontAlgn="t"/>
                      <a:r>
                        <a:rPr lang="en-US" b="1" dirty="0">
                          <a:solidFill>
                            <a:srgbClr val="FF0000"/>
                          </a:solidFill>
                          <a:effectLst/>
                          <a:latin typeface="Times New Roman" panose="02020603050405020304" pitchFamily="18" charset="0"/>
                          <a:cs typeface="Times New Roman" panose="02020603050405020304" pitchFamily="18" charset="0"/>
                        </a:rPr>
                        <a:t>T1</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FF0000"/>
                          </a:solidFill>
                          <a:effectLst/>
                          <a:latin typeface="Times New Roman" panose="02020603050405020304" pitchFamily="18" charset="0"/>
                          <a:cs typeface="Times New Roman" panose="02020603050405020304" pitchFamily="18" charset="0"/>
                        </a:rPr>
                        <a:t>Time</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FF0000"/>
                          </a:solidFill>
                          <a:effectLst/>
                          <a:latin typeface="Times New Roman" panose="02020603050405020304" pitchFamily="18" charset="0"/>
                          <a:cs typeface="Times New Roman" panose="02020603050405020304" pitchFamily="18" charset="0"/>
                        </a:rPr>
                        <a:t>T2</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t0</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t1</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a:solidFill>
                            <a:srgbClr val="002060"/>
                          </a:solidFill>
                          <a:effectLst/>
                          <a:latin typeface="Times New Roman" panose="02020603050405020304" pitchFamily="18" charset="0"/>
                          <a:cs typeface="Times New Roman" panose="02020603050405020304" pitchFamily="18" charset="0"/>
                        </a:rPr>
                        <a:t>Update X</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fontAlgn="t"/>
                      <a:r>
                        <a:rPr lang="en-US" b="1">
                          <a:solidFill>
                            <a:srgbClr val="002060"/>
                          </a:solidFill>
                          <a:effectLst/>
                          <a:latin typeface="Times New Roman" panose="02020603050405020304" pitchFamily="18" charset="0"/>
                          <a:cs typeface="Times New Roman" panose="02020603050405020304" pitchFamily="18" charset="0"/>
                        </a:rPr>
                        <a:t>Read X</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t2</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fontAlgn="t"/>
                      <a:r>
                        <a:rPr lang="en-US" b="1">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t3</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Rollback</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fontAlgn="t"/>
                      <a:r>
                        <a:rPr lang="en-US" b="1">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t4</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11833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CONCURRENCY CONTROL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7872" y="500063"/>
            <a:ext cx="8851107" cy="6186488"/>
          </a:xfrm>
        </p:spPr>
        <p:txBody>
          <a:bodyPr>
            <a:noAutofit/>
          </a:bodyPr>
          <a:lstStyle/>
          <a:p>
            <a:pPr marL="457200" indent="-457200" algn="just">
              <a:lnSpc>
                <a:spcPct val="150000"/>
              </a:lnSpc>
              <a:spcBef>
                <a:spcPts val="0"/>
              </a:spcBef>
              <a:buClr>
                <a:srgbClr val="002060"/>
              </a:buClr>
              <a:buFont typeface="+mj-lt"/>
              <a:buAutoNum type="arabicPeriod" startAt="3"/>
            </a:pPr>
            <a:r>
              <a:rPr lang="en-US" sz="2400" b="1" dirty="0">
                <a:solidFill>
                  <a:srgbClr val="FF0000"/>
                </a:solidFill>
                <a:latin typeface="Times New Roman" panose="02020603050405020304" pitchFamily="18" charset="0"/>
                <a:cs typeface="Times New Roman" panose="02020603050405020304" pitchFamily="18" charset="0"/>
              </a:rPr>
              <a:t>Inconsistent Retrievals Problem:</a:t>
            </a:r>
            <a:endParaRPr lang="en-US" sz="2400" dirty="0">
              <a:solidFill>
                <a:srgbClr val="FF0000"/>
              </a:solidFill>
              <a:latin typeface="Times New Roman" panose="02020603050405020304" pitchFamily="18" charset="0"/>
              <a:cs typeface="Times New Roman" panose="02020603050405020304" pitchFamily="18" charset="0"/>
            </a:endParaRPr>
          </a:p>
          <a:p>
            <a:pPr marL="457200" indent="-457200" algn="just">
              <a:lnSpc>
                <a:spcPct val="150000"/>
              </a:lnSpc>
              <a:spcBef>
                <a:spcPts val="0"/>
              </a:spcBef>
              <a:buFont typeface="Wingdings" panose="05000000000000000000" pitchFamily="2" charset="2"/>
              <a:buChar char="v"/>
            </a:pPr>
            <a:r>
              <a:rPr lang="en-US" sz="2200" dirty="0">
                <a:solidFill>
                  <a:srgbClr val="002060"/>
                </a:solidFill>
                <a:latin typeface="Times New Roman" panose="02020603050405020304" pitchFamily="18" charset="0"/>
                <a:cs typeface="Times New Roman" panose="02020603050405020304" pitchFamily="18" charset="0"/>
              </a:rPr>
              <a:t>Inconsistent retrievals (</a:t>
            </a:r>
            <a:r>
              <a:rPr lang="en-US" sz="2200" dirty="0">
                <a:solidFill>
                  <a:srgbClr val="FF0000"/>
                </a:solidFill>
                <a:latin typeface="Times New Roman" panose="02020603050405020304" pitchFamily="18" charset="0"/>
                <a:cs typeface="Times New Roman" panose="02020603050405020304" pitchFamily="18" charset="0"/>
              </a:rPr>
              <a:t>un-repeatable read</a:t>
            </a:r>
            <a:r>
              <a:rPr lang="en-US" sz="2200" dirty="0">
                <a:solidFill>
                  <a:srgbClr val="002060"/>
                </a:solidFill>
                <a:latin typeface="Times New Roman" panose="02020603050405020304" pitchFamily="18" charset="0"/>
                <a:cs typeface="Times New Roman" panose="02020603050405020304" pitchFamily="18" charset="0"/>
              </a:rPr>
              <a:t>) occurs when a transaction calculates some summary function over a set of data while other transactions are updating the data.</a:t>
            </a:r>
          </a:p>
          <a:p>
            <a:pPr marL="457200" indent="-457200" algn="just">
              <a:lnSpc>
                <a:spcPct val="150000"/>
              </a:lnSpc>
              <a:spcBef>
                <a:spcPts val="0"/>
              </a:spcBef>
              <a:buFont typeface="Wingdings" panose="05000000000000000000" pitchFamily="2" charset="2"/>
              <a:buChar char="v"/>
            </a:pPr>
            <a:r>
              <a:rPr lang="en-US" sz="2200" dirty="0">
                <a:solidFill>
                  <a:srgbClr val="002060"/>
                </a:solidFill>
                <a:latin typeface="Times New Roman" panose="02020603050405020304" pitchFamily="18" charset="0"/>
                <a:cs typeface="Times New Roman" panose="02020603050405020304" pitchFamily="18" charset="0"/>
              </a:rPr>
              <a:t>The problem is that the transaction might read some data </a:t>
            </a:r>
            <a:r>
              <a:rPr lang="en-US" sz="2200" dirty="0">
                <a:solidFill>
                  <a:srgbClr val="FF0000"/>
                </a:solidFill>
                <a:latin typeface="Times New Roman" panose="02020603050405020304" pitchFamily="18" charset="0"/>
                <a:cs typeface="Times New Roman" panose="02020603050405020304" pitchFamily="18" charset="0"/>
              </a:rPr>
              <a:t>before they are changed</a:t>
            </a:r>
            <a:r>
              <a:rPr lang="en-US" sz="2200" dirty="0">
                <a:solidFill>
                  <a:srgbClr val="002060"/>
                </a:solidFill>
                <a:latin typeface="Times New Roman" panose="02020603050405020304" pitchFamily="18" charset="0"/>
                <a:cs typeface="Times New Roman" panose="02020603050405020304" pitchFamily="18" charset="0"/>
              </a:rPr>
              <a:t> and </a:t>
            </a:r>
            <a:r>
              <a:rPr lang="en-US" sz="2200" dirty="0">
                <a:solidFill>
                  <a:srgbClr val="FF0000"/>
                </a:solidFill>
                <a:latin typeface="Times New Roman" panose="02020603050405020304" pitchFamily="18" charset="0"/>
                <a:cs typeface="Times New Roman" panose="02020603050405020304" pitchFamily="18" charset="0"/>
              </a:rPr>
              <a:t>after they are changed</a:t>
            </a:r>
            <a:r>
              <a:rPr lang="en-US" sz="2200" dirty="0">
                <a:solidFill>
                  <a:srgbClr val="002060"/>
                </a:solidFill>
                <a:latin typeface="Times New Roman" panose="02020603050405020304" pitchFamily="18" charset="0"/>
                <a:cs typeface="Times New Roman" panose="02020603050405020304" pitchFamily="18" charset="0"/>
              </a:rPr>
              <a:t>, thereby yielding inconsistent results.</a:t>
            </a:r>
          </a:p>
          <a:p>
            <a:pPr marL="457200" indent="-457200" algn="just">
              <a:lnSpc>
                <a:spcPct val="150000"/>
              </a:lnSpc>
              <a:spcBef>
                <a:spcPts val="0"/>
              </a:spcBef>
              <a:buFont typeface="Wingdings" panose="05000000000000000000" pitchFamily="2" charset="2"/>
              <a:buChar char="v"/>
            </a:pPr>
            <a:r>
              <a:rPr lang="en-US" sz="2200" dirty="0">
                <a:solidFill>
                  <a:srgbClr val="002060"/>
                </a:solidFill>
                <a:latin typeface="Times New Roman" panose="02020603050405020304" pitchFamily="18" charset="0"/>
                <a:cs typeface="Times New Roman" panose="02020603050405020304" pitchFamily="18" charset="0"/>
              </a:rPr>
              <a:t>In an </a:t>
            </a:r>
            <a:r>
              <a:rPr lang="en-US" sz="2200" dirty="0">
                <a:solidFill>
                  <a:srgbClr val="FF0000"/>
                </a:solidFill>
                <a:latin typeface="Times New Roman" panose="02020603050405020304" pitchFamily="18" charset="0"/>
                <a:cs typeface="Times New Roman" panose="02020603050405020304" pitchFamily="18" charset="0"/>
              </a:rPr>
              <a:t>un-repeatable read</a:t>
            </a:r>
            <a:r>
              <a:rPr lang="en-US" sz="2200" dirty="0">
                <a:solidFill>
                  <a:srgbClr val="002060"/>
                </a:solidFill>
                <a:latin typeface="Times New Roman" panose="02020603050405020304" pitchFamily="18" charset="0"/>
                <a:cs typeface="Times New Roman" panose="02020603050405020304" pitchFamily="18" charset="0"/>
              </a:rPr>
              <a:t>, the transaction T1 reads a record and then does some other processing during which the transaction T2 updates the record.</a:t>
            </a:r>
          </a:p>
          <a:p>
            <a:pPr marL="457200" indent="-457200" algn="just">
              <a:lnSpc>
                <a:spcPct val="150000"/>
              </a:lnSpc>
              <a:spcBef>
                <a:spcPts val="0"/>
              </a:spcBef>
              <a:buFont typeface="Wingdings" panose="05000000000000000000" pitchFamily="2" charset="2"/>
              <a:buChar char="v"/>
            </a:pPr>
            <a:r>
              <a:rPr lang="en-US" sz="2200" dirty="0">
                <a:solidFill>
                  <a:srgbClr val="002060"/>
                </a:solidFill>
                <a:latin typeface="Times New Roman" panose="02020603050405020304" pitchFamily="18" charset="0"/>
                <a:cs typeface="Times New Roman" panose="02020603050405020304" pitchFamily="18" charset="0"/>
              </a:rPr>
              <a:t>Now, if T1 rereads the record, </a:t>
            </a:r>
            <a:r>
              <a:rPr lang="en-US" sz="2200" u="sng" dirty="0">
                <a:solidFill>
                  <a:srgbClr val="002060"/>
                </a:solidFill>
                <a:latin typeface="Times New Roman" panose="02020603050405020304" pitchFamily="18" charset="0"/>
                <a:cs typeface="Times New Roman" panose="02020603050405020304" pitchFamily="18" charset="0"/>
              </a:rPr>
              <a:t>the new value will be inconsistent with the previous value</a:t>
            </a:r>
            <a:r>
              <a:rPr lang="en-US" sz="2200" dirty="0">
                <a:solidFill>
                  <a:srgbClr val="00206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424043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2881" y="0"/>
            <a:ext cx="8265319" cy="51435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92881" y="0"/>
            <a:ext cx="8851107" cy="6186488"/>
          </a:xfrm>
        </p:spPr>
        <p:txBody>
          <a:bodyPr>
            <a:noAutofit/>
          </a:bodyPr>
          <a:lstStyle/>
          <a:p>
            <a:pPr marL="0" indent="0" algn="just">
              <a:lnSpc>
                <a:spcPct val="150000"/>
              </a:lnSpc>
              <a:spcBef>
                <a:spcPts val="0"/>
              </a:spcBef>
              <a:buNone/>
            </a:pPr>
            <a:r>
              <a:rPr lang="en-US" sz="2000" b="1" dirty="0">
                <a:solidFill>
                  <a:schemeClr val="accent6">
                    <a:lumMod val="50000"/>
                  </a:schemeClr>
                </a:solidFill>
              </a:rPr>
              <a:t>Account-1 Balance = 200 , Account-2 Balance = 250, Account-3 Balance = 150</a:t>
            </a:r>
            <a:r>
              <a:rPr lang="en-US" sz="2000" dirty="0">
                <a:solidFill>
                  <a:schemeClr val="accent6">
                    <a:lumMod val="50000"/>
                  </a:schemeClr>
                </a:solidFill>
                <a:latin typeface="Times New Roman" panose="02020603050405020304" pitchFamily="18" charset="0"/>
                <a:cs typeface="Times New Roman" panose="02020603050405020304" pitchFamily="18" charset="0"/>
              </a:rPr>
              <a:t> </a:t>
            </a:r>
          </a:p>
        </p:txBody>
      </p:sp>
      <p:graphicFrame>
        <p:nvGraphicFramePr>
          <p:cNvPr id="5" name="Table 4"/>
          <p:cNvGraphicFramePr>
            <a:graphicFrameLocks noGrp="1"/>
          </p:cNvGraphicFramePr>
          <p:nvPr>
            <p:extLst>
              <p:ext uri="{D42A27DB-BD31-4B8C-83A1-F6EECF244321}">
                <p14:modId xmlns:p14="http://schemas.microsoft.com/office/powerpoint/2010/main" val="2411223974"/>
              </p:ext>
            </p:extLst>
          </p:nvPr>
        </p:nvGraphicFramePr>
        <p:xfrm>
          <a:off x="762000" y="533400"/>
          <a:ext cx="7029449" cy="6065520"/>
        </p:xfrm>
        <a:graphic>
          <a:graphicData uri="http://schemas.openxmlformats.org/drawingml/2006/table">
            <a:tbl>
              <a:tblPr firstRow="1" bandRow="1">
                <a:tableStyleId>{5C22544A-7EE6-4342-B048-85BDC9FD1C3A}</a:tableStyleId>
              </a:tblPr>
              <a:tblGrid>
                <a:gridCol w="2940836">
                  <a:extLst>
                    <a:ext uri="{9D8B030D-6E8A-4147-A177-3AD203B41FA5}">
                      <a16:colId xmlns:a16="http://schemas.microsoft.com/office/drawing/2014/main" val="20000"/>
                    </a:ext>
                  </a:extLst>
                </a:gridCol>
                <a:gridCol w="704319">
                  <a:extLst>
                    <a:ext uri="{9D8B030D-6E8A-4147-A177-3AD203B41FA5}">
                      <a16:colId xmlns:a16="http://schemas.microsoft.com/office/drawing/2014/main" val="20001"/>
                    </a:ext>
                  </a:extLst>
                </a:gridCol>
                <a:gridCol w="3384294">
                  <a:extLst>
                    <a:ext uri="{9D8B030D-6E8A-4147-A177-3AD203B41FA5}">
                      <a16:colId xmlns:a16="http://schemas.microsoft.com/office/drawing/2014/main" val="20002"/>
                    </a:ext>
                  </a:extLst>
                </a:gridCol>
              </a:tblGrid>
              <a:tr h="416803">
                <a:tc>
                  <a:txBody>
                    <a:bodyPr/>
                    <a:lstStyle/>
                    <a:p>
                      <a:pPr algn="ctr" fontAlgn="t"/>
                      <a:r>
                        <a:rPr lang="en-US" b="1" dirty="0">
                          <a:solidFill>
                            <a:srgbClr val="FF0000"/>
                          </a:solidFill>
                          <a:effectLst/>
                          <a:latin typeface="Times New Roman" panose="02020603050405020304" pitchFamily="18" charset="0"/>
                          <a:cs typeface="Times New Roman" panose="02020603050405020304" pitchFamily="18" charset="0"/>
                        </a:rPr>
                        <a:t>Transaction- T1</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FF0000"/>
                          </a:solidFill>
                          <a:effectLst/>
                          <a:latin typeface="Times New Roman" panose="02020603050405020304" pitchFamily="18" charset="0"/>
                          <a:cs typeface="Times New Roman" panose="02020603050405020304" pitchFamily="18" charset="0"/>
                        </a:rPr>
                        <a:t>Time</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b="1" dirty="0">
                          <a:solidFill>
                            <a:srgbClr val="FF0000"/>
                          </a:solidFill>
                          <a:effectLst/>
                          <a:latin typeface="Times New Roman" panose="02020603050405020304" pitchFamily="18" charset="0"/>
                          <a:cs typeface="Times New Roman" panose="02020603050405020304" pitchFamily="18" charset="0"/>
                        </a:rPr>
                        <a:t>Transaction- T2</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46574">
                <a:tc>
                  <a:txBody>
                    <a:bodyPr/>
                    <a:lstStyle/>
                    <a:p>
                      <a:pPr fontAlgn="t"/>
                      <a:r>
                        <a:rPr lang="en-US" sz="2000" b="0"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2000" b="0" dirty="0">
                          <a:solidFill>
                            <a:srgbClr val="002060"/>
                          </a:solidFill>
                          <a:effectLst/>
                          <a:latin typeface="Times New Roman" panose="02020603050405020304" pitchFamily="18" charset="0"/>
                          <a:cs typeface="Times New Roman" panose="02020603050405020304" pitchFamily="18" charset="0"/>
                        </a:rPr>
                        <a:t>t0</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000" b="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042006">
                <a:tc>
                  <a:txBody>
                    <a:bodyPr/>
                    <a:lstStyle/>
                    <a:p>
                      <a:pPr fontAlgn="t"/>
                      <a:r>
                        <a:rPr lang="en-US" sz="2000" b="0" dirty="0">
                          <a:solidFill>
                            <a:srgbClr val="002060"/>
                          </a:solidFill>
                          <a:effectLst/>
                          <a:latin typeface="Times New Roman" panose="02020603050405020304" pitchFamily="18" charset="0"/>
                          <a:cs typeface="Times New Roman" panose="02020603050405020304" pitchFamily="18" charset="0"/>
                        </a:rPr>
                        <a:t>Read Balance of Acc-1</a:t>
                      </a:r>
                      <a:br>
                        <a:rPr lang="en-US" sz="2000" b="0" dirty="0">
                          <a:solidFill>
                            <a:srgbClr val="002060"/>
                          </a:solidFill>
                          <a:effectLst/>
                          <a:latin typeface="Times New Roman" panose="02020603050405020304" pitchFamily="18" charset="0"/>
                          <a:cs typeface="Times New Roman" panose="02020603050405020304" pitchFamily="18" charset="0"/>
                        </a:rPr>
                      </a:br>
                      <a:r>
                        <a:rPr lang="en-US" sz="2000" b="0" dirty="0">
                          <a:solidFill>
                            <a:srgbClr val="002060"/>
                          </a:solidFill>
                          <a:effectLst/>
                          <a:latin typeface="Times New Roman" panose="02020603050405020304" pitchFamily="18" charset="0"/>
                          <a:cs typeface="Times New Roman" panose="02020603050405020304" pitchFamily="18" charset="0"/>
                        </a:rPr>
                        <a:t>  sum </a:t>
                      </a:r>
                      <a:r>
                        <a:rPr lang="en-US" sz="2000" b="0" dirty="0">
                          <a:solidFill>
                            <a:srgbClr val="002060"/>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2000" b="0" dirty="0">
                          <a:solidFill>
                            <a:srgbClr val="002060"/>
                          </a:solidFill>
                          <a:effectLst/>
                          <a:latin typeface="Times New Roman" panose="02020603050405020304" pitchFamily="18" charset="0"/>
                          <a:cs typeface="Times New Roman" panose="02020603050405020304" pitchFamily="18" charset="0"/>
                        </a:rPr>
                        <a:t> 200</a:t>
                      </a:r>
                      <a:br>
                        <a:rPr lang="en-US" sz="2000" b="0" dirty="0">
                          <a:solidFill>
                            <a:srgbClr val="002060"/>
                          </a:solidFill>
                          <a:effectLst/>
                          <a:latin typeface="Times New Roman" panose="02020603050405020304" pitchFamily="18" charset="0"/>
                          <a:cs typeface="Times New Roman" panose="02020603050405020304" pitchFamily="18" charset="0"/>
                        </a:rPr>
                      </a:br>
                      <a:r>
                        <a:rPr lang="en-US" sz="2000" b="0" dirty="0">
                          <a:solidFill>
                            <a:srgbClr val="002060"/>
                          </a:solidFill>
                          <a:effectLst/>
                          <a:latin typeface="Times New Roman" panose="02020603050405020304" pitchFamily="18" charset="0"/>
                          <a:cs typeface="Times New Roman" panose="02020603050405020304" pitchFamily="18" charset="0"/>
                        </a:rPr>
                        <a:t>Read Balance of Acc-2</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US" sz="2000" b="0" dirty="0">
                        <a:solidFill>
                          <a:srgbClr val="002060"/>
                        </a:solidFill>
                        <a:effectLst/>
                        <a:latin typeface="Times New Roman" panose="02020603050405020304" pitchFamily="18" charset="0"/>
                        <a:cs typeface="Times New Roman" panose="02020603050405020304" pitchFamily="18" charset="0"/>
                      </a:endParaRPr>
                    </a:p>
                    <a:p>
                      <a:pPr algn="ctr" fontAlgn="t"/>
                      <a:r>
                        <a:rPr lang="en-US" sz="2000" b="0" dirty="0">
                          <a:solidFill>
                            <a:srgbClr val="002060"/>
                          </a:solidFill>
                          <a:effectLst/>
                          <a:latin typeface="Times New Roman" panose="02020603050405020304" pitchFamily="18" charset="0"/>
                          <a:cs typeface="Times New Roman" panose="02020603050405020304" pitchFamily="18" charset="0"/>
                        </a:rPr>
                        <a:t>t1</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000" b="0"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46574">
                <a:tc>
                  <a:txBody>
                    <a:bodyPr/>
                    <a:lstStyle/>
                    <a:p>
                      <a:pPr fontAlgn="t"/>
                      <a:r>
                        <a:rPr lang="en-US" sz="2000" b="0" dirty="0">
                          <a:solidFill>
                            <a:srgbClr val="002060"/>
                          </a:solidFill>
                          <a:effectLst/>
                          <a:latin typeface="Times New Roman" panose="02020603050405020304" pitchFamily="18" charset="0"/>
                          <a:cs typeface="Times New Roman" panose="02020603050405020304" pitchFamily="18" charset="0"/>
                        </a:rPr>
                        <a:t>Sum </a:t>
                      </a:r>
                      <a:r>
                        <a:rPr lang="en-US" sz="2000" b="0" dirty="0">
                          <a:solidFill>
                            <a:srgbClr val="002060"/>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2000" b="0" dirty="0">
                          <a:solidFill>
                            <a:srgbClr val="002060"/>
                          </a:solidFill>
                          <a:effectLst/>
                          <a:latin typeface="Times New Roman" panose="02020603050405020304" pitchFamily="18" charset="0"/>
                          <a:cs typeface="Times New Roman" panose="02020603050405020304" pitchFamily="18" charset="0"/>
                        </a:rPr>
                        <a:t> Sum + 250 = 450</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2000" b="0" dirty="0">
                          <a:solidFill>
                            <a:srgbClr val="002060"/>
                          </a:solidFill>
                          <a:effectLst/>
                          <a:latin typeface="Times New Roman" panose="02020603050405020304" pitchFamily="18" charset="0"/>
                          <a:cs typeface="Times New Roman" panose="02020603050405020304" pitchFamily="18" charset="0"/>
                        </a:rPr>
                        <a:t>t2</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000" b="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46574">
                <a:tc>
                  <a:txBody>
                    <a:bodyPr/>
                    <a:lstStyle/>
                    <a:p>
                      <a:pPr fontAlgn="t"/>
                      <a:r>
                        <a:rPr lang="en-US" sz="2000" b="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2000" b="0" dirty="0">
                          <a:solidFill>
                            <a:srgbClr val="002060"/>
                          </a:solidFill>
                          <a:effectLst/>
                          <a:latin typeface="Times New Roman" panose="02020603050405020304" pitchFamily="18" charset="0"/>
                          <a:cs typeface="Times New Roman" panose="02020603050405020304" pitchFamily="18" charset="0"/>
                        </a:rPr>
                        <a:t>t3</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000" b="0">
                          <a:solidFill>
                            <a:srgbClr val="002060"/>
                          </a:solidFill>
                          <a:effectLst/>
                          <a:latin typeface="Times New Roman" panose="02020603050405020304" pitchFamily="18" charset="0"/>
                          <a:cs typeface="Times New Roman" panose="02020603050405020304" pitchFamily="18" charset="0"/>
                        </a:rPr>
                        <a:t>Read Balance of Acc-3</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744290">
                <a:tc>
                  <a:txBody>
                    <a:bodyPr/>
                    <a:lstStyle/>
                    <a:p>
                      <a:pPr fontAlgn="t"/>
                      <a:r>
                        <a:rPr lang="en-US" sz="2000" b="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2000" b="0" dirty="0">
                          <a:solidFill>
                            <a:srgbClr val="002060"/>
                          </a:solidFill>
                          <a:effectLst/>
                          <a:latin typeface="Times New Roman" panose="02020603050405020304" pitchFamily="18" charset="0"/>
                          <a:cs typeface="Times New Roman" panose="02020603050405020304" pitchFamily="18" charset="0"/>
                        </a:rPr>
                        <a:t>t4</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000" b="0" dirty="0">
                          <a:solidFill>
                            <a:srgbClr val="002060"/>
                          </a:solidFill>
                          <a:effectLst/>
                          <a:latin typeface="Times New Roman" panose="02020603050405020304" pitchFamily="18" charset="0"/>
                          <a:cs typeface="Times New Roman" panose="02020603050405020304" pitchFamily="18" charset="0"/>
                        </a:rPr>
                        <a:t>Update Balance of Acc-3</a:t>
                      </a:r>
                      <a:br>
                        <a:rPr lang="en-US" sz="2000" b="0" dirty="0">
                          <a:solidFill>
                            <a:srgbClr val="002060"/>
                          </a:solidFill>
                          <a:effectLst/>
                          <a:latin typeface="Times New Roman" panose="02020603050405020304" pitchFamily="18" charset="0"/>
                          <a:cs typeface="Times New Roman" panose="02020603050405020304" pitchFamily="18" charset="0"/>
                        </a:rPr>
                      </a:br>
                      <a:r>
                        <a:rPr lang="en-US" sz="2000" b="0" dirty="0">
                          <a:solidFill>
                            <a:srgbClr val="002060"/>
                          </a:solidFill>
                          <a:effectLst/>
                          <a:latin typeface="Times New Roman" panose="02020603050405020304" pitchFamily="18" charset="0"/>
                          <a:cs typeface="Times New Roman" panose="02020603050405020304" pitchFamily="18" charset="0"/>
                        </a:rPr>
                        <a:t> 150 </a:t>
                      </a:r>
                      <a:r>
                        <a:rPr lang="en-US" sz="2000" b="0" dirty="0">
                          <a:solidFill>
                            <a:srgbClr val="002060"/>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2000" b="0" dirty="0">
                          <a:solidFill>
                            <a:srgbClr val="002060"/>
                          </a:solidFill>
                          <a:effectLst/>
                          <a:latin typeface="Times New Roman" panose="02020603050405020304" pitchFamily="18" charset="0"/>
                          <a:cs typeface="Times New Roman" panose="02020603050405020304" pitchFamily="18" charset="0"/>
                        </a:rPr>
                        <a:t> 150 - 50 </a:t>
                      </a:r>
                      <a:r>
                        <a:rPr lang="en-US" sz="2000" b="0" dirty="0">
                          <a:solidFill>
                            <a:srgbClr val="002060"/>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2000" b="0" dirty="0">
                          <a:solidFill>
                            <a:srgbClr val="002060"/>
                          </a:solidFill>
                          <a:effectLst/>
                          <a:latin typeface="Times New Roman" panose="02020603050405020304" pitchFamily="18" charset="0"/>
                          <a:cs typeface="Times New Roman" panose="02020603050405020304" pitchFamily="18" charset="0"/>
                        </a:rPr>
                        <a:t> 100</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46574">
                <a:tc>
                  <a:txBody>
                    <a:bodyPr/>
                    <a:lstStyle/>
                    <a:p>
                      <a:pPr fontAlgn="t"/>
                      <a:r>
                        <a:rPr lang="en-US" sz="2000" b="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2000" b="0" dirty="0">
                          <a:solidFill>
                            <a:srgbClr val="002060"/>
                          </a:solidFill>
                          <a:effectLst/>
                          <a:latin typeface="Times New Roman" panose="02020603050405020304" pitchFamily="18" charset="0"/>
                          <a:cs typeface="Times New Roman" panose="02020603050405020304" pitchFamily="18" charset="0"/>
                        </a:rPr>
                        <a:t>t5</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000" b="0" dirty="0">
                          <a:solidFill>
                            <a:srgbClr val="002060"/>
                          </a:solidFill>
                          <a:effectLst/>
                          <a:latin typeface="Times New Roman" panose="02020603050405020304" pitchFamily="18" charset="0"/>
                          <a:cs typeface="Times New Roman" panose="02020603050405020304" pitchFamily="18" charset="0"/>
                        </a:rPr>
                        <a:t>Read Balance of Acc-1</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744290">
                <a:tc>
                  <a:txBody>
                    <a:bodyPr/>
                    <a:lstStyle/>
                    <a:p>
                      <a:pPr fontAlgn="t"/>
                      <a:r>
                        <a:rPr lang="en-US" sz="2000" b="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2000" b="0" dirty="0">
                          <a:solidFill>
                            <a:srgbClr val="002060"/>
                          </a:solidFill>
                          <a:effectLst/>
                          <a:latin typeface="Times New Roman" panose="02020603050405020304" pitchFamily="18" charset="0"/>
                          <a:cs typeface="Times New Roman" panose="02020603050405020304" pitchFamily="18" charset="0"/>
                        </a:rPr>
                        <a:t>t6</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000" b="0" dirty="0">
                          <a:solidFill>
                            <a:srgbClr val="002060"/>
                          </a:solidFill>
                          <a:effectLst/>
                          <a:latin typeface="Times New Roman" panose="02020603050405020304" pitchFamily="18" charset="0"/>
                          <a:cs typeface="Times New Roman" panose="02020603050405020304" pitchFamily="18" charset="0"/>
                        </a:rPr>
                        <a:t>Update Balance of Acc-1</a:t>
                      </a:r>
                      <a:br>
                        <a:rPr lang="en-US" sz="2000" b="0" dirty="0">
                          <a:solidFill>
                            <a:srgbClr val="002060"/>
                          </a:solidFill>
                          <a:effectLst/>
                          <a:latin typeface="Times New Roman" panose="02020603050405020304" pitchFamily="18" charset="0"/>
                          <a:cs typeface="Times New Roman" panose="02020603050405020304" pitchFamily="18" charset="0"/>
                        </a:rPr>
                      </a:br>
                      <a:r>
                        <a:rPr lang="en-US" sz="2000" b="0" dirty="0">
                          <a:solidFill>
                            <a:srgbClr val="002060"/>
                          </a:solidFill>
                          <a:effectLst/>
                          <a:latin typeface="Times New Roman" panose="02020603050405020304" pitchFamily="18" charset="0"/>
                          <a:cs typeface="Times New Roman" panose="02020603050405020304" pitchFamily="18" charset="0"/>
                        </a:rPr>
                        <a:t> 200 </a:t>
                      </a:r>
                      <a:r>
                        <a:rPr lang="en-US" sz="2000" b="0" dirty="0">
                          <a:solidFill>
                            <a:srgbClr val="002060"/>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2000" b="0" dirty="0">
                          <a:solidFill>
                            <a:srgbClr val="002060"/>
                          </a:solidFill>
                          <a:effectLst/>
                          <a:latin typeface="Times New Roman" panose="02020603050405020304" pitchFamily="18" charset="0"/>
                          <a:cs typeface="Times New Roman" panose="02020603050405020304" pitchFamily="18" charset="0"/>
                        </a:rPr>
                        <a:t> 200 + 50 </a:t>
                      </a:r>
                      <a:r>
                        <a:rPr lang="en-US" sz="2000" b="0" dirty="0">
                          <a:solidFill>
                            <a:srgbClr val="002060"/>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2000" b="0" dirty="0">
                          <a:solidFill>
                            <a:srgbClr val="002060"/>
                          </a:solidFill>
                          <a:effectLst/>
                          <a:latin typeface="Times New Roman" panose="02020603050405020304" pitchFamily="18" charset="0"/>
                          <a:cs typeface="Times New Roman" panose="02020603050405020304" pitchFamily="18" charset="0"/>
                        </a:rPr>
                        <a:t> 250</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744290">
                <a:tc>
                  <a:txBody>
                    <a:bodyPr/>
                    <a:lstStyle/>
                    <a:p>
                      <a:pPr fontAlgn="t"/>
                      <a:r>
                        <a:rPr lang="en-US" sz="2000" b="0">
                          <a:solidFill>
                            <a:srgbClr val="002060"/>
                          </a:solidFill>
                          <a:effectLst/>
                          <a:latin typeface="Times New Roman" panose="02020603050405020304" pitchFamily="18" charset="0"/>
                          <a:cs typeface="Times New Roman" panose="02020603050405020304" pitchFamily="18" charset="0"/>
                        </a:rPr>
                        <a:t>----</a:t>
                      </a:r>
                      <a:br>
                        <a:rPr lang="en-US" sz="2000" b="0">
                          <a:solidFill>
                            <a:srgbClr val="002060"/>
                          </a:solidFill>
                          <a:effectLst/>
                          <a:latin typeface="Times New Roman" panose="02020603050405020304" pitchFamily="18" charset="0"/>
                          <a:cs typeface="Times New Roman" panose="02020603050405020304" pitchFamily="18" charset="0"/>
                        </a:rPr>
                      </a:br>
                      <a:r>
                        <a:rPr lang="en-US" sz="2000" b="0">
                          <a:solidFill>
                            <a:srgbClr val="002060"/>
                          </a:solidFill>
                          <a:effectLst/>
                          <a:latin typeface="Times New Roman" panose="02020603050405020304" pitchFamily="18" charset="0"/>
                          <a:cs typeface="Times New Roman" panose="02020603050405020304" pitchFamily="18" charset="0"/>
                        </a:rPr>
                        <a:t>Read Balance of Acc-3</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2000" b="0" dirty="0">
                          <a:solidFill>
                            <a:srgbClr val="002060"/>
                          </a:solidFill>
                          <a:effectLst/>
                          <a:latin typeface="Times New Roman" panose="02020603050405020304" pitchFamily="18" charset="0"/>
                          <a:cs typeface="Times New Roman" panose="02020603050405020304" pitchFamily="18" charset="0"/>
                        </a:rPr>
                        <a:t>t7</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000" b="0" dirty="0">
                          <a:solidFill>
                            <a:srgbClr val="002060"/>
                          </a:solidFill>
                          <a:effectLst/>
                          <a:latin typeface="Times New Roman" panose="02020603050405020304" pitchFamily="18" charset="0"/>
                          <a:cs typeface="Times New Roman" panose="02020603050405020304" pitchFamily="18" charset="0"/>
                        </a:rPr>
                        <a:t>COMMIT</a:t>
                      </a:r>
                      <a:br>
                        <a:rPr lang="en-US" sz="2000" b="0" dirty="0">
                          <a:solidFill>
                            <a:srgbClr val="002060"/>
                          </a:solidFill>
                          <a:effectLst/>
                          <a:latin typeface="Times New Roman" panose="02020603050405020304" pitchFamily="18" charset="0"/>
                          <a:cs typeface="Times New Roman" panose="02020603050405020304" pitchFamily="18" charset="0"/>
                        </a:rPr>
                      </a:br>
                      <a:r>
                        <a:rPr lang="en-US" sz="2000" b="0" dirty="0">
                          <a:solidFill>
                            <a:srgbClr val="002060"/>
                          </a:solidFill>
                          <a:effectLst/>
                          <a:latin typeface="Times New Roman" panose="02020603050405020304" pitchFamily="18" charset="0"/>
                          <a:cs typeface="Times New Roman" panose="02020603050405020304" pitchFamily="18" charset="0"/>
                        </a:rPr>
                        <a:t> </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46574">
                <a:tc>
                  <a:txBody>
                    <a:bodyPr/>
                    <a:lstStyle/>
                    <a:p>
                      <a:pPr fontAlgn="t"/>
                      <a:r>
                        <a:rPr lang="en-US" sz="2000" b="0" dirty="0">
                          <a:solidFill>
                            <a:srgbClr val="002060"/>
                          </a:solidFill>
                          <a:effectLst/>
                          <a:latin typeface="Times New Roman" panose="02020603050405020304" pitchFamily="18" charset="0"/>
                          <a:cs typeface="Times New Roman" panose="02020603050405020304" pitchFamily="18" charset="0"/>
                        </a:rPr>
                        <a:t>Sum </a:t>
                      </a:r>
                      <a:r>
                        <a:rPr lang="en-US" sz="2000" b="0" dirty="0">
                          <a:solidFill>
                            <a:srgbClr val="002060"/>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2000" b="0" dirty="0">
                          <a:solidFill>
                            <a:srgbClr val="002060"/>
                          </a:solidFill>
                          <a:effectLst/>
                          <a:latin typeface="Times New Roman" panose="02020603050405020304" pitchFamily="18" charset="0"/>
                          <a:cs typeface="Times New Roman" panose="02020603050405020304" pitchFamily="18" charset="0"/>
                        </a:rPr>
                        <a:t> Sum + 100 = 550</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2000" b="0" dirty="0">
                          <a:solidFill>
                            <a:srgbClr val="002060"/>
                          </a:solidFill>
                          <a:effectLst/>
                          <a:latin typeface="Times New Roman" panose="02020603050405020304" pitchFamily="18" charset="0"/>
                          <a:cs typeface="Times New Roman" panose="02020603050405020304" pitchFamily="18" charset="0"/>
                        </a:rPr>
                        <a:t>t8</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000" b="0" dirty="0">
                          <a:solidFill>
                            <a:srgbClr val="002060"/>
                          </a:solidFill>
                          <a:effectLst/>
                          <a:latin typeface="Times New Roman" panose="02020603050405020304" pitchFamily="18" charset="0"/>
                          <a:cs typeface="Times New Roman" panose="02020603050405020304" pitchFamily="18" charset="0"/>
                        </a:rPr>
                        <a:t>----</a:t>
                      </a:r>
                    </a:p>
                  </a:txBody>
                  <a:tcPr marL="57150" marR="571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069403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CONCURRENCY CONTROL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7872" y="500063"/>
            <a:ext cx="8851107" cy="6186488"/>
          </a:xfrm>
        </p:spPr>
        <p:txBody>
          <a:bodyPr>
            <a:noAutofit/>
          </a:bodyPr>
          <a:lstStyle/>
          <a:p>
            <a:pPr marL="457200" indent="-457200" algn="just">
              <a:lnSpc>
                <a:spcPct val="150000"/>
              </a:lnSpc>
              <a:spcBef>
                <a:spcPts val="0"/>
              </a:spcBef>
              <a:buClr>
                <a:srgbClr val="002060"/>
              </a:buClr>
              <a:buFont typeface="+mj-lt"/>
              <a:buAutoNum type="arabicPeriod" startAt="3"/>
            </a:pPr>
            <a:r>
              <a:rPr lang="en-US" sz="2400" b="1" dirty="0">
                <a:solidFill>
                  <a:srgbClr val="FF0000"/>
                </a:solidFill>
                <a:latin typeface="Times New Roman" panose="02020603050405020304" pitchFamily="18" charset="0"/>
                <a:cs typeface="Times New Roman" panose="02020603050405020304" pitchFamily="18" charset="0"/>
              </a:rPr>
              <a:t>Inconsistent Retrievals Problem:</a:t>
            </a:r>
            <a:endParaRPr lang="en-US" sz="2400" dirty="0">
              <a:solidFill>
                <a:srgbClr val="FF0000"/>
              </a:solidFill>
              <a:latin typeface="Times New Roman" panose="02020603050405020304" pitchFamily="18" charset="0"/>
              <a:cs typeface="Times New Roman" panose="02020603050405020304" pitchFamily="18" charset="0"/>
            </a:endParaRPr>
          </a:p>
          <a:p>
            <a:pPr marL="457200" indent="-457200" algn="just">
              <a:lnSpc>
                <a:spcPct val="150000"/>
              </a:lnSpc>
              <a:spcBef>
                <a:spcPts val="0"/>
              </a:spcBef>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Transaction-T1 is summing all balances; while, Transaction-T2 is transferring an amount </a:t>
            </a:r>
            <a:r>
              <a:rPr lang="en-US" sz="2400" dirty="0">
                <a:solidFill>
                  <a:srgbClr val="FF0000"/>
                </a:solidFill>
                <a:latin typeface="Times New Roman" panose="02020603050405020304" pitchFamily="18" charset="0"/>
                <a:cs typeface="Times New Roman" panose="02020603050405020304" pitchFamily="18" charset="0"/>
              </a:rPr>
              <a:t>50 from Account-3 </a:t>
            </a:r>
            <a:r>
              <a:rPr lang="en-US" sz="2400" dirty="0">
                <a:solidFill>
                  <a:srgbClr val="002060"/>
                </a:solidFill>
                <a:latin typeface="Times New Roman" panose="02020603050405020304" pitchFamily="18" charset="0"/>
                <a:cs typeface="Times New Roman" panose="02020603050405020304" pitchFamily="18" charset="0"/>
              </a:rPr>
              <a:t>to</a:t>
            </a:r>
            <a:r>
              <a:rPr lang="en-US" sz="2400" dirty="0">
                <a:solidFill>
                  <a:srgbClr val="FF0000"/>
                </a:solidFill>
                <a:latin typeface="Times New Roman" panose="02020603050405020304" pitchFamily="18" charset="0"/>
                <a:cs typeface="Times New Roman" panose="02020603050405020304" pitchFamily="18" charset="0"/>
              </a:rPr>
              <a:t> Account-1</a:t>
            </a:r>
            <a:r>
              <a:rPr lang="en-US" sz="2400" dirty="0">
                <a:solidFill>
                  <a:srgbClr val="002060"/>
                </a:solidFill>
                <a:latin typeface="Times New Roman" panose="02020603050405020304" pitchFamily="18" charset="0"/>
                <a:cs typeface="Times New Roman" panose="02020603050405020304" pitchFamily="18" charset="0"/>
              </a:rPr>
              <a:t>.</a:t>
            </a:r>
          </a:p>
          <a:p>
            <a:pPr marL="457200" indent="-457200" algn="just">
              <a:lnSpc>
                <a:spcPct val="150000"/>
              </a:lnSpc>
              <a:spcBef>
                <a:spcPts val="0"/>
              </a:spcBef>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Here, the result produced by Transaction-T1 is 550,which is incorrect. </a:t>
            </a:r>
          </a:p>
          <a:p>
            <a:pPr marL="457200" indent="-457200" algn="just">
              <a:lnSpc>
                <a:spcPct val="150000"/>
              </a:lnSpc>
              <a:spcBef>
                <a:spcPts val="0"/>
              </a:spcBef>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If this result is written in database, database will be in </a:t>
            </a:r>
            <a:r>
              <a:rPr lang="en-US" sz="2400" u="sng" dirty="0">
                <a:solidFill>
                  <a:srgbClr val="FF0000"/>
                </a:solidFill>
                <a:latin typeface="Times New Roman" panose="02020603050405020304" pitchFamily="18" charset="0"/>
                <a:cs typeface="Times New Roman" panose="02020603050405020304" pitchFamily="18" charset="0"/>
              </a:rPr>
              <a:t>inconsistent state</a:t>
            </a:r>
            <a:r>
              <a:rPr lang="en-US" sz="2400" dirty="0">
                <a:solidFill>
                  <a:srgbClr val="002060"/>
                </a:solidFill>
                <a:latin typeface="Times New Roman" panose="02020603050405020304" pitchFamily="18" charset="0"/>
                <a:cs typeface="Times New Roman" panose="02020603050405020304" pitchFamily="18" charset="0"/>
              </a:rPr>
              <a:t>, as </a:t>
            </a:r>
            <a:r>
              <a:rPr lang="en-US" sz="2400" dirty="0">
                <a:solidFill>
                  <a:srgbClr val="FF0000"/>
                </a:solidFill>
                <a:latin typeface="Times New Roman" panose="02020603050405020304" pitchFamily="18" charset="0"/>
                <a:cs typeface="Times New Roman" panose="02020603050405020304" pitchFamily="18" charset="0"/>
              </a:rPr>
              <a:t>actual sum is 600</a:t>
            </a:r>
            <a:r>
              <a:rPr lang="en-US" sz="2400" dirty="0">
                <a:solidFill>
                  <a:srgbClr val="002060"/>
                </a:solidFill>
                <a:latin typeface="Times New Roman" panose="02020603050405020304" pitchFamily="18" charset="0"/>
                <a:cs typeface="Times New Roman" panose="02020603050405020304" pitchFamily="18" charset="0"/>
              </a:rPr>
              <a:t>.</a:t>
            </a:r>
          </a:p>
          <a:p>
            <a:pPr marL="457200" indent="-457200" algn="just">
              <a:lnSpc>
                <a:spcPct val="150000"/>
              </a:lnSpc>
              <a:spcBef>
                <a:spcPts val="0"/>
              </a:spcBef>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Here, Transaction-</a:t>
            </a:r>
            <a:r>
              <a:rPr lang="en-US" sz="2400" dirty="0">
                <a:solidFill>
                  <a:srgbClr val="FF0000"/>
                </a:solidFill>
                <a:latin typeface="Times New Roman" panose="02020603050405020304" pitchFamily="18" charset="0"/>
                <a:cs typeface="Times New Roman" panose="02020603050405020304" pitchFamily="18" charset="0"/>
              </a:rPr>
              <a:t>T1 has seen an  inconsistent state </a:t>
            </a:r>
            <a:r>
              <a:rPr lang="en-US" sz="2400" dirty="0">
                <a:solidFill>
                  <a:srgbClr val="002060"/>
                </a:solidFill>
                <a:latin typeface="Times New Roman" panose="02020603050405020304" pitchFamily="18" charset="0"/>
                <a:cs typeface="Times New Roman" panose="02020603050405020304" pitchFamily="18" charset="0"/>
              </a:rPr>
              <a:t>of database, and has performed inconsistent analysis.</a:t>
            </a:r>
          </a:p>
          <a:p>
            <a:pPr marL="0" indent="0" algn="just">
              <a:lnSpc>
                <a:spcPct val="150000"/>
              </a:lnSpc>
              <a:spcBef>
                <a:spcPts val="0"/>
              </a:spcBef>
              <a:buNone/>
            </a:pPr>
            <a:endParaRPr lang="en-US"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596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82" y="1"/>
            <a:ext cx="8951119" cy="500063"/>
          </a:xfrm>
        </p:spPr>
        <p:txBody>
          <a:bodyPr>
            <a:normAutofit fontScale="90000"/>
          </a:bodyPr>
          <a:lstStyle/>
          <a:p>
            <a:pPr algn="ctr"/>
            <a:r>
              <a:rPr lang="en-US" sz="3600" b="1" dirty="0">
                <a:solidFill>
                  <a:srgbClr val="FF0000"/>
                </a:solidFill>
                <a:latin typeface="Times New Roman" panose="02020603050405020304" pitchFamily="18" charset="0"/>
                <a:cs typeface="Times New Roman" panose="02020603050405020304" pitchFamily="18" charset="0"/>
              </a:rPr>
              <a:t>CONCURRENCY CONTROL</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7872" y="500063"/>
            <a:ext cx="8851107" cy="6186488"/>
          </a:xfrm>
        </p:spPr>
        <p:txBody>
          <a:bodyPr>
            <a:noAutofit/>
          </a:bodyPr>
          <a:lstStyle/>
          <a:p>
            <a:pPr>
              <a:buNone/>
            </a:pPr>
            <a:r>
              <a:rPr lang="en-US" sz="2400" b="1" u="sng" dirty="0">
                <a:solidFill>
                  <a:srgbClr val="FF0000"/>
                </a:solidFill>
                <a:latin typeface="Times New Roman" pitchFamily="18" charset="0"/>
                <a:cs typeface="Times New Roman" pitchFamily="18" charset="0"/>
              </a:rPr>
              <a:t>PERMUTABLE ACTIONS</a:t>
            </a:r>
            <a:r>
              <a:rPr lang="en-US" sz="2400" b="1" dirty="0">
                <a:solidFill>
                  <a:srgbClr val="002060"/>
                </a:solidFill>
                <a:latin typeface="Times New Roman" pitchFamily="18" charset="0"/>
                <a:cs typeface="Times New Roman" pitchFamily="18" charset="0"/>
              </a:rPr>
              <a:t>:</a:t>
            </a:r>
            <a:endParaRPr lang="en-US" sz="2400" dirty="0">
              <a:solidFill>
                <a:srgbClr val="002060"/>
              </a:solidFill>
              <a:latin typeface="Times New Roman" pitchFamily="18" charset="0"/>
              <a:cs typeface="Times New Roman" pitchFamily="18" charset="0"/>
            </a:endParaRPr>
          </a:p>
          <a:p>
            <a:pPr>
              <a:buFont typeface="Wingdings" pitchFamily="2" charset="2"/>
              <a:buChar char="v"/>
            </a:pPr>
            <a:r>
              <a:rPr lang="en-US" sz="2400" dirty="0">
                <a:solidFill>
                  <a:srgbClr val="002060"/>
                </a:solidFill>
                <a:latin typeface="Times New Roman" pitchFamily="18" charset="0"/>
                <a:cs typeface="Times New Roman" pitchFamily="18" charset="0"/>
              </a:rPr>
              <a:t>An action is a unit of transaction that is indivisible from the DBMS's perspective. </a:t>
            </a:r>
          </a:p>
          <a:p>
            <a:pPr>
              <a:buFont typeface="Wingdings" pitchFamily="2" charset="2"/>
              <a:buChar char="v"/>
            </a:pPr>
            <a:r>
              <a:rPr lang="en-US" sz="2400" dirty="0">
                <a:solidFill>
                  <a:srgbClr val="002060"/>
                </a:solidFill>
                <a:latin typeface="Times New Roman" pitchFamily="18" charset="0"/>
                <a:cs typeface="Times New Roman" pitchFamily="18" charset="0"/>
              </a:rPr>
              <a:t>All the actions are named as read-page and write-page.</a:t>
            </a:r>
          </a:p>
          <a:p>
            <a:pPr>
              <a:buFont typeface="Wingdings" pitchFamily="2" charset="2"/>
              <a:buChar char="v"/>
            </a:pPr>
            <a:r>
              <a:rPr lang="en-US" sz="2400" dirty="0">
                <a:solidFill>
                  <a:srgbClr val="002060"/>
                </a:solidFill>
                <a:latin typeface="Times New Roman" pitchFamily="18" charset="0"/>
                <a:cs typeface="Times New Roman" pitchFamily="18" charset="0"/>
              </a:rPr>
              <a:t>The actions are independent of side-effects and do not produce side-effects.</a:t>
            </a:r>
          </a:p>
          <a:p>
            <a:pPr>
              <a:buFont typeface="Wingdings" pitchFamily="2" charset="2"/>
              <a:buChar char="v"/>
            </a:pPr>
            <a:r>
              <a:rPr lang="en-US" sz="2400" dirty="0">
                <a:solidFill>
                  <a:srgbClr val="002060"/>
                </a:solidFill>
                <a:latin typeface="Times New Roman" pitchFamily="18" charset="0"/>
                <a:cs typeface="Times New Roman" pitchFamily="18" charset="0"/>
              </a:rPr>
              <a:t> A pair of actions is permutable if every execution of A, followed by B has the same result as the execution of B followed by A, on the same granule. </a:t>
            </a:r>
          </a:p>
          <a:p>
            <a:pPr>
              <a:buNone/>
            </a:pPr>
            <a:r>
              <a:rPr lang="en-US" sz="2400" u="sng" dirty="0">
                <a:solidFill>
                  <a:srgbClr val="FF0000"/>
                </a:solidFill>
                <a:latin typeface="Times New Roman" pitchFamily="18" charset="0"/>
                <a:cs typeface="Times New Roman" pitchFamily="18" charset="0"/>
              </a:rPr>
              <a:t>For the actions read and write we have</a:t>
            </a:r>
            <a:r>
              <a:rPr lang="en-US" sz="2400" dirty="0">
                <a:solidFill>
                  <a:srgbClr val="FF0000"/>
                </a:solidFill>
                <a:latin typeface="Times New Roman" pitchFamily="18" charset="0"/>
                <a:cs typeface="Times New Roman" pitchFamily="18" charset="0"/>
              </a:rPr>
              <a:t>: </a:t>
            </a:r>
          </a:p>
          <a:p>
            <a:pPr marL="914400" lvl="0" indent="-449263">
              <a:buFont typeface="+mj-lt"/>
              <a:buAutoNum type="arabicPeriod"/>
            </a:pPr>
            <a:r>
              <a:rPr lang="en-US" sz="2400" dirty="0">
                <a:solidFill>
                  <a:srgbClr val="FF0000"/>
                </a:solidFill>
                <a:latin typeface="Times New Roman" pitchFamily="18" charset="0"/>
                <a:cs typeface="Times New Roman" pitchFamily="18" charset="0"/>
              </a:rPr>
              <a:t>Read-Read</a:t>
            </a:r>
            <a:r>
              <a:rPr lang="en-US" sz="2400" dirty="0">
                <a:solidFill>
                  <a:srgbClr val="002060"/>
                </a:solidFill>
                <a:latin typeface="Times New Roman" pitchFamily="18" charset="0"/>
                <a:cs typeface="Times New Roman" pitchFamily="18" charset="0"/>
              </a:rPr>
              <a:t>: Permutable.</a:t>
            </a:r>
          </a:p>
          <a:p>
            <a:pPr marL="914400" lvl="0" indent="-449263">
              <a:buFont typeface="+mj-lt"/>
              <a:buAutoNum type="arabicPeriod"/>
            </a:pPr>
            <a:r>
              <a:rPr lang="en-US" sz="2400" dirty="0">
                <a:solidFill>
                  <a:srgbClr val="FF0000"/>
                </a:solidFill>
                <a:latin typeface="Times New Roman" pitchFamily="18" charset="0"/>
                <a:cs typeface="Times New Roman" pitchFamily="18" charset="0"/>
              </a:rPr>
              <a:t>Read-write</a:t>
            </a:r>
            <a:r>
              <a:rPr lang="en-US" sz="2400" dirty="0">
                <a:solidFill>
                  <a:srgbClr val="002060"/>
                </a:solidFill>
                <a:latin typeface="Times New Roman" pitchFamily="18" charset="0"/>
                <a:cs typeface="Times New Roman" pitchFamily="18" charset="0"/>
              </a:rPr>
              <a:t>: Not permutable, since the result is different depending on whether read is first or write is first. </a:t>
            </a:r>
          </a:p>
          <a:p>
            <a:pPr marL="914400" lvl="0" indent="-449263">
              <a:buFont typeface="+mj-lt"/>
              <a:buAutoNum type="arabicPeriod"/>
            </a:pPr>
            <a:r>
              <a:rPr lang="en-US" sz="2400" dirty="0">
                <a:solidFill>
                  <a:srgbClr val="FF0000"/>
                </a:solidFill>
                <a:latin typeface="Times New Roman" pitchFamily="18" charset="0"/>
                <a:cs typeface="Times New Roman" pitchFamily="18" charset="0"/>
              </a:rPr>
              <a:t>Write-Write</a:t>
            </a:r>
            <a:r>
              <a:rPr lang="en-US" sz="2400" dirty="0">
                <a:solidFill>
                  <a:srgbClr val="002060"/>
                </a:solidFill>
                <a:latin typeface="Times New Roman" pitchFamily="18" charset="0"/>
                <a:cs typeface="Times New Roman" pitchFamily="18" charset="0"/>
              </a:rPr>
              <a:t>: Not permutable, as the second write always nullifies the effects of the first write.</a:t>
            </a:r>
          </a:p>
          <a:p>
            <a:pPr marL="0" indent="0" algn="just">
              <a:lnSpc>
                <a:spcPct val="150000"/>
              </a:lnSpc>
              <a:spcBef>
                <a:spcPts val="0"/>
              </a:spcBef>
              <a:buNone/>
            </a:pPr>
            <a:endParaRPr lang="en-US" sz="2400"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293596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219200"/>
            <a:ext cx="9144000" cy="2286000"/>
          </a:xfrm>
        </p:spPr>
        <p:txBody>
          <a:bodyPr>
            <a:normAutofit/>
          </a:bodyPr>
          <a:lstStyle/>
          <a:p>
            <a:r>
              <a:rPr lang="en-US" sz="5400" b="1" dirty="0">
                <a:solidFill>
                  <a:srgbClr val="FF0000"/>
                </a:solidFill>
                <a:latin typeface="Times New Roman" pitchFamily="18" charset="0"/>
                <a:cs typeface="Times New Roman" pitchFamily="18" charset="0"/>
              </a:rPr>
              <a:t>SCHEDULES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sz="3600" b="1" dirty="0">
                <a:solidFill>
                  <a:srgbClr val="FF0000"/>
                </a:solidFill>
                <a:latin typeface="Times New Roman" pitchFamily="18" charset="0"/>
                <a:cs typeface="Times New Roman" pitchFamily="18" charset="0"/>
              </a:rPr>
              <a:t>SCHEDULES</a:t>
            </a:r>
          </a:p>
        </p:txBody>
      </p:sp>
      <p:sp>
        <p:nvSpPr>
          <p:cNvPr id="3" name="Content Placeholder 2"/>
          <p:cNvSpPr>
            <a:spLocks noGrp="1"/>
          </p:cNvSpPr>
          <p:nvPr>
            <p:ph idx="1"/>
          </p:nvPr>
        </p:nvSpPr>
        <p:spPr>
          <a:xfrm>
            <a:off x="152400" y="685800"/>
            <a:ext cx="8839200" cy="6019800"/>
          </a:xfrm>
        </p:spPr>
        <p:txBody>
          <a:bodyPr>
            <a:normAutofit/>
          </a:bodyPr>
          <a:lstStyle/>
          <a:p>
            <a:pPr algn="just">
              <a:lnSpc>
                <a:spcPct val="150000"/>
              </a:lnSpc>
              <a:buNone/>
            </a:pPr>
            <a:r>
              <a:rPr lang="en-US" sz="2800" b="1" dirty="0">
                <a:solidFill>
                  <a:srgbClr val="FF0000"/>
                </a:solidFill>
                <a:latin typeface="Times New Roman" pitchFamily="18" charset="0"/>
                <a:cs typeface="Times New Roman" pitchFamily="18" charset="0"/>
              </a:rPr>
              <a:t>Definition</a:t>
            </a:r>
            <a:r>
              <a:rPr lang="en-US" sz="2800" dirty="0">
                <a:solidFill>
                  <a:srgbClr val="002060"/>
                </a:solidFill>
                <a:latin typeface="Times New Roman" pitchFamily="18" charset="0"/>
                <a:cs typeface="Times New Roman" pitchFamily="18" charset="0"/>
              </a:rPr>
              <a:t>:</a:t>
            </a:r>
          </a:p>
          <a:p>
            <a:pPr marL="0" indent="0" algn="just">
              <a:lnSpc>
                <a:spcPct val="150000"/>
              </a:lnSpc>
              <a:buNone/>
            </a:pPr>
            <a:r>
              <a:rPr lang="en-US" sz="2800" dirty="0">
                <a:solidFill>
                  <a:srgbClr val="002060"/>
                </a:solidFill>
                <a:latin typeface="Times New Roman" pitchFamily="18" charset="0"/>
                <a:cs typeface="Times New Roman" pitchFamily="18" charset="0"/>
              </a:rPr>
              <a:t>	</a:t>
            </a:r>
            <a:r>
              <a:rPr lang="en-US" sz="2400" dirty="0">
                <a:solidFill>
                  <a:srgbClr val="002060"/>
                </a:solidFill>
                <a:latin typeface="Times New Roman" pitchFamily="18" charset="0"/>
                <a:cs typeface="Times New Roman" pitchFamily="18" charset="0"/>
              </a:rPr>
              <a:t>When transactions are executing concurrently in an interleaved fashion, then the order of execution of operations from the various transactions is known as a </a:t>
            </a:r>
            <a:r>
              <a:rPr lang="en-US" sz="2400" dirty="0">
                <a:solidFill>
                  <a:srgbClr val="FF0000"/>
                </a:solidFill>
                <a:latin typeface="Times New Roman" pitchFamily="18" charset="0"/>
                <a:cs typeface="Times New Roman" pitchFamily="18" charset="0"/>
              </a:rPr>
              <a:t>Schedule</a:t>
            </a:r>
            <a:r>
              <a:rPr lang="en-US" sz="2400" dirty="0">
                <a:solidFill>
                  <a:srgbClr val="002060"/>
                </a:solidFill>
                <a:latin typeface="Times New Roman" pitchFamily="18" charset="0"/>
                <a:cs typeface="Times New Roman" pitchFamily="18" charset="0"/>
              </a:rPr>
              <a:t> or </a:t>
            </a:r>
            <a:r>
              <a:rPr lang="en-US" sz="2400" dirty="0">
                <a:solidFill>
                  <a:srgbClr val="FF0000"/>
                </a:solidFill>
                <a:latin typeface="Times New Roman" pitchFamily="18" charset="0"/>
                <a:cs typeface="Times New Roman" pitchFamily="18" charset="0"/>
              </a:rPr>
              <a:t>History</a:t>
            </a:r>
            <a:r>
              <a:rPr lang="en-US" sz="2400" dirty="0">
                <a:solidFill>
                  <a:srgbClr val="002060"/>
                </a:solidFill>
                <a:latin typeface="Times New Roman" pitchFamily="18" charset="0"/>
                <a:cs typeface="Times New Roman" pitchFamily="18" charset="0"/>
              </a:rPr>
              <a:t>.</a:t>
            </a:r>
          </a:p>
          <a:p>
            <a:pPr marL="465138" indent="-465138" algn="just">
              <a:lnSpc>
                <a:spcPct val="150000"/>
              </a:lnSpc>
              <a:buFont typeface="Wingdings" pitchFamily="2" charset="2"/>
              <a:buChar char="v"/>
            </a:pPr>
            <a:r>
              <a:rPr lang="en-US" sz="2400" dirty="0">
                <a:solidFill>
                  <a:srgbClr val="002060"/>
                </a:solidFill>
                <a:latin typeface="Times New Roman" pitchFamily="18" charset="0"/>
                <a:cs typeface="Times New Roman" pitchFamily="18" charset="0"/>
              </a:rPr>
              <a:t>Schedules that facilitate recovery when failure occur.</a:t>
            </a:r>
          </a:p>
          <a:p>
            <a:pPr marL="465138" indent="-465138" algn="just">
              <a:lnSpc>
                <a:spcPct val="150000"/>
              </a:lnSpc>
              <a:buNone/>
            </a:pPr>
            <a:endParaRPr lang="en-US" sz="2400" dirty="0">
              <a:solidFill>
                <a:srgbClr val="002060"/>
              </a:solidFill>
              <a:latin typeface="Times New Roman" pitchFamily="18" charset="0"/>
              <a:cs typeface="Times New Roman" pitchFamily="18" charset="0"/>
            </a:endParaRPr>
          </a:p>
          <a:p>
            <a:pPr marL="0" indent="0" algn="just">
              <a:lnSpc>
                <a:spcPct val="150000"/>
              </a:lnSpc>
              <a:buNone/>
            </a:pPr>
            <a:endParaRPr lang="en-US" sz="2400" dirty="0">
              <a:solidFill>
                <a:srgbClr val="002060"/>
              </a:solidFill>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Autofit/>
          </a:bodyPr>
          <a:lstStyle/>
          <a:p>
            <a:pPr marL="0" indent="0">
              <a:lnSpc>
                <a:spcPct val="150000"/>
              </a:lnSpc>
            </a:pPr>
            <a:r>
              <a:rPr lang="en-US" b="1" u="sng" dirty="0">
                <a:solidFill>
                  <a:srgbClr val="FF0000"/>
                </a:solidFill>
                <a:latin typeface="Maiandra GD" pitchFamily="34" charset="0"/>
              </a:rPr>
              <a:t>Types of Schedules</a:t>
            </a:r>
          </a:p>
        </p:txBody>
      </p:sp>
      <p:sp>
        <p:nvSpPr>
          <p:cNvPr id="3" name="Content Placeholder 2"/>
          <p:cNvSpPr>
            <a:spLocks noGrp="1"/>
          </p:cNvSpPr>
          <p:nvPr>
            <p:ph idx="1"/>
          </p:nvPr>
        </p:nvSpPr>
        <p:spPr>
          <a:xfrm>
            <a:off x="0" y="685800"/>
            <a:ext cx="8991600" cy="6019800"/>
          </a:xfrm>
        </p:spPr>
        <p:txBody>
          <a:bodyPr>
            <a:normAutofit/>
          </a:bodyPr>
          <a:lstStyle/>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002060"/>
              </a:solidFill>
              <a:latin typeface="Times New Roman" pitchFamily="18" charset="0"/>
              <a:cs typeface="Times New Roman" pitchFamily="18" charset="0"/>
            </a:endParaRPr>
          </a:p>
        </p:txBody>
      </p:sp>
      <p:pic>
        <p:nvPicPr>
          <p:cNvPr id="116737" name="Picture 1" descr="G:\VTU NOTES\2018-19 SUMMER SEMESTER\DBMS 2018-19 SUMMER\DBMS UNIT IV\New folder\images\Types-of-Schedules-in-DBMS.png"/>
          <p:cNvPicPr>
            <a:picLocks noChangeAspect="1" noChangeArrowheads="1"/>
          </p:cNvPicPr>
          <p:nvPr/>
        </p:nvPicPr>
        <p:blipFill>
          <a:blip r:embed="rId2">
            <a:lum bright="-20000" contrast="40000"/>
          </a:blip>
          <a:srcRect/>
          <a:stretch>
            <a:fillRect/>
          </a:stretch>
        </p:blipFill>
        <p:spPr bwMode="auto">
          <a:xfrm>
            <a:off x="304800" y="838200"/>
            <a:ext cx="8534400" cy="518160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sz="3600" b="1" dirty="0">
                <a:solidFill>
                  <a:srgbClr val="FF0000"/>
                </a:solidFill>
                <a:latin typeface="Times New Roman" pitchFamily="18" charset="0"/>
                <a:cs typeface="Times New Roman" pitchFamily="18" charset="0"/>
              </a:rPr>
              <a:t>SERIAL SCHEDULES</a:t>
            </a:r>
          </a:p>
        </p:txBody>
      </p:sp>
      <p:sp>
        <p:nvSpPr>
          <p:cNvPr id="3" name="Content Placeholder 2"/>
          <p:cNvSpPr>
            <a:spLocks noGrp="1"/>
          </p:cNvSpPr>
          <p:nvPr>
            <p:ph idx="1"/>
          </p:nvPr>
        </p:nvSpPr>
        <p:spPr>
          <a:xfrm>
            <a:off x="0" y="685800"/>
            <a:ext cx="8991600" cy="6172200"/>
          </a:xfrm>
        </p:spPr>
        <p:txBody>
          <a:bodyPr>
            <a:normAutofit/>
          </a:bodyPr>
          <a:lstStyle/>
          <a:p>
            <a:pPr fontAlgn="base">
              <a:buNone/>
            </a:pPr>
            <a:r>
              <a:rPr lang="en-US" b="1" u="sng" dirty="0">
                <a:solidFill>
                  <a:srgbClr val="FF0000"/>
                </a:solidFill>
                <a:latin typeface="Maiandra GD" pitchFamily="34" charset="0"/>
                <a:cs typeface="Times New Roman" pitchFamily="18" charset="0"/>
              </a:rPr>
              <a:t>Serial Schedules-</a:t>
            </a:r>
            <a:endParaRPr lang="en-US" b="1" dirty="0">
              <a:solidFill>
                <a:srgbClr val="FF0000"/>
              </a:solidFill>
              <a:latin typeface="Maiandra GD" pitchFamily="34" charset="0"/>
              <a:cs typeface="Times New Roman" pitchFamily="18" charset="0"/>
            </a:endParaRPr>
          </a:p>
          <a:p>
            <a:pPr algn="just" fontAlgn="base">
              <a:lnSpc>
                <a:spcPct val="150000"/>
              </a:lnSpc>
              <a:buFont typeface="Wingdings" pitchFamily="2" charset="2"/>
              <a:buChar char="v"/>
            </a:pPr>
            <a:r>
              <a:rPr lang="en-US" sz="2400" dirty="0">
                <a:solidFill>
                  <a:srgbClr val="002060"/>
                </a:solidFill>
                <a:latin typeface="Times New Roman" pitchFamily="18" charset="0"/>
                <a:cs typeface="Times New Roman" pitchFamily="18" charset="0"/>
              </a:rPr>
              <a:t>In serial schedules, All the transactions execute serially one after the other. </a:t>
            </a:r>
          </a:p>
          <a:p>
            <a:pPr algn="just" fontAlgn="base">
              <a:lnSpc>
                <a:spcPct val="150000"/>
              </a:lnSpc>
              <a:buFont typeface="Wingdings" pitchFamily="2" charset="2"/>
              <a:buChar char="v"/>
            </a:pPr>
            <a:r>
              <a:rPr lang="en-US" sz="2400" dirty="0">
                <a:solidFill>
                  <a:srgbClr val="002060"/>
                </a:solidFill>
                <a:latin typeface="Times New Roman" pitchFamily="18" charset="0"/>
                <a:cs typeface="Times New Roman" pitchFamily="18" charset="0"/>
              </a:rPr>
              <a:t>When one transaction executes, no other transaction is allowed to execute.</a:t>
            </a:r>
          </a:p>
          <a:p>
            <a:pPr fontAlgn="base">
              <a:buNone/>
            </a:pPr>
            <a:r>
              <a:rPr lang="en-US" sz="2400" b="1" u="sng" dirty="0">
                <a:solidFill>
                  <a:srgbClr val="FF0000"/>
                </a:solidFill>
                <a:latin typeface="Maiandra GD" pitchFamily="34" charset="0"/>
                <a:cs typeface="Times New Roman" pitchFamily="18" charset="0"/>
              </a:rPr>
              <a:t>Characteristics-</a:t>
            </a:r>
          </a:p>
          <a:p>
            <a:pPr fontAlgn="base">
              <a:buNone/>
            </a:pPr>
            <a:r>
              <a:rPr lang="en-US" sz="2400" dirty="0">
                <a:solidFill>
                  <a:srgbClr val="002060"/>
                </a:solidFill>
                <a:latin typeface="Times New Roman" pitchFamily="18" charset="0"/>
                <a:cs typeface="Times New Roman" pitchFamily="18" charset="0"/>
              </a:rPr>
              <a:t>Serial schedules are always-</a:t>
            </a:r>
          </a:p>
          <a:p>
            <a:pPr marL="920750" indent="-457200" fontAlgn="base">
              <a:buFont typeface="+mj-lt"/>
              <a:buAutoNum type="arabicPeriod"/>
            </a:pPr>
            <a:r>
              <a:rPr lang="en-US" sz="2400" dirty="0">
                <a:solidFill>
                  <a:srgbClr val="002060"/>
                </a:solidFill>
                <a:latin typeface="Times New Roman" pitchFamily="18" charset="0"/>
                <a:cs typeface="Times New Roman" pitchFamily="18" charset="0"/>
              </a:rPr>
              <a:t>Consistent</a:t>
            </a:r>
          </a:p>
          <a:p>
            <a:pPr marL="920750" indent="-457200" fontAlgn="base">
              <a:buFont typeface="+mj-lt"/>
              <a:buAutoNum type="arabicPeriod"/>
            </a:pPr>
            <a:r>
              <a:rPr lang="en-US" sz="2400" dirty="0">
                <a:solidFill>
                  <a:srgbClr val="002060"/>
                </a:solidFill>
                <a:latin typeface="Times New Roman" pitchFamily="18" charset="0"/>
                <a:cs typeface="Times New Roman" pitchFamily="18" charset="0"/>
              </a:rPr>
              <a:t>Recoverable</a:t>
            </a:r>
          </a:p>
          <a:p>
            <a:pPr marL="920750" indent="-457200" fontAlgn="base">
              <a:buFont typeface="+mj-lt"/>
              <a:buAutoNum type="arabicPeriod"/>
            </a:pPr>
            <a:r>
              <a:rPr lang="en-US" sz="2400" dirty="0">
                <a:solidFill>
                  <a:srgbClr val="002060"/>
                </a:solidFill>
                <a:latin typeface="Times New Roman" pitchFamily="18" charset="0"/>
                <a:cs typeface="Times New Roman" pitchFamily="18" charset="0"/>
              </a:rPr>
              <a:t>Cascadeless</a:t>
            </a:r>
          </a:p>
          <a:p>
            <a:pPr marL="920750" indent="-457200" fontAlgn="base">
              <a:buFont typeface="+mj-lt"/>
              <a:buAutoNum type="arabicPeriod"/>
            </a:pPr>
            <a:r>
              <a:rPr lang="en-US" sz="2400" dirty="0">
                <a:solidFill>
                  <a:srgbClr val="002060"/>
                </a:solidFill>
                <a:latin typeface="Times New Roman" pitchFamily="18" charset="0"/>
                <a:cs typeface="Times New Roman" pitchFamily="18" charset="0"/>
              </a:rPr>
              <a:t>Strict</a:t>
            </a: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002060"/>
              </a:solidFill>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sz="3600" b="1" dirty="0">
                <a:solidFill>
                  <a:srgbClr val="FF0000"/>
                </a:solidFill>
                <a:latin typeface="Times New Roman" pitchFamily="18" charset="0"/>
                <a:cs typeface="Times New Roman" pitchFamily="18" charset="0"/>
              </a:rPr>
              <a:t>SERIAL SCHEDULES</a:t>
            </a:r>
          </a:p>
        </p:txBody>
      </p:sp>
      <p:sp>
        <p:nvSpPr>
          <p:cNvPr id="3" name="Content Placeholder 2"/>
          <p:cNvSpPr>
            <a:spLocks noGrp="1"/>
          </p:cNvSpPr>
          <p:nvPr>
            <p:ph idx="1"/>
          </p:nvPr>
        </p:nvSpPr>
        <p:spPr>
          <a:xfrm>
            <a:off x="0" y="685800"/>
            <a:ext cx="4267200" cy="6172200"/>
          </a:xfrm>
        </p:spPr>
        <p:txBody>
          <a:bodyPr>
            <a:normAutofit/>
          </a:bodyPr>
          <a:lstStyle/>
          <a:p>
            <a:pPr fontAlgn="base">
              <a:buNone/>
            </a:pPr>
            <a:r>
              <a:rPr lang="en-US" b="1" u="sng" dirty="0">
                <a:solidFill>
                  <a:srgbClr val="FF0000"/>
                </a:solidFill>
                <a:latin typeface="Maiandra GD" pitchFamily="34" charset="0"/>
                <a:cs typeface="Times New Roman" pitchFamily="18" charset="0"/>
              </a:rPr>
              <a:t>Serial Schedules-</a:t>
            </a:r>
            <a:endParaRPr lang="en-US" b="1" dirty="0">
              <a:solidFill>
                <a:srgbClr val="FF0000"/>
              </a:solidFill>
              <a:latin typeface="Maiandra GD" pitchFamily="34" charset="0"/>
              <a:cs typeface="Times New Roman" pitchFamily="18"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002060"/>
              </a:solidFill>
              <a:latin typeface="Times New Roman" pitchFamily="18" charset="0"/>
              <a:cs typeface="Times New Roman" pitchFamily="18" charset="0"/>
            </a:endParaRPr>
          </a:p>
        </p:txBody>
      </p:sp>
      <p:pic>
        <p:nvPicPr>
          <p:cNvPr id="157698" name="Picture 2" descr="G:\VTU NOTES\2018-19 SUMMER SEMESTER\DBMS 2018-19 SUMMER\DBMS UNIT IV\New folder\images\Serial-Schedules-Example-01.jpg"/>
          <p:cNvPicPr>
            <a:picLocks noChangeAspect="1" noChangeArrowheads="1"/>
          </p:cNvPicPr>
          <p:nvPr/>
        </p:nvPicPr>
        <p:blipFill>
          <a:blip r:embed="rId2">
            <a:lum bright="-20000" contrast="30000"/>
          </a:blip>
          <a:srcRect/>
          <a:stretch>
            <a:fillRect/>
          </a:stretch>
        </p:blipFill>
        <p:spPr bwMode="auto">
          <a:xfrm>
            <a:off x="0" y="1295400"/>
            <a:ext cx="3962401" cy="3886200"/>
          </a:xfrm>
          <a:prstGeom prst="rect">
            <a:avLst/>
          </a:prstGeom>
          <a:noFill/>
        </p:spPr>
      </p:pic>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
        <p:nvSpPr>
          <p:cNvPr id="7" name="Rectangle 6"/>
          <p:cNvSpPr/>
          <p:nvPr/>
        </p:nvSpPr>
        <p:spPr>
          <a:xfrm>
            <a:off x="3962400" y="685800"/>
            <a:ext cx="5181600" cy="5903026"/>
          </a:xfrm>
          <a:prstGeom prst="rect">
            <a:avLst/>
          </a:prstGeom>
        </p:spPr>
        <p:txBody>
          <a:bodyPr wrap="square">
            <a:spAutoFit/>
          </a:bodyPr>
          <a:lstStyle/>
          <a:p>
            <a:pPr algn="just" fontAlgn="base">
              <a:lnSpc>
                <a:spcPct val="200000"/>
              </a:lnSpc>
            </a:pPr>
            <a:r>
              <a:rPr lang="en-US" sz="2000" dirty="0">
                <a:solidFill>
                  <a:srgbClr val="002060"/>
                </a:solidFill>
                <a:latin typeface="Times New Roman" pitchFamily="18" charset="0"/>
                <a:cs typeface="Times New Roman" pitchFamily="18" charset="0"/>
              </a:rPr>
              <a:t>In this schedule,</a:t>
            </a:r>
          </a:p>
          <a:p>
            <a:pPr marL="225425" indent="-225425" algn="just" fontAlgn="base">
              <a:lnSpc>
                <a:spcPct val="20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There are two transactions </a:t>
            </a:r>
            <a:r>
              <a:rPr lang="en-US" sz="2200" dirty="0">
                <a:solidFill>
                  <a:srgbClr val="FF0000"/>
                </a:solidFill>
                <a:latin typeface="Times New Roman" pitchFamily="18" charset="0"/>
                <a:cs typeface="Times New Roman" pitchFamily="18" charset="0"/>
              </a:rPr>
              <a:t>T1 </a:t>
            </a:r>
            <a:r>
              <a:rPr lang="en-US" sz="2200" dirty="0">
                <a:solidFill>
                  <a:srgbClr val="002060"/>
                </a:solidFill>
                <a:latin typeface="Times New Roman" pitchFamily="18" charset="0"/>
                <a:cs typeface="Times New Roman" pitchFamily="18" charset="0"/>
              </a:rPr>
              <a:t>and </a:t>
            </a:r>
            <a:r>
              <a:rPr lang="en-US" sz="2200" dirty="0">
                <a:solidFill>
                  <a:srgbClr val="FF0000"/>
                </a:solidFill>
                <a:latin typeface="Times New Roman" pitchFamily="18" charset="0"/>
                <a:cs typeface="Times New Roman" pitchFamily="18" charset="0"/>
              </a:rPr>
              <a:t>T2</a:t>
            </a:r>
            <a:r>
              <a:rPr lang="en-US" sz="2200" dirty="0">
                <a:solidFill>
                  <a:srgbClr val="002060"/>
                </a:solidFill>
                <a:latin typeface="Times New Roman" pitchFamily="18" charset="0"/>
                <a:cs typeface="Times New Roman" pitchFamily="18" charset="0"/>
              </a:rPr>
              <a:t> executing serially one after the other.</a:t>
            </a:r>
          </a:p>
          <a:p>
            <a:pPr marL="225425" indent="-225425" algn="just" fontAlgn="base">
              <a:lnSpc>
                <a:spcPct val="20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Transaction </a:t>
            </a:r>
            <a:r>
              <a:rPr lang="en-US" sz="2200" dirty="0">
                <a:solidFill>
                  <a:srgbClr val="FF0000"/>
                </a:solidFill>
                <a:latin typeface="Times New Roman" pitchFamily="18" charset="0"/>
                <a:cs typeface="Times New Roman" pitchFamily="18" charset="0"/>
              </a:rPr>
              <a:t>T1</a:t>
            </a:r>
            <a:r>
              <a:rPr lang="en-US" sz="2200" dirty="0">
                <a:solidFill>
                  <a:srgbClr val="002060"/>
                </a:solidFill>
                <a:latin typeface="Times New Roman" pitchFamily="18" charset="0"/>
                <a:cs typeface="Times New Roman" pitchFamily="18" charset="0"/>
              </a:rPr>
              <a:t> executes </a:t>
            </a:r>
            <a:r>
              <a:rPr lang="en-US" sz="2200" dirty="0">
                <a:solidFill>
                  <a:srgbClr val="FF0000"/>
                </a:solidFill>
                <a:latin typeface="Times New Roman" pitchFamily="18" charset="0"/>
                <a:cs typeface="Times New Roman" pitchFamily="18" charset="0"/>
              </a:rPr>
              <a:t>first</a:t>
            </a:r>
            <a:r>
              <a:rPr lang="en-US" sz="2200" dirty="0">
                <a:solidFill>
                  <a:srgbClr val="002060"/>
                </a:solidFill>
                <a:latin typeface="Times New Roman" pitchFamily="18" charset="0"/>
                <a:cs typeface="Times New Roman" pitchFamily="18" charset="0"/>
              </a:rPr>
              <a:t>.</a:t>
            </a:r>
          </a:p>
          <a:p>
            <a:pPr marL="225425" indent="-225425" algn="just" fontAlgn="base">
              <a:lnSpc>
                <a:spcPct val="200000"/>
              </a:lnSpc>
              <a:buClr>
                <a:srgbClr val="FF0000"/>
              </a:buClr>
              <a:buFont typeface="Wingdings" pitchFamily="2" charset="2"/>
              <a:buChar char="v"/>
            </a:pPr>
            <a:r>
              <a:rPr lang="en-US" sz="2200" dirty="0">
                <a:solidFill>
                  <a:srgbClr val="FF0000"/>
                </a:solidFill>
                <a:latin typeface="Times New Roman" pitchFamily="18" charset="0"/>
                <a:cs typeface="Times New Roman" pitchFamily="18" charset="0"/>
              </a:rPr>
              <a:t>After T1 </a:t>
            </a:r>
            <a:r>
              <a:rPr lang="en-US" sz="2200" dirty="0">
                <a:solidFill>
                  <a:srgbClr val="002060"/>
                </a:solidFill>
                <a:latin typeface="Times New Roman" pitchFamily="18" charset="0"/>
                <a:cs typeface="Times New Roman" pitchFamily="18" charset="0"/>
              </a:rPr>
              <a:t>completes its execution, transaction </a:t>
            </a:r>
            <a:r>
              <a:rPr lang="en-US" sz="2200" dirty="0">
                <a:solidFill>
                  <a:srgbClr val="FF0000"/>
                </a:solidFill>
                <a:latin typeface="Times New Roman" pitchFamily="18" charset="0"/>
                <a:cs typeface="Times New Roman" pitchFamily="18" charset="0"/>
              </a:rPr>
              <a:t>T2 executes</a:t>
            </a:r>
            <a:r>
              <a:rPr lang="en-US" sz="2200" dirty="0">
                <a:solidFill>
                  <a:srgbClr val="002060"/>
                </a:solidFill>
                <a:latin typeface="Times New Roman" pitchFamily="18" charset="0"/>
                <a:cs typeface="Times New Roman" pitchFamily="18" charset="0"/>
              </a:rPr>
              <a:t>.</a:t>
            </a:r>
          </a:p>
          <a:p>
            <a:pPr marL="225425" indent="-225425" algn="just" fontAlgn="base">
              <a:lnSpc>
                <a:spcPct val="20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So, this schedule is an example of a </a:t>
            </a:r>
            <a:r>
              <a:rPr lang="en-US" sz="2200" b="1" dirty="0">
                <a:solidFill>
                  <a:srgbClr val="FF0000"/>
                </a:solidFill>
                <a:latin typeface="Times New Roman" pitchFamily="18" charset="0"/>
                <a:cs typeface="Times New Roman" pitchFamily="18" charset="0"/>
              </a:rPr>
              <a:t>Serial Schedule</a:t>
            </a:r>
            <a:r>
              <a:rPr lang="en-US" sz="2200" b="1" dirty="0">
                <a:solidFill>
                  <a:srgbClr val="002060"/>
                </a:solidFill>
                <a:latin typeface="Times New Roman" pitchFamily="18" charset="0"/>
                <a:cs typeface="Times New Roman" pitchFamily="18" charset="0"/>
              </a:rPr>
              <a:t>.</a:t>
            </a:r>
          </a:p>
          <a:p>
            <a:pPr marL="225425" indent="-225425" algn="just" fontAlgn="base">
              <a:lnSpc>
                <a:spcPct val="150000"/>
              </a:lnSpc>
              <a:buClr>
                <a:srgbClr val="FF0000"/>
              </a:buClr>
            </a:pP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 calcmode="lin" valueType="num">
                                      <p:cBhvr additive="base">
                                        <p:cTn id="1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 calcmode="lin" valueType="num">
                                      <p:cBhvr additive="base">
                                        <p:cTn id="2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 calcmode="lin" valueType="num">
                                      <p:cBhvr additive="base">
                                        <p:cTn id="29"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sz="3600" b="1" dirty="0">
                <a:solidFill>
                  <a:srgbClr val="FF0000"/>
                </a:solidFill>
                <a:latin typeface="Times New Roman" pitchFamily="18" charset="0"/>
                <a:cs typeface="Times New Roman" pitchFamily="18" charset="0"/>
              </a:rPr>
              <a:t>SERIAL SCHEDULES</a:t>
            </a:r>
          </a:p>
        </p:txBody>
      </p:sp>
      <p:sp>
        <p:nvSpPr>
          <p:cNvPr id="3" name="Content Placeholder 2"/>
          <p:cNvSpPr>
            <a:spLocks noGrp="1"/>
          </p:cNvSpPr>
          <p:nvPr>
            <p:ph idx="1"/>
          </p:nvPr>
        </p:nvSpPr>
        <p:spPr>
          <a:xfrm>
            <a:off x="0" y="685800"/>
            <a:ext cx="4267200" cy="6172200"/>
          </a:xfrm>
        </p:spPr>
        <p:txBody>
          <a:bodyPr>
            <a:normAutofit/>
          </a:bodyPr>
          <a:lstStyle/>
          <a:p>
            <a:pPr fontAlgn="base">
              <a:buNone/>
            </a:pPr>
            <a:r>
              <a:rPr lang="en-US" b="1" u="sng" dirty="0">
                <a:solidFill>
                  <a:srgbClr val="FF0000"/>
                </a:solidFill>
                <a:latin typeface="Maiandra GD" pitchFamily="34" charset="0"/>
                <a:cs typeface="Times New Roman" pitchFamily="18" charset="0"/>
              </a:rPr>
              <a:t>Serial Schedules-</a:t>
            </a:r>
            <a:endParaRPr lang="en-US" b="1" dirty="0">
              <a:solidFill>
                <a:srgbClr val="FF0000"/>
              </a:solidFill>
              <a:latin typeface="Maiandra GD" pitchFamily="34" charset="0"/>
              <a:cs typeface="Times New Roman" pitchFamily="18"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002060"/>
              </a:solidFill>
              <a:latin typeface="Times New Roman" pitchFamily="18" charset="0"/>
              <a:cs typeface="Times New Roman" pitchFamily="18" charset="0"/>
            </a:endParaRPr>
          </a:p>
        </p:txBody>
      </p:sp>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pic>
        <p:nvPicPr>
          <p:cNvPr id="116737" name="Picture 1" descr="G:\VTU NOTES\2018-19 SUMMER SEMESTER\DBMS 2018-19 SUMMER\DBMS UNIT IV\New folder\images\Serial-Schedules-Example-02.png"/>
          <p:cNvPicPr>
            <a:picLocks noChangeAspect="1" noChangeArrowheads="1"/>
          </p:cNvPicPr>
          <p:nvPr/>
        </p:nvPicPr>
        <p:blipFill>
          <a:blip r:embed="rId2">
            <a:lum bright="-30000" contrast="40000"/>
          </a:blip>
          <a:srcRect/>
          <a:stretch>
            <a:fillRect/>
          </a:stretch>
        </p:blipFill>
        <p:spPr bwMode="auto">
          <a:xfrm>
            <a:off x="0" y="1295400"/>
            <a:ext cx="3657600" cy="3648075"/>
          </a:xfrm>
          <a:prstGeom prst="rect">
            <a:avLst/>
          </a:prstGeom>
          <a:noFill/>
        </p:spPr>
      </p:pic>
      <p:sp>
        <p:nvSpPr>
          <p:cNvPr id="8" name="Rectangle 7"/>
          <p:cNvSpPr/>
          <p:nvPr/>
        </p:nvSpPr>
        <p:spPr>
          <a:xfrm>
            <a:off x="3657600" y="914400"/>
            <a:ext cx="5486400" cy="5406095"/>
          </a:xfrm>
          <a:prstGeom prst="rect">
            <a:avLst/>
          </a:prstGeom>
        </p:spPr>
        <p:txBody>
          <a:bodyPr wrap="square">
            <a:spAutoFit/>
          </a:bodyPr>
          <a:lstStyle/>
          <a:p>
            <a:pPr algn="just" fontAlgn="base">
              <a:lnSpc>
                <a:spcPct val="200000"/>
              </a:lnSpc>
            </a:pPr>
            <a:r>
              <a:rPr lang="en-US" sz="2200" dirty="0">
                <a:solidFill>
                  <a:srgbClr val="002060"/>
                </a:solidFill>
                <a:latin typeface="Times New Roman" pitchFamily="18" charset="0"/>
                <a:cs typeface="Times New Roman" pitchFamily="18" charset="0"/>
              </a:rPr>
              <a:t>In this schedule,</a:t>
            </a:r>
          </a:p>
          <a:p>
            <a:pPr algn="just" fontAlgn="base">
              <a:lnSpc>
                <a:spcPct val="20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There are two transactions </a:t>
            </a:r>
            <a:r>
              <a:rPr lang="en-US" sz="2200" dirty="0">
                <a:solidFill>
                  <a:srgbClr val="FF0000"/>
                </a:solidFill>
                <a:latin typeface="Times New Roman" pitchFamily="18" charset="0"/>
                <a:cs typeface="Times New Roman" pitchFamily="18" charset="0"/>
              </a:rPr>
              <a:t>T1 and T2 </a:t>
            </a:r>
            <a:r>
              <a:rPr lang="en-US" sz="2200" dirty="0">
                <a:solidFill>
                  <a:srgbClr val="002060"/>
                </a:solidFill>
                <a:latin typeface="Times New Roman" pitchFamily="18" charset="0"/>
                <a:cs typeface="Times New Roman" pitchFamily="18" charset="0"/>
              </a:rPr>
              <a:t>executing serially one after the other.</a:t>
            </a:r>
          </a:p>
          <a:p>
            <a:pPr algn="just" fontAlgn="base">
              <a:lnSpc>
                <a:spcPct val="20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Transaction </a:t>
            </a:r>
            <a:r>
              <a:rPr lang="en-US" sz="2200" dirty="0">
                <a:solidFill>
                  <a:srgbClr val="FF0000"/>
                </a:solidFill>
                <a:latin typeface="Times New Roman" pitchFamily="18" charset="0"/>
                <a:cs typeface="Times New Roman" pitchFamily="18" charset="0"/>
              </a:rPr>
              <a:t>T2 executes first</a:t>
            </a:r>
            <a:r>
              <a:rPr lang="en-US" sz="2200" dirty="0">
                <a:solidFill>
                  <a:srgbClr val="002060"/>
                </a:solidFill>
                <a:latin typeface="Times New Roman" pitchFamily="18" charset="0"/>
                <a:cs typeface="Times New Roman" pitchFamily="18" charset="0"/>
              </a:rPr>
              <a:t>.</a:t>
            </a:r>
          </a:p>
          <a:p>
            <a:pPr algn="just" fontAlgn="base">
              <a:lnSpc>
                <a:spcPct val="200000"/>
              </a:lnSpc>
              <a:buClr>
                <a:srgbClr val="FF0000"/>
              </a:buClr>
              <a:buFont typeface="Wingdings" pitchFamily="2" charset="2"/>
              <a:buChar char="v"/>
            </a:pPr>
            <a:r>
              <a:rPr lang="en-US" sz="2200" dirty="0">
                <a:solidFill>
                  <a:srgbClr val="FF0000"/>
                </a:solidFill>
                <a:latin typeface="Times New Roman" pitchFamily="18" charset="0"/>
                <a:cs typeface="Times New Roman" pitchFamily="18" charset="0"/>
              </a:rPr>
              <a:t>After T2 </a:t>
            </a:r>
            <a:r>
              <a:rPr lang="en-US" sz="2200" dirty="0">
                <a:solidFill>
                  <a:srgbClr val="002060"/>
                </a:solidFill>
                <a:latin typeface="Times New Roman" pitchFamily="18" charset="0"/>
                <a:cs typeface="Times New Roman" pitchFamily="18" charset="0"/>
              </a:rPr>
              <a:t>completes its execution, transaction </a:t>
            </a:r>
            <a:r>
              <a:rPr lang="en-US" sz="2200" dirty="0">
                <a:solidFill>
                  <a:srgbClr val="FF0000"/>
                </a:solidFill>
                <a:latin typeface="Times New Roman" pitchFamily="18" charset="0"/>
                <a:cs typeface="Times New Roman" pitchFamily="18" charset="0"/>
              </a:rPr>
              <a:t>T1 executes</a:t>
            </a:r>
            <a:r>
              <a:rPr lang="en-US" sz="2200" dirty="0">
                <a:solidFill>
                  <a:srgbClr val="002060"/>
                </a:solidFill>
                <a:latin typeface="Times New Roman" pitchFamily="18" charset="0"/>
                <a:cs typeface="Times New Roman" pitchFamily="18" charset="0"/>
              </a:rPr>
              <a:t>.</a:t>
            </a:r>
          </a:p>
          <a:p>
            <a:pPr algn="just" fontAlgn="base">
              <a:lnSpc>
                <a:spcPct val="20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So, this schedule is an example of a </a:t>
            </a:r>
            <a:r>
              <a:rPr lang="en-US" sz="2200" b="1" dirty="0">
                <a:solidFill>
                  <a:srgbClr val="FF0000"/>
                </a:solidFill>
                <a:latin typeface="Times New Roman" pitchFamily="18" charset="0"/>
                <a:cs typeface="Times New Roman" pitchFamily="18" charset="0"/>
              </a:rPr>
              <a:t>Serial Schedule</a:t>
            </a:r>
            <a:r>
              <a:rPr lang="en-US" sz="2200" dirty="0">
                <a:solidFill>
                  <a:srgbClr val="FF0000"/>
                </a:solidFill>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 calcmode="lin" valueType="num">
                                      <p:cBhvr additive="base">
                                        <p:cTn id="1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 calcmode="lin" valueType="num">
                                      <p:cBhvr additive="base">
                                        <p:cTn id="2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8">
                                            <p:txEl>
                                              <p:pRg st="4" end="4"/>
                                            </p:txEl>
                                          </p:spTgt>
                                        </p:tgtEl>
                                        <p:attrNameLst>
                                          <p:attrName>style.visibility</p:attrName>
                                        </p:attrNameLst>
                                      </p:cBhvr>
                                      <p:to>
                                        <p:strVal val="visible"/>
                                      </p:to>
                                    </p:set>
                                    <p:anim calcmode="lin" valueType="num">
                                      <p:cBhvr additive="base">
                                        <p:cTn id="29"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sz="3600" b="1" dirty="0">
                <a:solidFill>
                  <a:srgbClr val="FF0000"/>
                </a:solidFill>
                <a:latin typeface="Times New Roman" pitchFamily="18" charset="0"/>
                <a:cs typeface="Times New Roman" pitchFamily="18" charset="0"/>
              </a:rPr>
              <a:t>NON SERIAL SCHEDULES</a:t>
            </a:r>
          </a:p>
        </p:txBody>
      </p:sp>
      <p:sp>
        <p:nvSpPr>
          <p:cNvPr id="3" name="Content Placeholder 2"/>
          <p:cNvSpPr>
            <a:spLocks noGrp="1"/>
          </p:cNvSpPr>
          <p:nvPr>
            <p:ph idx="1"/>
          </p:nvPr>
        </p:nvSpPr>
        <p:spPr>
          <a:xfrm>
            <a:off x="0" y="685800"/>
            <a:ext cx="9144000" cy="6172200"/>
          </a:xfrm>
        </p:spPr>
        <p:txBody>
          <a:bodyPr>
            <a:normAutofit/>
          </a:bodyPr>
          <a:lstStyle/>
          <a:p>
            <a:pPr fontAlgn="base">
              <a:buNone/>
            </a:pPr>
            <a:r>
              <a:rPr lang="en-US" sz="2400" dirty="0">
                <a:solidFill>
                  <a:srgbClr val="002060"/>
                </a:solidFill>
                <a:latin typeface="Times New Roman" pitchFamily="18" charset="0"/>
                <a:cs typeface="Times New Roman" pitchFamily="18" charset="0"/>
              </a:rPr>
              <a:t>In non-serial schedules,</a:t>
            </a:r>
          </a:p>
          <a:p>
            <a:pPr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Multiple transactions execute concurrently.</a:t>
            </a:r>
          </a:p>
          <a:p>
            <a:pPr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Operations of all the transactions are inter leaved or mixed with each other.</a:t>
            </a:r>
          </a:p>
          <a:p>
            <a:pPr fontAlgn="base">
              <a:buNone/>
            </a:pPr>
            <a:r>
              <a:rPr lang="en-US" sz="2400" b="1" u="sng" dirty="0">
                <a:solidFill>
                  <a:srgbClr val="FF0000"/>
                </a:solidFill>
                <a:latin typeface="Maiandra GD" pitchFamily="34" charset="0"/>
                <a:cs typeface="Times New Roman" pitchFamily="18" charset="0"/>
              </a:rPr>
              <a:t>Characteristics-</a:t>
            </a:r>
            <a:endParaRPr lang="en-US" sz="2400" b="1" dirty="0">
              <a:solidFill>
                <a:srgbClr val="FF0000"/>
              </a:solidFill>
              <a:latin typeface="Maiandra GD" pitchFamily="34" charset="0"/>
              <a:cs typeface="Times New Roman" pitchFamily="18" charset="0"/>
            </a:endParaRPr>
          </a:p>
          <a:p>
            <a:pPr fontAlgn="base">
              <a:buNone/>
            </a:pPr>
            <a:r>
              <a:rPr lang="en-US" sz="2400" dirty="0">
                <a:latin typeface="Times New Roman" pitchFamily="18" charset="0"/>
                <a:cs typeface="Times New Roman" pitchFamily="18" charset="0"/>
              </a:rPr>
              <a:t> </a:t>
            </a:r>
            <a:r>
              <a:rPr lang="en-US" sz="2400" dirty="0">
                <a:solidFill>
                  <a:srgbClr val="002060"/>
                </a:solidFill>
                <a:latin typeface="Times New Roman" pitchFamily="18" charset="0"/>
                <a:cs typeface="Times New Roman" pitchFamily="18" charset="0"/>
              </a:rPr>
              <a:t>Non-serial schedules are </a:t>
            </a:r>
            <a:r>
              <a:rPr lang="en-US" sz="2400" b="1" dirty="0">
                <a:solidFill>
                  <a:srgbClr val="002060"/>
                </a:solidFill>
                <a:latin typeface="Times New Roman" pitchFamily="18" charset="0"/>
                <a:cs typeface="Times New Roman" pitchFamily="18" charset="0"/>
              </a:rPr>
              <a:t>NOT</a:t>
            </a:r>
            <a:r>
              <a:rPr lang="en-US" sz="2400" dirty="0">
                <a:solidFill>
                  <a:srgbClr val="002060"/>
                </a:solidFill>
                <a:latin typeface="Times New Roman" pitchFamily="18" charset="0"/>
                <a:cs typeface="Times New Roman" pitchFamily="18" charset="0"/>
              </a:rPr>
              <a:t> always-</a:t>
            </a:r>
          </a:p>
          <a:p>
            <a:pPr marL="920750" indent="-457200" fontAlgn="base">
              <a:buFont typeface="+mj-lt"/>
              <a:buAutoNum type="arabicPeriod"/>
            </a:pPr>
            <a:r>
              <a:rPr lang="en-US" sz="2400" dirty="0">
                <a:solidFill>
                  <a:srgbClr val="002060"/>
                </a:solidFill>
                <a:latin typeface="Times New Roman" pitchFamily="18" charset="0"/>
                <a:cs typeface="Times New Roman" pitchFamily="18" charset="0"/>
              </a:rPr>
              <a:t>Consistent</a:t>
            </a:r>
          </a:p>
          <a:p>
            <a:pPr marL="920750" indent="-457200" fontAlgn="base">
              <a:buFont typeface="+mj-lt"/>
              <a:buAutoNum type="arabicPeriod"/>
            </a:pPr>
            <a:r>
              <a:rPr lang="en-US" sz="2400" dirty="0">
                <a:solidFill>
                  <a:srgbClr val="002060"/>
                </a:solidFill>
                <a:latin typeface="Times New Roman" pitchFamily="18" charset="0"/>
                <a:cs typeface="Times New Roman" pitchFamily="18" charset="0"/>
              </a:rPr>
              <a:t>Recoverable</a:t>
            </a:r>
          </a:p>
          <a:p>
            <a:pPr marL="920750" indent="-457200" fontAlgn="base">
              <a:buFont typeface="+mj-lt"/>
              <a:buAutoNum type="arabicPeriod"/>
            </a:pPr>
            <a:r>
              <a:rPr lang="en-US" sz="2400" dirty="0">
                <a:solidFill>
                  <a:srgbClr val="002060"/>
                </a:solidFill>
                <a:latin typeface="Times New Roman" pitchFamily="18" charset="0"/>
                <a:cs typeface="Times New Roman" pitchFamily="18" charset="0"/>
              </a:rPr>
              <a:t>Cascadeless</a:t>
            </a:r>
          </a:p>
          <a:p>
            <a:pPr marL="920750" indent="-457200" fontAlgn="base">
              <a:buFont typeface="+mj-lt"/>
              <a:buAutoNum type="arabicPeriod"/>
            </a:pPr>
            <a:r>
              <a:rPr lang="en-US" sz="2400" dirty="0">
                <a:solidFill>
                  <a:srgbClr val="002060"/>
                </a:solidFill>
                <a:latin typeface="Times New Roman" pitchFamily="18" charset="0"/>
                <a:cs typeface="Times New Roman" pitchFamily="18" charset="0"/>
              </a:rPr>
              <a:t>Strict</a:t>
            </a:r>
          </a:p>
          <a:p>
            <a:pPr algn="just" fontAlgn="base">
              <a:lnSpc>
                <a:spcPct val="150000"/>
              </a:lnSpc>
              <a:buClr>
                <a:srgbClr val="FF0000"/>
              </a:buClr>
              <a:buFont typeface="Wingdings" pitchFamily="2" charset="2"/>
              <a:buChar char="v"/>
            </a:pPr>
            <a:endParaRPr lang="en-US" sz="2400" dirty="0">
              <a:solidFill>
                <a:srgbClr val="002060"/>
              </a:solidFill>
              <a:latin typeface="Times New Roman" pitchFamily="18" charset="0"/>
              <a:cs typeface="Times New Roman" pitchFamily="18"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002060"/>
              </a:solidFill>
              <a:latin typeface="Times New Roman" pitchFamily="18" charset="0"/>
              <a:cs typeface="Times New Roman" pitchFamily="18" charset="0"/>
            </a:endParaRPr>
          </a:p>
        </p:txBody>
      </p:sp>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sz="3600" b="1" dirty="0">
                <a:solidFill>
                  <a:srgbClr val="FF0000"/>
                </a:solidFill>
                <a:latin typeface="Times New Roman" pitchFamily="18" charset="0"/>
                <a:cs typeface="Times New Roman" pitchFamily="18" charset="0"/>
              </a:rPr>
              <a:t>NON SERIAL SCHEDULES</a:t>
            </a:r>
          </a:p>
        </p:txBody>
      </p:sp>
      <p:sp>
        <p:nvSpPr>
          <p:cNvPr id="3" name="Content Placeholder 2"/>
          <p:cNvSpPr>
            <a:spLocks noGrp="1"/>
          </p:cNvSpPr>
          <p:nvPr>
            <p:ph idx="1"/>
          </p:nvPr>
        </p:nvSpPr>
        <p:spPr>
          <a:xfrm>
            <a:off x="0" y="685800"/>
            <a:ext cx="9144000" cy="6172200"/>
          </a:xfrm>
        </p:spPr>
        <p:txBody>
          <a:bodyPr>
            <a:normAutofit/>
          </a:bodyPr>
          <a:lstStyle/>
          <a:p>
            <a:pPr algn="just" fontAlgn="base">
              <a:lnSpc>
                <a:spcPct val="150000"/>
              </a:lnSpc>
              <a:buClr>
                <a:srgbClr val="FF0000"/>
              </a:buClr>
              <a:buFont typeface="Wingdings" pitchFamily="2" charset="2"/>
              <a:buChar char="v"/>
            </a:pPr>
            <a:endParaRPr lang="en-US" sz="2400" dirty="0">
              <a:solidFill>
                <a:srgbClr val="002060"/>
              </a:solidFill>
              <a:latin typeface="Times New Roman" pitchFamily="18" charset="0"/>
              <a:cs typeface="Times New Roman" pitchFamily="18"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002060"/>
              </a:solidFill>
              <a:latin typeface="Times New Roman" pitchFamily="18" charset="0"/>
              <a:cs typeface="Times New Roman" pitchFamily="18" charset="0"/>
            </a:endParaRPr>
          </a:p>
        </p:txBody>
      </p:sp>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pic>
        <p:nvPicPr>
          <p:cNvPr id="162818" name="Picture 2" descr="G:\VTU NOTES\2018-19 SUMMER SEMESTER\DBMS 2018-19 SUMMER\DBMS UNIT IV\New folder\images\Non-Serial-Schedules-Example-01.png"/>
          <p:cNvPicPr>
            <a:picLocks noChangeAspect="1" noChangeArrowheads="1"/>
          </p:cNvPicPr>
          <p:nvPr/>
        </p:nvPicPr>
        <p:blipFill>
          <a:blip r:embed="rId2">
            <a:lum bright="-20000" contrast="40000"/>
          </a:blip>
          <a:srcRect/>
          <a:stretch>
            <a:fillRect/>
          </a:stretch>
        </p:blipFill>
        <p:spPr bwMode="auto">
          <a:xfrm>
            <a:off x="1" y="762000"/>
            <a:ext cx="4038600" cy="4343400"/>
          </a:xfrm>
          <a:prstGeom prst="rect">
            <a:avLst/>
          </a:prstGeom>
          <a:noFill/>
          <a:ln w="12700">
            <a:solidFill>
              <a:schemeClr val="tx1"/>
            </a:solidFill>
          </a:ln>
        </p:spPr>
      </p:pic>
      <p:sp>
        <p:nvSpPr>
          <p:cNvPr id="7" name="Rectangle 6"/>
          <p:cNvSpPr/>
          <p:nvPr/>
        </p:nvSpPr>
        <p:spPr>
          <a:xfrm>
            <a:off x="4191000" y="762001"/>
            <a:ext cx="4724400" cy="550920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fontAlgn="base">
              <a:lnSpc>
                <a:spcPct val="200000"/>
              </a:lnSpc>
            </a:pPr>
            <a:r>
              <a:rPr lang="en-US" sz="2200" dirty="0">
                <a:solidFill>
                  <a:srgbClr val="002060"/>
                </a:solidFill>
                <a:latin typeface="Times New Roman" pitchFamily="18" charset="0"/>
                <a:cs typeface="Times New Roman" pitchFamily="18" charset="0"/>
              </a:rPr>
              <a:t>In this schedule,</a:t>
            </a:r>
          </a:p>
          <a:p>
            <a:pPr marL="344488" indent="-344488" algn="just" fontAlgn="base">
              <a:lnSpc>
                <a:spcPct val="20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There are two transactions </a:t>
            </a:r>
            <a:r>
              <a:rPr lang="en-US" sz="2200" dirty="0">
                <a:solidFill>
                  <a:srgbClr val="FF0000"/>
                </a:solidFill>
                <a:latin typeface="Times New Roman" pitchFamily="18" charset="0"/>
                <a:cs typeface="Times New Roman" pitchFamily="18" charset="0"/>
              </a:rPr>
              <a:t>T1 </a:t>
            </a:r>
            <a:r>
              <a:rPr lang="en-US" sz="2200" dirty="0">
                <a:solidFill>
                  <a:srgbClr val="002060"/>
                </a:solidFill>
                <a:latin typeface="Times New Roman" pitchFamily="18" charset="0"/>
                <a:cs typeface="Times New Roman" pitchFamily="18" charset="0"/>
              </a:rPr>
              <a:t>and</a:t>
            </a:r>
            <a:r>
              <a:rPr lang="en-US" sz="2200" dirty="0">
                <a:solidFill>
                  <a:srgbClr val="FF0000"/>
                </a:solidFill>
                <a:latin typeface="Times New Roman" pitchFamily="18" charset="0"/>
                <a:cs typeface="Times New Roman" pitchFamily="18" charset="0"/>
              </a:rPr>
              <a:t> T2 executing concurrently.</a:t>
            </a:r>
          </a:p>
          <a:p>
            <a:pPr marL="344488" indent="-344488" algn="just" fontAlgn="base">
              <a:lnSpc>
                <a:spcPct val="20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The operations of </a:t>
            </a:r>
            <a:r>
              <a:rPr lang="en-US" sz="2200" dirty="0">
                <a:solidFill>
                  <a:srgbClr val="FF0000"/>
                </a:solidFill>
                <a:latin typeface="Times New Roman" pitchFamily="18" charset="0"/>
                <a:cs typeface="Times New Roman" pitchFamily="18" charset="0"/>
              </a:rPr>
              <a:t>T1 </a:t>
            </a:r>
            <a:r>
              <a:rPr lang="en-US" sz="2200" dirty="0">
                <a:solidFill>
                  <a:srgbClr val="002060"/>
                </a:solidFill>
                <a:latin typeface="Times New Roman" pitchFamily="18" charset="0"/>
                <a:cs typeface="Times New Roman" pitchFamily="18" charset="0"/>
              </a:rPr>
              <a:t>and </a:t>
            </a:r>
            <a:r>
              <a:rPr lang="en-US" sz="2200" dirty="0">
                <a:solidFill>
                  <a:srgbClr val="FF0000"/>
                </a:solidFill>
                <a:latin typeface="Times New Roman" pitchFamily="18" charset="0"/>
                <a:cs typeface="Times New Roman" pitchFamily="18" charset="0"/>
              </a:rPr>
              <a:t>T2 </a:t>
            </a:r>
            <a:r>
              <a:rPr lang="en-US" sz="2200" dirty="0">
                <a:solidFill>
                  <a:srgbClr val="002060"/>
                </a:solidFill>
                <a:latin typeface="Times New Roman" pitchFamily="18" charset="0"/>
                <a:cs typeface="Times New Roman" pitchFamily="18" charset="0"/>
              </a:rPr>
              <a:t>are</a:t>
            </a:r>
            <a:r>
              <a:rPr lang="en-US" sz="2200" dirty="0">
                <a:solidFill>
                  <a:srgbClr val="FF0000"/>
                </a:solidFill>
                <a:latin typeface="Times New Roman" pitchFamily="18" charset="0"/>
                <a:cs typeface="Times New Roman" pitchFamily="18" charset="0"/>
              </a:rPr>
              <a:t> interleaved</a:t>
            </a:r>
            <a:r>
              <a:rPr lang="en-US" sz="2200" dirty="0">
                <a:solidFill>
                  <a:srgbClr val="002060"/>
                </a:solidFill>
                <a:latin typeface="Times New Roman" pitchFamily="18" charset="0"/>
                <a:cs typeface="Times New Roman" pitchFamily="18" charset="0"/>
              </a:rPr>
              <a:t>.</a:t>
            </a:r>
          </a:p>
          <a:p>
            <a:pPr marL="344488" indent="-344488" algn="just" fontAlgn="base">
              <a:lnSpc>
                <a:spcPct val="20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So, this schedule is an example of a </a:t>
            </a:r>
            <a:r>
              <a:rPr lang="en-US" sz="2200" b="1" dirty="0">
                <a:solidFill>
                  <a:srgbClr val="FF0000"/>
                </a:solidFill>
                <a:latin typeface="Times New Roman" pitchFamily="18" charset="0"/>
                <a:cs typeface="Times New Roman" pitchFamily="18" charset="0"/>
              </a:rPr>
              <a:t>Non-Serial Schedule</a:t>
            </a:r>
            <a:r>
              <a:rPr lang="en-US" sz="2200" dirty="0">
                <a:solidFill>
                  <a:srgbClr val="002060"/>
                </a:solidFill>
                <a:latin typeface="Times New Roman" pitchFamily="18" charset="0"/>
                <a:cs typeface="Times New Roman" pitchFamily="18" charset="0"/>
              </a:rPr>
              <a:t>.</a:t>
            </a:r>
          </a:p>
          <a:p>
            <a:pPr marL="344488" indent="-344488" algn="just" fontAlgn="base">
              <a:lnSpc>
                <a:spcPct val="200000"/>
              </a:lnSpc>
              <a:buClr>
                <a:srgbClr val="FF0000"/>
              </a:buClr>
              <a:buFont typeface="Wingdings" pitchFamily="2" charset="2"/>
              <a:buChar char="v"/>
            </a:pPr>
            <a:endParaRPr lang="en-US" sz="22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 calcmode="lin" valueType="num">
                                      <p:cBhvr additive="base">
                                        <p:cTn id="1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 calcmode="lin" valueType="num">
                                      <p:cBhvr additive="base">
                                        <p:cTn id="2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sz="3600" b="1" dirty="0">
                <a:solidFill>
                  <a:srgbClr val="FF0000"/>
                </a:solidFill>
                <a:latin typeface="Times New Roman" pitchFamily="18" charset="0"/>
                <a:cs typeface="Times New Roman" pitchFamily="18" charset="0"/>
              </a:rPr>
              <a:t>NON SERIAL SCHEDULES</a:t>
            </a:r>
          </a:p>
        </p:txBody>
      </p:sp>
      <p:sp>
        <p:nvSpPr>
          <p:cNvPr id="3" name="Content Placeholder 2"/>
          <p:cNvSpPr>
            <a:spLocks noGrp="1"/>
          </p:cNvSpPr>
          <p:nvPr>
            <p:ph idx="1"/>
          </p:nvPr>
        </p:nvSpPr>
        <p:spPr>
          <a:xfrm>
            <a:off x="0" y="685800"/>
            <a:ext cx="9144000" cy="6172200"/>
          </a:xfrm>
        </p:spPr>
        <p:txBody>
          <a:bodyPr>
            <a:normAutofit/>
          </a:bodyPr>
          <a:lstStyle/>
          <a:p>
            <a:pPr algn="just" fontAlgn="base">
              <a:lnSpc>
                <a:spcPct val="150000"/>
              </a:lnSpc>
              <a:buClr>
                <a:srgbClr val="FF0000"/>
              </a:buClr>
              <a:buFont typeface="Wingdings" pitchFamily="2" charset="2"/>
              <a:buChar char="v"/>
            </a:pPr>
            <a:endParaRPr lang="en-US" sz="2400" dirty="0">
              <a:solidFill>
                <a:srgbClr val="002060"/>
              </a:solidFill>
              <a:latin typeface="Times New Roman" pitchFamily="18" charset="0"/>
              <a:cs typeface="Times New Roman" pitchFamily="18"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002060"/>
              </a:solidFill>
              <a:latin typeface="Times New Roman" pitchFamily="18" charset="0"/>
              <a:cs typeface="Times New Roman" pitchFamily="18" charset="0"/>
            </a:endParaRPr>
          </a:p>
        </p:txBody>
      </p:sp>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pic>
        <p:nvPicPr>
          <p:cNvPr id="163842" name="Picture 2" descr="G:\VTU NOTES\2018-19 SUMMER SEMESTER\DBMS 2018-19 SUMMER\DBMS UNIT IV\New folder\images\Non-Serial-Schedules-Example-02.png"/>
          <p:cNvPicPr>
            <a:picLocks noChangeAspect="1" noChangeArrowheads="1"/>
          </p:cNvPicPr>
          <p:nvPr/>
        </p:nvPicPr>
        <p:blipFill>
          <a:blip r:embed="rId2">
            <a:lum bright="-20000" contrast="40000"/>
          </a:blip>
          <a:srcRect/>
          <a:stretch>
            <a:fillRect/>
          </a:stretch>
        </p:blipFill>
        <p:spPr bwMode="auto">
          <a:xfrm>
            <a:off x="1" y="685800"/>
            <a:ext cx="3886200" cy="4495800"/>
          </a:xfrm>
          <a:prstGeom prst="rect">
            <a:avLst/>
          </a:prstGeom>
          <a:noFill/>
          <a:ln w="12700">
            <a:solidFill>
              <a:schemeClr val="tx1"/>
            </a:solidFill>
          </a:ln>
        </p:spPr>
      </p:pic>
      <p:sp>
        <p:nvSpPr>
          <p:cNvPr id="8" name="Rectangle 7"/>
          <p:cNvSpPr/>
          <p:nvPr/>
        </p:nvSpPr>
        <p:spPr>
          <a:xfrm>
            <a:off x="4038600" y="685800"/>
            <a:ext cx="4876800" cy="483209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344488" indent="-344488" algn="just" fontAlgn="base">
              <a:lnSpc>
                <a:spcPct val="200000"/>
              </a:lnSpc>
              <a:buClr>
                <a:srgbClr val="FF0000"/>
              </a:buClr>
            </a:pPr>
            <a:r>
              <a:rPr lang="en-US" sz="2200" dirty="0">
                <a:solidFill>
                  <a:srgbClr val="002060"/>
                </a:solidFill>
                <a:latin typeface="Times New Roman" pitchFamily="18" charset="0"/>
                <a:cs typeface="Times New Roman" pitchFamily="18" charset="0"/>
              </a:rPr>
              <a:t>In this schedule,</a:t>
            </a:r>
          </a:p>
          <a:p>
            <a:pPr marL="344488" indent="-344488" algn="just" fontAlgn="base">
              <a:lnSpc>
                <a:spcPct val="20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There are two transactions </a:t>
            </a:r>
            <a:r>
              <a:rPr lang="en-US" sz="2200" dirty="0">
                <a:solidFill>
                  <a:srgbClr val="FF0000"/>
                </a:solidFill>
                <a:latin typeface="Times New Roman" pitchFamily="18" charset="0"/>
                <a:cs typeface="Times New Roman" pitchFamily="18" charset="0"/>
              </a:rPr>
              <a:t>T1</a:t>
            </a:r>
            <a:r>
              <a:rPr lang="en-US" sz="2200" dirty="0">
                <a:solidFill>
                  <a:srgbClr val="002060"/>
                </a:solidFill>
                <a:latin typeface="Times New Roman" pitchFamily="18" charset="0"/>
                <a:cs typeface="Times New Roman" pitchFamily="18" charset="0"/>
              </a:rPr>
              <a:t> and </a:t>
            </a:r>
            <a:r>
              <a:rPr lang="en-US" sz="2200" dirty="0">
                <a:solidFill>
                  <a:srgbClr val="FF0000"/>
                </a:solidFill>
                <a:latin typeface="Times New Roman" pitchFamily="18" charset="0"/>
                <a:cs typeface="Times New Roman" pitchFamily="18" charset="0"/>
              </a:rPr>
              <a:t>T2 executing concurrently.</a:t>
            </a:r>
          </a:p>
          <a:p>
            <a:pPr marL="344488" indent="-344488" algn="just" fontAlgn="base">
              <a:lnSpc>
                <a:spcPct val="20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The operations of </a:t>
            </a:r>
            <a:r>
              <a:rPr lang="en-US" sz="2200" dirty="0">
                <a:solidFill>
                  <a:srgbClr val="FF0000"/>
                </a:solidFill>
                <a:latin typeface="Times New Roman" pitchFamily="18" charset="0"/>
                <a:cs typeface="Times New Roman" pitchFamily="18" charset="0"/>
              </a:rPr>
              <a:t>T1 </a:t>
            </a:r>
            <a:r>
              <a:rPr lang="en-US" sz="2200" dirty="0">
                <a:solidFill>
                  <a:srgbClr val="002060"/>
                </a:solidFill>
                <a:latin typeface="Times New Roman" pitchFamily="18" charset="0"/>
                <a:cs typeface="Times New Roman" pitchFamily="18" charset="0"/>
              </a:rPr>
              <a:t>and </a:t>
            </a:r>
            <a:r>
              <a:rPr lang="en-US" sz="2200" dirty="0">
                <a:solidFill>
                  <a:srgbClr val="FF0000"/>
                </a:solidFill>
                <a:latin typeface="Times New Roman" pitchFamily="18" charset="0"/>
                <a:cs typeface="Times New Roman" pitchFamily="18" charset="0"/>
              </a:rPr>
              <a:t>T2 </a:t>
            </a:r>
            <a:r>
              <a:rPr lang="en-US" sz="2200" dirty="0">
                <a:solidFill>
                  <a:srgbClr val="002060"/>
                </a:solidFill>
                <a:latin typeface="Times New Roman" pitchFamily="18" charset="0"/>
                <a:cs typeface="Times New Roman" pitchFamily="18" charset="0"/>
              </a:rPr>
              <a:t>are</a:t>
            </a:r>
            <a:r>
              <a:rPr lang="en-US" sz="2200" dirty="0">
                <a:solidFill>
                  <a:srgbClr val="FF0000"/>
                </a:solidFill>
                <a:latin typeface="Times New Roman" pitchFamily="18" charset="0"/>
                <a:cs typeface="Times New Roman" pitchFamily="18" charset="0"/>
              </a:rPr>
              <a:t> interleaved.</a:t>
            </a:r>
          </a:p>
          <a:p>
            <a:pPr marL="344488" indent="-344488" algn="just" fontAlgn="base">
              <a:lnSpc>
                <a:spcPct val="20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So, this schedule is an example of a </a:t>
            </a:r>
            <a:r>
              <a:rPr lang="en-US" sz="2200" b="1" dirty="0">
                <a:solidFill>
                  <a:srgbClr val="FF0000"/>
                </a:solidFill>
                <a:latin typeface="Times New Roman" pitchFamily="18" charset="0"/>
                <a:cs typeface="Times New Roman" pitchFamily="18" charset="0"/>
              </a:rPr>
              <a:t>Non-Serial Schedule</a:t>
            </a:r>
            <a:r>
              <a:rPr lang="en-US" sz="2200" dirty="0">
                <a:solidFill>
                  <a:srgbClr val="FF0000"/>
                </a:solidFill>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 calcmode="lin" valueType="num">
                                      <p:cBhvr additive="base">
                                        <p:cTn id="1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 calcmode="lin" valueType="num">
                                      <p:cBhvr additive="base">
                                        <p:cTn id="2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sz="3600" b="1" dirty="0">
                <a:solidFill>
                  <a:srgbClr val="FF0000"/>
                </a:solidFill>
                <a:latin typeface="Times New Roman" pitchFamily="18" charset="0"/>
                <a:cs typeface="Times New Roman" pitchFamily="18" charset="0"/>
              </a:rPr>
              <a:t>SCHEDULES</a:t>
            </a:r>
          </a:p>
        </p:txBody>
      </p:sp>
      <p:sp>
        <p:nvSpPr>
          <p:cNvPr id="3" name="Content Placeholder 2"/>
          <p:cNvSpPr>
            <a:spLocks noGrp="1"/>
          </p:cNvSpPr>
          <p:nvPr>
            <p:ph idx="1"/>
          </p:nvPr>
        </p:nvSpPr>
        <p:spPr>
          <a:xfrm>
            <a:off x="0" y="685800"/>
            <a:ext cx="9144000" cy="6172200"/>
          </a:xfrm>
        </p:spPr>
        <p:txBody>
          <a:bodyPr>
            <a:normAutofit/>
          </a:bodyPr>
          <a:lstStyle/>
          <a:p>
            <a:pPr algn="just" fontAlgn="base">
              <a:lnSpc>
                <a:spcPct val="150000"/>
              </a:lnSpc>
              <a:buClr>
                <a:srgbClr val="FF0000"/>
              </a:buClr>
              <a:buFont typeface="Wingdings" pitchFamily="2" charset="2"/>
              <a:buChar char="v"/>
            </a:pPr>
            <a:endParaRPr lang="en-US" sz="2400" dirty="0">
              <a:solidFill>
                <a:srgbClr val="002060"/>
              </a:solidFill>
              <a:latin typeface="Times New Roman" pitchFamily="18" charset="0"/>
              <a:cs typeface="Times New Roman" pitchFamily="18"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002060"/>
              </a:solidFill>
              <a:latin typeface="Times New Roman" pitchFamily="18" charset="0"/>
              <a:cs typeface="Times New Roman" pitchFamily="18" charset="0"/>
            </a:endParaRPr>
          </a:p>
        </p:txBody>
      </p:sp>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pic>
        <p:nvPicPr>
          <p:cNvPr id="5" name="Picture 1" descr="G:\VTU NOTES\2018-19 SUMMER SEMESTER\DBMS 2018-19 SUMMER\DBMS UNIT IV\New folder\images\Types-of-Schedules-in-DBMS.png"/>
          <p:cNvPicPr>
            <a:picLocks noChangeAspect="1" noChangeArrowheads="1"/>
          </p:cNvPicPr>
          <p:nvPr/>
        </p:nvPicPr>
        <p:blipFill>
          <a:blip r:embed="rId2">
            <a:lum bright="-20000" contrast="40000"/>
          </a:blip>
          <a:srcRect/>
          <a:stretch>
            <a:fillRect/>
          </a:stretch>
        </p:blipFill>
        <p:spPr bwMode="auto">
          <a:xfrm>
            <a:off x="304800" y="838200"/>
            <a:ext cx="8534400" cy="5181600"/>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57400"/>
            <a:ext cx="9144000" cy="2209800"/>
          </a:xfrm>
        </p:spPr>
        <p:txBody>
          <a:bodyPr>
            <a:normAutofit/>
          </a:bodyPr>
          <a:lstStyle/>
          <a:p>
            <a:r>
              <a:rPr lang="en-US" sz="6000" b="1" dirty="0">
                <a:solidFill>
                  <a:srgbClr val="FF0000"/>
                </a:solidFill>
                <a:latin typeface="Times New Roman" pitchFamily="18" charset="0"/>
                <a:cs typeface="Times New Roman" pitchFamily="18" charset="0"/>
              </a:rPr>
              <a:t>Serializability in DBMS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sz="3600" b="1" dirty="0">
                <a:solidFill>
                  <a:srgbClr val="FF0000"/>
                </a:solidFill>
                <a:latin typeface="Times New Roman" pitchFamily="18" charset="0"/>
                <a:cs typeface="Times New Roman" pitchFamily="18" charset="0"/>
              </a:rPr>
              <a:t>Serializability</a:t>
            </a:r>
          </a:p>
        </p:txBody>
      </p:sp>
      <p:sp>
        <p:nvSpPr>
          <p:cNvPr id="3" name="Content Placeholder 2"/>
          <p:cNvSpPr>
            <a:spLocks noGrp="1"/>
          </p:cNvSpPr>
          <p:nvPr>
            <p:ph idx="1"/>
          </p:nvPr>
        </p:nvSpPr>
        <p:spPr>
          <a:xfrm>
            <a:off x="0" y="685800"/>
            <a:ext cx="9144000" cy="6172200"/>
          </a:xfrm>
        </p:spPr>
        <p:txBody>
          <a:bodyPr>
            <a:normAutofit/>
          </a:bodyPr>
          <a:lstStyle/>
          <a:p>
            <a:pPr marL="465138" indent="-465138" algn="just" fontAlgn="base">
              <a:lnSpc>
                <a:spcPct val="200000"/>
              </a:lnSpc>
              <a:spcBef>
                <a:spcPts val="0"/>
              </a:spcBef>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Some Non-Serial schedules may lead to </a:t>
            </a:r>
            <a:r>
              <a:rPr lang="en-US" sz="2400" dirty="0">
                <a:solidFill>
                  <a:srgbClr val="FF0000"/>
                </a:solidFill>
                <a:latin typeface="Times New Roman" pitchFamily="18" charset="0"/>
                <a:cs typeface="Times New Roman" pitchFamily="18" charset="0"/>
              </a:rPr>
              <a:t>inconsistency</a:t>
            </a:r>
            <a:r>
              <a:rPr lang="en-US" sz="2400" dirty="0">
                <a:solidFill>
                  <a:srgbClr val="002060"/>
                </a:solidFill>
                <a:latin typeface="Times New Roman" pitchFamily="18" charset="0"/>
                <a:cs typeface="Times New Roman" pitchFamily="18" charset="0"/>
              </a:rPr>
              <a:t> of the database.</a:t>
            </a:r>
          </a:p>
          <a:p>
            <a:pPr marL="465138" indent="-465138" algn="just" fontAlgn="base">
              <a:lnSpc>
                <a:spcPct val="200000"/>
              </a:lnSpc>
              <a:spcBef>
                <a:spcPts val="0"/>
              </a:spcBef>
              <a:buClr>
                <a:srgbClr val="FF0000"/>
              </a:buClr>
              <a:buFont typeface="Wingdings" pitchFamily="2" charset="2"/>
              <a:buChar char="v"/>
            </a:pPr>
            <a:r>
              <a:rPr lang="en-US" sz="2400" b="1" dirty="0">
                <a:solidFill>
                  <a:srgbClr val="002060"/>
                </a:solidFill>
                <a:latin typeface="Times New Roman" pitchFamily="18" charset="0"/>
                <a:cs typeface="Times New Roman" pitchFamily="18" charset="0"/>
              </a:rPr>
              <a:t>Serializability</a:t>
            </a:r>
            <a:r>
              <a:rPr lang="en-US" sz="2400" dirty="0">
                <a:solidFill>
                  <a:srgbClr val="002060"/>
                </a:solidFill>
                <a:latin typeface="Times New Roman" pitchFamily="18" charset="0"/>
                <a:cs typeface="Times New Roman" pitchFamily="18" charset="0"/>
              </a:rPr>
              <a:t> is a concept that helps to identify </a:t>
            </a:r>
            <a:r>
              <a:rPr lang="en-US" sz="2400" dirty="0">
                <a:solidFill>
                  <a:srgbClr val="FF0000"/>
                </a:solidFill>
                <a:latin typeface="Times New Roman" pitchFamily="18" charset="0"/>
                <a:cs typeface="Times New Roman" pitchFamily="18" charset="0"/>
              </a:rPr>
              <a:t>which Non-Serial schedules are correct</a:t>
            </a:r>
            <a:r>
              <a:rPr lang="en-US" sz="2400" dirty="0">
                <a:solidFill>
                  <a:srgbClr val="002060"/>
                </a:solidFill>
                <a:latin typeface="Times New Roman" pitchFamily="18" charset="0"/>
                <a:cs typeface="Times New Roman" pitchFamily="18" charset="0"/>
              </a:rPr>
              <a:t> and will </a:t>
            </a:r>
            <a:r>
              <a:rPr lang="en-US" sz="2400" dirty="0">
                <a:solidFill>
                  <a:srgbClr val="FF0000"/>
                </a:solidFill>
                <a:latin typeface="Times New Roman" pitchFamily="18" charset="0"/>
                <a:cs typeface="Times New Roman" pitchFamily="18" charset="0"/>
              </a:rPr>
              <a:t>maintain the consistency </a:t>
            </a:r>
            <a:r>
              <a:rPr lang="en-US" sz="2400" dirty="0">
                <a:solidFill>
                  <a:srgbClr val="002060"/>
                </a:solidFill>
                <a:latin typeface="Times New Roman" pitchFamily="18" charset="0"/>
                <a:cs typeface="Times New Roman" pitchFamily="18" charset="0"/>
              </a:rPr>
              <a:t>of the database.</a:t>
            </a: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002060"/>
              </a:solidFill>
              <a:latin typeface="Times New Roman" pitchFamily="18" charset="0"/>
              <a:cs typeface="Times New Roman" pitchFamily="18" charset="0"/>
            </a:endParaRPr>
          </a:p>
        </p:txBody>
      </p:sp>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Autofit/>
          </a:bodyPr>
          <a:lstStyle/>
          <a:p>
            <a:pPr fontAlgn="base">
              <a:lnSpc>
                <a:spcPct val="150000"/>
              </a:lnSpc>
            </a:pPr>
            <a:r>
              <a:rPr lang="en-US" sz="4000" b="1" dirty="0">
                <a:solidFill>
                  <a:srgbClr val="FF0000"/>
                </a:solidFill>
                <a:latin typeface="Maiandra GD" pitchFamily="34" charset="0"/>
                <a:cs typeface="Times New Roman" pitchFamily="18" charset="0"/>
              </a:rPr>
              <a:t>Serializable Schedules</a:t>
            </a:r>
          </a:p>
        </p:txBody>
      </p:sp>
      <p:sp>
        <p:nvSpPr>
          <p:cNvPr id="3" name="Content Placeholder 2"/>
          <p:cNvSpPr>
            <a:spLocks noGrp="1"/>
          </p:cNvSpPr>
          <p:nvPr>
            <p:ph idx="1"/>
          </p:nvPr>
        </p:nvSpPr>
        <p:spPr>
          <a:xfrm>
            <a:off x="0" y="838200"/>
            <a:ext cx="9144000" cy="5791200"/>
          </a:xfrm>
        </p:spPr>
        <p:txBody>
          <a:bodyPr>
            <a:normAutofit lnSpcReduction="10000"/>
          </a:bodyPr>
          <a:lstStyle/>
          <a:p>
            <a:pPr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Non-Serial schedule of </a:t>
            </a:r>
            <a:r>
              <a:rPr lang="en-US" sz="2400" b="1" dirty="0">
                <a:solidFill>
                  <a:srgbClr val="FF0000"/>
                </a:solidFill>
                <a:latin typeface="Times New Roman" pitchFamily="18" charset="0"/>
                <a:cs typeface="Times New Roman" pitchFamily="18" charset="0"/>
              </a:rPr>
              <a:t>‘n’ </a:t>
            </a:r>
            <a:r>
              <a:rPr lang="en-US" sz="2400" dirty="0">
                <a:solidFill>
                  <a:srgbClr val="002060"/>
                </a:solidFill>
                <a:latin typeface="Times New Roman" pitchFamily="18" charset="0"/>
                <a:cs typeface="Times New Roman" pitchFamily="18" charset="0"/>
              </a:rPr>
              <a:t>transactions is equivalent to some serial schedule of ‘n’ transactions, then it is called as a </a:t>
            </a:r>
            <a:r>
              <a:rPr lang="en-US" sz="2400" b="1" dirty="0">
                <a:solidFill>
                  <a:srgbClr val="FF0000"/>
                </a:solidFill>
                <a:latin typeface="Times New Roman" pitchFamily="18" charset="0"/>
                <a:cs typeface="Times New Roman" pitchFamily="18" charset="0"/>
              </a:rPr>
              <a:t>serializable schedule</a:t>
            </a:r>
            <a:r>
              <a:rPr lang="en-US" sz="2400" dirty="0">
                <a:solidFill>
                  <a:srgbClr val="FF0000"/>
                </a:solidFill>
                <a:latin typeface="Times New Roman" pitchFamily="18" charset="0"/>
                <a:cs typeface="Times New Roman" pitchFamily="18" charset="0"/>
              </a:rPr>
              <a:t>.</a:t>
            </a:r>
          </a:p>
          <a:p>
            <a:pPr fontAlgn="base">
              <a:lnSpc>
                <a:spcPct val="150000"/>
              </a:lnSpc>
              <a:buNone/>
            </a:pPr>
            <a:r>
              <a:rPr lang="en-US" sz="2400" b="1" u="sng" dirty="0">
                <a:solidFill>
                  <a:srgbClr val="FF0000"/>
                </a:solidFill>
                <a:latin typeface="Maiandra GD" pitchFamily="34" charset="0"/>
                <a:cs typeface="Times New Roman" pitchFamily="18" charset="0"/>
              </a:rPr>
              <a:t>Characteristics-</a:t>
            </a:r>
            <a:endParaRPr lang="en-US" sz="2400" b="1" dirty="0">
              <a:solidFill>
                <a:srgbClr val="FF0000"/>
              </a:solidFill>
              <a:latin typeface="Maiandra GD" pitchFamily="34" charset="0"/>
              <a:cs typeface="Times New Roman" pitchFamily="18" charset="0"/>
            </a:endParaRPr>
          </a:p>
          <a:p>
            <a:pPr fontAlgn="base">
              <a:lnSpc>
                <a:spcPct val="150000"/>
              </a:lnSpc>
              <a:buNone/>
            </a:pPr>
            <a:r>
              <a:rPr lang="en-US" sz="2400" dirty="0">
                <a:solidFill>
                  <a:srgbClr val="002060"/>
                </a:solidFill>
                <a:latin typeface="Times New Roman" pitchFamily="18" charset="0"/>
                <a:cs typeface="Times New Roman" pitchFamily="18" charset="0"/>
              </a:rPr>
              <a:t> Serializable schedules behave </a:t>
            </a:r>
            <a:r>
              <a:rPr lang="en-US" sz="2400" dirty="0">
                <a:solidFill>
                  <a:srgbClr val="FF0000"/>
                </a:solidFill>
                <a:latin typeface="Times New Roman" pitchFamily="18" charset="0"/>
                <a:cs typeface="Times New Roman" pitchFamily="18" charset="0"/>
              </a:rPr>
              <a:t>exactly same as </a:t>
            </a:r>
            <a:r>
              <a:rPr lang="en-US" sz="2400" dirty="0">
                <a:solidFill>
                  <a:srgbClr val="002060"/>
                </a:solidFill>
                <a:latin typeface="Times New Roman" pitchFamily="18" charset="0"/>
                <a:cs typeface="Times New Roman" pitchFamily="18" charset="0"/>
              </a:rPr>
              <a:t>serial schedules.</a:t>
            </a:r>
          </a:p>
          <a:p>
            <a:pPr fontAlgn="base">
              <a:lnSpc>
                <a:spcPct val="150000"/>
              </a:lnSpc>
              <a:buNone/>
            </a:pPr>
            <a:r>
              <a:rPr lang="en-US" sz="2400" dirty="0">
                <a:solidFill>
                  <a:srgbClr val="002060"/>
                </a:solidFill>
                <a:latin typeface="Times New Roman" pitchFamily="18" charset="0"/>
                <a:cs typeface="Times New Roman" pitchFamily="18" charset="0"/>
              </a:rPr>
              <a:t>Thus, serializable schedules are always-</a:t>
            </a:r>
          </a:p>
          <a:p>
            <a:pPr marL="1027113" indent="-457200" fontAlgn="base">
              <a:lnSpc>
                <a:spcPct val="150000"/>
              </a:lnSpc>
              <a:buFont typeface="+mj-lt"/>
              <a:buAutoNum type="arabicPeriod"/>
            </a:pPr>
            <a:r>
              <a:rPr lang="en-US" sz="2400" b="1" dirty="0">
                <a:solidFill>
                  <a:srgbClr val="002060"/>
                </a:solidFill>
                <a:latin typeface="Times New Roman" pitchFamily="18" charset="0"/>
                <a:cs typeface="Times New Roman" pitchFamily="18" charset="0"/>
              </a:rPr>
              <a:t>Consistent</a:t>
            </a:r>
          </a:p>
          <a:p>
            <a:pPr marL="1027113" indent="-457200" fontAlgn="base">
              <a:lnSpc>
                <a:spcPct val="150000"/>
              </a:lnSpc>
              <a:buFont typeface="+mj-lt"/>
              <a:buAutoNum type="arabicPeriod"/>
            </a:pPr>
            <a:r>
              <a:rPr lang="en-US" sz="2400" b="1" dirty="0">
                <a:solidFill>
                  <a:srgbClr val="002060"/>
                </a:solidFill>
                <a:latin typeface="Times New Roman" pitchFamily="18" charset="0"/>
                <a:cs typeface="Times New Roman" pitchFamily="18" charset="0"/>
              </a:rPr>
              <a:t>Recoverable</a:t>
            </a:r>
          </a:p>
          <a:p>
            <a:pPr marL="1027113" indent="-457200" fontAlgn="base">
              <a:lnSpc>
                <a:spcPct val="150000"/>
              </a:lnSpc>
              <a:buFont typeface="+mj-lt"/>
              <a:buAutoNum type="arabicPeriod"/>
            </a:pPr>
            <a:r>
              <a:rPr lang="en-US" sz="2400" b="1" dirty="0">
                <a:solidFill>
                  <a:srgbClr val="002060"/>
                </a:solidFill>
                <a:latin typeface="Times New Roman" pitchFamily="18" charset="0"/>
                <a:cs typeface="Times New Roman" pitchFamily="18" charset="0"/>
              </a:rPr>
              <a:t>Cascadeless</a:t>
            </a:r>
          </a:p>
          <a:p>
            <a:pPr marL="1027113" indent="-457200" fontAlgn="base">
              <a:lnSpc>
                <a:spcPct val="150000"/>
              </a:lnSpc>
              <a:buFont typeface="+mj-lt"/>
              <a:buAutoNum type="arabicPeriod"/>
            </a:pPr>
            <a:r>
              <a:rPr lang="en-US" sz="2400" b="1" dirty="0">
                <a:solidFill>
                  <a:srgbClr val="002060"/>
                </a:solidFill>
                <a:latin typeface="Times New Roman" pitchFamily="18" charset="0"/>
                <a:cs typeface="Times New Roman" pitchFamily="18" charset="0"/>
              </a:rPr>
              <a:t>Strict</a:t>
            </a: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002060"/>
              </a:solidFill>
              <a:latin typeface="Times New Roman" pitchFamily="18" charset="0"/>
              <a:cs typeface="Times New Roman" pitchFamily="18" charset="0"/>
            </a:endParaRPr>
          </a:p>
        </p:txBody>
      </p:sp>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a:ln w="12700">
            <a:solidFill>
              <a:schemeClr val="tx1"/>
            </a:solidFill>
          </a:ln>
        </p:spPr>
        <p:txBody>
          <a:bodyPr>
            <a:noAutofit/>
          </a:bodyPr>
          <a:lstStyle/>
          <a:p>
            <a:pPr fontAlgn="base"/>
            <a:r>
              <a:rPr lang="en-US" sz="3600" b="1" dirty="0">
                <a:solidFill>
                  <a:srgbClr val="FF0000"/>
                </a:solidFill>
                <a:latin typeface="Maiandra GD" pitchFamily="34" charset="0"/>
              </a:rPr>
              <a:t>Serial Schedules </a:t>
            </a:r>
            <a:r>
              <a:rPr lang="en-US" sz="3600" b="1" dirty="0">
                <a:solidFill>
                  <a:srgbClr val="002060"/>
                </a:solidFill>
                <a:latin typeface="Maiandra GD" pitchFamily="34" charset="0"/>
              </a:rPr>
              <a:t>Vs</a:t>
            </a:r>
            <a:r>
              <a:rPr lang="en-US" sz="3600" b="1" dirty="0">
                <a:solidFill>
                  <a:srgbClr val="FF0000"/>
                </a:solidFill>
                <a:latin typeface="Maiandra GD" pitchFamily="34" charset="0"/>
              </a:rPr>
              <a:t> Serializable Schedules</a:t>
            </a:r>
          </a:p>
        </p:txBody>
      </p:sp>
      <p:sp>
        <p:nvSpPr>
          <p:cNvPr id="3" name="Content Placeholder 2"/>
          <p:cNvSpPr>
            <a:spLocks noGrp="1"/>
          </p:cNvSpPr>
          <p:nvPr>
            <p:ph idx="1"/>
          </p:nvPr>
        </p:nvSpPr>
        <p:spPr>
          <a:xfrm>
            <a:off x="0" y="838200"/>
            <a:ext cx="9144000" cy="5791200"/>
          </a:xfrm>
        </p:spPr>
        <p:txBody>
          <a:bodyPr>
            <a:normAutofit/>
          </a:bodyPr>
          <a:lstStyle/>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002060"/>
              </a:solidFill>
              <a:latin typeface="Times New Roman" pitchFamily="18" charset="0"/>
              <a:cs typeface="Times New Roman" pitchFamily="18" charset="0"/>
            </a:endParaRPr>
          </a:p>
        </p:txBody>
      </p:sp>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pic>
        <p:nvPicPr>
          <p:cNvPr id="164866" name="Picture 2"/>
          <p:cNvPicPr>
            <a:picLocks noChangeAspect="1" noChangeArrowheads="1"/>
          </p:cNvPicPr>
          <p:nvPr/>
        </p:nvPicPr>
        <p:blipFill>
          <a:blip r:embed="rId2">
            <a:lum bright="-30000" contrast="40000"/>
          </a:blip>
          <a:srcRect/>
          <a:stretch>
            <a:fillRect/>
          </a:stretch>
        </p:blipFill>
        <p:spPr bwMode="auto">
          <a:xfrm>
            <a:off x="609600" y="838200"/>
            <a:ext cx="7467600" cy="4976812"/>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Autofit/>
          </a:bodyPr>
          <a:lstStyle/>
          <a:p>
            <a:pPr fontAlgn="base">
              <a:lnSpc>
                <a:spcPct val="150000"/>
              </a:lnSpc>
            </a:pPr>
            <a:r>
              <a:rPr lang="en-US" sz="4000" b="1" dirty="0">
                <a:solidFill>
                  <a:srgbClr val="FF0000"/>
                </a:solidFill>
                <a:latin typeface="Maiandra GD" pitchFamily="34" charset="0"/>
                <a:cs typeface="Times New Roman" pitchFamily="18" charset="0"/>
              </a:rPr>
              <a:t>Types Serializability</a:t>
            </a:r>
          </a:p>
        </p:txBody>
      </p:sp>
      <p:sp>
        <p:nvSpPr>
          <p:cNvPr id="3" name="Content Placeholder 2"/>
          <p:cNvSpPr>
            <a:spLocks noGrp="1"/>
          </p:cNvSpPr>
          <p:nvPr>
            <p:ph idx="1"/>
          </p:nvPr>
        </p:nvSpPr>
        <p:spPr>
          <a:xfrm>
            <a:off x="0" y="838200"/>
            <a:ext cx="9144000" cy="5791200"/>
          </a:xfrm>
        </p:spPr>
        <p:txBody>
          <a:bodyPr>
            <a:normAutofit/>
          </a:bodyPr>
          <a:lstStyle/>
          <a:p>
            <a:pPr marL="0" indent="0" algn="just">
              <a:lnSpc>
                <a:spcPct val="150000"/>
              </a:lnSpc>
              <a:buNone/>
            </a:pPr>
            <a:r>
              <a:rPr lang="en-US" sz="2400" b="1" dirty="0">
                <a:solidFill>
                  <a:srgbClr val="FF0000"/>
                </a:solidFill>
                <a:latin typeface="Maiandra GD" pitchFamily="34" charset="0"/>
              </a:rPr>
              <a:t>Serializability is mainly of two types-</a:t>
            </a: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002060"/>
              </a:solidFill>
              <a:latin typeface="Times New Roman" pitchFamily="18" charset="0"/>
              <a:cs typeface="Times New Roman" pitchFamily="18" charset="0"/>
            </a:endParaRPr>
          </a:p>
        </p:txBody>
      </p:sp>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pic>
        <p:nvPicPr>
          <p:cNvPr id="165890" name="Picture 2" descr="G:\VTU NOTES\2018-19 SUMMER SEMESTER\DBMS 2018-19 SUMMER\DBMS UNIT IV\New folder\images\Types-of-Serializability.png"/>
          <p:cNvPicPr>
            <a:picLocks noChangeAspect="1" noChangeArrowheads="1"/>
          </p:cNvPicPr>
          <p:nvPr/>
        </p:nvPicPr>
        <p:blipFill>
          <a:blip r:embed="rId2">
            <a:lum bright="-20000" contrast="40000"/>
          </a:blip>
          <a:srcRect/>
          <a:stretch>
            <a:fillRect/>
          </a:stretch>
        </p:blipFill>
        <p:spPr bwMode="auto">
          <a:xfrm>
            <a:off x="1143000" y="1905000"/>
            <a:ext cx="6705600" cy="213360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752600"/>
            <a:ext cx="9144000" cy="2590800"/>
          </a:xfrm>
        </p:spPr>
        <p:txBody>
          <a:bodyPr>
            <a:noAutofit/>
          </a:bodyPr>
          <a:lstStyle/>
          <a:p>
            <a:pPr fontAlgn="base">
              <a:lnSpc>
                <a:spcPct val="150000"/>
              </a:lnSpc>
            </a:pPr>
            <a:r>
              <a:rPr lang="en-US" sz="6600" b="1" dirty="0">
                <a:solidFill>
                  <a:srgbClr val="FF0000"/>
                </a:solidFill>
                <a:latin typeface="Maiandra GD" pitchFamily="34" charset="0"/>
                <a:cs typeface="Times New Roman" pitchFamily="18" charset="0"/>
              </a:rPr>
              <a:t>Conflict Serializability</a:t>
            </a:r>
          </a:p>
        </p:txBody>
      </p:sp>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Autofit/>
          </a:bodyPr>
          <a:lstStyle/>
          <a:p>
            <a:pPr marL="0" indent="0">
              <a:lnSpc>
                <a:spcPct val="150000"/>
              </a:lnSpc>
            </a:pPr>
            <a:r>
              <a:rPr lang="en-US" sz="4000" b="1" dirty="0">
                <a:solidFill>
                  <a:srgbClr val="FF0000"/>
                </a:solidFill>
                <a:latin typeface="Maiandra GD" pitchFamily="34" charset="0"/>
              </a:rPr>
              <a:t>Conflict Serializability</a:t>
            </a:r>
          </a:p>
        </p:txBody>
      </p:sp>
      <p:sp>
        <p:nvSpPr>
          <p:cNvPr id="3" name="Content Placeholder 2"/>
          <p:cNvSpPr>
            <a:spLocks noGrp="1"/>
          </p:cNvSpPr>
          <p:nvPr>
            <p:ph idx="1"/>
          </p:nvPr>
        </p:nvSpPr>
        <p:spPr>
          <a:xfrm>
            <a:off x="228600" y="838200"/>
            <a:ext cx="8686800" cy="4267200"/>
          </a:xfrm>
        </p:spPr>
        <p:txBody>
          <a:bodyPr>
            <a:normAutofit/>
          </a:bodyPr>
          <a:lstStyle/>
          <a:p>
            <a:pPr marL="344488" indent="-344488" algn="just">
              <a:lnSpc>
                <a:spcPct val="150000"/>
              </a:lnSpc>
              <a:buClr>
                <a:srgbClr val="FF0000"/>
              </a:buClr>
              <a:buFont typeface="Wingdings" pitchFamily="2" charset="2"/>
              <a:buChar char="v"/>
            </a:pPr>
            <a:r>
              <a:rPr lang="en-US" sz="2800" b="1" u="sng" dirty="0">
                <a:solidFill>
                  <a:srgbClr val="FF0000"/>
                </a:solidFill>
                <a:latin typeface="Times New Roman" pitchFamily="18" charset="0"/>
                <a:cs typeface="Times New Roman" pitchFamily="18" charset="0"/>
              </a:rPr>
              <a:t>Definition:</a:t>
            </a:r>
          </a:p>
          <a:p>
            <a:pPr marL="344488" indent="-344488" algn="just">
              <a:lnSpc>
                <a:spcPct val="150000"/>
              </a:lnSpc>
              <a:buClr>
                <a:srgbClr val="FF0000"/>
              </a:buClr>
              <a:buNone/>
            </a:pPr>
            <a:r>
              <a:rPr lang="en-US" sz="2800" dirty="0">
                <a:solidFill>
                  <a:srgbClr val="002060"/>
                </a:solidFill>
                <a:latin typeface="Times New Roman" pitchFamily="18" charset="0"/>
                <a:cs typeface="Times New Roman" pitchFamily="18" charset="0"/>
              </a:rPr>
              <a:t>	If a given Non-Serial schedule can be converted into a serial schedule by </a:t>
            </a:r>
            <a:r>
              <a:rPr lang="en-US" sz="2800" b="1" dirty="0">
                <a:solidFill>
                  <a:srgbClr val="FF0000"/>
                </a:solidFill>
                <a:latin typeface="Times New Roman" pitchFamily="18" charset="0"/>
                <a:cs typeface="Times New Roman" pitchFamily="18" charset="0"/>
              </a:rPr>
              <a:t>swapping</a:t>
            </a:r>
            <a:r>
              <a:rPr lang="en-US" sz="2800" dirty="0">
                <a:solidFill>
                  <a:srgbClr val="002060"/>
                </a:solidFill>
                <a:latin typeface="Times New Roman" pitchFamily="18" charset="0"/>
                <a:cs typeface="Times New Roman" pitchFamily="18" charset="0"/>
              </a:rPr>
              <a:t> its Non-Conflicting operations, then it is called as a </a:t>
            </a:r>
            <a:r>
              <a:rPr lang="en-US" sz="2800" b="1" dirty="0">
                <a:solidFill>
                  <a:srgbClr val="FF0000"/>
                </a:solidFill>
                <a:latin typeface="Times New Roman" pitchFamily="18" charset="0"/>
                <a:cs typeface="Times New Roman" pitchFamily="18" charset="0"/>
              </a:rPr>
              <a:t>Conflict Serializable Schedule</a:t>
            </a:r>
            <a:r>
              <a:rPr lang="en-US" sz="2800" dirty="0">
                <a:solidFill>
                  <a:srgbClr val="002060"/>
                </a:solidFill>
                <a:latin typeface="Times New Roman" pitchFamily="18" charset="0"/>
                <a:cs typeface="Times New Roman" pitchFamily="18" charset="0"/>
              </a:rPr>
              <a:t>.</a:t>
            </a: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002060"/>
              </a:solidFill>
              <a:latin typeface="Times New Roman" pitchFamily="18" charset="0"/>
              <a:cs typeface="Times New Roman" pitchFamily="18" charset="0"/>
            </a:endParaRPr>
          </a:p>
        </p:txBody>
      </p:sp>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Autofit/>
          </a:bodyPr>
          <a:lstStyle/>
          <a:p>
            <a:pPr fontAlgn="base">
              <a:lnSpc>
                <a:spcPct val="150000"/>
              </a:lnSpc>
            </a:pPr>
            <a:r>
              <a:rPr lang="en-US" sz="4000" b="1" dirty="0">
                <a:solidFill>
                  <a:srgbClr val="FF0000"/>
                </a:solidFill>
                <a:latin typeface="Maiandra GD" pitchFamily="34" charset="0"/>
              </a:rPr>
              <a:t>Conflict Serializability</a:t>
            </a:r>
            <a:endParaRPr lang="en-US" sz="4000" b="1" dirty="0">
              <a:solidFill>
                <a:srgbClr val="FF0000"/>
              </a:solidFill>
              <a:latin typeface="Maiandra GD" pitchFamily="34" charset="0"/>
              <a:cs typeface="Times New Roman" pitchFamily="18" charset="0"/>
            </a:endParaRPr>
          </a:p>
        </p:txBody>
      </p:sp>
      <p:sp>
        <p:nvSpPr>
          <p:cNvPr id="3" name="Content Placeholder 2"/>
          <p:cNvSpPr>
            <a:spLocks noGrp="1"/>
          </p:cNvSpPr>
          <p:nvPr>
            <p:ph idx="1"/>
          </p:nvPr>
        </p:nvSpPr>
        <p:spPr>
          <a:xfrm>
            <a:off x="0" y="838200"/>
            <a:ext cx="9144000" cy="5791200"/>
          </a:xfrm>
        </p:spPr>
        <p:txBody>
          <a:bodyPr>
            <a:normAutofit/>
          </a:bodyPr>
          <a:lstStyle/>
          <a:p>
            <a:pPr marL="0" indent="0" algn="just">
              <a:lnSpc>
                <a:spcPct val="150000"/>
              </a:lnSpc>
              <a:buNone/>
            </a:pPr>
            <a:r>
              <a:rPr lang="en-US" sz="2400" b="1" u="sng" dirty="0">
                <a:solidFill>
                  <a:srgbClr val="FF0000"/>
                </a:solidFill>
                <a:latin typeface="Maiandra GD" pitchFamily="34" charset="0"/>
              </a:rPr>
              <a:t>Conflict Operations:</a:t>
            </a:r>
          </a:p>
          <a:p>
            <a:pPr marL="344488" indent="-344488" algn="just">
              <a:lnSpc>
                <a:spcPct val="150000"/>
              </a:lnSpc>
              <a:buClr>
                <a:srgbClr val="FF0000"/>
              </a:buClr>
              <a:buNone/>
            </a:pPr>
            <a:r>
              <a:rPr lang="en-US" sz="2400" dirty="0">
                <a:solidFill>
                  <a:srgbClr val="002060"/>
                </a:solidFill>
                <a:latin typeface="Times New Roman" pitchFamily="18" charset="0"/>
                <a:cs typeface="Times New Roman" pitchFamily="18" charset="0"/>
              </a:rPr>
              <a:t>Two operations are called as </a:t>
            </a:r>
            <a:r>
              <a:rPr lang="en-US" sz="2400" dirty="0">
                <a:solidFill>
                  <a:srgbClr val="FF0000"/>
                </a:solidFill>
                <a:latin typeface="Times New Roman" pitchFamily="18" charset="0"/>
                <a:cs typeface="Times New Roman" pitchFamily="18" charset="0"/>
              </a:rPr>
              <a:t>conflicting operations</a:t>
            </a:r>
            <a:r>
              <a:rPr lang="en-US" sz="2400" dirty="0">
                <a:solidFill>
                  <a:srgbClr val="002060"/>
                </a:solidFill>
                <a:latin typeface="Times New Roman" pitchFamily="18" charset="0"/>
                <a:cs typeface="Times New Roman" pitchFamily="18" charset="0"/>
              </a:rPr>
              <a:t> if all the following</a:t>
            </a:r>
          </a:p>
          <a:p>
            <a:pPr marL="344488" indent="-344488" algn="just">
              <a:lnSpc>
                <a:spcPct val="150000"/>
              </a:lnSpc>
              <a:buClr>
                <a:srgbClr val="FF0000"/>
              </a:buClr>
              <a:buNone/>
            </a:pPr>
            <a:r>
              <a:rPr lang="en-US" sz="2400" dirty="0">
                <a:solidFill>
                  <a:srgbClr val="002060"/>
                </a:solidFill>
                <a:latin typeface="Times New Roman" pitchFamily="18" charset="0"/>
                <a:cs typeface="Times New Roman" pitchFamily="18" charset="0"/>
              </a:rPr>
              <a:t>conditions hold true for them-</a:t>
            </a:r>
          </a:p>
          <a:p>
            <a:pPr marL="914400" indent="-449263" algn="just">
              <a:lnSpc>
                <a:spcPct val="150000"/>
              </a:lnSpc>
              <a:buClr>
                <a:srgbClr val="FF0000"/>
              </a:buClr>
              <a:buFont typeface="+mj-lt"/>
              <a:buAutoNum type="arabicPeriod"/>
            </a:pPr>
            <a:r>
              <a:rPr lang="en-US" sz="2400" b="1" dirty="0">
                <a:solidFill>
                  <a:srgbClr val="002060"/>
                </a:solidFill>
                <a:latin typeface="Times New Roman" pitchFamily="18" charset="0"/>
                <a:cs typeface="Times New Roman" pitchFamily="18" charset="0"/>
              </a:rPr>
              <a:t>Both the operations belong to </a:t>
            </a:r>
            <a:r>
              <a:rPr lang="en-US" sz="2400" b="1" dirty="0">
                <a:solidFill>
                  <a:srgbClr val="FF0000"/>
                </a:solidFill>
                <a:latin typeface="Times New Roman" pitchFamily="18" charset="0"/>
                <a:cs typeface="Times New Roman" pitchFamily="18" charset="0"/>
              </a:rPr>
              <a:t>different transactions.</a:t>
            </a:r>
          </a:p>
          <a:p>
            <a:pPr marL="914400" indent="-449263" algn="just">
              <a:lnSpc>
                <a:spcPct val="150000"/>
              </a:lnSpc>
              <a:buClr>
                <a:srgbClr val="FF0000"/>
              </a:buClr>
              <a:buFont typeface="+mj-lt"/>
              <a:buAutoNum type="arabicPeriod"/>
            </a:pPr>
            <a:r>
              <a:rPr lang="en-US" sz="2400" b="1" dirty="0">
                <a:solidFill>
                  <a:srgbClr val="002060"/>
                </a:solidFill>
                <a:latin typeface="Times New Roman" pitchFamily="18" charset="0"/>
                <a:cs typeface="Times New Roman" pitchFamily="18" charset="0"/>
              </a:rPr>
              <a:t>Both the operations are on the </a:t>
            </a:r>
            <a:r>
              <a:rPr lang="en-US" sz="2400" b="1" dirty="0">
                <a:solidFill>
                  <a:srgbClr val="FF0000"/>
                </a:solidFill>
                <a:latin typeface="Times New Roman" pitchFamily="18" charset="0"/>
                <a:cs typeface="Times New Roman" pitchFamily="18" charset="0"/>
              </a:rPr>
              <a:t>same data item.</a:t>
            </a:r>
          </a:p>
          <a:p>
            <a:pPr marL="914400" indent="-449263" algn="just">
              <a:lnSpc>
                <a:spcPct val="150000"/>
              </a:lnSpc>
              <a:buClr>
                <a:srgbClr val="FF0000"/>
              </a:buClr>
              <a:buFont typeface="+mj-lt"/>
              <a:buAutoNum type="arabicPeriod"/>
            </a:pPr>
            <a:r>
              <a:rPr lang="en-US" sz="2400" b="1" dirty="0">
                <a:solidFill>
                  <a:srgbClr val="002060"/>
                </a:solidFill>
                <a:latin typeface="Times New Roman" pitchFamily="18" charset="0"/>
                <a:cs typeface="Times New Roman" pitchFamily="18" charset="0"/>
              </a:rPr>
              <a:t>At least </a:t>
            </a:r>
            <a:r>
              <a:rPr lang="en-US" sz="2400" b="1" dirty="0">
                <a:solidFill>
                  <a:srgbClr val="FF0000"/>
                </a:solidFill>
                <a:latin typeface="Times New Roman" pitchFamily="18" charset="0"/>
                <a:cs typeface="Times New Roman" pitchFamily="18" charset="0"/>
              </a:rPr>
              <a:t>one of th</a:t>
            </a:r>
            <a:r>
              <a:rPr lang="en-US" sz="2400" b="1" dirty="0">
                <a:solidFill>
                  <a:srgbClr val="002060"/>
                </a:solidFill>
                <a:latin typeface="Times New Roman" pitchFamily="18" charset="0"/>
                <a:cs typeface="Times New Roman" pitchFamily="18" charset="0"/>
              </a:rPr>
              <a:t>e two operations is a </a:t>
            </a:r>
            <a:r>
              <a:rPr lang="en-US" sz="2400" b="1" dirty="0">
                <a:solidFill>
                  <a:srgbClr val="FF0000"/>
                </a:solidFill>
                <a:latin typeface="Times New Roman" pitchFamily="18" charset="0"/>
                <a:cs typeface="Times New Roman" pitchFamily="18" charset="0"/>
              </a:rPr>
              <a:t>write operation.</a:t>
            </a: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002060"/>
              </a:solidFill>
              <a:latin typeface="Times New Roman" pitchFamily="18" charset="0"/>
              <a:cs typeface="Times New Roman" pitchFamily="18" charset="0"/>
            </a:endParaRPr>
          </a:p>
        </p:txBody>
      </p:sp>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Autofit/>
          </a:bodyPr>
          <a:lstStyle/>
          <a:p>
            <a:pPr fontAlgn="base">
              <a:lnSpc>
                <a:spcPct val="150000"/>
              </a:lnSpc>
            </a:pPr>
            <a:r>
              <a:rPr lang="en-US" sz="4000" b="1" dirty="0">
                <a:solidFill>
                  <a:srgbClr val="FF0000"/>
                </a:solidFill>
                <a:latin typeface="Maiandra GD" pitchFamily="34" charset="0"/>
              </a:rPr>
              <a:t>Conflict Serializability</a:t>
            </a:r>
            <a:endParaRPr lang="en-US" sz="4000" b="1" dirty="0">
              <a:solidFill>
                <a:srgbClr val="FF0000"/>
              </a:solidFill>
              <a:latin typeface="Maiandra GD" pitchFamily="34" charset="0"/>
              <a:cs typeface="Times New Roman" pitchFamily="18" charset="0"/>
            </a:endParaRPr>
          </a:p>
        </p:txBody>
      </p:sp>
      <p:sp>
        <p:nvSpPr>
          <p:cNvPr id="3" name="Content Placeholder 2"/>
          <p:cNvSpPr>
            <a:spLocks noGrp="1"/>
          </p:cNvSpPr>
          <p:nvPr>
            <p:ph idx="1"/>
          </p:nvPr>
        </p:nvSpPr>
        <p:spPr>
          <a:xfrm>
            <a:off x="0" y="838200"/>
            <a:ext cx="9144000" cy="5791200"/>
          </a:xfrm>
        </p:spPr>
        <p:txBody>
          <a:bodyPr>
            <a:normAutofit/>
          </a:bodyPr>
          <a:lstStyle/>
          <a:p>
            <a:pPr marL="0" indent="0" algn="just">
              <a:lnSpc>
                <a:spcPct val="150000"/>
              </a:lnSpc>
              <a:buNone/>
            </a:pPr>
            <a:r>
              <a:rPr lang="en-US" sz="2400" b="1" u="sng" dirty="0">
                <a:solidFill>
                  <a:srgbClr val="FF0000"/>
                </a:solidFill>
                <a:latin typeface="Maiandra GD" pitchFamily="34" charset="0"/>
              </a:rPr>
              <a:t>Conflict Operations:</a:t>
            </a: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FF0000"/>
              </a:solidFill>
              <a:latin typeface="Maiandra GD" pitchFamily="34" charset="0"/>
            </a:endParaRPr>
          </a:p>
          <a:p>
            <a:pPr marL="0" indent="0" algn="just">
              <a:lnSpc>
                <a:spcPct val="150000"/>
              </a:lnSpc>
              <a:buNone/>
            </a:pPr>
            <a:endParaRPr lang="en-US" sz="2400" b="1" dirty="0">
              <a:solidFill>
                <a:srgbClr val="002060"/>
              </a:solidFill>
              <a:latin typeface="Times New Roman" pitchFamily="18" charset="0"/>
              <a:cs typeface="Times New Roman" pitchFamily="18" charset="0"/>
            </a:endParaRPr>
          </a:p>
        </p:txBody>
      </p:sp>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pic>
        <p:nvPicPr>
          <p:cNvPr id="166914" name="Picture 2" descr="G:\VTU NOTES\2018-19 SUMMER SEMESTER\DBMS 2018-19 SUMMER\DBMS UNIT IV\New folder\images\Conflicting-Operations-in-DBMS.png"/>
          <p:cNvPicPr>
            <a:picLocks noChangeAspect="1" noChangeArrowheads="1"/>
          </p:cNvPicPr>
          <p:nvPr/>
        </p:nvPicPr>
        <p:blipFill>
          <a:blip r:embed="rId2">
            <a:lum bright="-20000" contrast="40000"/>
          </a:blip>
          <a:srcRect/>
          <a:stretch>
            <a:fillRect/>
          </a:stretch>
        </p:blipFill>
        <p:spPr bwMode="auto">
          <a:xfrm>
            <a:off x="304801" y="1447800"/>
            <a:ext cx="2971800" cy="2895600"/>
          </a:xfrm>
          <a:prstGeom prst="rect">
            <a:avLst/>
          </a:prstGeom>
          <a:noFill/>
        </p:spPr>
      </p:pic>
      <p:sp>
        <p:nvSpPr>
          <p:cNvPr id="7" name="Rectangle 6"/>
          <p:cNvSpPr/>
          <p:nvPr/>
        </p:nvSpPr>
        <p:spPr>
          <a:xfrm>
            <a:off x="3962400" y="1371600"/>
            <a:ext cx="5029200" cy="2631490"/>
          </a:xfrm>
          <a:prstGeom prst="rect">
            <a:avLst/>
          </a:prstGeom>
          <a:ln w="19050">
            <a:solidFill>
              <a:schemeClr val="tx1"/>
            </a:solidFill>
          </a:ln>
        </p:spPr>
        <p:txBody>
          <a:bodyPr wrap="square">
            <a:spAutoFit/>
          </a:bodyPr>
          <a:lstStyle/>
          <a:p>
            <a:pPr marL="344488" indent="-344488" algn="just" fontAlgn="base">
              <a:lnSpc>
                <a:spcPct val="150000"/>
              </a:lnSpc>
              <a:buClr>
                <a:srgbClr val="FF0000"/>
              </a:buClr>
            </a:pPr>
            <a:r>
              <a:rPr lang="en-US" sz="2200" dirty="0">
                <a:solidFill>
                  <a:srgbClr val="002060"/>
                </a:solidFill>
                <a:latin typeface="Times New Roman" pitchFamily="18" charset="0"/>
                <a:cs typeface="Times New Roman" pitchFamily="18" charset="0"/>
              </a:rPr>
              <a:t>In this schedule,</a:t>
            </a:r>
          </a:p>
          <a:p>
            <a:pPr marL="344488" indent="-344488" algn="just" fontAlgn="base">
              <a:lnSpc>
                <a:spcPct val="150000"/>
              </a:lnSpc>
              <a:buClr>
                <a:srgbClr val="FF0000"/>
              </a:buClr>
              <a:buFont typeface="Wingdings" pitchFamily="2" charset="2"/>
              <a:buChar char="v"/>
            </a:pPr>
            <a:r>
              <a:rPr lang="en-US" sz="2200" dirty="0">
                <a:solidFill>
                  <a:srgbClr val="FF0000"/>
                </a:solidFill>
                <a:latin typeface="Times New Roman" pitchFamily="18" charset="0"/>
                <a:cs typeface="Times New Roman" pitchFamily="18" charset="0"/>
              </a:rPr>
              <a:t>W1(A) </a:t>
            </a:r>
            <a:r>
              <a:rPr lang="en-US" sz="2200" dirty="0">
                <a:solidFill>
                  <a:srgbClr val="002060"/>
                </a:solidFill>
                <a:latin typeface="Times New Roman" pitchFamily="18" charset="0"/>
                <a:cs typeface="Times New Roman" pitchFamily="18" charset="0"/>
              </a:rPr>
              <a:t>and </a:t>
            </a:r>
            <a:r>
              <a:rPr lang="en-US" sz="2200" dirty="0">
                <a:solidFill>
                  <a:srgbClr val="FF0000"/>
                </a:solidFill>
                <a:latin typeface="Times New Roman" pitchFamily="18" charset="0"/>
                <a:cs typeface="Times New Roman" pitchFamily="18" charset="0"/>
              </a:rPr>
              <a:t>R2(A) </a:t>
            </a:r>
            <a:r>
              <a:rPr lang="en-US" sz="2200" dirty="0">
                <a:solidFill>
                  <a:srgbClr val="002060"/>
                </a:solidFill>
                <a:latin typeface="Times New Roman" pitchFamily="18" charset="0"/>
                <a:cs typeface="Times New Roman" pitchFamily="18" charset="0"/>
              </a:rPr>
              <a:t>are called as conflicting operations.</a:t>
            </a:r>
          </a:p>
          <a:p>
            <a:pPr marL="344488" indent="-344488" algn="just" fontAlgn="base">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This is because all the above conditions hold true for them.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sz="3600" b="1" dirty="0">
                <a:solidFill>
                  <a:srgbClr val="FF0000"/>
                </a:solidFill>
                <a:latin typeface="Times New Roman" pitchFamily="18" charset="0"/>
                <a:cs typeface="Times New Roman" pitchFamily="18" charset="0"/>
              </a:rPr>
              <a:t>TESTING FOR CONFLICT SERIALIZABILITY</a:t>
            </a:r>
          </a:p>
        </p:txBody>
      </p:sp>
      <p:sp>
        <p:nvSpPr>
          <p:cNvPr id="8" name="Content Placeholder 2"/>
          <p:cNvSpPr txBox="1">
            <a:spLocks/>
          </p:cNvSpPr>
          <p:nvPr/>
        </p:nvSpPr>
        <p:spPr>
          <a:xfrm>
            <a:off x="0" y="838200"/>
            <a:ext cx="8991600" cy="5715000"/>
          </a:xfrm>
          <a:prstGeom prst="rect">
            <a:avLst/>
          </a:prstGeom>
        </p:spPr>
        <p:txBody>
          <a:bodyPr vert="horz" lIns="91440" tIns="45720" rIns="91440" bIns="45720" rtlCol="0">
            <a:normAutofit fontScale="92500" lnSpcReduction="10000"/>
          </a:bodyPr>
          <a:lstStyle/>
          <a:p>
            <a:pPr marL="465138" marR="0" lvl="0" indent="-465138" algn="just" defTabSz="914400" rtl="0" eaLnBrk="1" fontAlgn="auto" latinLnBrk="0" hangingPunct="1">
              <a:lnSpc>
                <a:spcPct val="150000"/>
              </a:lnSpc>
              <a:spcBef>
                <a:spcPct val="20000"/>
              </a:spcBef>
              <a:spcAft>
                <a:spcPts val="0"/>
              </a:spcAft>
              <a:buClr>
                <a:srgbClr val="FF0000"/>
              </a:buClr>
              <a:buSzTx/>
              <a:buFont typeface="Wingdings" pitchFamily="2" charset="2"/>
              <a:buChar char="v"/>
              <a:tabLst/>
              <a:defRPr/>
            </a:pPr>
            <a:r>
              <a:rPr lang="en-US" sz="2600" b="1" dirty="0">
                <a:solidFill>
                  <a:srgbClr val="FF0000"/>
                </a:solidFill>
                <a:latin typeface="Times New Roman" pitchFamily="18" charset="0"/>
                <a:cs typeface="Times New Roman" pitchFamily="18" charset="0"/>
              </a:rPr>
              <a:t>Precedence Graph </a:t>
            </a:r>
            <a:r>
              <a:rPr lang="en-US" sz="2600" dirty="0">
                <a:solidFill>
                  <a:srgbClr val="002060"/>
                </a:solidFill>
                <a:latin typeface="Times New Roman" pitchFamily="18" charset="0"/>
                <a:cs typeface="Times New Roman" pitchFamily="18" charset="0"/>
              </a:rPr>
              <a:t>can be used to test a schedule for Conflict Serializability. </a:t>
            </a:r>
          </a:p>
          <a:p>
            <a:pPr marL="465138" marR="0" lvl="0" indent="-465138" algn="just" defTabSz="914400" rtl="0" eaLnBrk="1" fontAlgn="auto" latinLnBrk="0" hangingPunct="1">
              <a:lnSpc>
                <a:spcPct val="150000"/>
              </a:lnSpc>
              <a:spcBef>
                <a:spcPct val="20000"/>
              </a:spcBef>
              <a:spcAft>
                <a:spcPts val="0"/>
              </a:spcAft>
              <a:buClr>
                <a:srgbClr val="FF0000"/>
              </a:buClr>
              <a:buSzTx/>
              <a:buFont typeface="Wingdings" pitchFamily="2" charset="2"/>
              <a:buChar char="v"/>
              <a:tabLst/>
              <a:defRPr/>
            </a:pPr>
            <a:r>
              <a:rPr lang="en-US" sz="2600" dirty="0">
                <a:solidFill>
                  <a:srgbClr val="002060"/>
                </a:solidFill>
                <a:latin typeface="Times New Roman" pitchFamily="18" charset="0"/>
                <a:cs typeface="Times New Roman" pitchFamily="18" charset="0"/>
              </a:rPr>
              <a:t>Precedence Graph is directed graph </a:t>
            </a:r>
            <a:r>
              <a:rPr lang="en-US" sz="2600" b="1" dirty="0">
                <a:solidFill>
                  <a:srgbClr val="FF0000"/>
                </a:solidFill>
                <a:latin typeface="Times New Roman" pitchFamily="18" charset="0"/>
                <a:cs typeface="Times New Roman" pitchFamily="18" charset="0"/>
              </a:rPr>
              <a:t>G= (N, E) </a:t>
            </a:r>
            <a:r>
              <a:rPr lang="en-US" sz="2600" dirty="0">
                <a:solidFill>
                  <a:srgbClr val="002060"/>
                </a:solidFill>
                <a:latin typeface="Times New Roman" pitchFamily="18" charset="0"/>
                <a:cs typeface="Times New Roman" pitchFamily="18" charset="0"/>
              </a:rPr>
              <a:t>that consist of a set of nodes </a:t>
            </a:r>
            <a:r>
              <a:rPr lang="en-US" sz="2600" b="1" dirty="0">
                <a:solidFill>
                  <a:srgbClr val="FF0000"/>
                </a:solidFill>
                <a:latin typeface="Times New Roman" pitchFamily="18" charset="0"/>
                <a:cs typeface="Times New Roman" pitchFamily="18" charset="0"/>
              </a:rPr>
              <a:t>N = {T</a:t>
            </a:r>
            <a:r>
              <a:rPr lang="en-US" sz="2600" b="1" baseline="-25000" dirty="0">
                <a:solidFill>
                  <a:srgbClr val="FF0000"/>
                </a:solidFill>
                <a:latin typeface="Times New Roman" pitchFamily="18" charset="0"/>
                <a:cs typeface="Times New Roman" pitchFamily="18" charset="0"/>
              </a:rPr>
              <a:t>1</a:t>
            </a:r>
            <a:r>
              <a:rPr lang="en-US" sz="2600" b="1" dirty="0">
                <a:solidFill>
                  <a:srgbClr val="FF0000"/>
                </a:solidFill>
                <a:latin typeface="Times New Roman" pitchFamily="18" charset="0"/>
                <a:cs typeface="Times New Roman" pitchFamily="18" charset="0"/>
              </a:rPr>
              <a:t>, T</a:t>
            </a:r>
            <a:r>
              <a:rPr lang="en-US" sz="2600" b="1" baseline="-25000" dirty="0">
                <a:solidFill>
                  <a:srgbClr val="FF0000"/>
                </a:solidFill>
                <a:latin typeface="Times New Roman" pitchFamily="18" charset="0"/>
                <a:cs typeface="Times New Roman" pitchFamily="18" charset="0"/>
              </a:rPr>
              <a:t>2</a:t>
            </a:r>
            <a:r>
              <a:rPr lang="en-US" sz="2600" b="1" dirty="0">
                <a:solidFill>
                  <a:srgbClr val="FF0000"/>
                </a:solidFill>
                <a:latin typeface="Times New Roman" pitchFamily="18" charset="0"/>
                <a:cs typeface="Times New Roman" pitchFamily="18" charset="0"/>
              </a:rPr>
              <a:t>, ….</a:t>
            </a:r>
            <a:r>
              <a:rPr lang="en-US" sz="2600" b="1" dirty="0" err="1">
                <a:solidFill>
                  <a:srgbClr val="FF0000"/>
                </a:solidFill>
                <a:latin typeface="Times New Roman" pitchFamily="18" charset="0"/>
                <a:cs typeface="Times New Roman" pitchFamily="18" charset="0"/>
              </a:rPr>
              <a:t>T</a:t>
            </a:r>
            <a:r>
              <a:rPr lang="en-US" sz="2600" b="1" baseline="-25000" dirty="0" err="1">
                <a:solidFill>
                  <a:srgbClr val="FF0000"/>
                </a:solidFill>
                <a:latin typeface="Times New Roman" pitchFamily="18" charset="0"/>
                <a:cs typeface="Times New Roman" pitchFamily="18" charset="0"/>
              </a:rPr>
              <a:t>n</a:t>
            </a:r>
            <a:r>
              <a:rPr lang="en-US" sz="2600" b="1" dirty="0">
                <a:solidFill>
                  <a:srgbClr val="FF0000"/>
                </a:solidFill>
                <a:latin typeface="Times New Roman" pitchFamily="18" charset="0"/>
                <a:cs typeface="Times New Roman" pitchFamily="18" charset="0"/>
              </a:rPr>
              <a:t>} </a:t>
            </a:r>
            <a:r>
              <a:rPr lang="en-US" sz="2600" dirty="0">
                <a:solidFill>
                  <a:srgbClr val="002060"/>
                </a:solidFill>
                <a:latin typeface="Times New Roman" pitchFamily="18" charset="0"/>
                <a:cs typeface="Times New Roman" pitchFamily="18" charset="0"/>
              </a:rPr>
              <a:t>and a directed edges </a:t>
            </a:r>
            <a:r>
              <a:rPr lang="en-US" sz="2600" b="1" dirty="0">
                <a:solidFill>
                  <a:srgbClr val="FF0000"/>
                </a:solidFill>
                <a:latin typeface="Times New Roman" pitchFamily="18" charset="0"/>
                <a:cs typeface="Times New Roman" pitchFamily="18" charset="0"/>
              </a:rPr>
              <a:t>E = {e</a:t>
            </a:r>
            <a:r>
              <a:rPr lang="en-US" sz="2600" b="1" baseline="-25000" dirty="0">
                <a:solidFill>
                  <a:srgbClr val="FF0000"/>
                </a:solidFill>
                <a:latin typeface="Times New Roman" pitchFamily="18" charset="0"/>
                <a:cs typeface="Times New Roman" pitchFamily="18" charset="0"/>
              </a:rPr>
              <a:t>1</a:t>
            </a:r>
            <a:r>
              <a:rPr lang="en-US" sz="2600" b="1" dirty="0">
                <a:solidFill>
                  <a:srgbClr val="FF0000"/>
                </a:solidFill>
                <a:latin typeface="Times New Roman" pitchFamily="18" charset="0"/>
                <a:cs typeface="Times New Roman" pitchFamily="18" charset="0"/>
              </a:rPr>
              <a:t>, e</a:t>
            </a:r>
            <a:r>
              <a:rPr lang="en-US" sz="2600" b="1" baseline="-25000" dirty="0">
                <a:solidFill>
                  <a:srgbClr val="FF0000"/>
                </a:solidFill>
                <a:latin typeface="Times New Roman" pitchFamily="18" charset="0"/>
                <a:cs typeface="Times New Roman" pitchFamily="18" charset="0"/>
              </a:rPr>
              <a:t>2</a:t>
            </a:r>
            <a:r>
              <a:rPr lang="en-US" sz="2600" b="1" dirty="0">
                <a:solidFill>
                  <a:srgbClr val="FF0000"/>
                </a:solidFill>
                <a:latin typeface="Times New Roman" pitchFamily="18" charset="0"/>
                <a:cs typeface="Times New Roman" pitchFamily="18" charset="0"/>
              </a:rPr>
              <a:t>,…e</a:t>
            </a:r>
            <a:r>
              <a:rPr lang="en-US" sz="2600" b="1" baseline="-25000" dirty="0">
                <a:solidFill>
                  <a:srgbClr val="FF0000"/>
                </a:solidFill>
                <a:latin typeface="Times New Roman" pitchFamily="18" charset="0"/>
                <a:cs typeface="Times New Roman" pitchFamily="18" charset="0"/>
              </a:rPr>
              <a:t>3</a:t>
            </a:r>
            <a:r>
              <a:rPr lang="en-US" sz="2600" b="1" dirty="0">
                <a:solidFill>
                  <a:srgbClr val="FF0000"/>
                </a:solidFill>
                <a:latin typeface="Times New Roman" pitchFamily="18" charset="0"/>
                <a:cs typeface="Times New Roman" pitchFamily="18" charset="0"/>
              </a:rPr>
              <a:t>}</a:t>
            </a:r>
            <a:r>
              <a:rPr lang="en-US" sz="2600" dirty="0">
                <a:solidFill>
                  <a:srgbClr val="002060"/>
                </a:solidFill>
                <a:latin typeface="Times New Roman" pitchFamily="18" charset="0"/>
                <a:cs typeface="Times New Roman" pitchFamily="18" charset="0"/>
              </a:rPr>
              <a:t>.</a:t>
            </a:r>
          </a:p>
          <a:p>
            <a:pPr marL="465138" lvl="0" indent="-465138" algn="just">
              <a:lnSpc>
                <a:spcPct val="150000"/>
              </a:lnSpc>
              <a:spcBef>
                <a:spcPct val="20000"/>
              </a:spcBef>
              <a:buClr>
                <a:srgbClr val="FF0000"/>
              </a:buClr>
              <a:buFont typeface="Wingdings" pitchFamily="2" charset="2"/>
              <a:buChar char="v"/>
              <a:defRPr/>
            </a:pPr>
            <a:r>
              <a:rPr lang="en-US" sz="2600" dirty="0">
                <a:solidFill>
                  <a:srgbClr val="002060"/>
                </a:solidFill>
                <a:latin typeface="Times New Roman" pitchFamily="18" charset="0"/>
                <a:cs typeface="Times New Roman" pitchFamily="18" charset="0"/>
              </a:rPr>
              <a:t>Each edge </a:t>
            </a:r>
            <a:r>
              <a:rPr lang="en-US" sz="2600" b="1" dirty="0" err="1">
                <a:solidFill>
                  <a:srgbClr val="FF0000"/>
                </a:solidFill>
                <a:latin typeface="Times New Roman" pitchFamily="18" charset="0"/>
                <a:cs typeface="Times New Roman" pitchFamily="18" charset="0"/>
              </a:rPr>
              <a:t>e</a:t>
            </a:r>
            <a:r>
              <a:rPr lang="en-US" sz="2600" b="1" baseline="-25000" dirty="0" err="1">
                <a:solidFill>
                  <a:srgbClr val="FF0000"/>
                </a:solidFill>
                <a:latin typeface="Times New Roman" pitchFamily="18" charset="0"/>
                <a:cs typeface="Times New Roman" pitchFamily="18" charset="0"/>
              </a:rPr>
              <a:t>i</a:t>
            </a:r>
            <a:r>
              <a:rPr lang="en-US" sz="2600" dirty="0">
                <a:solidFill>
                  <a:srgbClr val="002060"/>
                </a:solidFill>
                <a:latin typeface="Times New Roman" pitchFamily="18" charset="0"/>
                <a:cs typeface="Times New Roman" pitchFamily="18" charset="0"/>
              </a:rPr>
              <a:t> in the graph is of the form (</a:t>
            </a:r>
            <a:r>
              <a:rPr lang="en-US" sz="2600" dirty="0" err="1">
                <a:solidFill>
                  <a:srgbClr val="002060"/>
                </a:solidFill>
                <a:latin typeface="Times New Roman" pitchFamily="18" charset="0"/>
                <a:cs typeface="Times New Roman" pitchFamily="18" charset="0"/>
              </a:rPr>
              <a:t>T</a:t>
            </a:r>
            <a:r>
              <a:rPr lang="en-US" sz="2600" baseline="-25000" dirty="0" err="1">
                <a:solidFill>
                  <a:srgbClr val="002060"/>
                </a:solidFill>
                <a:latin typeface="Times New Roman" pitchFamily="18" charset="0"/>
                <a:cs typeface="Times New Roman" pitchFamily="18" charset="0"/>
              </a:rPr>
              <a:t>j</a:t>
            </a:r>
            <a:r>
              <a:rPr lang="en-US" sz="2600" dirty="0" err="1">
                <a:solidFill>
                  <a:srgbClr val="002060"/>
                </a:solidFill>
                <a:latin typeface="Times New Roman" pitchFamily="18" charset="0"/>
                <a:cs typeface="Times New Roman" pitchFamily="18" charset="0"/>
                <a:sym typeface="Wingdings" pitchFamily="2" charset="2"/>
              </a:rPr>
              <a:t>T</a:t>
            </a:r>
            <a:r>
              <a:rPr lang="en-US" sz="2600" baseline="-25000" dirty="0" err="1">
                <a:solidFill>
                  <a:srgbClr val="002060"/>
                </a:solidFill>
                <a:latin typeface="Times New Roman" pitchFamily="18" charset="0"/>
                <a:cs typeface="Times New Roman" pitchFamily="18" charset="0"/>
                <a:sym typeface="Wingdings" pitchFamily="2" charset="2"/>
              </a:rPr>
              <a:t>k</a:t>
            </a:r>
            <a:r>
              <a:rPr lang="en-US" sz="2600" dirty="0">
                <a:solidFill>
                  <a:srgbClr val="002060"/>
                </a:solidFill>
                <a:latin typeface="Times New Roman" pitchFamily="18" charset="0"/>
                <a:cs typeface="Times New Roman" pitchFamily="18" charset="0"/>
                <a:sym typeface="Wingdings" pitchFamily="2" charset="2"/>
              </a:rPr>
              <a:t>), where </a:t>
            </a:r>
            <a:r>
              <a:rPr lang="en-US" sz="2600" b="1" dirty="0" err="1">
                <a:solidFill>
                  <a:srgbClr val="002060"/>
                </a:solidFill>
                <a:latin typeface="Times New Roman" pitchFamily="18" charset="0"/>
                <a:cs typeface="Times New Roman" pitchFamily="18" charset="0"/>
                <a:sym typeface="Wingdings" pitchFamily="2" charset="2"/>
              </a:rPr>
              <a:t>T</a:t>
            </a:r>
            <a:r>
              <a:rPr lang="en-US" sz="2600" b="1" baseline="-25000" dirty="0" err="1">
                <a:solidFill>
                  <a:srgbClr val="002060"/>
                </a:solidFill>
                <a:latin typeface="Times New Roman" pitchFamily="18" charset="0"/>
                <a:cs typeface="Times New Roman" pitchFamily="18" charset="0"/>
                <a:sym typeface="Wingdings" pitchFamily="2" charset="2"/>
              </a:rPr>
              <a:t>j</a:t>
            </a:r>
            <a:r>
              <a:rPr lang="en-US" sz="2600" b="1" baseline="-25000" dirty="0">
                <a:solidFill>
                  <a:srgbClr val="002060"/>
                </a:solidFill>
                <a:latin typeface="Times New Roman" pitchFamily="18" charset="0"/>
                <a:cs typeface="Times New Roman" pitchFamily="18" charset="0"/>
                <a:sym typeface="Wingdings" pitchFamily="2" charset="2"/>
              </a:rPr>
              <a:t> </a:t>
            </a:r>
            <a:r>
              <a:rPr lang="en-US" sz="2600" dirty="0">
                <a:solidFill>
                  <a:srgbClr val="002060"/>
                </a:solidFill>
                <a:latin typeface="Times New Roman" pitchFamily="18" charset="0"/>
                <a:cs typeface="Times New Roman" pitchFamily="18" charset="0"/>
                <a:sym typeface="Wingdings" pitchFamily="2" charset="2"/>
              </a:rPr>
              <a:t>is the </a:t>
            </a:r>
            <a:r>
              <a:rPr lang="en-US" sz="2600" b="1" dirty="0">
                <a:solidFill>
                  <a:srgbClr val="002060"/>
                </a:solidFill>
                <a:latin typeface="Times New Roman" pitchFamily="18" charset="0"/>
                <a:cs typeface="Times New Roman" pitchFamily="18" charset="0"/>
                <a:sym typeface="Wingdings" pitchFamily="2" charset="2"/>
              </a:rPr>
              <a:t>starting node</a:t>
            </a:r>
            <a:r>
              <a:rPr lang="en-US" sz="2600" dirty="0">
                <a:solidFill>
                  <a:srgbClr val="002060"/>
                </a:solidFill>
                <a:latin typeface="Times New Roman" pitchFamily="18" charset="0"/>
                <a:cs typeface="Times New Roman" pitchFamily="18" charset="0"/>
                <a:sym typeface="Wingdings" pitchFamily="2" charset="2"/>
              </a:rPr>
              <a:t> of the edge </a:t>
            </a:r>
            <a:r>
              <a:rPr lang="en-US" sz="2600" dirty="0" err="1">
                <a:solidFill>
                  <a:srgbClr val="002060"/>
                </a:solidFill>
                <a:latin typeface="Times New Roman" pitchFamily="18" charset="0"/>
                <a:cs typeface="Times New Roman" pitchFamily="18" charset="0"/>
                <a:sym typeface="Wingdings" pitchFamily="2" charset="2"/>
              </a:rPr>
              <a:t>e</a:t>
            </a:r>
            <a:r>
              <a:rPr lang="en-US" sz="2600" baseline="-25000" dirty="0" err="1">
                <a:solidFill>
                  <a:srgbClr val="002060"/>
                </a:solidFill>
                <a:latin typeface="Times New Roman" pitchFamily="18" charset="0"/>
                <a:cs typeface="Times New Roman" pitchFamily="18" charset="0"/>
                <a:sym typeface="Wingdings" pitchFamily="2" charset="2"/>
              </a:rPr>
              <a:t>i</a:t>
            </a:r>
            <a:r>
              <a:rPr lang="en-US" sz="2600" dirty="0">
                <a:solidFill>
                  <a:srgbClr val="002060"/>
                </a:solidFill>
                <a:latin typeface="Times New Roman" pitchFamily="18" charset="0"/>
                <a:cs typeface="Times New Roman" pitchFamily="18" charset="0"/>
                <a:sym typeface="Wingdings" pitchFamily="2" charset="2"/>
              </a:rPr>
              <a:t> and of the edge </a:t>
            </a:r>
            <a:r>
              <a:rPr lang="en-US" sz="2600" dirty="0" err="1">
                <a:solidFill>
                  <a:srgbClr val="002060"/>
                </a:solidFill>
                <a:latin typeface="Times New Roman" pitchFamily="18" charset="0"/>
                <a:cs typeface="Times New Roman" pitchFamily="18" charset="0"/>
                <a:sym typeface="Wingdings" pitchFamily="2" charset="2"/>
              </a:rPr>
              <a:t>e</a:t>
            </a:r>
            <a:r>
              <a:rPr lang="en-US" sz="2600" baseline="-25000" dirty="0" err="1">
                <a:solidFill>
                  <a:srgbClr val="002060"/>
                </a:solidFill>
                <a:latin typeface="Times New Roman" pitchFamily="18" charset="0"/>
                <a:cs typeface="Times New Roman" pitchFamily="18" charset="0"/>
                <a:sym typeface="Wingdings" pitchFamily="2" charset="2"/>
              </a:rPr>
              <a:t>i</a:t>
            </a:r>
            <a:r>
              <a:rPr lang="en-US" sz="2600" dirty="0">
                <a:solidFill>
                  <a:srgbClr val="002060"/>
                </a:solidFill>
                <a:latin typeface="Times New Roman" pitchFamily="18" charset="0"/>
                <a:cs typeface="Times New Roman" pitchFamily="18" charset="0"/>
                <a:sym typeface="Wingdings" pitchFamily="2" charset="2"/>
              </a:rPr>
              <a:t>.</a:t>
            </a:r>
            <a:r>
              <a:rPr lang="en-US" sz="2600" b="1" dirty="0">
                <a:solidFill>
                  <a:srgbClr val="002060"/>
                </a:solidFill>
                <a:latin typeface="Times New Roman" pitchFamily="18" charset="0"/>
                <a:cs typeface="Times New Roman" pitchFamily="18" charset="0"/>
                <a:sym typeface="Wingdings" pitchFamily="2" charset="2"/>
              </a:rPr>
              <a:t> </a:t>
            </a:r>
            <a:r>
              <a:rPr lang="en-US" sz="2600" b="1" dirty="0" err="1">
                <a:solidFill>
                  <a:srgbClr val="002060"/>
                </a:solidFill>
                <a:latin typeface="Times New Roman" pitchFamily="18" charset="0"/>
                <a:cs typeface="Times New Roman" pitchFamily="18" charset="0"/>
                <a:sym typeface="Wingdings" pitchFamily="2" charset="2"/>
              </a:rPr>
              <a:t>T</a:t>
            </a:r>
            <a:r>
              <a:rPr lang="en-US" sz="2600" b="1" baseline="-25000" dirty="0" err="1">
                <a:solidFill>
                  <a:srgbClr val="002060"/>
                </a:solidFill>
                <a:latin typeface="Times New Roman" pitchFamily="18" charset="0"/>
                <a:cs typeface="Times New Roman" pitchFamily="18" charset="0"/>
                <a:sym typeface="Wingdings" pitchFamily="2" charset="2"/>
              </a:rPr>
              <a:t>k</a:t>
            </a:r>
            <a:r>
              <a:rPr lang="en-US" sz="2600" b="1" dirty="0">
                <a:solidFill>
                  <a:srgbClr val="002060"/>
                </a:solidFill>
                <a:latin typeface="Times New Roman" pitchFamily="18" charset="0"/>
                <a:cs typeface="Times New Roman" pitchFamily="18" charset="0"/>
                <a:sym typeface="Wingdings" pitchFamily="2" charset="2"/>
              </a:rPr>
              <a:t> </a:t>
            </a:r>
            <a:r>
              <a:rPr lang="en-US" sz="2600" dirty="0">
                <a:solidFill>
                  <a:srgbClr val="002060"/>
                </a:solidFill>
                <a:latin typeface="Times New Roman" pitchFamily="18" charset="0"/>
                <a:cs typeface="Times New Roman" pitchFamily="18" charset="0"/>
                <a:sym typeface="Wingdings" pitchFamily="2" charset="2"/>
              </a:rPr>
              <a:t>is the </a:t>
            </a:r>
            <a:r>
              <a:rPr lang="en-US" sz="2600" b="1" dirty="0">
                <a:solidFill>
                  <a:srgbClr val="002060"/>
                </a:solidFill>
                <a:latin typeface="Times New Roman" pitchFamily="18" charset="0"/>
                <a:cs typeface="Times New Roman" pitchFamily="18" charset="0"/>
                <a:sym typeface="Wingdings" pitchFamily="2" charset="2"/>
              </a:rPr>
              <a:t>ending node </a:t>
            </a:r>
            <a:endParaRPr lang="en-US" sz="2600" dirty="0">
              <a:solidFill>
                <a:srgbClr val="002060"/>
              </a:solidFill>
              <a:latin typeface="Times New Roman" pitchFamily="18" charset="0"/>
              <a:cs typeface="Times New Roman" pitchFamily="18" charset="0"/>
              <a:sym typeface="Wingdings" pitchFamily="2" charset="2"/>
            </a:endParaRPr>
          </a:p>
          <a:p>
            <a:pPr marL="465138" marR="0" lvl="0" indent="-465138" algn="just" defTabSz="914400" rtl="0" eaLnBrk="1" fontAlgn="auto" latinLnBrk="0" hangingPunct="1">
              <a:lnSpc>
                <a:spcPct val="150000"/>
              </a:lnSpc>
              <a:spcBef>
                <a:spcPct val="20000"/>
              </a:spcBef>
              <a:spcAft>
                <a:spcPts val="0"/>
              </a:spcAft>
              <a:buClr>
                <a:srgbClr val="FF0000"/>
              </a:buClr>
              <a:buSzTx/>
              <a:buFont typeface="Wingdings" pitchFamily="2" charset="2"/>
              <a:buChar char="v"/>
              <a:tabLst/>
              <a:defRPr/>
            </a:pPr>
            <a:r>
              <a:rPr lang="en-US" sz="2600" dirty="0">
                <a:solidFill>
                  <a:srgbClr val="002060"/>
                </a:solidFill>
                <a:latin typeface="Times New Roman" pitchFamily="18" charset="0"/>
                <a:cs typeface="Times New Roman" pitchFamily="18" charset="0"/>
                <a:sym typeface="Wingdings" pitchFamily="2" charset="2"/>
              </a:rPr>
              <a:t>An edge is created if one of the operations in </a:t>
            </a:r>
            <a:r>
              <a:rPr lang="en-US" sz="2600" dirty="0" err="1">
                <a:solidFill>
                  <a:srgbClr val="002060"/>
                </a:solidFill>
                <a:latin typeface="Times New Roman" pitchFamily="18" charset="0"/>
                <a:cs typeface="Times New Roman" pitchFamily="18" charset="0"/>
                <a:sym typeface="Wingdings" pitchFamily="2" charset="2"/>
              </a:rPr>
              <a:t>T</a:t>
            </a:r>
            <a:r>
              <a:rPr lang="en-US" sz="2600" baseline="-25000" dirty="0" err="1">
                <a:solidFill>
                  <a:srgbClr val="002060"/>
                </a:solidFill>
                <a:latin typeface="Times New Roman" pitchFamily="18" charset="0"/>
                <a:cs typeface="Times New Roman" pitchFamily="18" charset="0"/>
                <a:sym typeface="Wingdings" pitchFamily="2" charset="2"/>
              </a:rPr>
              <a:t>j</a:t>
            </a:r>
            <a:r>
              <a:rPr lang="en-US" sz="2600" dirty="0">
                <a:solidFill>
                  <a:srgbClr val="002060"/>
                </a:solidFill>
                <a:latin typeface="Times New Roman" pitchFamily="18" charset="0"/>
                <a:cs typeface="Times New Roman" pitchFamily="18" charset="0"/>
                <a:sym typeface="Wingdings" pitchFamily="2" charset="2"/>
              </a:rPr>
              <a:t> appears in the schedule before some conflicting operation in T</a:t>
            </a:r>
            <a:r>
              <a:rPr lang="en-US" sz="2600" baseline="-25000" dirty="0">
                <a:solidFill>
                  <a:srgbClr val="002060"/>
                </a:solidFill>
                <a:latin typeface="Times New Roman" pitchFamily="18" charset="0"/>
                <a:cs typeface="Times New Roman" pitchFamily="18" charset="0"/>
                <a:sym typeface="Wingdings" pitchFamily="2" charset="2"/>
              </a:rPr>
              <a:t>k</a:t>
            </a:r>
            <a:r>
              <a:rPr lang="en-US" sz="2600" dirty="0">
                <a:solidFill>
                  <a:srgbClr val="002060"/>
                </a:solidFill>
                <a:latin typeface="Times New Roman" pitchFamily="18" charset="0"/>
                <a:cs typeface="Times New Roman" pitchFamily="18" charset="0"/>
                <a:sym typeface="Wingdings" pitchFamily="2" charset="2"/>
              </a:rPr>
              <a:t>.</a:t>
            </a:r>
            <a:endParaRPr lang="en-US" sz="2600" dirty="0">
              <a:solidFill>
                <a:srgbClr val="002060"/>
              </a:solidFill>
              <a:latin typeface="Times New Roman" pitchFamily="18" charset="0"/>
              <a:cs typeface="Times New Roman" pitchFamily="18" charset="0"/>
            </a:endParaRPr>
          </a:p>
          <a:p>
            <a:pPr marL="465138" marR="0" lvl="0" indent="-465138" algn="just" defTabSz="914400" rtl="0" eaLnBrk="1" fontAlgn="auto" latinLnBrk="0" hangingPunct="1">
              <a:lnSpc>
                <a:spcPct val="150000"/>
              </a:lnSpc>
              <a:spcBef>
                <a:spcPct val="20000"/>
              </a:spcBef>
              <a:spcAft>
                <a:spcPts val="0"/>
              </a:spcAft>
              <a:buClr>
                <a:srgbClr val="FF0000"/>
              </a:buClr>
              <a:buSzTx/>
              <a:tabLst/>
              <a:defRPr/>
            </a:pPr>
            <a:r>
              <a:rPr lang="en-US" sz="2400" dirty="0">
                <a:solidFill>
                  <a:srgbClr val="002060"/>
                </a:solidFill>
                <a:latin typeface="Times New Roman" pitchFamily="18" charset="0"/>
                <a:cs typeface="Times New Roman" pitchFamily="18" charset="0"/>
              </a:rPr>
              <a:t> </a:t>
            </a:r>
            <a:endParaRPr kumimoji="0" lang="en-US" sz="24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sz="3600" b="1" dirty="0">
                <a:solidFill>
                  <a:srgbClr val="FF0000"/>
                </a:solidFill>
                <a:latin typeface="Times New Roman" pitchFamily="18" charset="0"/>
                <a:cs typeface="Times New Roman" pitchFamily="18" charset="0"/>
              </a:rPr>
              <a:t>TESTING FOR CONFLICT SERIALIZABILITY</a:t>
            </a:r>
          </a:p>
        </p:txBody>
      </p:sp>
      <p:sp>
        <p:nvSpPr>
          <p:cNvPr id="8" name="Content Placeholder 2"/>
          <p:cNvSpPr txBox="1">
            <a:spLocks/>
          </p:cNvSpPr>
          <p:nvPr/>
        </p:nvSpPr>
        <p:spPr>
          <a:xfrm>
            <a:off x="304800" y="838200"/>
            <a:ext cx="8610600" cy="5715000"/>
          </a:xfrm>
          <a:prstGeom prst="rect">
            <a:avLst/>
          </a:prstGeom>
        </p:spPr>
        <p:txBody>
          <a:bodyPr vert="horz" lIns="91440" tIns="45720" rIns="91440" bIns="45720" rtlCol="0">
            <a:normAutofit fontScale="92500"/>
          </a:bodyPr>
          <a:lstStyle/>
          <a:p>
            <a:pPr marL="465138" marR="0" lvl="0" indent="-465138" algn="just" defTabSz="914400" rtl="0" eaLnBrk="1" fontAlgn="auto" latinLnBrk="0" hangingPunct="1">
              <a:lnSpc>
                <a:spcPct val="150000"/>
              </a:lnSpc>
              <a:spcBef>
                <a:spcPct val="20000"/>
              </a:spcBef>
              <a:spcAft>
                <a:spcPts val="0"/>
              </a:spcAft>
              <a:buClr>
                <a:srgbClr val="FF0000"/>
              </a:buClr>
              <a:buSzTx/>
              <a:buAutoNum type="arabicPeriod"/>
              <a:tabLst/>
              <a:defRPr/>
            </a:pPr>
            <a:r>
              <a:rPr lang="en-US" sz="2400" dirty="0">
                <a:solidFill>
                  <a:srgbClr val="002060"/>
                </a:solidFill>
                <a:latin typeface="Times New Roman" pitchFamily="18" charset="0"/>
                <a:cs typeface="Times New Roman" pitchFamily="18" charset="0"/>
              </a:rPr>
              <a:t>For each transaction T</a:t>
            </a:r>
            <a:r>
              <a:rPr lang="en-US" sz="2400" baseline="-25000" dirty="0">
                <a:solidFill>
                  <a:srgbClr val="002060"/>
                </a:solidFill>
                <a:latin typeface="Times New Roman" pitchFamily="18" charset="0"/>
                <a:cs typeface="Times New Roman" pitchFamily="18" charset="0"/>
              </a:rPr>
              <a:t>i</a:t>
            </a:r>
            <a:r>
              <a:rPr lang="en-US" sz="2400" dirty="0">
                <a:solidFill>
                  <a:srgbClr val="002060"/>
                </a:solidFill>
                <a:latin typeface="Times New Roman" pitchFamily="18" charset="0"/>
                <a:cs typeface="Times New Roman" pitchFamily="18" charset="0"/>
              </a:rPr>
              <a:t> participating in schedule S, create a node labeled Ti in the precedence graph.</a:t>
            </a:r>
          </a:p>
          <a:p>
            <a:pPr marL="465138" marR="0" lvl="0" indent="-465138" algn="just" defTabSz="914400" rtl="0" eaLnBrk="1" fontAlgn="auto" latinLnBrk="0" hangingPunct="1">
              <a:lnSpc>
                <a:spcPct val="150000"/>
              </a:lnSpc>
              <a:spcBef>
                <a:spcPct val="20000"/>
              </a:spcBef>
              <a:spcAft>
                <a:spcPts val="0"/>
              </a:spcAft>
              <a:buClr>
                <a:srgbClr val="FF0000"/>
              </a:buClr>
              <a:buSzTx/>
              <a:buAutoNum type="arabicPeriod"/>
              <a:tabLst/>
              <a:defRPr/>
            </a:pPr>
            <a:r>
              <a:rPr lang="en-US" sz="2400" dirty="0">
                <a:solidFill>
                  <a:srgbClr val="002060"/>
                </a:solidFill>
                <a:latin typeface="Times New Roman" pitchFamily="18" charset="0"/>
                <a:cs typeface="Times New Roman" pitchFamily="18" charset="0"/>
              </a:rPr>
              <a:t>For each case in S where </a:t>
            </a:r>
            <a:r>
              <a:rPr lang="en-US" sz="2400" dirty="0" err="1">
                <a:solidFill>
                  <a:srgbClr val="002060"/>
                </a:solidFill>
                <a:latin typeface="Times New Roman" pitchFamily="18" charset="0"/>
                <a:cs typeface="Times New Roman" pitchFamily="18" charset="0"/>
              </a:rPr>
              <a:t>T</a:t>
            </a:r>
            <a:r>
              <a:rPr lang="en-US" sz="2400" baseline="-25000" dirty="0" err="1">
                <a:solidFill>
                  <a:srgbClr val="002060"/>
                </a:solidFill>
                <a:latin typeface="Times New Roman" pitchFamily="18" charset="0"/>
                <a:cs typeface="Times New Roman" pitchFamily="18" charset="0"/>
              </a:rPr>
              <a:t>j</a:t>
            </a:r>
            <a:r>
              <a:rPr lang="en-US" sz="2400" dirty="0">
                <a:solidFill>
                  <a:srgbClr val="002060"/>
                </a:solidFill>
                <a:latin typeface="Times New Roman" pitchFamily="18" charset="0"/>
                <a:cs typeface="Times New Roman" pitchFamily="18" charset="0"/>
              </a:rPr>
              <a:t> executes a </a:t>
            </a:r>
            <a:r>
              <a:rPr lang="en-US" sz="2400" b="1" dirty="0">
                <a:solidFill>
                  <a:srgbClr val="002060"/>
                </a:solidFill>
                <a:latin typeface="Times New Roman" pitchFamily="18" charset="0"/>
                <a:cs typeface="Times New Roman" pitchFamily="18" charset="0"/>
              </a:rPr>
              <a:t>Read(X) after </a:t>
            </a:r>
            <a:r>
              <a:rPr lang="en-US" sz="2400" dirty="0">
                <a:solidFill>
                  <a:srgbClr val="002060"/>
                </a:solidFill>
                <a:latin typeface="Times New Roman" pitchFamily="18" charset="0"/>
                <a:cs typeface="Times New Roman" pitchFamily="18" charset="0"/>
              </a:rPr>
              <a:t>T</a:t>
            </a:r>
            <a:r>
              <a:rPr lang="en-US" sz="2400" baseline="-25000" dirty="0">
                <a:solidFill>
                  <a:srgbClr val="002060"/>
                </a:solidFill>
                <a:latin typeface="Times New Roman" pitchFamily="18" charset="0"/>
                <a:cs typeface="Times New Roman" pitchFamily="18" charset="0"/>
              </a:rPr>
              <a:t>i</a:t>
            </a:r>
            <a:r>
              <a:rPr lang="en-US" sz="2400" dirty="0">
                <a:solidFill>
                  <a:srgbClr val="002060"/>
                </a:solidFill>
                <a:latin typeface="Times New Roman" pitchFamily="18" charset="0"/>
                <a:cs typeface="Times New Roman" pitchFamily="18" charset="0"/>
              </a:rPr>
              <a:t> executes a </a:t>
            </a:r>
            <a:r>
              <a:rPr lang="en-US" sz="2400" b="1" dirty="0">
                <a:solidFill>
                  <a:srgbClr val="002060"/>
                </a:solidFill>
                <a:latin typeface="Times New Roman" pitchFamily="18" charset="0"/>
                <a:cs typeface="Times New Roman" pitchFamily="18" charset="0"/>
              </a:rPr>
              <a:t>Write(X)</a:t>
            </a:r>
            <a:r>
              <a:rPr lang="en-US" sz="2400" dirty="0">
                <a:solidFill>
                  <a:srgbClr val="002060"/>
                </a:solidFill>
                <a:latin typeface="Times New Roman" pitchFamily="18" charset="0"/>
                <a:cs typeface="Times New Roman" pitchFamily="18" charset="0"/>
              </a:rPr>
              <a:t>, create an edge (</a:t>
            </a:r>
            <a:r>
              <a:rPr lang="en-US" sz="2400" b="1" dirty="0">
                <a:solidFill>
                  <a:srgbClr val="002060"/>
                </a:solidFill>
                <a:latin typeface="Times New Roman" pitchFamily="18" charset="0"/>
                <a:cs typeface="Times New Roman" pitchFamily="18" charset="0"/>
              </a:rPr>
              <a:t>T</a:t>
            </a:r>
            <a:r>
              <a:rPr lang="en-US" sz="2400" b="1" baseline="-25000" dirty="0">
                <a:solidFill>
                  <a:srgbClr val="002060"/>
                </a:solidFill>
                <a:latin typeface="Times New Roman" pitchFamily="18" charset="0"/>
                <a:cs typeface="Times New Roman" pitchFamily="18" charset="0"/>
              </a:rPr>
              <a:t>i</a:t>
            </a:r>
            <a:r>
              <a:rPr lang="en-US" sz="2400" b="1" dirty="0">
                <a:solidFill>
                  <a:srgbClr val="002060"/>
                </a:solidFill>
                <a:latin typeface="Times New Roman" pitchFamily="18" charset="0"/>
                <a:cs typeface="Times New Roman" pitchFamily="18" charset="0"/>
              </a:rPr>
              <a:t> </a:t>
            </a:r>
            <a:r>
              <a:rPr lang="en-US" sz="2400" b="1" dirty="0">
                <a:solidFill>
                  <a:srgbClr val="002060"/>
                </a:solidFill>
                <a:latin typeface="Times New Roman" pitchFamily="18" charset="0"/>
                <a:cs typeface="Times New Roman" pitchFamily="18" charset="0"/>
                <a:sym typeface="Wingdings" pitchFamily="2" charset="2"/>
              </a:rPr>
              <a:t> </a:t>
            </a:r>
            <a:r>
              <a:rPr lang="en-US" sz="2400" b="1" dirty="0" err="1">
                <a:solidFill>
                  <a:srgbClr val="002060"/>
                </a:solidFill>
                <a:latin typeface="Times New Roman" pitchFamily="18" charset="0"/>
                <a:cs typeface="Times New Roman" pitchFamily="18" charset="0"/>
                <a:sym typeface="Wingdings" pitchFamily="2" charset="2"/>
              </a:rPr>
              <a:t>T</a:t>
            </a:r>
            <a:r>
              <a:rPr lang="en-US" sz="2400" b="1" baseline="-25000" dirty="0" err="1">
                <a:solidFill>
                  <a:srgbClr val="002060"/>
                </a:solidFill>
                <a:latin typeface="Times New Roman" pitchFamily="18" charset="0"/>
                <a:cs typeface="Times New Roman" pitchFamily="18" charset="0"/>
                <a:sym typeface="Wingdings" pitchFamily="2" charset="2"/>
              </a:rPr>
              <a:t>j</a:t>
            </a:r>
            <a:r>
              <a:rPr lang="en-US" sz="2400" dirty="0">
                <a:solidFill>
                  <a:srgbClr val="002060"/>
                </a:solidFill>
                <a:latin typeface="Times New Roman" pitchFamily="18" charset="0"/>
                <a:cs typeface="Times New Roman" pitchFamily="18" charset="0"/>
                <a:sym typeface="Wingdings" pitchFamily="2" charset="2"/>
              </a:rPr>
              <a:t>) in the precedence graph.</a:t>
            </a:r>
          </a:p>
          <a:p>
            <a:pPr marL="465138" indent="-465138" algn="just">
              <a:lnSpc>
                <a:spcPct val="150000"/>
              </a:lnSpc>
              <a:spcBef>
                <a:spcPct val="20000"/>
              </a:spcBef>
              <a:buClr>
                <a:srgbClr val="FF0000"/>
              </a:buClr>
              <a:buFontTx/>
              <a:buAutoNum type="arabicPeriod"/>
              <a:defRPr/>
            </a:pPr>
            <a:r>
              <a:rPr lang="en-US" sz="2400" dirty="0">
                <a:solidFill>
                  <a:srgbClr val="002060"/>
                </a:solidFill>
                <a:latin typeface="Times New Roman" pitchFamily="18" charset="0"/>
                <a:cs typeface="Times New Roman" pitchFamily="18" charset="0"/>
              </a:rPr>
              <a:t> For each case in S where </a:t>
            </a:r>
            <a:r>
              <a:rPr lang="en-US" sz="2400" dirty="0" err="1">
                <a:solidFill>
                  <a:srgbClr val="002060"/>
                </a:solidFill>
                <a:latin typeface="Times New Roman" pitchFamily="18" charset="0"/>
                <a:cs typeface="Times New Roman" pitchFamily="18" charset="0"/>
              </a:rPr>
              <a:t>T</a:t>
            </a:r>
            <a:r>
              <a:rPr lang="en-US" sz="2400" baseline="-25000" dirty="0" err="1">
                <a:solidFill>
                  <a:srgbClr val="002060"/>
                </a:solidFill>
                <a:latin typeface="Times New Roman" pitchFamily="18" charset="0"/>
                <a:cs typeface="Times New Roman" pitchFamily="18" charset="0"/>
              </a:rPr>
              <a:t>j</a:t>
            </a:r>
            <a:r>
              <a:rPr lang="en-US" sz="2400" dirty="0">
                <a:solidFill>
                  <a:srgbClr val="002060"/>
                </a:solidFill>
                <a:latin typeface="Times New Roman" pitchFamily="18" charset="0"/>
                <a:cs typeface="Times New Roman" pitchFamily="18" charset="0"/>
              </a:rPr>
              <a:t> executes a </a:t>
            </a:r>
            <a:r>
              <a:rPr lang="en-US" sz="2400" b="1" dirty="0">
                <a:solidFill>
                  <a:srgbClr val="002060"/>
                </a:solidFill>
                <a:latin typeface="Times New Roman" pitchFamily="18" charset="0"/>
                <a:cs typeface="Times New Roman" pitchFamily="18" charset="0"/>
              </a:rPr>
              <a:t>Write(X) after </a:t>
            </a:r>
            <a:r>
              <a:rPr lang="en-US" sz="2400" dirty="0">
                <a:solidFill>
                  <a:srgbClr val="002060"/>
                </a:solidFill>
                <a:latin typeface="Times New Roman" pitchFamily="18" charset="0"/>
                <a:cs typeface="Times New Roman" pitchFamily="18" charset="0"/>
              </a:rPr>
              <a:t>T</a:t>
            </a:r>
            <a:r>
              <a:rPr lang="en-US" sz="2400" baseline="-25000" dirty="0">
                <a:solidFill>
                  <a:srgbClr val="002060"/>
                </a:solidFill>
                <a:latin typeface="Times New Roman" pitchFamily="18" charset="0"/>
                <a:cs typeface="Times New Roman" pitchFamily="18" charset="0"/>
              </a:rPr>
              <a:t>i</a:t>
            </a:r>
            <a:r>
              <a:rPr lang="en-US" sz="2400" dirty="0">
                <a:solidFill>
                  <a:srgbClr val="002060"/>
                </a:solidFill>
                <a:latin typeface="Times New Roman" pitchFamily="18" charset="0"/>
                <a:cs typeface="Times New Roman" pitchFamily="18" charset="0"/>
              </a:rPr>
              <a:t> executes a </a:t>
            </a:r>
            <a:r>
              <a:rPr lang="en-US" sz="2400" b="1" dirty="0">
                <a:solidFill>
                  <a:srgbClr val="002060"/>
                </a:solidFill>
                <a:latin typeface="Times New Roman" pitchFamily="18" charset="0"/>
                <a:cs typeface="Times New Roman" pitchFamily="18" charset="0"/>
              </a:rPr>
              <a:t>Read(X)</a:t>
            </a:r>
            <a:r>
              <a:rPr lang="en-US" sz="2400" dirty="0">
                <a:solidFill>
                  <a:srgbClr val="002060"/>
                </a:solidFill>
                <a:latin typeface="Times New Roman" pitchFamily="18" charset="0"/>
                <a:cs typeface="Times New Roman" pitchFamily="18" charset="0"/>
              </a:rPr>
              <a:t>, create an edge (</a:t>
            </a:r>
            <a:r>
              <a:rPr lang="en-US" sz="2400" b="1" dirty="0">
                <a:solidFill>
                  <a:srgbClr val="002060"/>
                </a:solidFill>
                <a:latin typeface="Times New Roman" pitchFamily="18" charset="0"/>
                <a:cs typeface="Times New Roman" pitchFamily="18" charset="0"/>
              </a:rPr>
              <a:t>T</a:t>
            </a:r>
            <a:r>
              <a:rPr lang="en-US" sz="2400" b="1" baseline="-25000" dirty="0">
                <a:solidFill>
                  <a:srgbClr val="002060"/>
                </a:solidFill>
                <a:latin typeface="Times New Roman" pitchFamily="18" charset="0"/>
                <a:cs typeface="Times New Roman" pitchFamily="18" charset="0"/>
              </a:rPr>
              <a:t>i</a:t>
            </a:r>
            <a:r>
              <a:rPr lang="en-US" sz="2400" b="1" dirty="0">
                <a:solidFill>
                  <a:srgbClr val="002060"/>
                </a:solidFill>
                <a:latin typeface="Times New Roman" pitchFamily="18" charset="0"/>
                <a:cs typeface="Times New Roman" pitchFamily="18" charset="0"/>
              </a:rPr>
              <a:t> </a:t>
            </a:r>
            <a:r>
              <a:rPr lang="en-US" sz="2400" b="1" dirty="0">
                <a:solidFill>
                  <a:srgbClr val="002060"/>
                </a:solidFill>
                <a:latin typeface="Times New Roman" pitchFamily="18" charset="0"/>
                <a:cs typeface="Times New Roman" pitchFamily="18" charset="0"/>
                <a:sym typeface="Wingdings" pitchFamily="2" charset="2"/>
              </a:rPr>
              <a:t> </a:t>
            </a:r>
            <a:r>
              <a:rPr lang="en-US" sz="2400" b="1" dirty="0" err="1">
                <a:solidFill>
                  <a:srgbClr val="002060"/>
                </a:solidFill>
                <a:latin typeface="Times New Roman" pitchFamily="18" charset="0"/>
                <a:cs typeface="Times New Roman" pitchFamily="18" charset="0"/>
                <a:sym typeface="Wingdings" pitchFamily="2" charset="2"/>
              </a:rPr>
              <a:t>T</a:t>
            </a:r>
            <a:r>
              <a:rPr lang="en-US" sz="2400" b="1" baseline="-25000" dirty="0" err="1">
                <a:solidFill>
                  <a:srgbClr val="002060"/>
                </a:solidFill>
                <a:latin typeface="Times New Roman" pitchFamily="18" charset="0"/>
                <a:cs typeface="Times New Roman" pitchFamily="18" charset="0"/>
                <a:sym typeface="Wingdings" pitchFamily="2" charset="2"/>
              </a:rPr>
              <a:t>j</a:t>
            </a:r>
            <a:r>
              <a:rPr lang="en-US" sz="2400" dirty="0">
                <a:solidFill>
                  <a:srgbClr val="002060"/>
                </a:solidFill>
                <a:latin typeface="Times New Roman" pitchFamily="18" charset="0"/>
                <a:cs typeface="Times New Roman" pitchFamily="18" charset="0"/>
                <a:sym typeface="Wingdings" pitchFamily="2" charset="2"/>
              </a:rPr>
              <a:t>) in the precedence graph.</a:t>
            </a:r>
          </a:p>
          <a:p>
            <a:pPr marL="465138" lvl="0" indent="-465138" algn="just">
              <a:lnSpc>
                <a:spcPct val="150000"/>
              </a:lnSpc>
              <a:spcBef>
                <a:spcPct val="20000"/>
              </a:spcBef>
              <a:buClr>
                <a:srgbClr val="FF0000"/>
              </a:buClr>
              <a:buFontTx/>
              <a:buAutoNum type="arabicPeriod"/>
              <a:defRPr/>
            </a:pPr>
            <a:r>
              <a:rPr lang="en-US" sz="2400" dirty="0">
                <a:solidFill>
                  <a:srgbClr val="002060"/>
                </a:solidFill>
                <a:latin typeface="Times New Roman" pitchFamily="18" charset="0"/>
                <a:cs typeface="Times New Roman" pitchFamily="18" charset="0"/>
              </a:rPr>
              <a:t>For each case in S where </a:t>
            </a:r>
            <a:r>
              <a:rPr lang="en-US" sz="2400" dirty="0" err="1">
                <a:solidFill>
                  <a:srgbClr val="002060"/>
                </a:solidFill>
                <a:latin typeface="Times New Roman" pitchFamily="18" charset="0"/>
                <a:cs typeface="Times New Roman" pitchFamily="18" charset="0"/>
              </a:rPr>
              <a:t>T</a:t>
            </a:r>
            <a:r>
              <a:rPr lang="en-US" sz="2400" baseline="-25000" dirty="0" err="1">
                <a:solidFill>
                  <a:srgbClr val="002060"/>
                </a:solidFill>
                <a:latin typeface="Times New Roman" pitchFamily="18" charset="0"/>
                <a:cs typeface="Times New Roman" pitchFamily="18" charset="0"/>
              </a:rPr>
              <a:t>j</a:t>
            </a:r>
            <a:r>
              <a:rPr lang="en-US" sz="2400" dirty="0">
                <a:solidFill>
                  <a:srgbClr val="002060"/>
                </a:solidFill>
                <a:latin typeface="Times New Roman" pitchFamily="18" charset="0"/>
                <a:cs typeface="Times New Roman" pitchFamily="18" charset="0"/>
              </a:rPr>
              <a:t> executes a </a:t>
            </a:r>
            <a:r>
              <a:rPr lang="en-US" sz="2400" b="1" dirty="0">
                <a:solidFill>
                  <a:srgbClr val="002060"/>
                </a:solidFill>
                <a:latin typeface="Times New Roman" pitchFamily="18" charset="0"/>
                <a:cs typeface="Times New Roman" pitchFamily="18" charset="0"/>
              </a:rPr>
              <a:t>Write(X) after </a:t>
            </a:r>
            <a:r>
              <a:rPr lang="en-US" sz="2400" dirty="0">
                <a:solidFill>
                  <a:srgbClr val="002060"/>
                </a:solidFill>
                <a:latin typeface="Times New Roman" pitchFamily="18" charset="0"/>
                <a:cs typeface="Times New Roman" pitchFamily="18" charset="0"/>
              </a:rPr>
              <a:t>T</a:t>
            </a:r>
            <a:r>
              <a:rPr lang="en-US" sz="2400" baseline="-25000" dirty="0">
                <a:solidFill>
                  <a:srgbClr val="002060"/>
                </a:solidFill>
                <a:latin typeface="Times New Roman" pitchFamily="18" charset="0"/>
                <a:cs typeface="Times New Roman" pitchFamily="18" charset="0"/>
              </a:rPr>
              <a:t>i </a:t>
            </a:r>
            <a:r>
              <a:rPr lang="en-US" sz="2400" dirty="0">
                <a:solidFill>
                  <a:srgbClr val="002060"/>
                </a:solidFill>
                <a:latin typeface="Times New Roman" pitchFamily="18" charset="0"/>
                <a:cs typeface="Times New Roman" pitchFamily="18" charset="0"/>
              </a:rPr>
              <a:t>executes a </a:t>
            </a:r>
            <a:r>
              <a:rPr lang="en-US" sz="2400" b="1" dirty="0">
                <a:solidFill>
                  <a:srgbClr val="002060"/>
                </a:solidFill>
                <a:latin typeface="Times New Roman" pitchFamily="18" charset="0"/>
                <a:cs typeface="Times New Roman" pitchFamily="18" charset="0"/>
              </a:rPr>
              <a:t>Write(X)</a:t>
            </a:r>
            <a:r>
              <a:rPr lang="en-US" sz="2400" dirty="0">
                <a:solidFill>
                  <a:srgbClr val="002060"/>
                </a:solidFill>
                <a:latin typeface="Times New Roman" pitchFamily="18" charset="0"/>
                <a:cs typeface="Times New Roman" pitchFamily="18" charset="0"/>
              </a:rPr>
              <a:t>, create an edge (</a:t>
            </a:r>
            <a:r>
              <a:rPr lang="en-US" sz="2400" b="1" dirty="0">
                <a:solidFill>
                  <a:srgbClr val="002060"/>
                </a:solidFill>
                <a:latin typeface="Times New Roman" pitchFamily="18" charset="0"/>
                <a:cs typeface="Times New Roman" pitchFamily="18" charset="0"/>
              </a:rPr>
              <a:t>T</a:t>
            </a:r>
            <a:r>
              <a:rPr lang="en-US" sz="2400" b="1" baseline="-25000" dirty="0">
                <a:solidFill>
                  <a:srgbClr val="002060"/>
                </a:solidFill>
                <a:latin typeface="Times New Roman" pitchFamily="18" charset="0"/>
                <a:cs typeface="Times New Roman" pitchFamily="18" charset="0"/>
              </a:rPr>
              <a:t>i</a:t>
            </a:r>
            <a:r>
              <a:rPr lang="en-US" sz="2400" b="1" dirty="0">
                <a:solidFill>
                  <a:srgbClr val="002060"/>
                </a:solidFill>
                <a:latin typeface="Times New Roman" pitchFamily="18" charset="0"/>
                <a:cs typeface="Times New Roman" pitchFamily="18" charset="0"/>
              </a:rPr>
              <a:t> </a:t>
            </a:r>
            <a:r>
              <a:rPr lang="en-US" sz="2400" b="1" dirty="0">
                <a:solidFill>
                  <a:srgbClr val="002060"/>
                </a:solidFill>
                <a:latin typeface="Times New Roman" pitchFamily="18" charset="0"/>
                <a:cs typeface="Times New Roman" pitchFamily="18" charset="0"/>
                <a:sym typeface="Wingdings" pitchFamily="2" charset="2"/>
              </a:rPr>
              <a:t> </a:t>
            </a:r>
            <a:r>
              <a:rPr lang="en-US" sz="2400" b="1" dirty="0" err="1">
                <a:solidFill>
                  <a:srgbClr val="002060"/>
                </a:solidFill>
                <a:latin typeface="Times New Roman" pitchFamily="18" charset="0"/>
                <a:cs typeface="Times New Roman" pitchFamily="18" charset="0"/>
                <a:sym typeface="Wingdings" pitchFamily="2" charset="2"/>
              </a:rPr>
              <a:t>T</a:t>
            </a:r>
            <a:r>
              <a:rPr lang="en-US" sz="2400" b="1" baseline="-25000" dirty="0" err="1">
                <a:solidFill>
                  <a:srgbClr val="002060"/>
                </a:solidFill>
                <a:latin typeface="Times New Roman" pitchFamily="18" charset="0"/>
                <a:cs typeface="Times New Roman" pitchFamily="18" charset="0"/>
                <a:sym typeface="Wingdings" pitchFamily="2" charset="2"/>
              </a:rPr>
              <a:t>j</a:t>
            </a:r>
            <a:r>
              <a:rPr lang="en-US" sz="2400" dirty="0">
                <a:solidFill>
                  <a:srgbClr val="002060"/>
                </a:solidFill>
                <a:latin typeface="Times New Roman" pitchFamily="18" charset="0"/>
                <a:cs typeface="Times New Roman" pitchFamily="18" charset="0"/>
                <a:sym typeface="Wingdings" pitchFamily="2" charset="2"/>
              </a:rPr>
              <a:t>) in the precedence graph.</a:t>
            </a:r>
          </a:p>
          <a:p>
            <a:pPr marL="465138" lvl="0" indent="-465138" algn="just">
              <a:lnSpc>
                <a:spcPct val="150000"/>
              </a:lnSpc>
              <a:spcBef>
                <a:spcPct val="20000"/>
              </a:spcBef>
              <a:buClr>
                <a:srgbClr val="FF0000"/>
              </a:buClr>
              <a:buFontTx/>
              <a:buAutoNum type="arabicPeriod"/>
              <a:defRPr/>
            </a:pPr>
            <a:r>
              <a:rPr lang="en-US" sz="2400" dirty="0">
                <a:solidFill>
                  <a:srgbClr val="002060"/>
                </a:solidFill>
                <a:latin typeface="Times New Roman" pitchFamily="18" charset="0"/>
                <a:cs typeface="Times New Roman" pitchFamily="18" charset="0"/>
                <a:sym typeface="Wingdings" pitchFamily="2" charset="2"/>
              </a:rPr>
              <a:t>The schedule </a:t>
            </a:r>
            <a:r>
              <a:rPr lang="en-US" sz="2400" b="1" dirty="0">
                <a:solidFill>
                  <a:srgbClr val="002060"/>
                </a:solidFill>
                <a:latin typeface="Times New Roman" pitchFamily="18" charset="0"/>
                <a:cs typeface="Times New Roman" pitchFamily="18" charset="0"/>
                <a:sym typeface="Wingdings" pitchFamily="2" charset="2"/>
              </a:rPr>
              <a:t>S is serializable </a:t>
            </a:r>
            <a:r>
              <a:rPr lang="en-US" sz="2400" dirty="0">
                <a:solidFill>
                  <a:srgbClr val="002060"/>
                </a:solidFill>
                <a:latin typeface="Times New Roman" pitchFamily="18" charset="0"/>
                <a:cs typeface="Times New Roman" pitchFamily="18" charset="0"/>
                <a:sym typeface="Wingdings" pitchFamily="2" charset="2"/>
              </a:rPr>
              <a:t>if and only if the precedence graph </a:t>
            </a:r>
            <a:r>
              <a:rPr lang="en-US" sz="2400" b="1" dirty="0">
                <a:solidFill>
                  <a:srgbClr val="002060"/>
                </a:solidFill>
                <a:latin typeface="Times New Roman" pitchFamily="18" charset="0"/>
                <a:cs typeface="Times New Roman" pitchFamily="18" charset="0"/>
                <a:sym typeface="Wingdings" pitchFamily="2" charset="2"/>
              </a:rPr>
              <a:t>has no cycles</a:t>
            </a:r>
            <a:r>
              <a:rPr lang="en-US" sz="2400" dirty="0">
                <a:solidFill>
                  <a:srgbClr val="002060"/>
                </a:solidFill>
                <a:latin typeface="Times New Roman" pitchFamily="18" charset="0"/>
                <a:cs typeface="Times New Roman" pitchFamily="18" charset="0"/>
                <a:sym typeface="Wingdings" pitchFamily="2" charset="2"/>
              </a:rPr>
              <a:t>.</a:t>
            </a:r>
          </a:p>
          <a:p>
            <a:pPr marL="465138" indent="-465138" algn="just">
              <a:lnSpc>
                <a:spcPct val="150000"/>
              </a:lnSpc>
              <a:spcBef>
                <a:spcPct val="20000"/>
              </a:spcBef>
              <a:buClr>
                <a:srgbClr val="FF0000"/>
              </a:buClr>
              <a:buFontTx/>
              <a:buAutoNum type="arabicPeriod"/>
              <a:defRPr/>
            </a:pPr>
            <a:endParaRPr lang="en-US" sz="2400" dirty="0">
              <a:solidFill>
                <a:srgbClr val="002060"/>
              </a:solidFill>
              <a:latin typeface="Times New Roman" pitchFamily="18" charset="0"/>
              <a:cs typeface="Times New Roman" pitchFamily="18" charset="0"/>
              <a:sym typeface="Wingdings" pitchFamily="2" charset="2"/>
            </a:endParaRPr>
          </a:p>
          <a:p>
            <a:pPr marL="465138" marR="0" lvl="0" indent="-465138" algn="just" defTabSz="914400" rtl="0" eaLnBrk="1" fontAlgn="auto" latinLnBrk="0" hangingPunct="1">
              <a:lnSpc>
                <a:spcPct val="150000"/>
              </a:lnSpc>
              <a:spcBef>
                <a:spcPct val="20000"/>
              </a:spcBef>
              <a:spcAft>
                <a:spcPts val="0"/>
              </a:spcAft>
              <a:buClr>
                <a:srgbClr val="FF0000"/>
              </a:buClr>
              <a:buSzTx/>
              <a:buAutoNum type="arabicPeriod"/>
              <a:tabLst/>
              <a:defRPr/>
            </a:pPr>
            <a:endParaRPr kumimoji="0" lang="en-US" sz="24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sz="3600" b="1" dirty="0">
                <a:solidFill>
                  <a:srgbClr val="FF0000"/>
                </a:solidFill>
                <a:latin typeface="Times New Roman" pitchFamily="18" charset="0"/>
                <a:cs typeface="Times New Roman" pitchFamily="18" charset="0"/>
              </a:rPr>
              <a:t>TESTING FOR CONFLICT SERIALIZABILITY</a:t>
            </a:r>
          </a:p>
        </p:txBody>
      </p:sp>
      <p:sp>
        <p:nvSpPr>
          <p:cNvPr id="8" name="Content Placeholder 2"/>
          <p:cNvSpPr txBox="1">
            <a:spLocks/>
          </p:cNvSpPr>
          <p:nvPr/>
        </p:nvSpPr>
        <p:spPr>
          <a:xfrm>
            <a:off x="304800" y="838200"/>
            <a:ext cx="8610600" cy="5715000"/>
          </a:xfrm>
          <a:prstGeom prst="rect">
            <a:avLst/>
          </a:prstGeom>
        </p:spPr>
        <p:txBody>
          <a:bodyPr vert="horz" lIns="91440" tIns="45720" rIns="91440" bIns="45720" rtlCol="0">
            <a:normAutofit/>
          </a:bodyPr>
          <a:lstStyle/>
          <a:p>
            <a:pPr marL="465138" indent="-465138" algn="just">
              <a:lnSpc>
                <a:spcPct val="150000"/>
              </a:lnSpc>
              <a:spcBef>
                <a:spcPct val="20000"/>
              </a:spcBef>
              <a:buClr>
                <a:srgbClr val="FF0000"/>
              </a:buClr>
              <a:defRPr/>
            </a:pPr>
            <a:endParaRPr lang="en-US" sz="2400" dirty="0">
              <a:solidFill>
                <a:srgbClr val="002060"/>
              </a:solidFill>
              <a:latin typeface="Times New Roman" pitchFamily="18" charset="0"/>
              <a:cs typeface="Times New Roman" pitchFamily="18" charset="0"/>
              <a:sym typeface="Wingdings" pitchFamily="2" charset="2"/>
            </a:endParaRPr>
          </a:p>
          <a:p>
            <a:pPr marL="465138" marR="0" lvl="0" indent="-465138" algn="just" defTabSz="914400" rtl="0" eaLnBrk="1" fontAlgn="auto" latinLnBrk="0" hangingPunct="1">
              <a:lnSpc>
                <a:spcPct val="150000"/>
              </a:lnSpc>
              <a:spcBef>
                <a:spcPct val="20000"/>
              </a:spcBef>
              <a:spcAft>
                <a:spcPts val="0"/>
              </a:spcAft>
              <a:buClr>
                <a:srgbClr val="FF0000"/>
              </a:buClr>
              <a:buSzTx/>
              <a:buAutoNum type="arabicPeriod"/>
              <a:tabLst/>
              <a:defRPr/>
            </a:pPr>
            <a:endParaRPr kumimoji="0" lang="en-US" sz="24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graphicFrame>
        <p:nvGraphicFramePr>
          <p:cNvPr id="4" name="Content Placeholder 4"/>
          <p:cNvGraphicFramePr>
            <a:graphicFrameLocks/>
          </p:cNvGraphicFramePr>
          <p:nvPr/>
        </p:nvGraphicFramePr>
        <p:xfrm>
          <a:off x="304800" y="1371600"/>
          <a:ext cx="2438400" cy="3708400"/>
        </p:xfrm>
        <a:graphic>
          <a:graphicData uri="http://schemas.openxmlformats.org/drawingml/2006/table">
            <a:tbl>
              <a:tblPr firstRow="1" bandRow="1">
                <a:tableStyleId>{5C22544A-7EE6-4342-B048-85BDC9FD1C3A}</a:tableStyleId>
              </a:tblPr>
              <a:tblGrid>
                <a:gridCol w="1186249">
                  <a:extLst>
                    <a:ext uri="{9D8B030D-6E8A-4147-A177-3AD203B41FA5}">
                      <a16:colId xmlns:a16="http://schemas.microsoft.com/office/drawing/2014/main" val="20000"/>
                    </a:ext>
                  </a:extLst>
                </a:gridCol>
                <a:gridCol w="1252151">
                  <a:extLst>
                    <a:ext uri="{9D8B030D-6E8A-4147-A177-3AD203B41FA5}">
                      <a16:colId xmlns:a16="http://schemas.microsoft.com/office/drawing/2014/main" val="20001"/>
                    </a:ext>
                  </a:extLst>
                </a:gridCol>
              </a:tblGrid>
              <a:tr h="370840">
                <a:tc>
                  <a:txBody>
                    <a:bodyPr/>
                    <a:lstStyle/>
                    <a:p>
                      <a:pPr algn="ctr"/>
                      <a:r>
                        <a:rPr lang="en-US" b="1" dirty="0">
                          <a:solidFill>
                            <a:srgbClr val="FF000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FF000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l"/>
                      <a:r>
                        <a:rPr lang="en-US" b="1" dirty="0">
                          <a:solidFill>
                            <a:srgbClr val="FF000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r>
                        <a:rPr lang="en-US" b="1" dirty="0">
                          <a:solidFill>
                            <a:srgbClr val="002060"/>
                          </a:solidFill>
                          <a:latin typeface="Times New Roman" pitchFamily="18" charset="0"/>
                          <a:cs typeface="Times New Roman" pitchFamily="18" charset="0"/>
                        </a:rPr>
                        <a:t>X:=X-N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2060"/>
                          </a:solidFill>
                          <a:latin typeface="Times New Roman" pitchFamily="18" charset="0"/>
                          <a:cs typeface="Times New Roman" pitchFamily="18" charset="0"/>
                        </a:rPr>
                        <a:t>X:=X+M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l"/>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l"/>
                      <a:r>
                        <a:rPr lang="en-US" b="1" dirty="0">
                          <a:solidFill>
                            <a:srgbClr val="002060"/>
                          </a:solidFill>
                          <a:latin typeface="Times New Roman" pitchFamily="18" charset="0"/>
                          <a:cs typeface="Times New Roman" pitchFamily="18" charset="0"/>
                        </a:rPr>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r>
                        <a:rPr lang="en-US" b="1" dirty="0">
                          <a:solidFill>
                            <a:srgbClr val="002060"/>
                          </a:solidFill>
                          <a:latin typeface="Times New Roman" pitchFamily="18" charset="0"/>
                          <a:cs typeface="Times New Roman" pitchFamily="18" charset="0"/>
                        </a:rPr>
                        <a:t>Y:=Y+N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l"/>
                      <a:r>
                        <a:rPr lang="en-US" b="1" dirty="0">
                          <a:solidFill>
                            <a:srgbClr val="002060"/>
                          </a:solidFill>
                          <a:latin typeface="Times New Roman" pitchFamily="18" charset="0"/>
                          <a:cs typeface="Times New Roman" pitchFamily="18" charset="0"/>
                        </a:rPr>
                        <a:t>Write(Y)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5" name="Title 1"/>
          <p:cNvSpPr txBox="1">
            <a:spLocks/>
          </p:cNvSpPr>
          <p:nvPr/>
        </p:nvSpPr>
        <p:spPr>
          <a:xfrm>
            <a:off x="228600" y="914400"/>
            <a:ext cx="22860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SCHEDULE </a:t>
            </a:r>
            <a:r>
              <a:rPr lang="en-US" sz="2400" b="1" dirty="0">
                <a:solidFill>
                  <a:srgbClr val="FF0000"/>
                </a:solidFill>
                <a:latin typeface="Times New Roman" pitchFamily="18" charset="0"/>
                <a:ea typeface="+mj-ea"/>
                <a:cs typeface="Times New Roman" pitchFamily="18" charset="0"/>
              </a:rPr>
              <a:t>C</a:t>
            </a:r>
            <a:endPar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endParaRPr>
          </a:p>
        </p:txBody>
      </p:sp>
      <p:sp>
        <p:nvSpPr>
          <p:cNvPr id="6" name="Oval 5"/>
          <p:cNvSpPr/>
          <p:nvPr/>
        </p:nvSpPr>
        <p:spPr>
          <a:xfrm>
            <a:off x="3505200" y="1600200"/>
            <a:ext cx="6858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n w="28575">
                  <a:solidFill>
                    <a:schemeClr val="tx1"/>
                  </a:solidFill>
                </a:ln>
              </a:rPr>
              <a:t>T1</a:t>
            </a:r>
          </a:p>
        </p:txBody>
      </p:sp>
      <p:sp>
        <p:nvSpPr>
          <p:cNvPr id="11" name="Oval 10"/>
          <p:cNvSpPr/>
          <p:nvPr/>
        </p:nvSpPr>
        <p:spPr>
          <a:xfrm>
            <a:off x="5867400" y="1600200"/>
            <a:ext cx="6858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n w="28575">
                  <a:solidFill>
                    <a:schemeClr val="tx1"/>
                  </a:solidFill>
                </a:ln>
              </a:rPr>
              <a:t>T2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sz="3600" b="1" dirty="0">
                <a:solidFill>
                  <a:srgbClr val="FF0000"/>
                </a:solidFill>
                <a:latin typeface="Times New Roman" pitchFamily="18" charset="0"/>
                <a:cs typeface="Times New Roman" pitchFamily="18" charset="0"/>
              </a:rPr>
              <a:t>TESTING FOR CONFLICT SERIALIZABILITY</a:t>
            </a:r>
          </a:p>
        </p:txBody>
      </p:sp>
      <p:sp>
        <p:nvSpPr>
          <p:cNvPr id="8" name="Content Placeholder 2"/>
          <p:cNvSpPr txBox="1">
            <a:spLocks/>
          </p:cNvSpPr>
          <p:nvPr/>
        </p:nvSpPr>
        <p:spPr>
          <a:xfrm>
            <a:off x="304800" y="838200"/>
            <a:ext cx="8610600" cy="5715000"/>
          </a:xfrm>
          <a:prstGeom prst="rect">
            <a:avLst/>
          </a:prstGeom>
        </p:spPr>
        <p:txBody>
          <a:bodyPr vert="horz" lIns="91440" tIns="45720" rIns="91440" bIns="45720" rtlCol="0">
            <a:normAutofit/>
          </a:bodyPr>
          <a:lstStyle/>
          <a:p>
            <a:pPr marL="465138" indent="-465138" algn="just">
              <a:lnSpc>
                <a:spcPct val="150000"/>
              </a:lnSpc>
              <a:spcBef>
                <a:spcPct val="20000"/>
              </a:spcBef>
              <a:buClr>
                <a:srgbClr val="FF0000"/>
              </a:buClr>
              <a:defRPr/>
            </a:pPr>
            <a:endParaRPr lang="en-US" sz="2400" dirty="0">
              <a:solidFill>
                <a:srgbClr val="002060"/>
              </a:solidFill>
              <a:latin typeface="Times New Roman" pitchFamily="18" charset="0"/>
              <a:cs typeface="Times New Roman" pitchFamily="18" charset="0"/>
              <a:sym typeface="Wingdings" pitchFamily="2" charset="2"/>
            </a:endParaRPr>
          </a:p>
          <a:p>
            <a:pPr marL="465138" marR="0" lvl="0" indent="-465138" algn="just" defTabSz="914400" rtl="0" eaLnBrk="1" fontAlgn="auto" latinLnBrk="0" hangingPunct="1">
              <a:lnSpc>
                <a:spcPct val="150000"/>
              </a:lnSpc>
              <a:spcBef>
                <a:spcPct val="20000"/>
              </a:spcBef>
              <a:spcAft>
                <a:spcPts val="0"/>
              </a:spcAft>
              <a:buClr>
                <a:srgbClr val="FF0000"/>
              </a:buClr>
              <a:buSzTx/>
              <a:buAutoNum type="arabicPeriod"/>
              <a:tabLst/>
              <a:defRPr/>
            </a:pPr>
            <a:endParaRPr kumimoji="0" lang="en-US" sz="24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graphicFrame>
        <p:nvGraphicFramePr>
          <p:cNvPr id="4" name="Content Placeholder 4"/>
          <p:cNvGraphicFramePr>
            <a:graphicFrameLocks/>
          </p:cNvGraphicFramePr>
          <p:nvPr/>
        </p:nvGraphicFramePr>
        <p:xfrm>
          <a:off x="304800" y="1371600"/>
          <a:ext cx="2438400" cy="3708400"/>
        </p:xfrm>
        <a:graphic>
          <a:graphicData uri="http://schemas.openxmlformats.org/drawingml/2006/table">
            <a:tbl>
              <a:tblPr firstRow="1" bandRow="1">
                <a:tableStyleId>{5C22544A-7EE6-4342-B048-85BDC9FD1C3A}</a:tableStyleId>
              </a:tblPr>
              <a:tblGrid>
                <a:gridCol w="1186249">
                  <a:extLst>
                    <a:ext uri="{9D8B030D-6E8A-4147-A177-3AD203B41FA5}">
                      <a16:colId xmlns:a16="http://schemas.microsoft.com/office/drawing/2014/main" val="20000"/>
                    </a:ext>
                  </a:extLst>
                </a:gridCol>
                <a:gridCol w="1252151">
                  <a:extLst>
                    <a:ext uri="{9D8B030D-6E8A-4147-A177-3AD203B41FA5}">
                      <a16:colId xmlns:a16="http://schemas.microsoft.com/office/drawing/2014/main" val="20001"/>
                    </a:ext>
                  </a:extLst>
                </a:gridCol>
              </a:tblGrid>
              <a:tr h="370840">
                <a:tc>
                  <a:txBody>
                    <a:bodyPr/>
                    <a:lstStyle/>
                    <a:p>
                      <a:pPr algn="ctr"/>
                      <a:r>
                        <a:rPr lang="en-US" dirty="0">
                          <a:solidFill>
                            <a:srgbClr val="FF000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rgbClr val="FF000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l"/>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r>
                        <a:rPr lang="en-US" b="1" dirty="0">
                          <a:solidFill>
                            <a:srgbClr val="002060"/>
                          </a:solidFill>
                          <a:latin typeface="Times New Roman" pitchFamily="18" charset="0"/>
                          <a:cs typeface="Times New Roman" pitchFamily="18" charset="0"/>
                        </a:rPr>
                        <a:t>X:=X-N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2060"/>
                          </a:solidFill>
                          <a:latin typeface="Times New Roman" pitchFamily="18" charset="0"/>
                          <a:cs typeface="Times New Roman" pitchFamily="18" charset="0"/>
                        </a:rPr>
                        <a:t>X:=X+M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l"/>
                      <a:r>
                        <a:rPr lang="en-US" b="1" dirty="0">
                          <a:solidFill>
                            <a:srgbClr val="FF000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l"/>
                      <a:r>
                        <a:rPr lang="en-US" b="1" dirty="0">
                          <a:solidFill>
                            <a:srgbClr val="002060"/>
                          </a:solidFill>
                          <a:latin typeface="Times New Roman" pitchFamily="18" charset="0"/>
                          <a:cs typeface="Times New Roman" pitchFamily="18" charset="0"/>
                        </a:rPr>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r>
                        <a:rPr lang="en-US" b="1" dirty="0">
                          <a:solidFill>
                            <a:srgbClr val="002060"/>
                          </a:solidFill>
                          <a:latin typeface="Times New Roman" pitchFamily="18" charset="0"/>
                          <a:cs typeface="Times New Roman" pitchFamily="18" charset="0"/>
                        </a:rPr>
                        <a:t>Y:=Y+N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l"/>
                      <a:r>
                        <a:rPr lang="en-US" b="1" dirty="0">
                          <a:solidFill>
                            <a:srgbClr val="002060"/>
                          </a:solidFill>
                          <a:latin typeface="Times New Roman" pitchFamily="18" charset="0"/>
                          <a:cs typeface="Times New Roman" pitchFamily="18" charset="0"/>
                        </a:rPr>
                        <a:t>Write(Y)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5" name="Title 1"/>
          <p:cNvSpPr txBox="1">
            <a:spLocks/>
          </p:cNvSpPr>
          <p:nvPr/>
        </p:nvSpPr>
        <p:spPr>
          <a:xfrm>
            <a:off x="228600" y="914400"/>
            <a:ext cx="22860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SCHEDULE </a:t>
            </a:r>
            <a:r>
              <a:rPr lang="en-US" sz="2400" b="1" dirty="0">
                <a:solidFill>
                  <a:srgbClr val="FF0000"/>
                </a:solidFill>
                <a:latin typeface="Times New Roman" pitchFamily="18" charset="0"/>
                <a:ea typeface="+mj-ea"/>
                <a:cs typeface="Times New Roman" pitchFamily="18" charset="0"/>
              </a:rPr>
              <a:t>C</a:t>
            </a:r>
            <a:endPar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endParaRPr>
          </a:p>
        </p:txBody>
      </p:sp>
      <p:sp>
        <p:nvSpPr>
          <p:cNvPr id="6" name="Oval 5"/>
          <p:cNvSpPr/>
          <p:nvPr/>
        </p:nvSpPr>
        <p:spPr>
          <a:xfrm>
            <a:off x="3505200" y="1600200"/>
            <a:ext cx="6858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n w="28575">
                  <a:solidFill>
                    <a:schemeClr val="tx1"/>
                  </a:solidFill>
                </a:ln>
              </a:rPr>
              <a:t>T1</a:t>
            </a:r>
          </a:p>
        </p:txBody>
      </p:sp>
      <p:sp>
        <p:nvSpPr>
          <p:cNvPr id="11" name="Oval 10"/>
          <p:cNvSpPr/>
          <p:nvPr/>
        </p:nvSpPr>
        <p:spPr>
          <a:xfrm>
            <a:off x="5867400" y="1600200"/>
            <a:ext cx="6858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n w="28575">
                  <a:solidFill>
                    <a:schemeClr val="tx1"/>
                  </a:solidFill>
                </a:ln>
              </a:rPr>
              <a:t>T2</a:t>
            </a:r>
          </a:p>
        </p:txBody>
      </p:sp>
      <p:sp>
        <p:nvSpPr>
          <p:cNvPr id="10" name="Curved Left Arrow 9"/>
          <p:cNvSpPr/>
          <p:nvPr/>
        </p:nvSpPr>
        <p:spPr>
          <a:xfrm rot="5400000">
            <a:off x="4663440" y="1280160"/>
            <a:ext cx="731520" cy="259080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sz="3600" b="1" dirty="0">
                <a:solidFill>
                  <a:srgbClr val="FF0000"/>
                </a:solidFill>
                <a:latin typeface="Times New Roman" pitchFamily="18" charset="0"/>
                <a:cs typeface="Times New Roman" pitchFamily="18" charset="0"/>
              </a:rPr>
              <a:t>TESTING FOR CONFLICT SERIALIZABILITY</a:t>
            </a:r>
          </a:p>
        </p:txBody>
      </p:sp>
      <p:sp>
        <p:nvSpPr>
          <p:cNvPr id="8" name="Content Placeholder 2"/>
          <p:cNvSpPr txBox="1">
            <a:spLocks/>
          </p:cNvSpPr>
          <p:nvPr/>
        </p:nvSpPr>
        <p:spPr>
          <a:xfrm>
            <a:off x="304800" y="838200"/>
            <a:ext cx="8610600" cy="5715000"/>
          </a:xfrm>
          <a:prstGeom prst="rect">
            <a:avLst/>
          </a:prstGeom>
        </p:spPr>
        <p:txBody>
          <a:bodyPr vert="horz" lIns="91440" tIns="45720" rIns="91440" bIns="45720" rtlCol="0">
            <a:normAutofit/>
          </a:bodyPr>
          <a:lstStyle/>
          <a:p>
            <a:pPr marL="465138" indent="-465138" algn="just">
              <a:lnSpc>
                <a:spcPct val="150000"/>
              </a:lnSpc>
              <a:spcBef>
                <a:spcPct val="20000"/>
              </a:spcBef>
              <a:buClr>
                <a:srgbClr val="FF0000"/>
              </a:buClr>
              <a:defRPr/>
            </a:pPr>
            <a:endParaRPr lang="en-US" sz="2400" dirty="0">
              <a:solidFill>
                <a:srgbClr val="002060"/>
              </a:solidFill>
              <a:latin typeface="Times New Roman" pitchFamily="18" charset="0"/>
              <a:cs typeface="Times New Roman" pitchFamily="18" charset="0"/>
              <a:sym typeface="Wingdings" pitchFamily="2" charset="2"/>
            </a:endParaRPr>
          </a:p>
          <a:p>
            <a:pPr marL="465138" marR="0" lvl="0" indent="-465138" algn="just" defTabSz="914400" rtl="0" eaLnBrk="1" fontAlgn="auto" latinLnBrk="0" hangingPunct="1">
              <a:lnSpc>
                <a:spcPct val="150000"/>
              </a:lnSpc>
              <a:spcBef>
                <a:spcPct val="20000"/>
              </a:spcBef>
              <a:spcAft>
                <a:spcPts val="0"/>
              </a:spcAft>
              <a:buClr>
                <a:srgbClr val="FF0000"/>
              </a:buClr>
              <a:buSzTx/>
              <a:buAutoNum type="arabicPeriod"/>
              <a:tabLst/>
              <a:defRPr/>
            </a:pPr>
            <a:endParaRPr kumimoji="0" lang="en-US" sz="24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graphicFrame>
        <p:nvGraphicFramePr>
          <p:cNvPr id="4" name="Content Placeholder 4"/>
          <p:cNvGraphicFramePr>
            <a:graphicFrameLocks/>
          </p:cNvGraphicFramePr>
          <p:nvPr/>
        </p:nvGraphicFramePr>
        <p:xfrm>
          <a:off x="304800" y="1371600"/>
          <a:ext cx="2438400" cy="3708400"/>
        </p:xfrm>
        <a:graphic>
          <a:graphicData uri="http://schemas.openxmlformats.org/drawingml/2006/table">
            <a:tbl>
              <a:tblPr firstRow="1" bandRow="1">
                <a:tableStyleId>{5C22544A-7EE6-4342-B048-85BDC9FD1C3A}</a:tableStyleId>
              </a:tblPr>
              <a:tblGrid>
                <a:gridCol w="1186249">
                  <a:extLst>
                    <a:ext uri="{9D8B030D-6E8A-4147-A177-3AD203B41FA5}">
                      <a16:colId xmlns:a16="http://schemas.microsoft.com/office/drawing/2014/main" val="20000"/>
                    </a:ext>
                  </a:extLst>
                </a:gridCol>
                <a:gridCol w="1252151">
                  <a:extLst>
                    <a:ext uri="{9D8B030D-6E8A-4147-A177-3AD203B41FA5}">
                      <a16:colId xmlns:a16="http://schemas.microsoft.com/office/drawing/2014/main" val="20001"/>
                    </a:ext>
                  </a:extLst>
                </a:gridCol>
              </a:tblGrid>
              <a:tr h="370840">
                <a:tc>
                  <a:txBody>
                    <a:bodyPr/>
                    <a:lstStyle/>
                    <a:p>
                      <a:pPr algn="ctr"/>
                      <a:r>
                        <a:rPr lang="en-US" dirty="0">
                          <a:solidFill>
                            <a:srgbClr val="FF000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rgbClr val="FF000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l"/>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r>
                        <a:rPr lang="en-US" b="1" dirty="0">
                          <a:solidFill>
                            <a:srgbClr val="002060"/>
                          </a:solidFill>
                          <a:latin typeface="Times New Roman" pitchFamily="18" charset="0"/>
                          <a:cs typeface="Times New Roman" pitchFamily="18" charset="0"/>
                        </a:rPr>
                        <a:t>X:=X-N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2060"/>
                          </a:solidFill>
                          <a:latin typeface="Times New Roman" pitchFamily="18" charset="0"/>
                          <a:cs typeface="Times New Roman" pitchFamily="18" charset="0"/>
                        </a:rPr>
                        <a:t>X:=X+M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l"/>
                      <a:r>
                        <a:rPr lang="en-US" b="1" dirty="0">
                          <a:solidFill>
                            <a:srgbClr val="FF000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l"/>
                      <a:r>
                        <a:rPr lang="en-US" b="1" dirty="0">
                          <a:solidFill>
                            <a:srgbClr val="002060"/>
                          </a:solidFill>
                          <a:latin typeface="Times New Roman" pitchFamily="18" charset="0"/>
                          <a:cs typeface="Times New Roman" pitchFamily="18" charset="0"/>
                        </a:rPr>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r>
                        <a:rPr lang="en-US" b="1" dirty="0">
                          <a:solidFill>
                            <a:srgbClr val="002060"/>
                          </a:solidFill>
                          <a:latin typeface="Times New Roman" pitchFamily="18" charset="0"/>
                          <a:cs typeface="Times New Roman" pitchFamily="18" charset="0"/>
                        </a:rPr>
                        <a:t>Y:=Y+N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l"/>
                      <a:r>
                        <a:rPr lang="en-US" b="1" dirty="0">
                          <a:solidFill>
                            <a:srgbClr val="002060"/>
                          </a:solidFill>
                          <a:latin typeface="Times New Roman" pitchFamily="18" charset="0"/>
                          <a:cs typeface="Times New Roman" pitchFamily="18" charset="0"/>
                        </a:rPr>
                        <a:t>Write(Y)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5" name="Title 1"/>
          <p:cNvSpPr txBox="1">
            <a:spLocks/>
          </p:cNvSpPr>
          <p:nvPr/>
        </p:nvSpPr>
        <p:spPr>
          <a:xfrm>
            <a:off x="228600" y="914400"/>
            <a:ext cx="22860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SCHEDULE </a:t>
            </a:r>
            <a:r>
              <a:rPr lang="en-US" sz="2400" b="1" dirty="0">
                <a:solidFill>
                  <a:srgbClr val="FF0000"/>
                </a:solidFill>
                <a:latin typeface="Times New Roman" pitchFamily="18" charset="0"/>
                <a:ea typeface="+mj-ea"/>
                <a:cs typeface="Times New Roman" pitchFamily="18" charset="0"/>
              </a:rPr>
              <a:t>C</a:t>
            </a:r>
            <a:endPar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endParaRPr>
          </a:p>
        </p:txBody>
      </p:sp>
      <p:sp>
        <p:nvSpPr>
          <p:cNvPr id="6" name="Oval 5"/>
          <p:cNvSpPr/>
          <p:nvPr/>
        </p:nvSpPr>
        <p:spPr>
          <a:xfrm>
            <a:off x="3505200" y="1600200"/>
            <a:ext cx="6858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n w="28575">
                  <a:solidFill>
                    <a:schemeClr val="tx1"/>
                  </a:solidFill>
                </a:ln>
              </a:rPr>
              <a:t>T1</a:t>
            </a:r>
          </a:p>
        </p:txBody>
      </p:sp>
      <p:sp>
        <p:nvSpPr>
          <p:cNvPr id="11" name="Oval 10"/>
          <p:cNvSpPr/>
          <p:nvPr/>
        </p:nvSpPr>
        <p:spPr>
          <a:xfrm>
            <a:off x="5867400" y="1600200"/>
            <a:ext cx="6858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n w="28575">
                  <a:solidFill>
                    <a:schemeClr val="tx1"/>
                  </a:solidFill>
                </a:ln>
              </a:rPr>
              <a:t>T2</a:t>
            </a:r>
          </a:p>
        </p:txBody>
      </p:sp>
      <p:sp>
        <p:nvSpPr>
          <p:cNvPr id="10" name="Curved Left Arrow 9"/>
          <p:cNvSpPr/>
          <p:nvPr/>
        </p:nvSpPr>
        <p:spPr>
          <a:xfrm rot="5400000">
            <a:off x="4663440" y="1280160"/>
            <a:ext cx="731520" cy="259080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Curved Down Arrow 11"/>
          <p:cNvSpPr/>
          <p:nvPr/>
        </p:nvSpPr>
        <p:spPr>
          <a:xfrm>
            <a:off x="3733800" y="838200"/>
            <a:ext cx="2667000"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itle 1"/>
          <p:cNvSpPr txBox="1">
            <a:spLocks/>
          </p:cNvSpPr>
          <p:nvPr/>
        </p:nvSpPr>
        <p:spPr>
          <a:xfrm>
            <a:off x="2971800" y="3200400"/>
            <a:ext cx="5943600" cy="114300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50000"/>
              </a:lnSpc>
              <a:spcBef>
                <a:spcPct val="0"/>
              </a:spcBef>
              <a:spcAft>
                <a:spcPts val="0"/>
              </a:spcAft>
              <a:buClrTx/>
              <a:buSzTx/>
              <a:buFontTx/>
              <a:buNone/>
              <a:tabLst/>
              <a:defRPr/>
            </a:pPr>
            <a:r>
              <a:rPr lang="en-US" sz="2800" b="1" dirty="0">
                <a:solidFill>
                  <a:srgbClr val="FF0000"/>
                </a:solidFill>
                <a:latin typeface="Times New Roman" pitchFamily="18" charset="0"/>
                <a:ea typeface="+mj-ea"/>
                <a:cs typeface="Times New Roman" pitchFamily="18" charset="0"/>
              </a:rPr>
              <a:t>Graph has Cycle. So Schedule C is Not Serializable Schedule.</a:t>
            </a:r>
            <a:endParaRPr kumimoji="0" lang="en-US" sz="28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sz="3600" b="1" dirty="0">
                <a:solidFill>
                  <a:srgbClr val="FF0000"/>
                </a:solidFill>
                <a:latin typeface="Times New Roman" pitchFamily="18" charset="0"/>
                <a:cs typeface="Times New Roman" pitchFamily="18" charset="0"/>
              </a:rPr>
              <a:t>TESTING FOR CONFLICT SERIALIZABILITY</a:t>
            </a:r>
          </a:p>
        </p:txBody>
      </p:sp>
      <p:sp>
        <p:nvSpPr>
          <p:cNvPr id="8" name="Content Placeholder 2"/>
          <p:cNvSpPr txBox="1">
            <a:spLocks/>
          </p:cNvSpPr>
          <p:nvPr/>
        </p:nvSpPr>
        <p:spPr>
          <a:xfrm>
            <a:off x="304800" y="838200"/>
            <a:ext cx="8610600" cy="5715000"/>
          </a:xfrm>
          <a:prstGeom prst="rect">
            <a:avLst/>
          </a:prstGeom>
        </p:spPr>
        <p:txBody>
          <a:bodyPr vert="horz" lIns="91440" tIns="45720" rIns="91440" bIns="45720" rtlCol="0">
            <a:normAutofit/>
          </a:bodyPr>
          <a:lstStyle/>
          <a:p>
            <a:pPr marL="465138" indent="-465138" algn="just">
              <a:lnSpc>
                <a:spcPct val="150000"/>
              </a:lnSpc>
              <a:spcBef>
                <a:spcPct val="20000"/>
              </a:spcBef>
              <a:buClr>
                <a:srgbClr val="FF0000"/>
              </a:buClr>
              <a:defRPr/>
            </a:pPr>
            <a:endParaRPr lang="en-US" sz="2400" dirty="0">
              <a:solidFill>
                <a:srgbClr val="002060"/>
              </a:solidFill>
              <a:latin typeface="Times New Roman" pitchFamily="18" charset="0"/>
              <a:cs typeface="Times New Roman" pitchFamily="18" charset="0"/>
              <a:sym typeface="Wingdings" pitchFamily="2" charset="2"/>
            </a:endParaRPr>
          </a:p>
          <a:p>
            <a:pPr marL="465138" marR="0" lvl="0" indent="-465138" algn="just" defTabSz="914400" rtl="0" eaLnBrk="1" fontAlgn="auto" latinLnBrk="0" hangingPunct="1">
              <a:lnSpc>
                <a:spcPct val="150000"/>
              </a:lnSpc>
              <a:spcBef>
                <a:spcPct val="20000"/>
              </a:spcBef>
              <a:spcAft>
                <a:spcPts val="0"/>
              </a:spcAft>
              <a:buClr>
                <a:srgbClr val="FF0000"/>
              </a:buClr>
              <a:buSzTx/>
              <a:buAutoNum type="arabicPeriod"/>
              <a:tabLst/>
              <a:defRPr/>
            </a:pPr>
            <a:endParaRPr kumimoji="0" lang="en-US" sz="24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
        <p:nvSpPr>
          <p:cNvPr id="6" name="Oval 5"/>
          <p:cNvSpPr/>
          <p:nvPr/>
        </p:nvSpPr>
        <p:spPr>
          <a:xfrm>
            <a:off x="4648200" y="1600200"/>
            <a:ext cx="6858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n w="28575">
                  <a:solidFill>
                    <a:schemeClr val="tx1"/>
                  </a:solidFill>
                </a:ln>
              </a:rPr>
              <a:t>T1</a:t>
            </a:r>
          </a:p>
        </p:txBody>
      </p:sp>
      <p:sp>
        <p:nvSpPr>
          <p:cNvPr id="11" name="Oval 10"/>
          <p:cNvSpPr/>
          <p:nvPr/>
        </p:nvSpPr>
        <p:spPr>
          <a:xfrm>
            <a:off x="6781800" y="1600200"/>
            <a:ext cx="6858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n w="28575">
                  <a:solidFill>
                    <a:schemeClr val="tx1"/>
                  </a:solidFill>
                </a:ln>
              </a:rPr>
              <a:t>T2</a:t>
            </a:r>
          </a:p>
        </p:txBody>
      </p:sp>
      <p:sp>
        <p:nvSpPr>
          <p:cNvPr id="9" name="Title 1"/>
          <p:cNvSpPr txBox="1">
            <a:spLocks/>
          </p:cNvSpPr>
          <p:nvPr/>
        </p:nvSpPr>
        <p:spPr>
          <a:xfrm>
            <a:off x="304800" y="1219200"/>
            <a:ext cx="28194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SCHEDULE D</a:t>
            </a:r>
          </a:p>
        </p:txBody>
      </p:sp>
      <p:graphicFrame>
        <p:nvGraphicFramePr>
          <p:cNvPr id="10" name="Content Placeholder 4"/>
          <p:cNvGraphicFramePr>
            <a:graphicFrameLocks/>
          </p:cNvGraphicFramePr>
          <p:nvPr/>
        </p:nvGraphicFramePr>
        <p:xfrm>
          <a:off x="304800" y="1752600"/>
          <a:ext cx="2819400" cy="37084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tblGrid>
              <a:tr h="370840">
                <a:tc>
                  <a:txBody>
                    <a:bodyPr/>
                    <a:lstStyle/>
                    <a:p>
                      <a:pPr algn="ctr"/>
                      <a:r>
                        <a:rPr lang="en-US" b="1" dirty="0">
                          <a:solidFill>
                            <a:srgbClr val="FF000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FF000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l"/>
                      <a:r>
                        <a:rPr lang="en-US" b="1" dirty="0">
                          <a:solidFill>
                            <a:srgbClr val="FF000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r>
                        <a:rPr lang="en-US" b="1" dirty="0">
                          <a:solidFill>
                            <a:srgbClr val="002060"/>
                          </a:solidFill>
                          <a:latin typeface="Times New Roman" pitchFamily="18" charset="0"/>
                          <a:cs typeface="Times New Roman" pitchFamily="18" charset="0"/>
                        </a:rPr>
                        <a:t>X:=X-N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l"/>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FF000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X:=X+M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r>
                        <a:rPr lang="en-US" b="1" dirty="0">
                          <a:solidFill>
                            <a:srgbClr val="002060"/>
                          </a:solidFill>
                          <a:latin typeface="Times New Roman" pitchFamily="18" charset="0"/>
                          <a:cs typeface="Times New Roman" pitchFamily="18" charset="0"/>
                        </a:rPr>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r>
                        <a:rPr lang="en-US" b="1" dirty="0">
                          <a:solidFill>
                            <a:srgbClr val="002060"/>
                          </a:solidFill>
                          <a:latin typeface="Times New Roman" pitchFamily="18" charset="0"/>
                          <a:cs typeface="Times New Roman" pitchFamily="18" charset="0"/>
                        </a:rPr>
                        <a:t>Y:=Y+N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l"/>
                      <a:r>
                        <a:rPr lang="en-US" b="1" dirty="0">
                          <a:solidFill>
                            <a:srgbClr val="002060"/>
                          </a:solidFill>
                          <a:latin typeface="Times New Roman" pitchFamily="18" charset="0"/>
                          <a:cs typeface="Times New Roman" pitchFamily="18" charset="0"/>
                        </a:rPr>
                        <a:t>Write(Y)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sz="3600" b="1" dirty="0">
                <a:solidFill>
                  <a:srgbClr val="FF0000"/>
                </a:solidFill>
                <a:latin typeface="Times New Roman" pitchFamily="18" charset="0"/>
                <a:cs typeface="Times New Roman" pitchFamily="18" charset="0"/>
              </a:rPr>
              <a:t>TESTING FOR CONFLICT SERIALIZABILITY</a:t>
            </a:r>
          </a:p>
        </p:txBody>
      </p:sp>
      <p:sp>
        <p:nvSpPr>
          <p:cNvPr id="8" name="Content Placeholder 2"/>
          <p:cNvSpPr txBox="1">
            <a:spLocks/>
          </p:cNvSpPr>
          <p:nvPr/>
        </p:nvSpPr>
        <p:spPr>
          <a:xfrm>
            <a:off x="304800" y="838200"/>
            <a:ext cx="8610600" cy="5715000"/>
          </a:xfrm>
          <a:prstGeom prst="rect">
            <a:avLst/>
          </a:prstGeom>
        </p:spPr>
        <p:txBody>
          <a:bodyPr vert="horz" lIns="91440" tIns="45720" rIns="91440" bIns="45720" rtlCol="0">
            <a:normAutofit/>
          </a:bodyPr>
          <a:lstStyle/>
          <a:p>
            <a:pPr marL="465138" indent="-465138" algn="just">
              <a:lnSpc>
                <a:spcPct val="150000"/>
              </a:lnSpc>
              <a:spcBef>
                <a:spcPct val="20000"/>
              </a:spcBef>
              <a:buClr>
                <a:srgbClr val="FF0000"/>
              </a:buClr>
              <a:defRPr/>
            </a:pPr>
            <a:endParaRPr lang="en-US" sz="2400" dirty="0">
              <a:solidFill>
                <a:srgbClr val="002060"/>
              </a:solidFill>
              <a:latin typeface="Times New Roman" pitchFamily="18" charset="0"/>
              <a:cs typeface="Times New Roman" pitchFamily="18" charset="0"/>
              <a:sym typeface="Wingdings" pitchFamily="2" charset="2"/>
            </a:endParaRPr>
          </a:p>
          <a:p>
            <a:pPr marL="465138" marR="0" lvl="0" indent="-465138" algn="just" defTabSz="914400" rtl="0" eaLnBrk="1" fontAlgn="auto" latinLnBrk="0" hangingPunct="1">
              <a:lnSpc>
                <a:spcPct val="150000"/>
              </a:lnSpc>
              <a:spcBef>
                <a:spcPct val="20000"/>
              </a:spcBef>
              <a:spcAft>
                <a:spcPts val="0"/>
              </a:spcAft>
              <a:buClr>
                <a:srgbClr val="FF0000"/>
              </a:buClr>
              <a:buSzTx/>
              <a:buAutoNum type="arabicPeriod"/>
              <a:tabLst/>
              <a:defRPr/>
            </a:pPr>
            <a:endParaRPr kumimoji="0" lang="en-US" sz="24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
        <p:nvSpPr>
          <p:cNvPr id="6" name="Oval 5"/>
          <p:cNvSpPr/>
          <p:nvPr/>
        </p:nvSpPr>
        <p:spPr>
          <a:xfrm>
            <a:off x="4648200" y="1600200"/>
            <a:ext cx="6858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n w="28575">
                  <a:solidFill>
                    <a:schemeClr val="tx1"/>
                  </a:solidFill>
                </a:ln>
              </a:rPr>
              <a:t>T1</a:t>
            </a:r>
          </a:p>
        </p:txBody>
      </p:sp>
      <p:sp>
        <p:nvSpPr>
          <p:cNvPr id="11" name="Oval 10"/>
          <p:cNvSpPr/>
          <p:nvPr/>
        </p:nvSpPr>
        <p:spPr>
          <a:xfrm>
            <a:off x="6781800" y="1600200"/>
            <a:ext cx="6858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n w="28575">
                  <a:solidFill>
                    <a:schemeClr val="tx1"/>
                  </a:solidFill>
                </a:ln>
              </a:rPr>
              <a:t>T2</a:t>
            </a:r>
          </a:p>
        </p:txBody>
      </p:sp>
      <p:sp>
        <p:nvSpPr>
          <p:cNvPr id="9" name="Title 1"/>
          <p:cNvSpPr txBox="1">
            <a:spLocks/>
          </p:cNvSpPr>
          <p:nvPr/>
        </p:nvSpPr>
        <p:spPr>
          <a:xfrm>
            <a:off x="304800" y="1219200"/>
            <a:ext cx="28194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SCHEDULE D</a:t>
            </a:r>
          </a:p>
        </p:txBody>
      </p:sp>
      <p:graphicFrame>
        <p:nvGraphicFramePr>
          <p:cNvPr id="10" name="Content Placeholder 4"/>
          <p:cNvGraphicFramePr>
            <a:graphicFrameLocks/>
          </p:cNvGraphicFramePr>
          <p:nvPr/>
        </p:nvGraphicFramePr>
        <p:xfrm>
          <a:off x="304800" y="1752600"/>
          <a:ext cx="2819400" cy="37084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tblGrid>
              <a:tr h="370840">
                <a:tc>
                  <a:txBody>
                    <a:bodyPr/>
                    <a:lstStyle/>
                    <a:p>
                      <a:pPr algn="ctr"/>
                      <a:r>
                        <a:rPr lang="en-US" b="1" dirty="0">
                          <a:solidFill>
                            <a:srgbClr val="FF000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FF000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l"/>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r>
                        <a:rPr lang="en-US" b="1" dirty="0">
                          <a:solidFill>
                            <a:srgbClr val="002060"/>
                          </a:solidFill>
                          <a:latin typeface="Times New Roman" pitchFamily="18" charset="0"/>
                          <a:cs typeface="Times New Roman" pitchFamily="18" charset="0"/>
                        </a:rPr>
                        <a:t>X:=X-N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l"/>
                      <a:r>
                        <a:rPr lang="en-US" b="1" dirty="0">
                          <a:solidFill>
                            <a:srgbClr val="FF000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endParaRPr 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FF000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X:=X+M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r>
                        <a:rPr lang="en-US" b="1" dirty="0">
                          <a:solidFill>
                            <a:srgbClr val="002060"/>
                          </a:solidFill>
                          <a:latin typeface="Times New Roman" pitchFamily="18" charset="0"/>
                          <a:cs typeface="Times New Roman" pitchFamily="18" charset="0"/>
                        </a:rPr>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r>
                        <a:rPr lang="en-US" b="1" dirty="0">
                          <a:solidFill>
                            <a:srgbClr val="002060"/>
                          </a:solidFill>
                          <a:latin typeface="Times New Roman" pitchFamily="18" charset="0"/>
                          <a:cs typeface="Times New Roman" pitchFamily="18" charset="0"/>
                        </a:rPr>
                        <a:t>Y:=Y+N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l"/>
                      <a:r>
                        <a:rPr lang="en-US" b="1" dirty="0">
                          <a:solidFill>
                            <a:srgbClr val="002060"/>
                          </a:solidFill>
                          <a:latin typeface="Times New Roman" pitchFamily="18" charset="0"/>
                          <a:cs typeface="Times New Roman" pitchFamily="18" charset="0"/>
                        </a:rPr>
                        <a:t>Write(Y)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12" name="Curved Down Arrow 11"/>
          <p:cNvSpPr/>
          <p:nvPr/>
        </p:nvSpPr>
        <p:spPr>
          <a:xfrm>
            <a:off x="4876800" y="838200"/>
            <a:ext cx="2438400"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sz="3600" b="1" dirty="0">
                <a:solidFill>
                  <a:srgbClr val="FF0000"/>
                </a:solidFill>
                <a:latin typeface="Times New Roman" pitchFamily="18" charset="0"/>
                <a:cs typeface="Times New Roman" pitchFamily="18" charset="0"/>
              </a:rPr>
              <a:t>TESTING FOR CONFLICT SERIALIZABILITY</a:t>
            </a:r>
          </a:p>
        </p:txBody>
      </p:sp>
      <p:sp>
        <p:nvSpPr>
          <p:cNvPr id="8" name="Content Placeholder 2"/>
          <p:cNvSpPr txBox="1">
            <a:spLocks/>
          </p:cNvSpPr>
          <p:nvPr/>
        </p:nvSpPr>
        <p:spPr>
          <a:xfrm>
            <a:off x="304800" y="838200"/>
            <a:ext cx="8610600" cy="5715000"/>
          </a:xfrm>
          <a:prstGeom prst="rect">
            <a:avLst/>
          </a:prstGeom>
        </p:spPr>
        <p:txBody>
          <a:bodyPr vert="horz" lIns="91440" tIns="45720" rIns="91440" bIns="45720" rtlCol="0">
            <a:normAutofit/>
          </a:bodyPr>
          <a:lstStyle/>
          <a:p>
            <a:pPr marL="465138" indent="-465138" algn="just">
              <a:lnSpc>
                <a:spcPct val="150000"/>
              </a:lnSpc>
              <a:spcBef>
                <a:spcPct val="20000"/>
              </a:spcBef>
              <a:buClr>
                <a:srgbClr val="FF0000"/>
              </a:buClr>
              <a:defRPr/>
            </a:pPr>
            <a:endParaRPr lang="en-US" sz="2400" dirty="0">
              <a:solidFill>
                <a:srgbClr val="002060"/>
              </a:solidFill>
              <a:latin typeface="Times New Roman" pitchFamily="18" charset="0"/>
              <a:cs typeface="Times New Roman" pitchFamily="18" charset="0"/>
              <a:sym typeface="Wingdings" pitchFamily="2" charset="2"/>
            </a:endParaRPr>
          </a:p>
          <a:p>
            <a:pPr marL="465138" marR="0" lvl="0" indent="-465138" algn="just" defTabSz="914400" rtl="0" eaLnBrk="1" fontAlgn="auto" latinLnBrk="0" hangingPunct="1">
              <a:lnSpc>
                <a:spcPct val="150000"/>
              </a:lnSpc>
              <a:spcBef>
                <a:spcPct val="20000"/>
              </a:spcBef>
              <a:spcAft>
                <a:spcPts val="0"/>
              </a:spcAft>
              <a:buClr>
                <a:srgbClr val="FF0000"/>
              </a:buClr>
              <a:buSzTx/>
              <a:buAutoNum type="arabicPeriod"/>
              <a:tabLst/>
              <a:defRPr/>
            </a:pPr>
            <a:endParaRPr kumimoji="0" lang="en-US" sz="24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
        <p:nvSpPr>
          <p:cNvPr id="6" name="Oval 5"/>
          <p:cNvSpPr/>
          <p:nvPr/>
        </p:nvSpPr>
        <p:spPr>
          <a:xfrm>
            <a:off x="4648200" y="1600200"/>
            <a:ext cx="6858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n w="28575">
                  <a:solidFill>
                    <a:schemeClr val="tx1"/>
                  </a:solidFill>
                </a:ln>
              </a:rPr>
              <a:t>T1</a:t>
            </a:r>
          </a:p>
        </p:txBody>
      </p:sp>
      <p:sp>
        <p:nvSpPr>
          <p:cNvPr id="11" name="Oval 10"/>
          <p:cNvSpPr/>
          <p:nvPr/>
        </p:nvSpPr>
        <p:spPr>
          <a:xfrm>
            <a:off x="6781800" y="1600200"/>
            <a:ext cx="6858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n w="28575">
                  <a:solidFill>
                    <a:schemeClr val="tx1"/>
                  </a:solidFill>
                </a:ln>
              </a:rPr>
              <a:t>T2</a:t>
            </a:r>
          </a:p>
        </p:txBody>
      </p:sp>
      <p:sp>
        <p:nvSpPr>
          <p:cNvPr id="9" name="Title 1"/>
          <p:cNvSpPr txBox="1">
            <a:spLocks/>
          </p:cNvSpPr>
          <p:nvPr/>
        </p:nvSpPr>
        <p:spPr>
          <a:xfrm>
            <a:off x="304800" y="1219200"/>
            <a:ext cx="28194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SCHEDULE D</a:t>
            </a:r>
          </a:p>
        </p:txBody>
      </p:sp>
      <p:graphicFrame>
        <p:nvGraphicFramePr>
          <p:cNvPr id="10" name="Content Placeholder 4"/>
          <p:cNvGraphicFramePr>
            <a:graphicFrameLocks/>
          </p:cNvGraphicFramePr>
          <p:nvPr/>
        </p:nvGraphicFramePr>
        <p:xfrm>
          <a:off x="304800" y="1752600"/>
          <a:ext cx="2819400" cy="37084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tblGrid>
              <a:tr h="370840">
                <a:tc>
                  <a:txBody>
                    <a:bodyPr/>
                    <a:lstStyle/>
                    <a:p>
                      <a:pPr algn="ctr"/>
                      <a:r>
                        <a:rPr lang="en-US" b="1" dirty="0">
                          <a:solidFill>
                            <a:srgbClr val="FF000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FF000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l"/>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r>
                        <a:rPr lang="en-US" b="1" dirty="0">
                          <a:solidFill>
                            <a:srgbClr val="002060"/>
                          </a:solidFill>
                          <a:latin typeface="Times New Roman" pitchFamily="18" charset="0"/>
                          <a:cs typeface="Times New Roman" pitchFamily="18" charset="0"/>
                        </a:rPr>
                        <a:t>X:=X-N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l"/>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endParaRPr 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FF000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X:=X+M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r>
                        <a:rPr lang="en-US" b="1" dirty="0">
                          <a:solidFill>
                            <a:srgbClr val="FF0000"/>
                          </a:solidFill>
                          <a:latin typeface="Times New Roman" pitchFamily="18" charset="0"/>
                          <a:cs typeface="Times New Roman" pitchFamily="18" charset="0"/>
                        </a:rPr>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r>
                        <a:rPr lang="en-US" b="1" dirty="0">
                          <a:solidFill>
                            <a:srgbClr val="002060"/>
                          </a:solidFill>
                          <a:latin typeface="Times New Roman" pitchFamily="18" charset="0"/>
                          <a:cs typeface="Times New Roman" pitchFamily="18" charset="0"/>
                        </a:rPr>
                        <a:t>Y:=Y+N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l"/>
                      <a:r>
                        <a:rPr lang="en-US" b="1" dirty="0">
                          <a:solidFill>
                            <a:srgbClr val="002060"/>
                          </a:solidFill>
                          <a:latin typeface="Times New Roman" pitchFamily="18" charset="0"/>
                          <a:cs typeface="Times New Roman" pitchFamily="18" charset="0"/>
                        </a:rPr>
                        <a:t>Write(Y)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12" name="Curved Down Arrow 11"/>
          <p:cNvSpPr/>
          <p:nvPr/>
        </p:nvSpPr>
        <p:spPr>
          <a:xfrm>
            <a:off x="4876800" y="838200"/>
            <a:ext cx="2438400"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sz="3600" b="1" dirty="0">
                <a:solidFill>
                  <a:srgbClr val="FF0000"/>
                </a:solidFill>
                <a:latin typeface="Times New Roman" pitchFamily="18" charset="0"/>
                <a:cs typeface="Times New Roman" pitchFamily="18" charset="0"/>
              </a:rPr>
              <a:t>TESTING FOR CONFLICT SERIALIZABILITY</a:t>
            </a:r>
          </a:p>
        </p:txBody>
      </p:sp>
      <p:sp>
        <p:nvSpPr>
          <p:cNvPr id="8" name="Content Placeholder 2"/>
          <p:cNvSpPr txBox="1">
            <a:spLocks/>
          </p:cNvSpPr>
          <p:nvPr/>
        </p:nvSpPr>
        <p:spPr>
          <a:xfrm>
            <a:off x="304800" y="838200"/>
            <a:ext cx="8610600" cy="5715000"/>
          </a:xfrm>
          <a:prstGeom prst="rect">
            <a:avLst/>
          </a:prstGeom>
        </p:spPr>
        <p:txBody>
          <a:bodyPr vert="horz" lIns="91440" tIns="45720" rIns="91440" bIns="45720" rtlCol="0">
            <a:normAutofit/>
          </a:bodyPr>
          <a:lstStyle/>
          <a:p>
            <a:pPr marL="465138" indent="-465138" algn="just">
              <a:lnSpc>
                <a:spcPct val="150000"/>
              </a:lnSpc>
              <a:spcBef>
                <a:spcPct val="20000"/>
              </a:spcBef>
              <a:buClr>
                <a:srgbClr val="FF0000"/>
              </a:buClr>
              <a:defRPr/>
            </a:pPr>
            <a:endParaRPr lang="en-US" sz="2400" dirty="0">
              <a:solidFill>
                <a:srgbClr val="002060"/>
              </a:solidFill>
              <a:latin typeface="Times New Roman" pitchFamily="18" charset="0"/>
              <a:cs typeface="Times New Roman" pitchFamily="18" charset="0"/>
              <a:sym typeface="Wingdings" pitchFamily="2" charset="2"/>
            </a:endParaRPr>
          </a:p>
          <a:p>
            <a:pPr marL="465138" marR="0" lvl="0" indent="-465138" algn="just" defTabSz="914400" rtl="0" eaLnBrk="1" fontAlgn="auto" latinLnBrk="0" hangingPunct="1">
              <a:lnSpc>
                <a:spcPct val="150000"/>
              </a:lnSpc>
              <a:spcBef>
                <a:spcPct val="20000"/>
              </a:spcBef>
              <a:spcAft>
                <a:spcPts val="0"/>
              </a:spcAft>
              <a:buClr>
                <a:srgbClr val="FF0000"/>
              </a:buClr>
              <a:buSzTx/>
              <a:buAutoNum type="arabicPeriod"/>
              <a:tabLst/>
              <a:defRPr/>
            </a:pPr>
            <a:endParaRPr kumimoji="0" lang="en-US" sz="24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
        <p:nvSpPr>
          <p:cNvPr id="6" name="Oval 5"/>
          <p:cNvSpPr/>
          <p:nvPr/>
        </p:nvSpPr>
        <p:spPr>
          <a:xfrm>
            <a:off x="4648200" y="1600200"/>
            <a:ext cx="6858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n w="28575">
                  <a:solidFill>
                    <a:schemeClr val="tx1"/>
                  </a:solidFill>
                </a:ln>
              </a:rPr>
              <a:t>T1</a:t>
            </a:r>
          </a:p>
        </p:txBody>
      </p:sp>
      <p:sp>
        <p:nvSpPr>
          <p:cNvPr id="11" name="Oval 10"/>
          <p:cNvSpPr/>
          <p:nvPr/>
        </p:nvSpPr>
        <p:spPr>
          <a:xfrm>
            <a:off x="6781800" y="1600200"/>
            <a:ext cx="685800" cy="609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n w="28575">
                  <a:solidFill>
                    <a:schemeClr val="tx1"/>
                  </a:solidFill>
                </a:ln>
              </a:rPr>
              <a:t>T2</a:t>
            </a:r>
          </a:p>
        </p:txBody>
      </p:sp>
      <p:sp>
        <p:nvSpPr>
          <p:cNvPr id="9" name="Title 1"/>
          <p:cNvSpPr txBox="1">
            <a:spLocks/>
          </p:cNvSpPr>
          <p:nvPr/>
        </p:nvSpPr>
        <p:spPr>
          <a:xfrm>
            <a:off x="304800" y="1219200"/>
            <a:ext cx="28194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SCHEDULE D</a:t>
            </a:r>
          </a:p>
        </p:txBody>
      </p:sp>
      <p:graphicFrame>
        <p:nvGraphicFramePr>
          <p:cNvPr id="10" name="Content Placeholder 4"/>
          <p:cNvGraphicFramePr>
            <a:graphicFrameLocks/>
          </p:cNvGraphicFramePr>
          <p:nvPr/>
        </p:nvGraphicFramePr>
        <p:xfrm>
          <a:off x="304800" y="1752600"/>
          <a:ext cx="2819400" cy="37084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tblGrid>
              <a:tr h="370840">
                <a:tc>
                  <a:txBody>
                    <a:bodyPr/>
                    <a:lstStyle/>
                    <a:p>
                      <a:pPr algn="ctr"/>
                      <a:r>
                        <a:rPr lang="en-US" b="1" dirty="0">
                          <a:solidFill>
                            <a:srgbClr val="FF000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FF000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l"/>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r>
                        <a:rPr lang="en-US" b="1" dirty="0">
                          <a:solidFill>
                            <a:srgbClr val="002060"/>
                          </a:solidFill>
                          <a:latin typeface="Times New Roman" pitchFamily="18" charset="0"/>
                          <a:cs typeface="Times New Roman" pitchFamily="18" charset="0"/>
                        </a:rPr>
                        <a:t>X:=X-N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l"/>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endParaRPr lang="en-US" b="1" dirty="0">
                        <a:solidFill>
                          <a:srgbClr val="002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X:=X+M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FF000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r>
                        <a:rPr lang="en-US" b="1" dirty="0">
                          <a:solidFill>
                            <a:srgbClr val="FF0000"/>
                          </a:solidFill>
                          <a:latin typeface="Times New Roman" pitchFamily="18" charset="0"/>
                          <a:cs typeface="Times New Roman" pitchFamily="18" charset="0"/>
                        </a:rPr>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r>
                        <a:rPr lang="en-US" b="1" dirty="0">
                          <a:solidFill>
                            <a:srgbClr val="002060"/>
                          </a:solidFill>
                          <a:latin typeface="Times New Roman" pitchFamily="18" charset="0"/>
                          <a:cs typeface="Times New Roman" pitchFamily="18" charset="0"/>
                        </a:rPr>
                        <a:t>Y:=Y+N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l"/>
                      <a:r>
                        <a:rPr lang="en-US" b="1" dirty="0">
                          <a:solidFill>
                            <a:srgbClr val="002060"/>
                          </a:solidFill>
                          <a:latin typeface="Times New Roman" pitchFamily="18" charset="0"/>
                          <a:cs typeface="Times New Roman" pitchFamily="18" charset="0"/>
                        </a:rPr>
                        <a:t>Write(Y)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12" name="Curved Down Arrow 11"/>
          <p:cNvSpPr/>
          <p:nvPr/>
        </p:nvSpPr>
        <p:spPr>
          <a:xfrm>
            <a:off x="4876800" y="838200"/>
            <a:ext cx="2438400"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itle 1"/>
          <p:cNvSpPr txBox="1">
            <a:spLocks/>
          </p:cNvSpPr>
          <p:nvPr/>
        </p:nvSpPr>
        <p:spPr>
          <a:xfrm>
            <a:off x="3352800" y="3200400"/>
            <a:ext cx="5562600" cy="114300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50000"/>
              </a:lnSpc>
              <a:spcBef>
                <a:spcPct val="0"/>
              </a:spcBef>
              <a:spcAft>
                <a:spcPts val="0"/>
              </a:spcAft>
              <a:buClrTx/>
              <a:buSzTx/>
              <a:buFontTx/>
              <a:buNone/>
              <a:tabLst/>
              <a:defRPr/>
            </a:pPr>
            <a:r>
              <a:rPr lang="en-US" sz="2800" b="1" dirty="0">
                <a:solidFill>
                  <a:srgbClr val="FF0000"/>
                </a:solidFill>
                <a:latin typeface="Times New Roman" pitchFamily="18" charset="0"/>
                <a:ea typeface="+mj-ea"/>
                <a:cs typeface="Times New Roman" pitchFamily="18" charset="0"/>
              </a:rPr>
              <a:t>Graph has no Cycle. So Schedule D is Serializable Schedule.</a:t>
            </a:r>
            <a:endParaRPr kumimoji="0" lang="en-US" sz="28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sz="3600" b="1" dirty="0">
                <a:solidFill>
                  <a:srgbClr val="FF0000"/>
                </a:solidFill>
                <a:latin typeface="Times New Roman" pitchFamily="18" charset="0"/>
                <a:cs typeface="Times New Roman" pitchFamily="18" charset="0"/>
              </a:rPr>
              <a:t>TESTING FOR CONFLICT SERIALIZABILITY</a:t>
            </a:r>
          </a:p>
        </p:txBody>
      </p:sp>
      <p:sp>
        <p:nvSpPr>
          <p:cNvPr id="8" name="Content Placeholder 2"/>
          <p:cNvSpPr txBox="1">
            <a:spLocks/>
          </p:cNvSpPr>
          <p:nvPr/>
        </p:nvSpPr>
        <p:spPr>
          <a:xfrm>
            <a:off x="0" y="838200"/>
            <a:ext cx="9144000" cy="5715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p>
            <a:pPr fontAlgn="base"/>
            <a:r>
              <a:rPr lang="en-US" sz="2200" b="1" u="sng" dirty="0">
                <a:solidFill>
                  <a:srgbClr val="C00000"/>
                </a:solidFill>
                <a:latin typeface="Maiandra GD" pitchFamily="34" charset="0"/>
                <a:cs typeface="Times New Roman" pitchFamily="18" charset="0"/>
              </a:rPr>
              <a:t>PRACTICE PROBLEMS BASED ON CONFLICT SERIALIZABILITY-</a:t>
            </a:r>
          </a:p>
          <a:p>
            <a:pPr fontAlgn="base"/>
            <a:r>
              <a:rPr lang="en-US" sz="2400" b="1" u="sng" dirty="0">
                <a:solidFill>
                  <a:srgbClr val="002060"/>
                </a:solidFill>
                <a:latin typeface="Times New Roman" pitchFamily="18" charset="0"/>
                <a:cs typeface="Times New Roman" pitchFamily="18" charset="0"/>
              </a:rPr>
              <a:t>Problem-01</a:t>
            </a:r>
            <a:r>
              <a:rPr lang="en-US" sz="2400" b="1" dirty="0">
                <a:solidFill>
                  <a:srgbClr val="002060"/>
                </a:solidFill>
                <a:latin typeface="Times New Roman" pitchFamily="18" charset="0"/>
                <a:cs typeface="Times New Roman" pitchFamily="18" charset="0"/>
              </a:rPr>
              <a:t>: </a:t>
            </a:r>
            <a:r>
              <a:rPr lang="en-US" sz="2400" dirty="0">
                <a:solidFill>
                  <a:srgbClr val="002060"/>
                </a:solidFill>
                <a:latin typeface="Times New Roman" pitchFamily="18" charset="0"/>
                <a:cs typeface="Times New Roman" pitchFamily="18" charset="0"/>
              </a:rPr>
              <a:t>Check whether the given schedule S is conflict serializable or not-</a:t>
            </a:r>
          </a:p>
          <a:p>
            <a:pPr fontAlgn="base"/>
            <a:r>
              <a:rPr lang="en-US" sz="2400" b="1" dirty="0">
                <a:solidFill>
                  <a:srgbClr val="002060"/>
                </a:solidFill>
                <a:latin typeface="Times New Roman" pitchFamily="18" charset="0"/>
                <a:cs typeface="Times New Roman" pitchFamily="18" charset="0"/>
              </a:rPr>
              <a:t>S : R</a:t>
            </a:r>
            <a:r>
              <a:rPr lang="en-US" sz="2400" b="1" baseline="-25000" dirty="0">
                <a:solidFill>
                  <a:srgbClr val="002060"/>
                </a:solidFill>
                <a:latin typeface="Times New Roman" pitchFamily="18" charset="0"/>
                <a:cs typeface="Times New Roman" pitchFamily="18" charset="0"/>
              </a:rPr>
              <a:t>1</a:t>
            </a:r>
            <a:r>
              <a:rPr lang="en-US" sz="2400" b="1" dirty="0">
                <a:solidFill>
                  <a:srgbClr val="002060"/>
                </a:solidFill>
                <a:latin typeface="Times New Roman" pitchFamily="18" charset="0"/>
                <a:cs typeface="Times New Roman" pitchFamily="18" charset="0"/>
              </a:rPr>
              <a:t>(A) , R</a:t>
            </a:r>
            <a:r>
              <a:rPr lang="en-US" sz="2400" b="1" baseline="-25000" dirty="0">
                <a:solidFill>
                  <a:srgbClr val="002060"/>
                </a:solidFill>
                <a:latin typeface="Times New Roman" pitchFamily="18" charset="0"/>
                <a:cs typeface="Times New Roman" pitchFamily="18" charset="0"/>
              </a:rPr>
              <a:t>2</a:t>
            </a:r>
            <a:r>
              <a:rPr lang="en-US" sz="2400" b="1" dirty="0">
                <a:solidFill>
                  <a:srgbClr val="002060"/>
                </a:solidFill>
                <a:latin typeface="Times New Roman" pitchFamily="18" charset="0"/>
                <a:cs typeface="Times New Roman" pitchFamily="18" charset="0"/>
              </a:rPr>
              <a:t>(A) , R</a:t>
            </a:r>
            <a:r>
              <a:rPr lang="en-US" sz="2400" b="1" baseline="-25000" dirty="0">
                <a:solidFill>
                  <a:srgbClr val="002060"/>
                </a:solidFill>
                <a:latin typeface="Times New Roman" pitchFamily="18" charset="0"/>
                <a:cs typeface="Times New Roman" pitchFamily="18" charset="0"/>
              </a:rPr>
              <a:t>1</a:t>
            </a:r>
            <a:r>
              <a:rPr lang="en-US" sz="2400" b="1" dirty="0">
                <a:solidFill>
                  <a:srgbClr val="002060"/>
                </a:solidFill>
                <a:latin typeface="Times New Roman" pitchFamily="18" charset="0"/>
                <a:cs typeface="Times New Roman" pitchFamily="18" charset="0"/>
              </a:rPr>
              <a:t>(B) , R</a:t>
            </a:r>
            <a:r>
              <a:rPr lang="en-US" sz="2400" b="1" baseline="-25000" dirty="0">
                <a:solidFill>
                  <a:srgbClr val="002060"/>
                </a:solidFill>
                <a:latin typeface="Times New Roman" pitchFamily="18" charset="0"/>
                <a:cs typeface="Times New Roman" pitchFamily="18" charset="0"/>
              </a:rPr>
              <a:t>2</a:t>
            </a:r>
            <a:r>
              <a:rPr lang="en-US" sz="2400" b="1" dirty="0">
                <a:solidFill>
                  <a:srgbClr val="002060"/>
                </a:solidFill>
                <a:latin typeface="Times New Roman" pitchFamily="18" charset="0"/>
                <a:cs typeface="Times New Roman" pitchFamily="18" charset="0"/>
              </a:rPr>
              <a:t>(B) , R</a:t>
            </a:r>
            <a:r>
              <a:rPr lang="en-US" sz="2400" b="1" baseline="-25000" dirty="0">
                <a:solidFill>
                  <a:srgbClr val="002060"/>
                </a:solidFill>
                <a:latin typeface="Times New Roman" pitchFamily="18" charset="0"/>
                <a:cs typeface="Times New Roman" pitchFamily="18" charset="0"/>
              </a:rPr>
              <a:t>3</a:t>
            </a:r>
            <a:r>
              <a:rPr lang="en-US" sz="2400" b="1" dirty="0">
                <a:solidFill>
                  <a:srgbClr val="002060"/>
                </a:solidFill>
                <a:latin typeface="Times New Roman" pitchFamily="18" charset="0"/>
                <a:cs typeface="Times New Roman" pitchFamily="18" charset="0"/>
              </a:rPr>
              <a:t>(B) , W</a:t>
            </a:r>
            <a:r>
              <a:rPr lang="en-US" sz="2400" b="1" baseline="-25000" dirty="0">
                <a:solidFill>
                  <a:srgbClr val="002060"/>
                </a:solidFill>
                <a:latin typeface="Times New Roman" pitchFamily="18" charset="0"/>
                <a:cs typeface="Times New Roman" pitchFamily="18" charset="0"/>
              </a:rPr>
              <a:t>1</a:t>
            </a:r>
            <a:r>
              <a:rPr lang="en-US" sz="2400" b="1" dirty="0">
                <a:solidFill>
                  <a:srgbClr val="002060"/>
                </a:solidFill>
                <a:latin typeface="Times New Roman" pitchFamily="18" charset="0"/>
                <a:cs typeface="Times New Roman" pitchFamily="18" charset="0"/>
              </a:rPr>
              <a:t>(A) , W</a:t>
            </a:r>
            <a:r>
              <a:rPr lang="en-US" sz="2400" b="1" baseline="-25000" dirty="0">
                <a:solidFill>
                  <a:srgbClr val="002060"/>
                </a:solidFill>
                <a:latin typeface="Times New Roman" pitchFamily="18" charset="0"/>
                <a:cs typeface="Times New Roman" pitchFamily="18" charset="0"/>
              </a:rPr>
              <a:t>2</a:t>
            </a:r>
            <a:r>
              <a:rPr lang="en-US" sz="2400" b="1" dirty="0">
                <a:solidFill>
                  <a:srgbClr val="002060"/>
                </a:solidFill>
                <a:latin typeface="Times New Roman" pitchFamily="18" charset="0"/>
                <a:cs typeface="Times New Roman" pitchFamily="18" charset="0"/>
              </a:rPr>
              <a:t>(B)</a:t>
            </a:r>
            <a:endParaRPr lang="en-US" sz="2400" dirty="0">
              <a:solidFill>
                <a:srgbClr val="002060"/>
              </a:solidFill>
              <a:latin typeface="Times New Roman" pitchFamily="18" charset="0"/>
              <a:cs typeface="Times New Roman" pitchFamily="18" charset="0"/>
            </a:endParaRPr>
          </a:p>
          <a:p>
            <a:pPr fontAlgn="base"/>
            <a:endParaRPr lang="en-US" sz="2200" b="1" dirty="0">
              <a:latin typeface="Times New Roman" pitchFamily="18" charset="0"/>
              <a:cs typeface="Times New Roman" pitchFamily="18" charset="0"/>
            </a:endParaRPr>
          </a:p>
          <a:p>
            <a:pPr marL="465138" marR="0" lvl="0" indent="-465138" algn="just" defTabSz="914400" rtl="0" eaLnBrk="1" fontAlgn="auto" latinLnBrk="0" hangingPunct="1">
              <a:lnSpc>
                <a:spcPct val="150000"/>
              </a:lnSpc>
              <a:spcBef>
                <a:spcPct val="20000"/>
              </a:spcBef>
              <a:spcAft>
                <a:spcPts val="0"/>
              </a:spcAft>
              <a:buClr>
                <a:srgbClr val="FF0000"/>
              </a:buClr>
              <a:buSzTx/>
              <a:buAutoNum type="arabicPeriod"/>
              <a:tabLst/>
              <a:defRPr/>
            </a:pPr>
            <a:endParaRPr kumimoji="0" lang="en-US" sz="24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sz="3600" b="1" dirty="0">
                <a:solidFill>
                  <a:srgbClr val="FF0000"/>
                </a:solidFill>
                <a:latin typeface="Times New Roman" pitchFamily="18" charset="0"/>
                <a:cs typeface="Times New Roman" pitchFamily="18" charset="0"/>
              </a:rPr>
              <a:t>TESTING FOR CONFLICT SERIALIZABILITY</a:t>
            </a:r>
          </a:p>
        </p:txBody>
      </p:sp>
      <p:sp>
        <p:nvSpPr>
          <p:cNvPr id="8" name="Content Placeholder 2"/>
          <p:cNvSpPr txBox="1">
            <a:spLocks/>
          </p:cNvSpPr>
          <p:nvPr/>
        </p:nvSpPr>
        <p:spPr>
          <a:xfrm>
            <a:off x="0" y="838200"/>
            <a:ext cx="9144000" cy="5715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p>
            <a:pPr fontAlgn="base"/>
            <a:r>
              <a:rPr lang="en-US" sz="2200" b="1" u="sng" dirty="0">
                <a:solidFill>
                  <a:srgbClr val="C00000"/>
                </a:solidFill>
                <a:latin typeface="Maiandra GD" pitchFamily="34" charset="0"/>
                <a:cs typeface="Times New Roman" pitchFamily="18" charset="0"/>
              </a:rPr>
              <a:t>PRACTICE PROBLEMS BASED ON CONFLICT SERIALIZABILITY-</a:t>
            </a:r>
          </a:p>
          <a:p>
            <a:pPr fontAlgn="base"/>
            <a:r>
              <a:rPr lang="en-US" sz="2400" b="1" u="sng" dirty="0">
                <a:solidFill>
                  <a:srgbClr val="002060"/>
                </a:solidFill>
                <a:latin typeface="Times New Roman" pitchFamily="18" charset="0"/>
                <a:cs typeface="Times New Roman" pitchFamily="18" charset="0"/>
              </a:rPr>
              <a:t>Problem-01</a:t>
            </a:r>
            <a:r>
              <a:rPr lang="en-US" sz="2400" b="1" dirty="0">
                <a:solidFill>
                  <a:srgbClr val="002060"/>
                </a:solidFill>
                <a:latin typeface="Times New Roman" pitchFamily="18" charset="0"/>
                <a:cs typeface="Times New Roman" pitchFamily="18" charset="0"/>
              </a:rPr>
              <a:t>: </a:t>
            </a:r>
            <a:r>
              <a:rPr lang="en-US" sz="2400" dirty="0">
                <a:solidFill>
                  <a:srgbClr val="002060"/>
                </a:solidFill>
                <a:latin typeface="Times New Roman" pitchFamily="18" charset="0"/>
                <a:cs typeface="Times New Roman" pitchFamily="18" charset="0"/>
              </a:rPr>
              <a:t>Check whether the given schedule S is conflict serializable or not-</a:t>
            </a:r>
          </a:p>
          <a:p>
            <a:pPr fontAlgn="base"/>
            <a:r>
              <a:rPr lang="en-US" sz="2400" b="1" dirty="0">
                <a:solidFill>
                  <a:srgbClr val="FF0000"/>
                </a:solidFill>
                <a:latin typeface="Times New Roman" pitchFamily="18" charset="0"/>
                <a:cs typeface="Times New Roman" pitchFamily="18" charset="0"/>
              </a:rPr>
              <a:t>S</a:t>
            </a:r>
            <a:r>
              <a:rPr lang="en-US" sz="2400" b="1" dirty="0">
                <a:solidFill>
                  <a:srgbClr val="002060"/>
                </a:solidFill>
                <a:latin typeface="Times New Roman" pitchFamily="18" charset="0"/>
                <a:cs typeface="Times New Roman" pitchFamily="18" charset="0"/>
              </a:rPr>
              <a:t> : R</a:t>
            </a:r>
            <a:r>
              <a:rPr lang="en-US" sz="2400" b="1" baseline="-25000" dirty="0">
                <a:solidFill>
                  <a:srgbClr val="002060"/>
                </a:solidFill>
                <a:latin typeface="Times New Roman" pitchFamily="18" charset="0"/>
                <a:cs typeface="Times New Roman" pitchFamily="18" charset="0"/>
              </a:rPr>
              <a:t>1</a:t>
            </a:r>
            <a:r>
              <a:rPr lang="en-US" sz="2400" b="1" dirty="0">
                <a:solidFill>
                  <a:srgbClr val="002060"/>
                </a:solidFill>
                <a:latin typeface="Times New Roman" pitchFamily="18" charset="0"/>
                <a:cs typeface="Times New Roman" pitchFamily="18" charset="0"/>
              </a:rPr>
              <a:t>(A) , R</a:t>
            </a:r>
            <a:r>
              <a:rPr lang="en-US" sz="2400" b="1" baseline="-25000" dirty="0">
                <a:solidFill>
                  <a:srgbClr val="002060"/>
                </a:solidFill>
                <a:latin typeface="Times New Roman" pitchFamily="18" charset="0"/>
                <a:cs typeface="Times New Roman" pitchFamily="18" charset="0"/>
              </a:rPr>
              <a:t>2</a:t>
            </a:r>
            <a:r>
              <a:rPr lang="en-US" sz="2400" b="1" dirty="0">
                <a:solidFill>
                  <a:srgbClr val="002060"/>
                </a:solidFill>
                <a:latin typeface="Times New Roman" pitchFamily="18" charset="0"/>
                <a:cs typeface="Times New Roman" pitchFamily="18" charset="0"/>
              </a:rPr>
              <a:t>(A) , R</a:t>
            </a:r>
            <a:r>
              <a:rPr lang="en-US" sz="2400" b="1" baseline="-25000" dirty="0">
                <a:solidFill>
                  <a:srgbClr val="002060"/>
                </a:solidFill>
                <a:latin typeface="Times New Roman" pitchFamily="18" charset="0"/>
                <a:cs typeface="Times New Roman" pitchFamily="18" charset="0"/>
              </a:rPr>
              <a:t>1</a:t>
            </a:r>
            <a:r>
              <a:rPr lang="en-US" sz="2400" b="1" dirty="0">
                <a:solidFill>
                  <a:srgbClr val="002060"/>
                </a:solidFill>
                <a:latin typeface="Times New Roman" pitchFamily="18" charset="0"/>
                <a:cs typeface="Times New Roman" pitchFamily="18" charset="0"/>
              </a:rPr>
              <a:t>(B) , R</a:t>
            </a:r>
            <a:r>
              <a:rPr lang="en-US" sz="2400" b="1" baseline="-25000" dirty="0">
                <a:solidFill>
                  <a:srgbClr val="002060"/>
                </a:solidFill>
                <a:latin typeface="Times New Roman" pitchFamily="18" charset="0"/>
                <a:cs typeface="Times New Roman" pitchFamily="18" charset="0"/>
              </a:rPr>
              <a:t>2</a:t>
            </a:r>
            <a:r>
              <a:rPr lang="en-US" sz="2400" b="1" dirty="0">
                <a:solidFill>
                  <a:srgbClr val="002060"/>
                </a:solidFill>
                <a:latin typeface="Times New Roman" pitchFamily="18" charset="0"/>
                <a:cs typeface="Times New Roman" pitchFamily="18" charset="0"/>
              </a:rPr>
              <a:t>(B) , R</a:t>
            </a:r>
            <a:r>
              <a:rPr lang="en-US" sz="2400" b="1" baseline="-25000" dirty="0">
                <a:solidFill>
                  <a:srgbClr val="002060"/>
                </a:solidFill>
                <a:latin typeface="Times New Roman" pitchFamily="18" charset="0"/>
                <a:cs typeface="Times New Roman" pitchFamily="18" charset="0"/>
              </a:rPr>
              <a:t>3</a:t>
            </a:r>
            <a:r>
              <a:rPr lang="en-US" sz="2400" b="1" dirty="0">
                <a:solidFill>
                  <a:srgbClr val="002060"/>
                </a:solidFill>
                <a:latin typeface="Times New Roman" pitchFamily="18" charset="0"/>
                <a:cs typeface="Times New Roman" pitchFamily="18" charset="0"/>
              </a:rPr>
              <a:t>(B) , W</a:t>
            </a:r>
            <a:r>
              <a:rPr lang="en-US" sz="2400" b="1" baseline="-25000" dirty="0">
                <a:solidFill>
                  <a:srgbClr val="002060"/>
                </a:solidFill>
                <a:latin typeface="Times New Roman" pitchFamily="18" charset="0"/>
                <a:cs typeface="Times New Roman" pitchFamily="18" charset="0"/>
              </a:rPr>
              <a:t>1</a:t>
            </a:r>
            <a:r>
              <a:rPr lang="en-US" sz="2400" b="1" dirty="0">
                <a:solidFill>
                  <a:srgbClr val="002060"/>
                </a:solidFill>
                <a:latin typeface="Times New Roman" pitchFamily="18" charset="0"/>
                <a:cs typeface="Times New Roman" pitchFamily="18" charset="0"/>
              </a:rPr>
              <a:t>(A) , W</a:t>
            </a:r>
            <a:r>
              <a:rPr lang="en-US" sz="2400" b="1" baseline="-25000" dirty="0">
                <a:solidFill>
                  <a:srgbClr val="002060"/>
                </a:solidFill>
                <a:latin typeface="Times New Roman" pitchFamily="18" charset="0"/>
                <a:cs typeface="Times New Roman" pitchFamily="18" charset="0"/>
              </a:rPr>
              <a:t>2</a:t>
            </a:r>
            <a:r>
              <a:rPr lang="en-US" sz="2400" b="1" dirty="0">
                <a:solidFill>
                  <a:srgbClr val="002060"/>
                </a:solidFill>
                <a:latin typeface="Times New Roman" pitchFamily="18" charset="0"/>
                <a:cs typeface="Times New Roman" pitchFamily="18" charset="0"/>
              </a:rPr>
              <a:t>(B)</a:t>
            </a:r>
            <a:endParaRPr lang="en-US" sz="2400" dirty="0">
              <a:solidFill>
                <a:srgbClr val="002060"/>
              </a:solidFill>
              <a:latin typeface="Times New Roman" pitchFamily="18" charset="0"/>
              <a:cs typeface="Times New Roman" pitchFamily="18" charset="0"/>
            </a:endParaRPr>
          </a:p>
          <a:p>
            <a:pPr fontAlgn="base"/>
            <a:endParaRPr lang="en-US" sz="2200" b="1" dirty="0">
              <a:latin typeface="Times New Roman" pitchFamily="18" charset="0"/>
              <a:cs typeface="Times New Roman" pitchFamily="18" charset="0"/>
            </a:endParaRPr>
          </a:p>
          <a:p>
            <a:pPr marL="465138" marR="0" lvl="0" indent="-465138" algn="just" defTabSz="914400" rtl="0" eaLnBrk="1" fontAlgn="auto" latinLnBrk="0" hangingPunct="1">
              <a:lnSpc>
                <a:spcPct val="150000"/>
              </a:lnSpc>
              <a:spcBef>
                <a:spcPct val="20000"/>
              </a:spcBef>
              <a:spcAft>
                <a:spcPts val="0"/>
              </a:spcAft>
              <a:buClr>
                <a:srgbClr val="FF0000"/>
              </a:buClr>
              <a:buSzTx/>
              <a:buAutoNum type="arabicPeriod"/>
              <a:tabLst/>
              <a:defRPr/>
            </a:pPr>
            <a:endParaRPr kumimoji="0" lang="en-US" sz="24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graphicFrame>
        <p:nvGraphicFramePr>
          <p:cNvPr id="4" name="Table 3"/>
          <p:cNvGraphicFramePr>
            <a:graphicFrameLocks noGrp="1"/>
          </p:cNvGraphicFramePr>
          <p:nvPr/>
        </p:nvGraphicFramePr>
        <p:xfrm>
          <a:off x="1219200" y="2819400"/>
          <a:ext cx="6096000" cy="29667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b="1" dirty="0">
                          <a:solidFill>
                            <a:srgbClr val="FF0000"/>
                          </a:solidFill>
                          <a:latin typeface="Times New Roman" pitchFamily="18" charset="0"/>
                          <a:cs typeface="Times New Roman" pitchFamily="18" charset="0"/>
                        </a:rPr>
                        <a:t>T1</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FF0000"/>
                          </a:solidFill>
                          <a:latin typeface="Times New Roman" pitchFamily="18" charset="0"/>
                          <a:cs typeface="Times New Roman" pitchFamily="18" charset="0"/>
                        </a:rPr>
                        <a:t>T2</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FF0000"/>
                          </a:solidFill>
                          <a:latin typeface="Times New Roman" pitchFamily="18" charset="0"/>
                          <a:cs typeface="Times New Roman" pitchFamily="18" charset="0"/>
                        </a:rPr>
                        <a:t>T3</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r>
                        <a:rPr lang="en-US" b="1" dirty="0">
                          <a:solidFill>
                            <a:srgbClr val="002060"/>
                          </a:solidFill>
                          <a:latin typeface="Times New Roman" pitchFamily="18" charset="0"/>
                          <a:cs typeface="Times New Roman" pitchFamily="18" charset="0"/>
                        </a:rPr>
                        <a:t>R1(A)</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002060"/>
                          </a:solidFill>
                          <a:latin typeface="Times New Roman" pitchFamily="18" charset="0"/>
                          <a:cs typeface="Times New Roman" pitchFamily="18" charset="0"/>
                        </a:rPr>
                        <a:t>R2(A)</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n-US" b="1" dirty="0">
                          <a:solidFill>
                            <a:srgbClr val="002060"/>
                          </a:solidFill>
                          <a:latin typeface="Times New Roman" pitchFamily="18" charset="0"/>
                          <a:cs typeface="Times New Roman" pitchFamily="18" charset="0"/>
                        </a:rPr>
                        <a:t>R1(B)</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b="1">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002060"/>
                          </a:solidFill>
                          <a:latin typeface="Times New Roman" pitchFamily="18" charset="0"/>
                          <a:cs typeface="Times New Roman" pitchFamily="18" charset="0"/>
                        </a:rPr>
                        <a:t>R2(B)</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b="1">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002060"/>
                          </a:solidFill>
                          <a:latin typeface="Times New Roman" pitchFamily="18" charset="0"/>
                          <a:cs typeface="Times New Roman" pitchFamily="18" charset="0"/>
                        </a:rPr>
                        <a:t>R3(B)</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ctr"/>
                      <a:r>
                        <a:rPr lang="en-US" b="1" dirty="0">
                          <a:solidFill>
                            <a:srgbClr val="002060"/>
                          </a:solidFill>
                          <a:latin typeface="Times New Roman" pitchFamily="18" charset="0"/>
                          <a:cs typeface="Times New Roman" pitchFamily="18" charset="0"/>
                        </a:rPr>
                        <a:t>W1(A)</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002060"/>
                          </a:solidFill>
                          <a:latin typeface="Times New Roman" pitchFamily="18" charset="0"/>
                          <a:cs typeface="Times New Roman" pitchFamily="18" charset="0"/>
                        </a:rPr>
                        <a:t>W3(B)</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 calcmode="lin" valueType="num">
                                      <p:cBhvr additive="base">
                                        <p:cTn id="1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sz="3600" b="1" dirty="0">
                <a:solidFill>
                  <a:srgbClr val="FF0000"/>
                </a:solidFill>
                <a:latin typeface="Times New Roman" pitchFamily="18" charset="0"/>
                <a:cs typeface="Times New Roman" pitchFamily="18" charset="0"/>
              </a:rPr>
              <a:t>TESTING FOR CONFLICT SERIALIZABILITY</a:t>
            </a:r>
          </a:p>
        </p:txBody>
      </p:sp>
      <p:sp>
        <p:nvSpPr>
          <p:cNvPr id="8" name="Content Placeholder 2"/>
          <p:cNvSpPr txBox="1">
            <a:spLocks/>
          </p:cNvSpPr>
          <p:nvPr/>
        </p:nvSpPr>
        <p:spPr>
          <a:xfrm>
            <a:off x="4343400" y="838200"/>
            <a:ext cx="4572000" cy="28956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p>
            <a:pPr fontAlgn="base"/>
            <a:r>
              <a:rPr lang="en-US" sz="2200" dirty="0">
                <a:solidFill>
                  <a:srgbClr val="002060"/>
                </a:solidFill>
                <a:latin typeface="Times New Roman" pitchFamily="18" charset="0"/>
                <a:cs typeface="Times New Roman" pitchFamily="18" charset="0"/>
              </a:rPr>
              <a:t>List all the conflicting operations</a:t>
            </a:r>
          </a:p>
          <a:p>
            <a:pPr fontAlgn="base">
              <a:lnSpc>
                <a:spcPct val="150000"/>
              </a:lnSpc>
            </a:pPr>
            <a:r>
              <a:rPr lang="en-US" sz="2200" b="1" dirty="0">
                <a:solidFill>
                  <a:srgbClr val="002060"/>
                </a:solidFill>
                <a:latin typeface="Times New Roman" pitchFamily="18" charset="0"/>
                <a:cs typeface="Times New Roman" pitchFamily="18" charset="0"/>
              </a:rPr>
              <a:t>R2(A) , W1(A)              (</a:t>
            </a:r>
            <a:r>
              <a:rPr lang="en-US" sz="2200" b="1" dirty="0">
                <a:solidFill>
                  <a:srgbClr val="FF0000"/>
                </a:solidFill>
                <a:latin typeface="Times New Roman" pitchFamily="18" charset="0"/>
                <a:cs typeface="Times New Roman" pitchFamily="18" charset="0"/>
              </a:rPr>
              <a:t>T2 → T1</a:t>
            </a:r>
            <a:r>
              <a:rPr lang="en-US" sz="2200" b="1" dirty="0">
                <a:solidFill>
                  <a:srgbClr val="002060"/>
                </a:solidFill>
                <a:latin typeface="Times New Roman" pitchFamily="18" charset="0"/>
                <a:cs typeface="Times New Roman" pitchFamily="18" charset="0"/>
              </a:rPr>
              <a:t>)</a:t>
            </a:r>
          </a:p>
          <a:p>
            <a:pPr fontAlgn="base">
              <a:lnSpc>
                <a:spcPct val="150000"/>
              </a:lnSpc>
            </a:pPr>
            <a:r>
              <a:rPr lang="en-US" sz="2200" b="1" dirty="0">
                <a:solidFill>
                  <a:srgbClr val="002060"/>
                </a:solidFill>
                <a:latin typeface="Times New Roman" pitchFamily="18" charset="0"/>
                <a:cs typeface="Times New Roman" pitchFamily="18" charset="0"/>
              </a:rPr>
              <a:t>R1(B) , W2(B)              (</a:t>
            </a:r>
            <a:r>
              <a:rPr lang="en-US" sz="2200" b="1" dirty="0">
                <a:solidFill>
                  <a:srgbClr val="FF0000"/>
                </a:solidFill>
                <a:latin typeface="Times New Roman" pitchFamily="18" charset="0"/>
                <a:cs typeface="Times New Roman" pitchFamily="18" charset="0"/>
              </a:rPr>
              <a:t>T1 → T2</a:t>
            </a:r>
            <a:r>
              <a:rPr lang="en-US" sz="2200" b="1" dirty="0">
                <a:solidFill>
                  <a:srgbClr val="002060"/>
                </a:solidFill>
                <a:latin typeface="Times New Roman" pitchFamily="18" charset="0"/>
                <a:cs typeface="Times New Roman" pitchFamily="18" charset="0"/>
              </a:rPr>
              <a:t>)</a:t>
            </a:r>
          </a:p>
          <a:p>
            <a:pPr fontAlgn="base">
              <a:lnSpc>
                <a:spcPct val="150000"/>
              </a:lnSpc>
            </a:pPr>
            <a:r>
              <a:rPr lang="en-US" sz="2200" b="1" dirty="0">
                <a:solidFill>
                  <a:srgbClr val="002060"/>
                </a:solidFill>
                <a:latin typeface="Times New Roman" pitchFamily="18" charset="0"/>
                <a:cs typeface="Times New Roman" pitchFamily="18" charset="0"/>
              </a:rPr>
              <a:t>R3(B) , W2(B)              (</a:t>
            </a:r>
            <a:r>
              <a:rPr lang="en-US" sz="2200" b="1" dirty="0">
                <a:solidFill>
                  <a:srgbClr val="FF0000"/>
                </a:solidFill>
                <a:latin typeface="Times New Roman" pitchFamily="18" charset="0"/>
                <a:cs typeface="Times New Roman" pitchFamily="18" charset="0"/>
              </a:rPr>
              <a:t>T3 → T2</a:t>
            </a:r>
            <a:r>
              <a:rPr lang="en-US" sz="2200" b="1" dirty="0">
                <a:solidFill>
                  <a:srgbClr val="002060"/>
                </a:solidFill>
                <a:latin typeface="Times New Roman" pitchFamily="18" charset="0"/>
                <a:cs typeface="Times New Roman" pitchFamily="18" charset="0"/>
              </a:rPr>
              <a:t>)</a:t>
            </a:r>
          </a:p>
        </p:txBody>
      </p:sp>
      <p:graphicFrame>
        <p:nvGraphicFramePr>
          <p:cNvPr id="4" name="Table 3"/>
          <p:cNvGraphicFramePr>
            <a:graphicFrameLocks noGrp="1"/>
          </p:cNvGraphicFramePr>
          <p:nvPr/>
        </p:nvGraphicFramePr>
        <p:xfrm>
          <a:off x="228600" y="762000"/>
          <a:ext cx="3886200" cy="296672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pPr algn="ctr"/>
                      <a:r>
                        <a:rPr lang="en-US" b="1" dirty="0">
                          <a:solidFill>
                            <a:srgbClr val="FF0000"/>
                          </a:solidFill>
                          <a:latin typeface="Times New Roman" pitchFamily="18" charset="0"/>
                          <a:cs typeface="Times New Roman" pitchFamily="18" charset="0"/>
                        </a:rPr>
                        <a:t>T1</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b="1" dirty="0">
                          <a:solidFill>
                            <a:srgbClr val="FF0000"/>
                          </a:solidFill>
                          <a:latin typeface="Times New Roman" pitchFamily="18" charset="0"/>
                          <a:cs typeface="Times New Roman" pitchFamily="18" charset="0"/>
                        </a:rPr>
                        <a:t>T2</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b="1" dirty="0">
                          <a:solidFill>
                            <a:srgbClr val="FF0000"/>
                          </a:solidFill>
                          <a:latin typeface="Times New Roman" pitchFamily="18" charset="0"/>
                          <a:cs typeface="Times New Roman" pitchFamily="18" charset="0"/>
                        </a:rPr>
                        <a:t>T3</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0"/>
                  </a:ext>
                </a:extLst>
              </a:tr>
              <a:tr h="370840">
                <a:tc>
                  <a:txBody>
                    <a:bodyPr/>
                    <a:lstStyle/>
                    <a:p>
                      <a:pPr algn="ctr"/>
                      <a:r>
                        <a:rPr lang="en-US" b="1" dirty="0">
                          <a:solidFill>
                            <a:srgbClr val="002060"/>
                          </a:solidFill>
                          <a:latin typeface="Times New Roman" pitchFamily="18" charset="0"/>
                          <a:cs typeface="Times New Roman" pitchFamily="18" charset="0"/>
                        </a:rPr>
                        <a:t>R1(A)</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002060"/>
                          </a:solidFill>
                          <a:latin typeface="Times New Roman" pitchFamily="18" charset="0"/>
                          <a:cs typeface="Times New Roman" pitchFamily="18" charset="0"/>
                        </a:rPr>
                        <a:t>R2(A)</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n-US" b="1" dirty="0">
                          <a:solidFill>
                            <a:srgbClr val="002060"/>
                          </a:solidFill>
                          <a:latin typeface="Times New Roman" pitchFamily="18" charset="0"/>
                          <a:cs typeface="Times New Roman" pitchFamily="18" charset="0"/>
                        </a:rPr>
                        <a:t>R1(B)</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b="1">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002060"/>
                          </a:solidFill>
                          <a:latin typeface="Times New Roman" pitchFamily="18" charset="0"/>
                          <a:cs typeface="Times New Roman" pitchFamily="18" charset="0"/>
                        </a:rPr>
                        <a:t>R2(B)</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b="1">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002060"/>
                          </a:solidFill>
                          <a:latin typeface="Times New Roman" pitchFamily="18" charset="0"/>
                          <a:cs typeface="Times New Roman" pitchFamily="18" charset="0"/>
                        </a:rPr>
                        <a:t>R3(B)</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ctr"/>
                      <a:r>
                        <a:rPr lang="en-US" b="1" dirty="0">
                          <a:solidFill>
                            <a:srgbClr val="002060"/>
                          </a:solidFill>
                          <a:latin typeface="Times New Roman" pitchFamily="18" charset="0"/>
                          <a:cs typeface="Times New Roman" pitchFamily="18" charset="0"/>
                        </a:rPr>
                        <a:t>W1(A)</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002060"/>
                          </a:solidFill>
                          <a:latin typeface="Times New Roman" pitchFamily="18" charset="0"/>
                          <a:cs typeface="Times New Roman" pitchFamily="18" charset="0"/>
                        </a:rPr>
                        <a:t>W3(B)</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solidFill>
                          <a:srgbClr val="002060"/>
                        </a:solidFill>
                        <a:latin typeface="Times New Roman" pitchFamily="18" charset="0"/>
                        <a:cs typeface="Times New Roman"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5" name="Rectangle 4"/>
          <p:cNvSpPr/>
          <p:nvPr/>
        </p:nvSpPr>
        <p:spPr>
          <a:xfrm>
            <a:off x="0" y="4114800"/>
            <a:ext cx="3038011" cy="369332"/>
          </a:xfrm>
          <a:prstGeom prst="rect">
            <a:avLst/>
          </a:prstGeom>
        </p:spPr>
        <p:txBody>
          <a:bodyPr wrap="none">
            <a:spAutoFit/>
          </a:bodyPr>
          <a:lstStyle/>
          <a:p>
            <a:r>
              <a:rPr lang="en-US" b="1" dirty="0">
                <a:solidFill>
                  <a:srgbClr val="FF0000"/>
                </a:solidFill>
                <a:latin typeface="Maiandra GD" pitchFamily="34" charset="0"/>
              </a:rPr>
              <a:t>Draw the precedence graph-</a:t>
            </a:r>
          </a:p>
        </p:txBody>
      </p:sp>
      <p:pic>
        <p:nvPicPr>
          <p:cNvPr id="176130" name="Picture 2" descr="G:\VTU NOTES\2018-19 SUMMER SEMESTER\DBMS 2018-19 SUMMER\DBMS UNIT IV\New folder\images\Conflict-Serializability-Problem-01.png"/>
          <p:cNvPicPr>
            <a:picLocks noChangeAspect="1" noChangeArrowheads="1"/>
          </p:cNvPicPr>
          <p:nvPr/>
        </p:nvPicPr>
        <p:blipFill>
          <a:blip r:embed="rId2">
            <a:lum bright="-20000" contrast="30000"/>
          </a:blip>
          <a:srcRect/>
          <a:stretch>
            <a:fillRect/>
          </a:stretch>
        </p:blipFill>
        <p:spPr bwMode="auto">
          <a:xfrm>
            <a:off x="0" y="4495800"/>
            <a:ext cx="3429000" cy="2133600"/>
          </a:xfrm>
          <a:prstGeom prst="rect">
            <a:avLst/>
          </a:prstGeom>
          <a:noFill/>
        </p:spPr>
      </p:pic>
      <p:sp>
        <p:nvSpPr>
          <p:cNvPr id="7" name="Rectangle 6"/>
          <p:cNvSpPr/>
          <p:nvPr/>
        </p:nvSpPr>
        <p:spPr>
          <a:xfrm>
            <a:off x="3581400" y="4267200"/>
            <a:ext cx="5410200" cy="212365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344488" indent="-344488" algn="just" fontAlgn="base">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Clearly, there exists a </a:t>
            </a:r>
            <a:r>
              <a:rPr lang="en-US" sz="2200" b="1" dirty="0">
                <a:solidFill>
                  <a:srgbClr val="FF0000"/>
                </a:solidFill>
                <a:latin typeface="Times New Roman" pitchFamily="18" charset="0"/>
                <a:cs typeface="Times New Roman" pitchFamily="18" charset="0"/>
              </a:rPr>
              <a:t>cycle</a:t>
            </a:r>
            <a:r>
              <a:rPr lang="en-US" sz="2200" dirty="0">
                <a:solidFill>
                  <a:srgbClr val="002060"/>
                </a:solidFill>
                <a:latin typeface="Times New Roman" pitchFamily="18" charset="0"/>
                <a:cs typeface="Times New Roman" pitchFamily="18" charset="0"/>
              </a:rPr>
              <a:t> in the precedence graph.</a:t>
            </a:r>
          </a:p>
          <a:p>
            <a:pPr marL="344488" indent="-344488" algn="just" fontAlgn="base">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Therefore, the given schedule </a:t>
            </a:r>
            <a:r>
              <a:rPr lang="en-US" sz="2200" b="1" dirty="0">
                <a:solidFill>
                  <a:srgbClr val="FF0000"/>
                </a:solidFill>
                <a:latin typeface="Times New Roman" pitchFamily="18" charset="0"/>
                <a:cs typeface="Times New Roman" pitchFamily="18" charset="0"/>
              </a:rPr>
              <a:t>S is not conflict serializable</a:t>
            </a:r>
            <a:r>
              <a:rPr lang="en-US" sz="2200" dirty="0">
                <a:solidFill>
                  <a:srgbClr val="002060"/>
                </a:solidFill>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6130"/>
                                        </p:tgtEl>
                                        <p:attrNameLst>
                                          <p:attrName>style.visibility</p:attrName>
                                        </p:attrNameLst>
                                      </p:cBhvr>
                                      <p:to>
                                        <p:strVal val="visible"/>
                                      </p:to>
                                    </p:set>
                                    <p:anim calcmode="lin" valueType="num">
                                      <p:cBhvr additive="base">
                                        <p:cTn id="19" dur="500" fill="hold"/>
                                        <p:tgtEl>
                                          <p:spTgt spid="176130"/>
                                        </p:tgtEl>
                                        <p:attrNameLst>
                                          <p:attrName>ppt_x</p:attrName>
                                        </p:attrNameLst>
                                      </p:cBhvr>
                                      <p:tavLst>
                                        <p:tav tm="0">
                                          <p:val>
                                            <p:strVal val="#ppt_x"/>
                                          </p:val>
                                        </p:tav>
                                        <p:tav tm="100000">
                                          <p:val>
                                            <p:strVal val="#ppt_x"/>
                                          </p:val>
                                        </p:tav>
                                      </p:tavLst>
                                    </p:anim>
                                    <p:anim calcmode="lin" valueType="num">
                                      <p:cBhvr additive="base">
                                        <p:cTn id="20" dur="500" fill="hold"/>
                                        <p:tgtEl>
                                          <p:spTgt spid="17613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P spid="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sz="3600" b="1" dirty="0">
                <a:solidFill>
                  <a:srgbClr val="FF0000"/>
                </a:solidFill>
                <a:latin typeface="Times New Roman" pitchFamily="18" charset="0"/>
                <a:cs typeface="Times New Roman" pitchFamily="18" charset="0"/>
              </a:rPr>
              <a:t>TESTING FOR CONFLICT SERIALIZABILITY</a:t>
            </a:r>
          </a:p>
        </p:txBody>
      </p:sp>
      <p:sp>
        <p:nvSpPr>
          <p:cNvPr id="8" name="Content Placeholder 2"/>
          <p:cNvSpPr txBox="1">
            <a:spLocks/>
          </p:cNvSpPr>
          <p:nvPr/>
        </p:nvSpPr>
        <p:spPr>
          <a:xfrm>
            <a:off x="0" y="838200"/>
            <a:ext cx="9144000" cy="60198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p>
            <a:pPr fontAlgn="base"/>
            <a:r>
              <a:rPr lang="en-US" sz="2200" b="1" dirty="0">
                <a:solidFill>
                  <a:srgbClr val="C00000"/>
                </a:solidFill>
                <a:latin typeface="Maiandra GD" pitchFamily="34" charset="0"/>
                <a:cs typeface="Times New Roman" pitchFamily="18" charset="0"/>
              </a:rPr>
              <a:t>PRACTICE PROBLEMS BASED ON CONFLICT SERIALIZABILITY-</a:t>
            </a:r>
          </a:p>
          <a:p>
            <a:pPr fontAlgn="base">
              <a:lnSpc>
                <a:spcPct val="150000"/>
              </a:lnSpc>
            </a:pPr>
            <a:r>
              <a:rPr lang="en-US" sz="2400" b="1" u="sng" dirty="0">
                <a:solidFill>
                  <a:srgbClr val="002060"/>
                </a:solidFill>
                <a:latin typeface="Times New Roman" pitchFamily="18" charset="0"/>
                <a:cs typeface="Times New Roman" pitchFamily="18" charset="0"/>
              </a:rPr>
              <a:t>Problem-02</a:t>
            </a:r>
            <a:r>
              <a:rPr lang="en-US" sz="2400" b="1" dirty="0">
                <a:solidFill>
                  <a:srgbClr val="002060"/>
                </a:solidFill>
                <a:latin typeface="Times New Roman" pitchFamily="18" charset="0"/>
                <a:cs typeface="Times New Roman" pitchFamily="18" charset="0"/>
              </a:rPr>
              <a:t>: </a:t>
            </a:r>
            <a:r>
              <a:rPr lang="en-US" sz="2400" dirty="0">
                <a:solidFill>
                  <a:srgbClr val="002060"/>
                </a:solidFill>
                <a:latin typeface="Times New Roman" pitchFamily="18" charset="0"/>
                <a:cs typeface="Times New Roman" pitchFamily="18" charset="0"/>
              </a:rPr>
              <a:t>Check whether the given schedule S is conflict serializable and recoverable or not-</a:t>
            </a:r>
          </a:p>
          <a:p>
            <a:pPr fontAlgn="base"/>
            <a:endParaRPr lang="en-US" sz="2200" b="1" dirty="0">
              <a:latin typeface="Times New Roman" pitchFamily="18" charset="0"/>
              <a:cs typeface="Times New Roman" pitchFamily="18" charset="0"/>
            </a:endParaRPr>
          </a:p>
          <a:p>
            <a:pPr marL="465138" marR="0" lvl="0" indent="-465138" algn="just" defTabSz="914400" rtl="0" eaLnBrk="1" fontAlgn="auto" latinLnBrk="0" hangingPunct="1">
              <a:lnSpc>
                <a:spcPct val="150000"/>
              </a:lnSpc>
              <a:spcBef>
                <a:spcPct val="20000"/>
              </a:spcBef>
              <a:spcAft>
                <a:spcPts val="0"/>
              </a:spcAft>
              <a:buClr>
                <a:srgbClr val="FF0000"/>
              </a:buClr>
              <a:buSzTx/>
              <a:buAutoNum type="arabicPeriod"/>
              <a:tabLst/>
              <a:defRPr/>
            </a:pPr>
            <a:endParaRPr kumimoji="0" lang="en-US" sz="24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pic>
        <p:nvPicPr>
          <p:cNvPr id="175106" name="Picture 2" descr="G:\VTU NOTES\2018-19 SUMMER SEMESTER\DBMS 2018-19 SUMMER\DBMS UNIT IV\New folder\images\Conflict-Serializability-Problem-2.png"/>
          <p:cNvPicPr>
            <a:picLocks noChangeAspect="1" noChangeArrowheads="1"/>
          </p:cNvPicPr>
          <p:nvPr/>
        </p:nvPicPr>
        <p:blipFill>
          <a:blip r:embed="rId2">
            <a:lum bright="-20000" contrast="40000"/>
          </a:blip>
          <a:srcRect/>
          <a:stretch>
            <a:fillRect/>
          </a:stretch>
        </p:blipFill>
        <p:spPr bwMode="auto">
          <a:xfrm>
            <a:off x="3048000" y="1752600"/>
            <a:ext cx="5410200" cy="4876800"/>
          </a:xfrm>
          <a:prstGeom prst="rect">
            <a:avLst/>
          </a:prstGeom>
          <a:noFill/>
          <a:ln w="28575">
            <a:solidFill>
              <a:srgbClr val="C0000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75106"/>
                                        </p:tgtEl>
                                        <p:attrNameLst>
                                          <p:attrName>style.visibility</p:attrName>
                                        </p:attrNameLst>
                                      </p:cBhvr>
                                      <p:to>
                                        <p:strVal val="visible"/>
                                      </p:to>
                                    </p:set>
                                    <p:anim calcmode="lin" valueType="num">
                                      <p:cBhvr additive="base">
                                        <p:cTn id="17" dur="500" fill="hold"/>
                                        <p:tgtEl>
                                          <p:spTgt spid="175106"/>
                                        </p:tgtEl>
                                        <p:attrNameLst>
                                          <p:attrName>ppt_x</p:attrName>
                                        </p:attrNameLst>
                                      </p:cBhvr>
                                      <p:tavLst>
                                        <p:tav tm="0">
                                          <p:val>
                                            <p:strVal val="#ppt_x"/>
                                          </p:val>
                                        </p:tav>
                                        <p:tav tm="100000">
                                          <p:val>
                                            <p:strVal val="#ppt_x"/>
                                          </p:val>
                                        </p:tav>
                                      </p:tavLst>
                                    </p:anim>
                                    <p:anim calcmode="lin" valueType="num">
                                      <p:cBhvr additive="base">
                                        <p:cTn id="18" dur="500" fill="hold"/>
                                        <p:tgtEl>
                                          <p:spTgt spid="1751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sz="3600" b="1" dirty="0">
                <a:solidFill>
                  <a:srgbClr val="FF0000"/>
                </a:solidFill>
                <a:latin typeface="Times New Roman" pitchFamily="18" charset="0"/>
                <a:cs typeface="Times New Roman" pitchFamily="18" charset="0"/>
              </a:rPr>
              <a:t>TESTING FOR CONFLICT SERIALIZABILITY</a:t>
            </a:r>
          </a:p>
        </p:txBody>
      </p:sp>
      <p:sp>
        <p:nvSpPr>
          <p:cNvPr id="8" name="Content Placeholder 2"/>
          <p:cNvSpPr txBox="1">
            <a:spLocks/>
          </p:cNvSpPr>
          <p:nvPr/>
        </p:nvSpPr>
        <p:spPr>
          <a:xfrm>
            <a:off x="0" y="838200"/>
            <a:ext cx="9144000" cy="60198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p>
            <a:pPr fontAlgn="base"/>
            <a:r>
              <a:rPr lang="en-US" sz="2400" dirty="0">
                <a:solidFill>
                  <a:srgbClr val="FF0000"/>
                </a:solidFill>
                <a:latin typeface="Times New Roman" pitchFamily="18" charset="0"/>
                <a:cs typeface="Times New Roman" pitchFamily="18" charset="0"/>
              </a:rPr>
              <a:t>List all the conflicting operations and determine the dependency between the transactions-</a:t>
            </a:r>
          </a:p>
          <a:p>
            <a:pPr fontAlgn="base"/>
            <a:r>
              <a:rPr lang="en-US" sz="2400" b="1" dirty="0">
                <a:solidFill>
                  <a:srgbClr val="002060"/>
                </a:solidFill>
                <a:latin typeface="Times New Roman" pitchFamily="18" charset="0"/>
                <a:cs typeface="Times New Roman" pitchFamily="18" charset="0"/>
              </a:rPr>
              <a:t>R</a:t>
            </a:r>
            <a:r>
              <a:rPr lang="en-US" sz="2400" b="1" baseline="-25000" dirty="0">
                <a:solidFill>
                  <a:srgbClr val="002060"/>
                </a:solidFill>
                <a:latin typeface="Times New Roman" pitchFamily="18" charset="0"/>
                <a:cs typeface="Times New Roman" pitchFamily="18" charset="0"/>
              </a:rPr>
              <a:t>2</a:t>
            </a:r>
            <a:r>
              <a:rPr lang="en-US" sz="2400" b="1" dirty="0">
                <a:solidFill>
                  <a:srgbClr val="002060"/>
                </a:solidFill>
                <a:latin typeface="Times New Roman" pitchFamily="18" charset="0"/>
                <a:cs typeface="Times New Roman" pitchFamily="18" charset="0"/>
              </a:rPr>
              <a:t>(X) , W</a:t>
            </a:r>
            <a:r>
              <a:rPr lang="en-US" sz="2400" b="1" baseline="-25000" dirty="0">
                <a:solidFill>
                  <a:srgbClr val="002060"/>
                </a:solidFill>
                <a:latin typeface="Times New Roman" pitchFamily="18" charset="0"/>
                <a:cs typeface="Times New Roman" pitchFamily="18" charset="0"/>
              </a:rPr>
              <a:t>3</a:t>
            </a:r>
            <a:r>
              <a:rPr lang="en-US" sz="2400" b="1" dirty="0">
                <a:solidFill>
                  <a:srgbClr val="002060"/>
                </a:solidFill>
                <a:latin typeface="Times New Roman" pitchFamily="18" charset="0"/>
                <a:cs typeface="Times New Roman" pitchFamily="18" charset="0"/>
              </a:rPr>
              <a:t>(X)              (</a:t>
            </a:r>
            <a:r>
              <a:rPr lang="en-US" sz="2400" b="1" dirty="0">
                <a:solidFill>
                  <a:srgbClr val="FF0000"/>
                </a:solidFill>
                <a:latin typeface="Times New Roman" pitchFamily="18" charset="0"/>
                <a:cs typeface="Times New Roman" pitchFamily="18" charset="0"/>
              </a:rPr>
              <a:t>T</a:t>
            </a:r>
            <a:r>
              <a:rPr lang="en-US" sz="2400" b="1" baseline="-25000" dirty="0">
                <a:solidFill>
                  <a:srgbClr val="FF0000"/>
                </a:solidFill>
                <a:latin typeface="Times New Roman" pitchFamily="18" charset="0"/>
                <a:cs typeface="Times New Roman" pitchFamily="18" charset="0"/>
              </a:rPr>
              <a:t>2</a:t>
            </a:r>
            <a:r>
              <a:rPr lang="en-US" sz="2400" b="1" dirty="0">
                <a:solidFill>
                  <a:srgbClr val="FF0000"/>
                </a:solidFill>
                <a:latin typeface="Times New Roman" pitchFamily="18" charset="0"/>
                <a:cs typeface="Times New Roman" pitchFamily="18" charset="0"/>
              </a:rPr>
              <a:t> → T</a:t>
            </a:r>
            <a:r>
              <a:rPr lang="en-US" sz="2400" b="1" baseline="-25000" dirty="0">
                <a:solidFill>
                  <a:srgbClr val="FF0000"/>
                </a:solidFill>
                <a:latin typeface="Times New Roman" pitchFamily="18" charset="0"/>
                <a:cs typeface="Times New Roman" pitchFamily="18" charset="0"/>
              </a:rPr>
              <a:t>3</a:t>
            </a:r>
            <a:r>
              <a:rPr lang="en-US" sz="2400" b="1" dirty="0">
                <a:solidFill>
                  <a:srgbClr val="002060"/>
                </a:solidFill>
                <a:latin typeface="Times New Roman" pitchFamily="18" charset="0"/>
                <a:cs typeface="Times New Roman" pitchFamily="18" charset="0"/>
              </a:rPr>
              <a:t>)	</a:t>
            </a:r>
            <a:endParaRPr lang="en-US" sz="2400" b="1" dirty="0">
              <a:solidFill>
                <a:srgbClr val="FF0000"/>
              </a:solidFill>
              <a:latin typeface="Maiandra GD" pitchFamily="34" charset="0"/>
              <a:cs typeface="Times New Roman" pitchFamily="18" charset="0"/>
            </a:endParaRPr>
          </a:p>
          <a:p>
            <a:pPr fontAlgn="base"/>
            <a:r>
              <a:rPr lang="en-US" sz="2400" b="1" dirty="0">
                <a:solidFill>
                  <a:srgbClr val="002060"/>
                </a:solidFill>
                <a:latin typeface="Times New Roman" pitchFamily="18" charset="0"/>
                <a:cs typeface="Times New Roman" pitchFamily="18" charset="0"/>
              </a:rPr>
              <a:t>R</a:t>
            </a:r>
            <a:r>
              <a:rPr lang="en-US" sz="2400" b="1" baseline="-25000" dirty="0">
                <a:solidFill>
                  <a:srgbClr val="002060"/>
                </a:solidFill>
                <a:latin typeface="Times New Roman" pitchFamily="18" charset="0"/>
                <a:cs typeface="Times New Roman" pitchFamily="18" charset="0"/>
              </a:rPr>
              <a:t>2</a:t>
            </a:r>
            <a:r>
              <a:rPr lang="en-US" sz="2400" b="1" dirty="0">
                <a:solidFill>
                  <a:srgbClr val="002060"/>
                </a:solidFill>
                <a:latin typeface="Times New Roman" pitchFamily="18" charset="0"/>
                <a:cs typeface="Times New Roman" pitchFamily="18" charset="0"/>
              </a:rPr>
              <a:t>(X) , W</a:t>
            </a:r>
            <a:r>
              <a:rPr lang="en-US" sz="2400" b="1" baseline="-25000" dirty="0">
                <a:solidFill>
                  <a:srgbClr val="002060"/>
                </a:solidFill>
                <a:latin typeface="Times New Roman" pitchFamily="18" charset="0"/>
                <a:cs typeface="Times New Roman" pitchFamily="18" charset="0"/>
              </a:rPr>
              <a:t>1</a:t>
            </a:r>
            <a:r>
              <a:rPr lang="en-US" sz="2400" b="1" dirty="0">
                <a:solidFill>
                  <a:srgbClr val="002060"/>
                </a:solidFill>
                <a:latin typeface="Times New Roman" pitchFamily="18" charset="0"/>
                <a:cs typeface="Times New Roman" pitchFamily="18" charset="0"/>
              </a:rPr>
              <a:t>(X)              (</a:t>
            </a:r>
            <a:r>
              <a:rPr lang="en-US" sz="2400" b="1" dirty="0">
                <a:solidFill>
                  <a:srgbClr val="FF0000"/>
                </a:solidFill>
                <a:latin typeface="Times New Roman" pitchFamily="18" charset="0"/>
                <a:cs typeface="Times New Roman" pitchFamily="18" charset="0"/>
              </a:rPr>
              <a:t>T</a:t>
            </a:r>
            <a:r>
              <a:rPr lang="en-US" sz="2400" b="1" baseline="-25000" dirty="0">
                <a:solidFill>
                  <a:srgbClr val="FF0000"/>
                </a:solidFill>
                <a:latin typeface="Times New Roman" pitchFamily="18" charset="0"/>
                <a:cs typeface="Times New Roman" pitchFamily="18" charset="0"/>
              </a:rPr>
              <a:t>2</a:t>
            </a:r>
            <a:r>
              <a:rPr lang="en-US" sz="2400" b="1" dirty="0">
                <a:solidFill>
                  <a:srgbClr val="FF0000"/>
                </a:solidFill>
                <a:latin typeface="Times New Roman" pitchFamily="18" charset="0"/>
                <a:cs typeface="Times New Roman" pitchFamily="18" charset="0"/>
              </a:rPr>
              <a:t> → T</a:t>
            </a:r>
            <a:r>
              <a:rPr lang="en-US" sz="2400" b="1" baseline="-25000" dirty="0">
                <a:solidFill>
                  <a:srgbClr val="FF0000"/>
                </a:solidFill>
                <a:latin typeface="Times New Roman" pitchFamily="18" charset="0"/>
                <a:cs typeface="Times New Roman" pitchFamily="18" charset="0"/>
              </a:rPr>
              <a:t>1</a:t>
            </a:r>
            <a:r>
              <a:rPr lang="en-US" sz="2400" b="1" dirty="0">
                <a:solidFill>
                  <a:srgbClr val="002060"/>
                </a:solidFill>
                <a:latin typeface="Times New Roman" pitchFamily="18" charset="0"/>
                <a:cs typeface="Times New Roman" pitchFamily="18" charset="0"/>
              </a:rPr>
              <a:t>)</a:t>
            </a:r>
          </a:p>
          <a:p>
            <a:pPr fontAlgn="base"/>
            <a:r>
              <a:rPr lang="en-US" sz="2400" b="1" dirty="0">
                <a:solidFill>
                  <a:srgbClr val="002060"/>
                </a:solidFill>
                <a:latin typeface="Times New Roman" pitchFamily="18" charset="0"/>
                <a:cs typeface="Times New Roman" pitchFamily="18" charset="0"/>
              </a:rPr>
              <a:t>W</a:t>
            </a:r>
            <a:r>
              <a:rPr lang="en-US" sz="2400" b="1" baseline="-25000" dirty="0">
                <a:solidFill>
                  <a:srgbClr val="002060"/>
                </a:solidFill>
                <a:latin typeface="Times New Roman" pitchFamily="18" charset="0"/>
                <a:cs typeface="Times New Roman" pitchFamily="18" charset="0"/>
              </a:rPr>
              <a:t>3</a:t>
            </a:r>
            <a:r>
              <a:rPr lang="en-US" sz="2400" b="1" dirty="0">
                <a:solidFill>
                  <a:srgbClr val="002060"/>
                </a:solidFill>
                <a:latin typeface="Times New Roman" pitchFamily="18" charset="0"/>
                <a:cs typeface="Times New Roman" pitchFamily="18" charset="0"/>
              </a:rPr>
              <a:t>(X) , W</a:t>
            </a:r>
            <a:r>
              <a:rPr lang="en-US" sz="2400" b="1" baseline="-25000" dirty="0">
                <a:solidFill>
                  <a:srgbClr val="002060"/>
                </a:solidFill>
                <a:latin typeface="Times New Roman" pitchFamily="18" charset="0"/>
                <a:cs typeface="Times New Roman" pitchFamily="18" charset="0"/>
              </a:rPr>
              <a:t>1</a:t>
            </a:r>
            <a:r>
              <a:rPr lang="en-US" sz="2400" b="1" dirty="0">
                <a:solidFill>
                  <a:srgbClr val="002060"/>
                </a:solidFill>
                <a:latin typeface="Times New Roman" pitchFamily="18" charset="0"/>
                <a:cs typeface="Times New Roman" pitchFamily="18" charset="0"/>
              </a:rPr>
              <a:t>(X)             (</a:t>
            </a:r>
            <a:r>
              <a:rPr lang="en-US" sz="2400" b="1" dirty="0">
                <a:solidFill>
                  <a:srgbClr val="FF0000"/>
                </a:solidFill>
                <a:latin typeface="Times New Roman" pitchFamily="18" charset="0"/>
                <a:cs typeface="Times New Roman" pitchFamily="18" charset="0"/>
              </a:rPr>
              <a:t>T</a:t>
            </a:r>
            <a:r>
              <a:rPr lang="en-US" sz="2400" b="1" baseline="-25000" dirty="0">
                <a:solidFill>
                  <a:srgbClr val="FF0000"/>
                </a:solidFill>
                <a:latin typeface="Times New Roman" pitchFamily="18" charset="0"/>
                <a:cs typeface="Times New Roman" pitchFamily="18" charset="0"/>
              </a:rPr>
              <a:t>3</a:t>
            </a:r>
            <a:r>
              <a:rPr lang="en-US" sz="2400" b="1" dirty="0">
                <a:solidFill>
                  <a:srgbClr val="FF0000"/>
                </a:solidFill>
                <a:latin typeface="Times New Roman" pitchFamily="18" charset="0"/>
                <a:cs typeface="Times New Roman" pitchFamily="18" charset="0"/>
              </a:rPr>
              <a:t> → T</a:t>
            </a:r>
            <a:r>
              <a:rPr lang="en-US" sz="2400" b="1" baseline="-25000" dirty="0">
                <a:solidFill>
                  <a:srgbClr val="FF0000"/>
                </a:solidFill>
                <a:latin typeface="Times New Roman" pitchFamily="18" charset="0"/>
                <a:cs typeface="Times New Roman" pitchFamily="18" charset="0"/>
              </a:rPr>
              <a:t>1</a:t>
            </a:r>
            <a:r>
              <a:rPr lang="en-US" sz="2400" b="1" dirty="0">
                <a:solidFill>
                  <a:srgbClr val="002060"/>
                </a:solidFill>
                <a:latin typeface="Times New Roman" pitchFamily="18" charset="0"/>
                <a:cs typeface="Times New Roman" pitchFamily="18" charset="0"/>
              </a:rPr>
              <a:t>)</a:t>
            </a:r>
          </a:p>
          <a:p>
            <a:pPr fontAlgn="base"/>
            <a:r>
              <a:rPr lang="en-US" sz="2400" b="1" dirty="0">
                <a:solidFill>
                  <a:srgbClr val="002060"/>
                </a:solidFill>
                <a:latin typeface="Times New Roman" pitchFamily="18" charset="0"/>
                <a:cs typeface="Times New Roman" pitchFamily="18" charset="0"/>
              </a:rPr>
              <a:t>W</a:t>
            </a:r>
            <a:r>
              <a:rPr lang="en-US" sz="2400" b="1" baseline="-25000" dirty="0">
                <a:solidFill>
                  <a:srgbClr val="002060"/>
                </a:solidFill>
                <a:latin typeface="Times New Roman" pitchFamily="18" charset="0"/>
                <a:cs typeface="Times New Roman" pitchFamily="18" charset="0"/>
              </a:rPr>
              <a:t>3</a:t>
            </a:r>
            <a:r>
              <a:rPr lang="en-US" sz="2400" b="1" dirty="0">
                <a:solidFill>
                  <a:srgbClr val="002060"/>
                </a:solidFill>
                <a:latin typeface="Times New Roman" pitchFamily="18" charset="0"/>
                <a:cs typeface="Times New Roman" pitchFamily="18" charset="0"/>
              </a:rPr>
              <a:t>(X) , R</a:t>
            </a:r>
            <a:r>
              <a:rPr lang="en-US" sz="2400" b="1" baseline="-25000" dirty="0">
                <a:solidFill>
                  <a:srgbClr val="002060"/>
                </a:solidFill>
                <a:latin typeface="Times New Roman" pitchFamily="18" charset="0"/>
                <a:cs typeface="Times New Roman" pitchFamily="18" charset="0"/>
              </a:rPr>
              <a:t>4</a:t>
            </a:r>
            <a:r>
              <a:rPr lang="en-US" sz="2400" b="1" dirty="0">
                <a:solidFill>
                  <a:srgbClr val="002060"/>
                </a:solidFill>
                <a:latin typeface="Times New Roman" pitchFamily="18" charset="0"/>
                <a:cs typeface="Times New Roman" pitchFamily="18" charset="0"/>
              </a:rPr>
              <a:t>(X)              (</a:t>
            </a:r>
            <a:r>
              <a:rPr lang="en-US" sz="2400" b="1" dirty="0">
                <a:solidFill>
                  <a:srgbClr val="FF0000"/>
                </a:solidFill>
                <a:latin typeface="Times New Roman" pitchFamily="18" charset="0"/>
                <a:cs typeface="Times New Roman" pitchFamily="18" charset="0"/>
              </a:rPr>
              <a:t>T</a:t>
            </a:r>
            <a:r>
              <a:rPr lang="en-US" sz="2400" b="1" baseline="-25000" dirty="0">
                <a:solidFill>
                  <a:srgbClr val="FF0000"/>
                </a:solidFill>
                <a:latin typeface="Times New Roman" pitchFamily="18" charset="0"/>
                <a:cs typeface="Times New Roman" pitchFamily="18" charset="0"/>
              </a:rPr>
              <a:t>3</a:t>
            </a:r>
            <a:r>
              <a:rPr lang="en-US" sz="2400" b="1" dirty="0">
                <a:solidFill>
                  <a:srgbClr val="FF0000"/>
                </a:solidFill>
                <a:latin typeface="Times New Roman" pitchFamily="18" charset="0"/>
                <a:cs typeface="Times New Roman" pitchFamily="18" charset="0"/>
              </a:rPr>
              <a:t> → T</a:t>
            </a:r>
            <a:r>
              <a:rPr lang="en-US" sz="2400" b="1" baseline="-25000" dirty="0">
                <a:solidFill>
                  <a:srgbClr val="FF0000"/>
                </a:solidFill>
                <a:latin typeface="Times New Roman" pitchFamily="18" charset="0"/>
                <a:cs typeface="Times New Roman" pitchFamily="18" charset="0"/>
              </a:rPr>
              <a:t>4</a:t>
            </a:r>
            <a:r>
              <a:rPr lang="en-US" sz="2400" b="1" dirty="0">
                <a:solidFill>
                  <a:srgbClr val="002060"/>
                </a:solidFill>
                <a:latin typeface="Times New Roman" pitchFamily="18" charset="0"/>
                <a:cs typeface="Times New Roman" pitchFamily="18" charset="0"/>
              </a:rPr>
              <a:t>)</a:t>
            </a:r>
          </a:p>
          <a:p>
            <a:pPr fontAlgn="base"/>
            <a:r>
              <a:rPr lang="en-US" sz="2400" b="1" dirty="0">
                <a:solidFill>
                  <a:srgbClr val="002060"/>
                </a:solidFill>
                <a:latin typeface="Times New Roman" pitchFamily="18" charset="0"/>
                <a:cs typeface="Times New Roman" pitchFamily="18" charset="0"/>
              </a:rPr>
              <a:t>W</a:t>
            </a:r>
            <a:r>
              <a:rPr lang="en-US" sz="2400" b="1" baseline="-25000" dirty="0">
                <a:solidFill>
                  <a:srgbClr val="002060"/>
                </a:solidFill>
                <a:latin typeface="Times New Roman" pitchFamily="18" charset="0"/>
                <a:cs typeface="Times New Roman" pitchFamily="18" charset="0"/>
              </a:rPr>
              <a:t>1</a:t>
            </a:r>
            <a:r>
              <a:rPr lang="en-US" sz="2400" b="1" dirty="0">
                <a:solidFill>
                  <a:srgbClr val="002060"/>
                </a:solidFill>
                <a:latin typeface="Times New Roman" pitchFamily="18" charset="0"/>
                <a:cs typeface="Times New Roman" pitchFamily="18" charset="0"/>
              </a:rPr>
              <a:t>(X) , R</a:t>
            </a:r>
            <a:r>
              <a:rPr lang="en-US" sz="2400" b="1" baseline="-25000" dirty="0">
                <a:solidFill>
                  <a:srgbClr val="002060"/>
                </a:solidFill>
                <a:latin typeface="Times New Roman" pitchFamily="18" charset="0"/>
                <a:cs typeface="Times New Roman" pitchFamily="18" charset="0"/>
              </a:rPr>
              <a:t>4</a:t>
            </a:r>
            <a:r>
              <a:rPr lang="en-US" sz="2400" b="1" dirty="0">
                <a:solidFill>
                  <a:srgbClr val="002060"/>
                </a:solidFill>
                <a:latin typeface="Times New Roman" pitchFamily="18" charset="0"/>
                <a:cs typeface="Times New Roman" pitchFamily="18" charset="0"/>
              </a:rPr>
              <a:t>(X)              (</a:t>
            </a:r>
            <a:r>
              <a:rPr lang="en-US" sz="2400" b="1" dirty="0">
                <a:solidFill>
                  <a:srgbClr val="FF0000"/>
                </a:solidFill>
                <a:latin typeface="Times New Roman" pitchFamily="18" charset="0"/>
                <a:cs typeface="Times New Roman" pitchFamily="18" charset="0"/>
              </a:rPr>
              <a:t>T</a:t>
            </a:r>
            <a:r>
              <a:rPr lang="en-US" sz="2400" b="1" baseline="-25000" dirty="0">
                <a:solidFill>
                  <a:srgbClr val="FF0000"/>
                </a:solidFill>
                <a:latin typeface="Times New Roman" pitchFamily="18" charset="0"/>
                <a:cs typeface="Times New Roman" pitchFamily="18" charset="0"/>
              </a:rPr>
              <a:t>1</a:t>
            </a:r>
            <a:r>
              <a:rPr lang="en-US" sz="2400" b="1" dirty="0">
                <a:solidFill>
                  <a:srgbClr val="FF0000"/>
                </a:solidFill>
                <a:latin typeface="Times New Roman" pitchFamily="18" charset="0"/>
                <a:cs typeface="Times New Roman" pitchFamily="18" charset="0"/>
              </a:rPr>
              <a:t> → T</a:t>
            </a:r>
            <a:r>
              <a:rPr lang="en-US" sz="2400" b="1" baseline="-25000" dirty="0">
                <a:solidFill>
                  <a:srgbClr val="FF0000"/>
                </a:solidFill>
                <a:latin typeface="Times New Roman" pitchFamily="18" charset="0"/>
                <a:cs typeface="Times New Roman" pitchFamily="18" charset="0"/>
              </a:rPr>
              <a:t>4</a:t>
            </a:r>
            <a:r>
              <a:rPr lang="en-US" sz="2400" b="1" dirty="0">
                <a:solidFill>
                  <a:srgbClr val="002060"/>
                </a:solidFill>
                <a:latin typeface="Times New Roman" pitchFamily="18" charset="0"/>
                <a:cs typeface="Times New Roman" pitchFamily="18" charset="0"/>
              </a:rPr>
              <a:t>)</a:t>
            </a:r>
          </a:p>
          <a:p>
            <a:pPr fontAlgn="base"/>
            <a:r>
              <a:rPr lang="en-US" sz="2400" b="1" dirty="0">
                <a:solidFill>
                  <a:srgbClr val="002060"/>
                </a:solidFill>
                <a:latin typeface="Times New Roman" pitchFamily="18" charset="0"/>
                <a:cs typeface="Times New Roman" pitchFamily="18" charset="0"/>
              </a:rPr>
              <a:t>W</a:t>
            </a:r>
            <a:r>
              <a:rPr lang="en-US" sz="2400" b="1" baseline="-25000" dirty="0">
                <a:solidFill>
                  <a:srgbClr val="002060"/>
                </a:solidFill>
                <a:latin typeface="Times New Roman" pitchFamily="18" charset="0"/>
                <a:cs typeface="Times New Roman" pitchFamily="18" charset="0"/>
              </a:rPr>
              <a:t>2</a:t>
            </a:r>
            <a:r>
              <a:rPr lang="en-US" sz="2400" b="1" dirty="0">
                <a:solidFill>
                  <a:srgbClr val="002060"/>
                </a:solidFill>
                <a:latin typeface="Times New Roman" pitchFamily="18" charset="0"/>
                <a:cs typeface="Times New Roman" pitchFamily="18" charset="0"/>
              </a:rPr>
              <a:t>(Y) , R</a:t>
            </a:r>
            <a:r>
              <a:rPr lang="en-US" sz="2400" b="1" baseline="-25000" dirty="0">
                <a:solidFill>
                  <a:srgbClr val="002060"/>
                </a:solidFill>
                <a:latin typeface="Times New Roman" pitchFamily="18" charset="0"/>
                <a:cs typeface="Times New Roman" pitchFamily="18" charset="0"/>
              </a:rPr>
              <a:t>4</a:t>
            </a:r>
            <a:r>
              <a:rPr lang="en-US" sz="2400" b="1" dirty="0">
                <a:solidFill>
                  <a:srgbClr val="002060"/>
                </a:solidFill>
                <a:latin typeface="Times New Roman" pitchFamily="18" charset="0"/>
                <a:cs typeface="Times New Roman" pitchFamily="18" charset="0"/>
              </a:rPr>
              <a:t>(Y)              (</a:t>
            </a:r>
            <a:r>
              <a:rPr lang="en-US" sz="2400" b="1" dirty="0">
                <a:solidFill>
                  <a:srgbClr val="FF0000"/>
                </a:solidFill>
                <a:latin typeface="Times New Roman" pitchFamily="18" charset="0"/>
                <a:cs typeface="Times New Roman" pitchFamily="18" charset="0"/>
              </a:rPr>
              <a:t>T</a:t>
            </a:r>
            <a:r>
              <a:rPr lang="en-US" sz="2400" b="1" baseline="-25000" dirty="0">
                <a:solidFill>
                  <a:srgbClr val="FF0000"/>
                </a:solidFill>
                <a:latin typeface="Times New Roman" pitchFamily="18" charset="0"/>
                <a:cs typeface="Times New Roman" pitchFamily="18" charset="0"/>
              </a:rPr>
              <a:t>2</a:t>
            </a:r>
            <a:r>
              <a:rPr lang="en-US" sz="2400" b="1" dirty="0">
                <a:solidFill>
                  <a:srgbClr val="FF0000"/>
                </a:solidFill>
                <a:latin typeface="Times New Roman" pitchFamily="18" charset="0"/>
                <a:cs typeface="Times New Roman" pitchFamily="18" charset="0"/>
              </a:rPr>
              <a:t> → T</a:t>
            </a:r>
            <a:r>
              <a:rPr lang="en-US" sz="2400" b="1" baseline="-25000" dirty="0">
                <a:solidFill>
                  <a:srgbClr val="FF0000"/>
                </a:solidFill>
                <a:latin typeface="Times New Roman" pitchFamily="18" charset="0"/>
                <a:cs typeface="Times New Roman" pitchFamily="18" charset="0"/>
              </a:rPr>
              <a:t>4</a:t>
            </a:r>
            <a:r>
              <a:rPr lang="en-US" sz="2400" b="1" dirty="0">
                <a:solidFill>
                  <a:srgbClr val="002060"/>
                </a:solidFill>
                <a:latin typeface="Times New Roman" pitchFamily="18" charset="0"/>
                <a:cs typeface="Times New Roman" pitchFamily="18" charset="0"/>
              </a:rPr>
              <a:t>)</a:t>
            </a:r>
          </a:p>
          <a:p>
            <a:pPr fontAlgn="base"/>
            <a:endParaRPr lang="en-US" sz="2400" b="1" dirty="0">
              <a:solidFill>
                <a:srgbClr val="FF0000"/>
              </a:solidFill>
              <a:latin typeface="Maiandra GD" pitchFamily="34" charset="0"/>
              <a:cs typeface="Times New Roman" pitchFamily="18" charset="0"/>
            </a:endParaRPr>
          </a:p>
          <a:p>
            <a:pPr marL="344488" indent="-344488" algn="just" fontAlgn="base">
              <a:lnSpc>
                <a:spcPct val="150000"/>
              </a:lnSpc>
              <a:buClr>
                <a:srgbClr val="FF0000"/>
              </a:buClr>
              <a:buFont typeface="Wingdings" pitchFamily="2" charset="2"/>
              <a:buChar char="v"/>
            </a:pPr>
            <a:endParaRPr lang="en-US" sz="2200" b="1" dirty="0">
              <a:solidFill>
                <a:srgbClr val="002060"/>
              </a:solidFill>
              <a:latin typeface="Times New Roman" pitchFamily="18" charset="0"/>
              <a:cs typeface="Times New Roman" pitchFamily="18" charset="0"/>
            </a:endParaRPr>
          </a:p>
          <a:p>
            <a:pPr marL="344488" indent="-344488"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Clearly, there exists </a:t>
            </a:r>
            <a:r>
              <a:rPr lang="en-US" sz="2400" b="1" dirty="0">
                <a:solidFill>
                  <a:srgbClr val="FF0000"/>
                </a:solidFill>
                <a:latin typeface="Times New Roman" pitchFamily="18" charset="0"/>
                <a:cs typeface="Times New Roman" pitchFamily="18" charset="0"/>
              </a:rPr>
              <a:t>no cycle</a:t>
            </a:r>
            <a:r>
              <a:rPr lang="en-US" sz="2400" dirty="0">
                <a:solidFill>
                  <a:srgbClr val="002060"/>
                </a:solidFill>
                <a:latin typeface="Times New Roman" pitchFamily="18" charset="0"/>
                <a:cs typeface="Times New Roman" pitchFamily="18" charset="0"/>
              </a:rPr>
              <a:t> in the precedence graph.</a:t>
            </a:r>
          </a:p>
          <a:p>
            <a:pPr marL="344488" indent="-344488"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Therefore, the given schedule </a:t>
            </a:r>
            <a:r>
              <a:rPr lang="en-US" sz="2400" b="1" dirty="0">
                <a:solidFill>
                  <a:srgbClr val="FF0000"/>
                </a:solidFill>
                <a:latin typeface="Times New Roman" pitchFamily="18" charset="0"/>
                <a:cs typeface="Times New Roman" pitchFamily="18" charset="0"/>
              </a:rPr>
              <a:t>S is conflict serializable</a:t>
            </a:r>
            <a:r>
              <a:rPr lang="en-US" sz="2400" dirty="0">
                <a:solidFill>
                  <a:srgbClr val="002060"/>
                </a:solidFill>
                <a:latin typeface="Times New Roman" pitchFamily="18" charset="0"/>
                <a:cs typeface="Times New Roman" pitchFamily="18" charset="0"/>
              </a:rPr>
              <a:t>.</a:t>
            </a:r>
          </a:p>
          <a:p>
            <a:pPr marL="465138" marR="0" lvl="0" indent="-465138" algn="just" defTabSz="914400" rtl="0" eaLnBrk="1" fontAlgn="auto" latinLnBrk="0" hangingPunct="1">
              <a:lnSpc>
                <a:spcPct val="150000"/>
              </a:lnSpc>
              <a:spcBef>
                <a:spcPct val="20000"/>
              </a:spcBef>
              <a:spcAft>
                <a:spcPts val="0"/>
              </a:spcAft>
              <a:buClr>
                <a:srgbClr val="FF0000"/>
              </a:buClr>
              <a:buSzTx/>
              <a:tabLst/>
              <a:defRPr/>
            </a:pPr>
            <a:endParaRPr kumimoji="0" lang="en-US" sz="24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pic>
        <p:nvPicPr>
          <p:cNvPr id="177154" name="Picture 2" descr="G:\VTU NOTES\2018-19 SUMMER SEMESTER\DBMS 2018-19 SUMMER\DBMS UNIT IV\New folder\images\Conflict-Serializability-Problem-02-1.png"/>
          <p:cNvPicPr>
            <a:picLocks noChangeAspect="1" noChangeArrowheads="1"/>
          </p:cNvPicPr>
          <p:nvPr/>
        </p:nvPicPr>
        <p:blipFill>
          <a:blip r:embed="rId2">
            <a:lum bright="-20000" contrast="40000"/>
          </a:blip>
          <a:srcRect/>
          <a:stretch>
            <a:fillRect/>
          </a:stretch>
        </p:blipFill>
        <p:spPr bwMode="auto">
          <a:xfrm>
            <a:off x="4876800" y="2133600"/>
            <a:ext cx="3638550" cy="2095500"/>
          </a:xfrm>
          <a:prstGeom prst="rect">
            <a:avLst/>
          </a:prstGeom>
          <a:noFill/>
        </p:spPr>
      </p:pic>
      <p:sp>
        <p:nvSpPr>
          <p:cNvPr id="6" name="Rectangle 5"/>
          <p:cNvSpPr/>
          <p:nvPr/>
        </p:nvSpPr>
        <p:spPr>
          <a:xfrm>
            <a:off x="4724400" y="1524000"/>
            <a:ext cx="4191000" cy="457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solidFill>
                  <a:schemeClr val="tx2">
                    <a:lumMod val="50000"/>
                  </a:schemeClr>
                </a:solidFill>
                <a:latin typeface="Maiandra GD" pitchFamily="34" charset="0"/>
                <a:cs typeface="Times New Roman" pitchFamily="18" charset="0"/>
              </a:rPr>
              <a:t>Draw the precedence graph-</a:t>
            </a:r>
            <a:endParaRPr lang="en-US" dirty="0">
              <a:solidFill>
                <a:schemeClr val="tx2">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 calcmode="lin" valueType="num">
                                      <p:cBhvr additive="base">
                                        <p:cTn id="1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anim calcmode="lin" valueType="num">
                                      <p:cBhvr additive="base">
                                        <p:cTn id="23"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 calcmode="lin" valueType="num">
                                      <p:cBhvr additive="base">
                                        <p:cTn id="27"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anim calcmode="lin" valueType="num">
                                      <p:cBhvr additive="base">
                                        <p:cTn id="31"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77154"/>
                                        </p:tgtEl>
                                        <p:attrNameLst>
                                          <p:attrName>style.visibility</p:attrName>
                                        </p:attrNameLst>
                                      </p:cBhvr>
                                      <p:to>
                                        <p:strVal val="visible"/>
                                      </p:to>
                                    </p:set>
                                    <p:anim calcmode="lin" valueType="num">
                                      <p:cBhvr additive="base">
                                        <p:cTn id="41" dur="500" fill="hold"/>
                                        <p:tgtEl>
                                          <p:spTgt spid="177154"/>
                                        </p:tgtEl>
                                        <p:attrNameLst>
                                          <p:attrName>ppt_x</p:attrName>
                                        </p:attrNameLst>
                                      </p:cBhvr>
                                      <p:tavLst>
                                        <p:tav tm="0">
                                          <p:val>
                                            <p:strVal val="#ppt_x"/>
                                          </p:val>
                                        </p:tav>
                                        <p:tav tm="100000">
                                          <p:val>
                                            <p:strVal val="#ppt_x"/>
                                          </p:val>
                                        </p:tav>
                                      </p:tavLst>
                                    </p:anim>
                                    <p:anim calcmode="lin" valueType="num">
                                      <p:cBhvr additive="base">
                                        <p:cTn id="42" dur="500" fill="hold"/>
                                        <p:tgtEl>
                                          <p:spTgt spid="177154"/>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8">
                                            <p:txEl>
                                              <p:pRg st="9" end="9"/>
                                            </p:txEl>
                                          </p:spTgt>
                                        </p:tgtEl>
                                        <p:attrNameLst>
                                          <p:attrName>style.visibility</p:attrName>
                                        </p:attrNameLst>
                                      </p:cBhvr>
                                      <p:to>
                                        <p:strVal val="visible"/>
                                      </p:to>
                                    </p:set>
                                    <p:anim calcmode="lin" valueType="num">
                                      <p:cBhvr additive="base">
                                        <p:cTn id="47"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8">
                                            <p:txEl>
                                              <p:pRg st="10" end="10"/>
                                            </p:txEl>
                                          </p:spTgt>
                                        </p:tgtEl>
                                        <p:attrNameLst>
                                          <p:attrName>style.visibility</p:attrName>
                                        </p:attrNameLst>
                                      </p:cBhvr>
                                      <p:to>
                                        <p:strVal val="visible"/>
                                      </p:to>
                                    </p:set>
                                    <p:anim calcmode="lin" valueType="num">
                                      <p:cBhvr additive="base">
                                        <p:cTn id="53" dur="500" fill="hold"/>
                                        <p:tgtEl>
                                          <p:spTgt spid="8">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8">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33400"/>
          </a:xfrm>
        </p:spPr>
        <p:txBody>
          <a:bodyPr>
            <a:normAutofit fontScale="90000"/>
          </a:bodyPr>
          <a:lstStyle/>
          <a:p>
            <a:r>
              <a:rPr lang="en-US" sz="3600" b="1" dirty="0">
                <a:solidFill>
                  <a:srgbClr val="FF0000"/>
                </a:solidFill>
                <a:latin typeface="Times New Roman" pitchFamily="18" charset="0"/>
                <a:cs typeface="Times New Roman" pitchFamily="18" charset="0"/>
              </a:rPr>
              <a:t>CONFLICT SERIALIZABILITY</a:t>
            </a:r>
          </a:p>
        </p:txBody>
      </p:sp>
      <p:sp>
        <p:nvSpPr>
          <p:cNvPr id="8" name="Content Placeholder 2"/>
          <p:cNvSpPr txBox="1">
            <a:spLocks/>
          </p:cNvSpPr>
          <p:nvPr/>
        </p:nvSpPr>
        <p:spPr>
          <a:xfrm>
            <a:off x="304800" y="609600"/>
            <a:ext cx="8610600" cy="5943600"/>
          </a:xfrm>
          <a:prstGeom prst="rect">
            <a:avLst/>
          </a:prstGeom>
        </p:spPr>
        <p:txBody>
          <a:bodyPr vert="horz" lIns="91440" tIns="45720" rIns="91440" bIns="45720" rtlCol="0">
            <a:normAutofit/>
          </a:bodyPr>
          <a:lstStyle/>
          <a:p>
            <a:pPr marL="465138" marR="0" lvl="0" indent="-465138" algn="just" defTabSz="914400" rtl="0" eaLnBrk="1" fontAlgn="auto" latinLnBrk="0" hangingPunct="1">
              <a:lnSpc>
                <a:spcPct val="150000"/>
              </a:lnSpc>
              <a:spcBef>
                <a:spcPct val="20000"/>
              </a:spcBef>
              <a:spcAft>
                <a:spcPts val="0"/>
              </a:spcAft>
              <a:buClr>
                <a:srgbClr val="FF0000"/>
              </a:buClr>
              <a:buSzTx/>
              <a:tabLst/>
              <a:defRPr/>
            </a:pPr>
            <a:r>
              <a:rPr lang="en-US" sz="2000" b="1" dirty="0">
                <a:latin typeface="Times New Roman" pitchFamily="18" charset="0"/>
                <a:cs typeface="Times New Roman" pitchFamily="18" charset="0"/>
              </a:rPr>
              <a:t>CONFLICT EQUIVALENCE</a:t>
            </a:r>
            <a:r>
              <a:rPr lang="en-US" sz="2400" b="1" dirty="0">
                <a:latin typeface="Times New Roman" pitchFamily="18" charset="0"/>
                <a:cs typeface="Times New Roman" pitchFamily="18" charset="0"/>
              </a:rPr>
              <a:t>:</a:t>
            </a:r>
          </a:p>
          <a:p>
            <a:pPr marL="465138" marR="0" lvl="0" indent="-465138" algn="just" defTabSz="914400" rtl="0" eaLnBrk="1" fontAlgn="auto" latinLnBrk="0" hangingPunct="1">
              <a:lnSpc>
                <a:spcPct val="150000"/>
              </a:lnSpc>
              <a:spcBef>
                <a:spcPct val="20000"/>
              </a:spcBef>
              <a:spcAft>
                <a:spcPts val="0"/>
              </a:spcAft>
              <a:buClr>
                <a:srgbClr val="FF0000"/>
              </a:buClr>
              <a:buSzTx/>
              <a:tabLst/>
              <a:defRPr/>
            </a:pPr>
            <a:endParaRPr lang="en-US" sz="2400" dirty="0">
              <a:solidFill>
                <a:srgbClr val="002060"/>
              </a:solidFill>
              <a:latin typeface="Times New Roman" pitchFamily="18" charset="0"/>
              <a:cs typeface="Times New Roman" pitchFamily="18" charset="0"/>
            </a:endParaRPr>
          </a:p>
          <a:p>
            <a:pPr marL="465138" marR="0" lvl="0" indent="-465138" algn="just" defTabSz="914400" rtl="0" eaLnBrk="1" fontAlgn="auto" latinLnBrk="0" hangingPunct="1">
              <a:lnSpc>
                <a:spcPct val="150000"/>
              </a:lnSpc>
              <a:spcBef>
                <a:spcPct val="20000"/>
              </a:spcBef>
              <a:spcAft>
                <a:spcPts val="0"/>
              </a:spcAft>
              <a:buClr>
                <a:srgbClr val="FF0000"/>
              </a:buClr>
              <a:buSzTx/>
              <a:tabLst/>
              <a:defRPr/>
            </a:pPr>
            <a:endParaRPr kumimoji="0" lang="en-US" sz="24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graphicFrame>
        <p:nvGraphicFramePr>
          <p:cNvPr id="4" name="Content Placeholder 4"/>
          <p:cNvGraphicFramePr>
            <a:graphicFrameLocks noGrp="1"/>
          </p:cNvGraphicFramePr>
          <p:nvPr>
            <p:ph idx="1"/>
          </p:nvPr>
        </p:nvGraphicFramePr>
        <p:xfrm>
          <a:off x="228600" y="1752600"/>
          <a:ext cx="2514600" cy="37084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tblGrid>
              <a:tr h="370840">
                <a:tc>
                  <a:txBody>
                    <a:bodyPr/>
                    <a:lstStyle/>
                    <a:p>
                      <a:pPr algn="ctr"/>
                      <a:r>
                        <a:rPr lang="en-US" b="1" dirty="0">
                          <a:solidFill>
                            <a:srgbClr val="00206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00206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l"/>
                      <a:r>
                        <a:rPr lang="en-US" b="0" dirty="0">
                          <a:solidFill>
                            <a:schemeClr val="tx1"/>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r>
                        <a:rPr lang="en-US" b="0" dirty="0">
                          <a:solidFill>
                            <a:schemeClr val="tx1"/>
                          </a:solidFill>
                          <a:latin typeface="Times New Roman" pitchFamily="18" charset="0"/>
                          <a:cs typeface="Times New Roman" pitchFamily="18" charset="0"/>
                        </a:rPr>
                        <a:t>X:=X-N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l"/>
                      <a:r>
                        <a:rPr lang="en-US" b="0" dirty="0">
                          <a:solidFill>
                            <a:schemeClr val="tx1"/>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l"/>
                      <a:r>
                        <a:rPr lang="en-US" b="0" dirty="0">
                          <a:solidFill>
                            <a:schemeClr val="tx1"/>
                          </a:solidFill>
                          <a:latin typeface="Times New Roman" pitchFamily="18" charset="0"/>
                          <a:cs typeface="Times New Roman" pitchFamily="18" charset="0"/>
                        </a:rPr>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l"/>
                      <a:r>
                        <a:rPr lang="en-US" b="0" dirty="0">
                          <a:solidFill>
                            <a:schemeClr val="tx1"/>
                          </a:solidFill>
                          <a:latin typeface="Times New Roman" pitchFamily="18" charset="0"/>
                          <a:cs typeface="Times New Roman" pitchFamily="18" charset="0"/>
                        </a:rPr>
                        <a:t>Y:=Y+N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l"/>
                      <a:r>
                        <a:rPr lang="en-US" b="0" dirty="0">
                          <a:solidFill>
                            <a:schemeClr val="tx1"/>
                          </a:solidFill>
                          <a:latin typeface="Times New Roman" pitchFamily="18" charset="0"/>
                          <a:cs typeface="Times New Roman" pitchFamily="18" charset="0"/>
                        </a:rPr>
                        <a:t>Write(Y)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endParaRPr lang="en-US" b="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0" dirty="0">
                          <a:solidFill>
                            <a:schemeClr val="tx1"/>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endParaRPr lang="en-US" b="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0" dirty="0">
                          <a:solidFill>
                            <a:schemeClr val="tx1"/>
                          </a:solidFill>
                          <a:latin typeface="Times New Roman" pitchFamily="18" charset="0"/>
                          <a:cs typeface="Times New Roman" pitchFamily="18" charset="0"/>
                        </a:rPr>
                        <a:t>X:=X+M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l"/>
                      <a:endParaRPr lang="en-US"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0" dirty="0">
                          <a:solidFill>
                            <a:schemeClr val="tx1"/>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5" name="Title 1"/>
          <p:cNvSpPr txBox="1">
            <a:spLocks/>
          </p:cNvSpPr>
          <p:nvPr/>
        </p:nvSpPr>
        <p:spPr>
          <a:xfrm>
            <a:off x="228600" y="1447800"/>
            <a:ext cx="2590800" cy="381000"/>
          </a:xfrm>
          <a:prstGeom prst="rect">
            <a:avLst/>
          </a:prstGeom>
        </p:spPr>
        <p:txBody>
          <a:bodyPr vert="horz" lIns="91440" tIns="45720" rIns="91440" bIns="45720" rtlCol="0" anchor="ctr">
            <a:normAutofit fontScale="925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Schedule A</a:t>
            </a:r>
          </a:p>
        </p:txBody>
      </p:sp>
      <p:graphicFrame>
        <p:nvGraphicFramePr>
          <p:cNvPr id="6" name="Content Placeholder 4"/>
          <p:cNvGraphicFramePr>
            <a:graphicFrameLocks/>
          </p:cNvGraphicFramePr>
          <p:nvPr/>
        </p:nvGraphicFramePr>
        <p:xfrm>
          <a:off x="2971800" y="1752600"/>
          <a:ext cx="2438400" cy="3708400"/>
        </p:xfrm>
        <a:graphic>
          <a:graphicData uri="http://schemas.openxmlformats.org/drawingml/2006/table">
            <a:tbl>
              <a:tblPr firstRow="1" bandRow="1">
                <a:tableStyleId>{5C22544A-7EE6-4342-B048-85BDC9FD1C3A}</a:tableStyleId>
              </a:tblPr>
              <a:tblGrid>
                <a:gridCol w="1186249">
                  <a:extLst>
                    <a:ext uri="{9D8B030D-6E8A-4147-A177-3AD203B41FA5}">
                      <a16:colId xmlns:a16="http://schemas.microsoft.com/office/drawing/2014/main" val="20000"/>
                    </a:ext>
                  </a:extLst>
                </a:gridCol>
                <a:gridCol w="1252151">
                  <a:extLst>
                    <a:ext uri="{9D8B030D-6E8A-4147-A177-3AD203B41FA5}">
                      <a16:colId xmlns:a16="http://schemas.microsoft.com/office/drawing/2014/main" val="20001"/>
                    </a:ext>
                  </a:extLst>
                </a:gridCol>
              </a:tblGrid>
              <a:tr h="370840">
                <a:tc>
                  <a:txBody>
                    <a:bodyPr/>
                    <a:lstStyle/>
                    <a:p>
                      <a:pPr algn="ctr"/>
                      <a:r>
                        <a:rPr lang="en-US" b="1" dirty="0">
                          <a:solidFill>
                            <a:srgbClr val="00206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00206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l"/>
                      <a:r>
                        <a:rPr lang="en-US" b="0" dirty="0">
                          <a:solidFill>
                            <a:schemeClr val="tx1"/>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r>
                        <a:rPr lang="en-US" b="0" dirty="0">
                          <a:solidFill>
                            <a:schemeClr val="tx1"/>
                          </a:solidFill>
                          <a:latin typeface="Times New Roman" pitchFamily="18" charset="0"/>
                          <a:cs typeface="Times New Roman" pitchFamily="18" charset="0"/>
                        </a:rPr>
                        <a:t>X:=X-N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latin typeface="Times New Roman" pitchFamily="18" charset="0"/>
                          <a:cs typeface="Times New Roman" pitchFamily="18" charset="0"/>
                        </a:rPr>
                        <a:t>X:=X+M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l"/>
                      <a:r>
                        <a:rPr lang="en-US" b="0" dirty="0">
                          <a:solidFill>
                            <a:schemeClr val="tx1"/>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l"/>
                      <a:r>
                        <a:rPr lang="en-US" b="0" dirty="0">
                          <a:solidFill>
                            <a:schemeClr val="tx1"/>
                          </a:solidFill>
                          <a:latin typeface="Times New Roman" pitchFamily="18" charset="0"/>
                          <a:cs typeface="Times New Roman" pitchFamily="18" charset="0"/>
                        </a:rPr>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endParaRPr lang="en-US" b="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r>
                        <a:rPr lang="en-US" b="0" dirty="0">
                          <a:solidFill>
                            <a:schemeClr val="tx1"/>
                          </a:solidFill>
                          <a:latin typeface="Times New Roman" pitchFamily="18" charset="0"/>
                          <a:cs typeface="Times New Roman" pitchFamily="18" charset="0"/>
                        </a:rPr>
                        <a:t>Y:=Y+N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l"/>
                      <a:r>
                        <a:rPr lang="en-US" b="0" dirty="0">
                          <a:solidFill>
                            <a:schemeClr val="tx1"/>
                          </a:solidFill>
                          <a:latin typeface="Times New Roman" pitchFamily="18" charset="0"/>
                          <a:cs typeface="Times New Roman" pitchFamily="18" charset="0"/>
                        </a:rPr>
                        <a:t>Write(Y)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7" name="Title 1"/>
          <p:cNvSpPr txBox="1">
            <a:spLocks/>
          </p:cNvSpPr>
          <p:nvPr/>
        </p:nvSpPr>
        <p:spPr>
          <a:xfrm>
            <a:off x="2895600" y="1295400"/>
            <a:ext cx="22860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B050"/>
                </a:solidFill>
                <a:effectLst/>
                <a:uLnTx/>
                <a:uFillTx/>
                <a:latin typeface="Times New Roman" pitchFamily="18" charset="0"/>
                <a:ea typeface="+mj-ea"/>
                <a:cs typeface="Times New Roman" pitchFamily="18" charset="0"/>
              </a:rPr>
              <a:t>Schedule </a:t>
            </a:r>
            <a:r>
              <a:rPr lang="en-US" sz="2400" b="1" dirty="0">
                <a:solidFill>
                  <a:srgbClr val="00B050"/>
                </a:solidFill>
                <a:latin typeface="Times New Roman" pitchFamily="18" charset="0"/>
                <a:ea typeface="+mj-ea"/>
                <a:cs typeface="Times New Roman" pitchFamily="18" charset="0"/>
              </a:rPr>
              <a:t>C</a:t>
            </a:r>
            <a:endParaRPr kumimoji="0" lang="en-US" sz="2400" b="1" i="0" u="none" strike="noStrike" kern="1200" cap="none" spc="0" normalizeH="0" baseline="0" noProof="0" dirty="0">
              <a:ln>
                <a:noFill/>
              </a:ln>
              <a:solidFill>
                <a:srgbClr val="00B050"/>
              </a:solidFill>
              <a:effectLst/>
              <a:uLnTx/>
              <a:uFillTx/>
              <a:latin typeface="Times New Roman" pitchFamily="18" charset="0"/>
              <a:ea typeface="+mj-ea"/>
              <a:cs typeface="Times New Roman" pitchFamily="18" charset="0"/>
            </a:endParaRPr>
          </a:p>
        </p:txBody>
      </p:sp>
      <p:graphicFrame>
        <p:nvGraphicFramePr>
          <p:cNvPr id="9" name="Content Placeholder 4"/>
          <p:cNvGraphicFramePr>
            <a:graphicFrameLocks/>
          </p:cNvGraphicFramePr>
          <p:nvPr/>
        </p:nvGraphicFramePr>
        <p:xfrm>
          <a:off x="6096000" y="1752600"/>
          <a:ext cx="2819400" cy="37084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tblGrid>
              <a:tr h="370840">
                <a:tc>
                  <a:txBody>
                    <a:bodyPr/>
                    <a:lstStyle/>
                    <a:p>
                      <a:pPr algn="ctr"/>
                      <a:r>
                        <a:rPr lang="en-US" b="1" dirty="0">
                          <a:solidFill>
                            <a:srgbClr val="00206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00206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l"/>
                      <a:r>
                        <a:rPr lang="en-US" b="0" dirty="0">
                          <a:solidFill>
                            <a:schemeClr val="tx1"/>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r>
                        <a:rPr lang="en-US" b="0" dirty="0">
                          <a:solidFill>
                            <a:schemeClr val="tx1"/>
                          </a:solidFill>
                          <a:latin typeface="Times New Roman" pitchFamily="18" charset="0"/>
                          <a:cs typeface="Times New Roman" pitchFamily="18" charset="0"/>
                        </a:rPr>
                        <a:t>X:=X-N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l"/>
                      <a:r>
                        <a:rPr lang="en-US" b="0" dirty="0">
                          <a:solidFill>
                            <a:schemeClr val="tx1"/>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l"/>
                      <a:r>
                        <a:rPr lang="en-US" b="0" dirty="0">
                          <a:solidFill>
                            <a:schemeClr val="tx1"/>
                          </a:solidFill>
                          <a:latin typeface="Times New Roman" pitchFamily="18" charset="0"/>
                          <a:cs typeface="Times New Roman" pitchFamily="18" charset="0"/>
                        </a:rPr>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l"/>
                      <a:r>
                        <a:rPr lang="en-US" b="0" dirty="0">
                          <a:solidFill>
                            <a:schemeClr val="tx1"/>
                          </a:solidFill>
                          <a:latin typeface="Times New Roman" pitchFamily="18" charset="0"/>
                          <a:cs typeface="Times New Roman" pitchFamily="18" charset="0"/>
                        </a:rPr>
                        <a:t>Y:=Y+N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l"/>
                      <a:r>
                        <a:rPr lang="en-US" b="0" dirty="0">
                          <a:solidFill>
                            <a:schemeClr val="tx1"/>
                          </a:solidFill>
                          <a:latin typeface="Times New Roman" pitchFamily="18" charset="0"/>
                          <a:cs typeface="Times New Roman" pitchFamily="18" charset="0"/>
                        </a:rPr>
                        <a:t>Write(Y)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0"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endParaRPr lang="en-US" b="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0" dirty="0">
                          <a:solidFill>
                            <a:schemeClr val="tx1"/>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endParaRPr lang="en-US" b="0"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0" dirty="0">
                          <a:solidFill>
                            <a:schemeClr val="tx1"/>
                          </a:solidFill>
                          <a:latin typeface="Times New Roman" pitchFamily="18" charset="0"/>
                          <a:cs typeface="Times New Roman" pitchFamily="18" charset="0"/>
                        </a:rPr>
                        <a:t>X:=X+M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l"/>
                      <a:endParaRPr lang="en-US" b="0"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0" dirty="0">
                          <a:solidFill>
                            <a:schemeClr val="tx1"/>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10" name="Title 1"/>
          <p:cNvSpPr txBox="1">
            <a:spLocks/>
          </p:cNvSpPr>
          <p:nvPr/>
        </p:nvSpPr>
        <p:spPr>
          <a:xfrm>
            <a:off x="6096000" y="1219200"/>
            <a:ext cx="2819400" cy="533400"/>
          </a:xfrm>
          <a:prstGeom prst="rect">
            <a:avLst/>
          </a:prstGeom>
        </p:spPr>
        <p:txBody>
          <a:bodyPr vert="horz" lIns="91440" tIns="45720" rIns="91440" bIns="45720" rtlCol="0" anchor="ctr">
            <a:normAutofit fontScale="7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tx2">
                    <a:lumMod val="50000"/>
                  </a:schemeClr>
                </a:solidFill>
                <a:effectLst/>
                <a:uLnTx/>
                <a:uFillTx/>
                <a:latin typeface="Times New Roman" pitchFamily="18" charset="0"/>
                <a:ea typeface="+mj-ea"/>
                <a:cs typeface="Times New Roman" pitchFamily="18" charset="0"/>
              </a:rPr>
              <a:t>Re-order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tx2">
                    <a:lumMod val="50000"/>
                  </a:schemeClr>
                </a:solidFill>
                <a:effectLst/>
                <a:uLnTx/>
                <a:uFillTx/>
                <a:latin typeface="Times New Roman" pitchFamily="18" charset="0"/>
                <a:ea typeface="+mj-ea"/>
                <a:cs typeface="Times New Roman" pitchFamily="18" charset="0"/>
              </a:rPr>
              <a:t>Schedule </a:t>
            </a:r>
            <a:r>
              <a:rPr lang="en-US" sz="2400" b="1" dirty="0">
                <a:solidFill>
                  <a:schemeClr val="tx2">
                    <a:lumMod val="50000"/>
                  </a:schemeClr>
                </a:solidFill>
                <a:latin typeface="Times New Roman" pitchFamily="18" charset="0"/>
                <a:ea typeface="+mj-ea"/>
                <a:cs typeface="Times New Roman" pitchFamily="18" charset="0"/>
              </a:rPr>
              <a:t>C</a:t>
            </a:r>
            <a:endParaRPr kumimoji="0" lang="en-US" sz="2400" b="1" i="0" u="none" strike="noStrike" kern="1200" cap="none" spc="0" normalizeH="0" baseline="0" noProof="0" dirty="0">
              <a:ln>
                <a:noFill/>
              </a:ln>
              <a:solidFill>
                <a:schemeClr val="tx2">
                  <a:lumMod val="50000"/>
                </a:schemeClr>
              </a:solidFill>
              <a:effectLst/>
              <a:uLnTx/>
              <a:uFillTx/>
              <a:latin typeface="Times New Roman" pitchFamily="18" charset="0"/>
              <a:ea typeface="+mj-ea"/>
              <a:cs typeface="Times New Roman"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33400"/>
          </a:xfrm>
        </p:spPr>
        <p:txBody>
          <a:bodyPr>
            <a:normAutofit fontScale="90000"/>
          </a:bodyPr>
          <a:lstStyle/>
          <a:p>
            <a:r>
              <a:rPr lang="en-US" sz="3600" b="1" dirty="0">
                <a:solidFill>
                  <a:srgbClr val="FF0000"/>
                </a:solidFill>
                <a:latin typeface="Times New Roman" pitchFamily="18" charset="0"/>
                <a:cs typeface="Times New Roman" pitchFamily="18" charset="0"/>
              </a:rPr>
              <a:t>CONFLICT SERIALIZABILITY</a:t>
            </a:r>
          </a:p>
        </p:txBody>
      </p:sp>
      <p:sp>
        <p:nvSpPr>
          <p:cNvPr id="8" name="Content Placeholder 2"/>
          <p:cNvSpPr txBox="1">
            <a:spLocks/>
          </p:cNvSpPr>
          <p:nvPr/>
        </p:nvSpPr>
        <p:spPr>
          <a:xfrm>
            <a:off x="304800" y="609600"/>
            <a:ext cx="8610600" cy="5943600"/>
          </a:xfrm>
          <a:prstGeom prst="rect">
            <a:avLst/>
          </a:prstGeom>
        </p:spPr>
        <p:txBody>
          <a:bodyPr vert="horz" lIns="91440" tIns="45720" rIns="91440" bIns="45720" rtlCol="0">
            <a:normAutofit/>
          </a:bodyPr>
          <a:lstStyle/>
          <a:p>
            <a:pPr marL="465138" marR="0" lvl="0" indent="-465138" algn="just" defTabSz="914400" rtl="0" eaLnBrk="1" fontAlgn="auto" latinLnBrk="0" hangingPunct="1">
              <a:lnSpc>
                <a:spcPct val="150000"/>
              </a:lnSpc>
              <a:spcBef>
                <a:spcPct val="20000"/>
              </a:spcBef>
              <a:spcAft>
                <a:spcPts val="0"/>
              </a:spcAft>
              <a:buClr>
                <a:srgbClr val="FF0000"/>
              </a:buClr>
              <a:buSzTx/>
              <a:tabLst/>
              <a:defRPr/>
            </a:pPr>
            <a:r>
              <a:rPr lang="en-US" sz="2000" b="1" dirty="0">
                <a:solidFill>
                  <a:srgbClr val="FF0000"/>
                </a:solidFill>
                <a:latin typeface="Times New Roman" pitchFamily="18" charset="0"/>
                <a:cs typeface="Times New Roman" pitchFamily="18" charset="0"/>
              </a:rPr>
              <a:t>CONFLICT EQUIVALENCE</a:t>
            </a:r>
            <a:r>
              <a:rPr lang="en-US" sz="2400" b="1" dirty="0">
                <a:solidFill>
                  <a:srgbClr val="FF0000"/>
                </a:solidFill>
                <a:latin typeface="Times New Roman" pitchFamily="18" charset="0"/>
                <a:cs typeface="Times New Roman" pitchFamily="18" charset="0"/>
              </a:rPr>
              <a:t>:</a:t>
            </a:r>
          </a:p>
          <a:p>
            <a:pPr marL="465138" marR="0" lvl="0" indent="-465138" algn="just" defTabSz="914400" rtl="0" eaLnBrk="1" fontAlgn="auto" latinLnBrk="0" hangingPunct="1">
              <a:lnSpc>
                <a:spcPct val="150000"/>
              </a:lnSpc>
              <a:spcBef>
                <a:spcPct val="20000"/>
              </a:spcBef>
              <a:spcAft>
                <a:spcPts val="0"/>
              </a:spcAft>
              <a:buClr>
                <a:srgbClr val="FF0000"/>
              </a:buClr>
              <a:buSzTx/>
              <a:tabLst/>
              <a:defRPr/>
            </a:pPr>
            <a:endParaRPr lang="en-US" sz="2400" dirty="0">
              <a:solidFill>
                <a:srgbClr val="002060"/>
              </a:solidFill>
              <a:latin typeface="Times New Roman" pitchFamily="18" charset="0"/>
              <a:cs typeface="Times New Roman" pitchFamily="18" charset="0"/>
            </a:endParaRPr>
          </a:p>
          <a:p>
            <a:pPr marL="465138" marR="0" lvl="0" indent="-465138" algn="just" defTabSz="914400" rtl="0" eaLnBrk="1" fontAlgn="auto" latinLnBrk="0" hangingPunct="1">
              <a:lnSpc>
                <a:spcPct val="150000"/>
              </a:lnSpc>
              <a:spcBef>
                <a:spcPct val="20000"/>
              </a:spcBef>
              <a:spcAft>
                <a:spcPts val="0"/>
              </a:spcAft>
              <a:buClr>
                <a:srgbClr val="FF0000"/>
              </a:buClr>
              <a:buSzTx/>
              <a:tabLst/>
              <a:defRPr/>
            </a:pPr>
            <a:endParaRPr kumimoji="0" lang="en-US" sz="2400" b="0"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graphicFrame>
        <p:nvGraphicFramePr>
          <p:cNvPr id="4" name="Content Placeholder 4"/>
          <p:cNvGraphicFramePr>
            <a:graphicFrameLocks noGrp="1"/>
          </p:cNvGraphicFramePr>
          <p:nvPr>
            <p:ph idx="1"/>
          </p:nvPr>
        </p:nvGraphicFramePr>
        <p:xfrm>
          <a:off x="381000" y="1752600"/>
          <a:ext cx="2819400" cy="37084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tblGrid>
              <a:tr h="370840">
                <a:tc>
                  <a:txBody>
                    <a:bodyPr/>
                    <a:lstStyle/>
                    <a:p>
                      <a:pPr algn="ctr"/>
                      <a:r>
                        <a:rPr lang="en-US" b="1" dirty="0">
                          <a:solidFill>
                            <a:srgbClr val="FF000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FF000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l"/>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r>
                        <a:rPr lang="en-US" b="1" dirty="0">
                          <a:solidFill>
                            <a:srgbClr val="002060"/>
                          </a:solidFill>
                          <a:latin typeface="Times New Roman" pitchFamily="18" charset="0"/>
                          <a:cs typeface="Times New Roman" pitchFamily="18" charset="0"/>
                        </a:rPr>
                        <a:t>X:=X-N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l"/>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l"/>
                      <a:r>
                        <a:rPr lang="en-US" b="1" dirty="0">
                          <a:solidFill>
                            <a:srgbClr val="002060"/>
                          </a:solidFill>
                          <a:latin typeface="Times New Roman" pitchFamily="18" charset="0"/>
                          <a:cs typeface="Times New Roman" pitchFamily="18" charset="0"/>
                        </a:rPr>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l"/>
                      <a:r>
                        <a:rPr lang="en-US" b="1" dirty="0">
                          <a:solidFill>
                            <a:srgbClr val="002060"/>
                          </a:solidFill>
                          <a:latin typeface="Times New Roman" pitchFamily="18" charset="0"/>
                          <a:cs typeface="Times New Roman" pitchFamily="18" charset="0"/>
                        </a:rPr>
                        <a:t>Y:=Y+N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l"/>
                      <a:r>
                        <a:rPr lang="en-US" b="1" dirty="0">
                          <a:solidFill>
                            <a:srgbClr val="002060"/>
                          </a:solidFill>
                          <a:latin typeface="Times New Roman" pitchFamily="18" charset="0"/>
                          <a:cs typeface="Times New Roman" pitchFamily="18" charset="0"/>
                        </a:rPr>
                        <a:t>Write(Y)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X:=X+M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l"/>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5" name="Title 1"/>
          <p:cNvSpPr txBox="1">
            <a:spLocks/>
          </p:cNvSpPr>
          <p:nvPr/>
        </p:nvSpPr>
        <p:spPr>
          <a:xfrm>
            <a:off x="381000" y="1447800"/>
            <a:ext cx="2819400" cy="381000"/>
          </a:xfrm>
          <a:prstGeom prst="rect">
            <a:avLst/>
          </a:prstGeom>
        </p:spPr>
        <p:txBody>
          <a:bodyPr vert="horz" lIns="91440" tIns="45720" rIns="91440" bIns="45720" rtlCol="0" anchor="ctr">
            <a:normAutofit fontScale="925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SCHEDULE A</a:t>
            </a:r>
          </a:p>
        </p:txBody>
      </p:sp>
      <p:sp>
        <p:nvSpPr>
          <p:cNvPr id="7" name="Title 1"/>
          <p:cNvSpPr txBox="1">
            <a:spLocks/>
          </p:cNvSpPr>
          <p:nvPr/>
        </p:nvSpPr>
        <p:spPr>
          <a:xfrm>
            <a:off x="2971800" y="1295400"/>
            <a:ext cx="28194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SCHEDULE D</a:t>
            </a:r>
          </a:p>
        </p:txBody>
      </p:sp>
      <p:graphicFrame>
        <p:nvGraphicFramePr>
          <p:cNvPr id="9" name="Content Placeholder 4"/>
          <p:cNvGraphicFramePr>
            <a:graphicFrameLocks/>
          </p:cNvGraphicFramePr>
          <p:nvPr/>
        </p:nvGraphicFramePr>
        <p:xfrm>
          <a:off x="3352800" y="1752600"/>
          <a:ext cx="2819400" cy="37084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tblGrid>
              <a:tr h="370840">
                <a:tc>
                  <a:txBody>
                    <a:bodyPr/>
                    <a:lstStyle/>
                    <a:p>
                      <a:pPr algn="ctr"/>
                      <a:r>
                        <a:rPr lang="en-US" b="1" dirty="0">
                          <a:solidFill>
                            <a:srgbClr val="FF000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FF000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l"/>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r>
                        <a:rPr lang="en-US" b="1" dirty="0">
                          <a:solidFill>
                            <a:srgbClr val="002060"/>
                          </a:solidFill>
                          <a:latin typeface="Times New Roman" pitchFamily="18" charset="0"/>
                          <a:cs typeface="Times New Roman" pitchFamily="18" charset="0"/>
                        </a:rPr>
                        <a:t>X:=X-N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l"/>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X:=X+M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r>
                        <a:rPr lang="en-US" b="1" dirty="0">
                          <a:solidFill>
                            <a:srgbClr val="002060"/>
                          </a:solidFill>
                          <a:latin typeface="Times New Roman" pitchFamily="18" charset="0"/>
                          <a:cs typeface="Times New Roman" pitchFamily="18" charset="0"/>
                        </a:rPr>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r>
                        <a:rPr lang="en-US" b="1" dirty="0">
                          <a:solidFill>
                            <a:srgbClr val="002060"/>
                          </a:solidFill>
                          <a:latin typeface="Times New Roman" pitchFamily="18" charset="0"/>
                          <a:cs typeface="Times New Roman" pitchFamily="18" charset="0"/>
                        </a:rPr>
                        <a:t>Y:=Y+N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l"/>
                      <a:r>
                        <a:rPr lang="en-US" b="1" dirty="0">
                          <a:solidFill>
                            <a:srgbClr val="002060"/>
                          </a:solidFill>
                          <a:latin typeface="Times New Roman" pitchFamily="18" charset="0"/>
                          <a:cs typeface="Times New Roman" pitchFamily="18" charset="0"/>
                        </a:rPr>
                        <a:t>Write(Y)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10" name="Title 1"/>
          <p:cNvSpPr txBox="1">
            <a:spLocks/>
          </p:cNvSpPr>
          <p:nvPr/>
        </p:nvSpPr>
        <p:spPr>
          <a:xfrm>
            <a:off x="6629400" y="1371600"/>
            <a:ext cx="2286000" cy="533400"/>
          </a:xfrm>
          <a:prstGeom prst="rect">
            <a:avLst/>
          </a:prstGeom>
        </p:spPr>
        <p:txBody>
          <a:bodyPr vert="horz" lIns="91440" tIns="45720" rIns="91440" bIns="45720" rtlCol="0" anchor="ctr">
            <a:normAutofit fontScale="7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Re-Order SCHEDULE </a:t>
            </a:r>
          </a:p>
        </p:txBody>
      </p:sp>
      <p:graphicFrame>
        <p:nvGraphicFramePr>
          <p:cNvPr id="11" name="Content Placeholder 4"/>
          <p:cNvGraphicFramePr>
            <a:graphicFrameLocks/>
          </p:cNvGraphicFramePr>
          <p:nvPr/>
        </p:nvGraphicFramePr>
        <p:xfrm>
          <a:off x="6629400" y="1828800"/>
          <a:ext cx="2286000" cy="3708400"/>
        </p:xfrm>
        <a:graphic>
          <a:graphicData uri="http://schemas.openxmlformats.org/drawingml/2006/table">
            <a:tbl>
              <a:tblPr firstRow="1" bandRow="1">
                <a:tableStyleId>{5C22544A-7EE6-4342-B048-85BDC9FD1C3A}</a:tableStyleId>
              </a:tblPr>
              <a:tblGrid>
                <a:gridCol w="1112108">
                  <a:extLst>
                    <a:ext uri="{9D8B030D-6E8A-4147-A177-3AD203B41FA5}">
                      <a16:colId xmlns:a16="http://schemas.microsoft.com/office/drawing/2014/main" val="20000"/>
                    </a:ext>
                  </a:extLst>
                </a:gridCol>
                <a:gridCol w="1173892">
                  <a:extLst>
                    <a:ext uri="{9D8B030D-6E8A-4147-A177-3AD203B41FA5}">
                      <a16:colId xmlns:a16="http://schemas.microsoft.com/office/drawing/2014/main" val="20001"/>
                    </a:ext>
                  </a:extLst>
                </a:gridCol>
              </a:tblGrid>
              <a:tr h="370840">
                <a:tc>
                  <a:txBody>
                    <a:bodyPr/>
                    <a:lstStyle/>
                    <a:p>
                      <a:pPr algn="ctr"/>
                      <a:r>
                        <a:rPr lang="en-US" b="1" dirty="0">
                          <a:solidFill>
                            <a:srgbClr val="FF000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FF000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l"/>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r>
                        <a:rPr lang="en-US" b="1" dirty="0">
                          <a:solidFill>
                            <a:srgbClr val="002060"/>
                          </a:solidFill>
                          <a:latin typeface="Times New Roman" pitchFamily="18" charset="0"/>
                          <a:cs typeface="Times New Roman" pitchFamily="18" charset="0"/>
                        </a:rPr>
                        <a:t>X:=X-N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l"/>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r>
                        <a:rPr lang="en-US" b="1" dirty="0"/>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r>
                        <a:rPr lang="en-US" b="1" dirty="0"/>
                        <a:t>Y:=Y+N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r>
                        <a:rPr lang="en-US" b="1" dirty="0"/>
                        <a:t>Write(Y)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t>X:=X+M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752600"/>
            <a:ext cx="9144000" cy="2590800"/>
          </a:xfrm>
        </p:spPr>
        <p:txBody>
          <a:bodyPr>
            <a:noAutofit/>
          </a:bodyPr>
          <a:lstStyle/>
          <a:p>
            <a:pPr fontAlgn="base">
              <a:lnSpc>
                <a:spcPct val="150000"/>
              </a:lnSpc>
            </a:pPr>
            <a:r>
              <a:rPr lang="en-US" sz="6600" b="1" dirty="0">
                <a:solidFill>
                  <a:srgbClr val="FF0000"/>
                </a:solidFill>
                <a:latin typeface="Maiandra GD" pitchFamily="34" charset="0"/>
                <a:cs typeface="Times New Roman" pitchFamily="18" charset="0"/>
              </a:rPr>
              <a:t>View Serializability</a:t>
            </a:r>
          </a:p>
        </p:txBody>
      </p:sp>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Autofit/>
          </a:bodyPr>
          <a:lstStyle/>
          <a:p>
            <a:pPr fontAlgn="base">
              <a:lnSpc>
                <a:spcPct val="150000"/>
              </a:lnSpc>
            </a:pPr>
            <a:r>
              <a:rPr lang="en-US" sz="4000" b="1" dirty="0">
                <a:solidFill>
                  <a:srgbClr val="FF0000"/>
                </a:solidFill>
                <a:latin typeface="Maiandra GD" pitchFamily="34" charset="0"/>
                <a:cs typeface="Times New Roman" pitchFamily="18" charset="0"/>
              </a:rPr>
              <a:t>View Serializability</a:t>
            </a:r>
          </a:p>
        </p:txBody>
      </p:sp>
      <p:sp>
        <p:nvSpPr>
          <p:cNvPr id="6" name="Content Placeholder 2"/>
          <p:cNvSpPr txBox="1">
            <a:spLocks/>
          </p:cNvSpPr>
          <p:nvPr/>
        </p:nvSpPr>
        <p:spPr>
          <a:xfrm>
            <a:off x="4495800" y="914400"/>
            <a:ext cx="4648200" cy="59436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5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a:ln>
                <a:noFill/>
              </a:ln>
              <a:solidFill>
                <a:srgbClr val="002060"/>
              </a:solidFill>
              <a:effectLst/>
              <a:uLnTx/>
              <a:uFillTx/>
              <a:latin typeface="Times New Roman" pitchFamily="18" charset="0"/>
              <a:ea typeface="+mn-ea"/>
              <a:cs typeface="Times New Roman" pitchFamily="18" charset="0"/>
            </a:endParaRPr>
          </a:p>
        </p:txBody>
      </p:sp>
      <p:sp>
        <p:nvSpPr>
          <p:cNvPr id="4" name="Rectangle 3"/>
          <p:cNvSpPr/>
          <p:nvPr/>
        </p:nvSpPr>
        <p:spPr>
          <a:xfrm>
            <a:off x="0" y="914400"/>
            <a:ext cx="9144000" cy="1754326"/>
          </a:xfrm>
          <a:prstGeom prst="rect">
            <a:avLst/>
          </a:prstGeom>
        </p:spPr>
        <p:txBody>
          <a:bodyPr wrap="square">
            <a:spAutoFit/>
          </a:bodyPr>
          <a:lstStyle/>
          <a:p>
            <a:pPr algn="just">
              <a:lnSpc>
                <a:spcPct val="150000"/>
              </a:lnSpc>
            </a:pPr>
            <a:r>
              <a:rPr lang="en-US" sz="2400" b="1" dirty="0">
                <a:solidFill>
                  <a:srgbClr val="FF0000"/>
                </a:solidFill>
                <a:latin typeface="Maiandra GD" pitchFamily="34" charset="0"/>
                <a:cs typeface="Times New Roman" pitchFamily="18" charset="0"/>
              </a:rPr>
              <a:t>Definition:</a:t>
            </a:r>
          </a:p>
          <a:p>
            <a:pPr algn="just">
              <a:lnSpc>
                <a:spcPct val="150000"/>
              </a:lnSpc>
            </a:pPr>
            <a:r>
              <a:rPr lang="en-US" dirty="0">
                <a:solidFill>
                  <a:schemeClr val="tx2">
                    <a:lumMod val="50000"/>
                  </a:schemeClr>
                </a:solidFill>
                <a:latin typeface="Times New Roman" pitchFamily="18" charset="0"/>
                <a:cs typeface="Times New Roman" pitchFamily="18" charset="0"/>
              </a:rPr>
              <a:t>	</a:t>
            </a:r>
            <a:r>
              <a:rPr lang="en-US" sz="2400" dirty="0">
                <a:solidFill>
                  <a:srgbClr val="002060"/>
                </a:solidFill>
                <a:latin typeface="Times New Roman" pitchFamily="18" charset="0"/>
                <a:cs typeface="Times New Roman" pitchFamily="18" charset="0"/>
              </a:rPr>
              <a:t>If a given schedule is found to be </a:t>
            </a:r>
            <a:r>
              <a:rPr lang="en-US" sz="2400" dirty="0">
                <a:solidFill>
                  <a:srgbClr val="FF0000"/>
                </a:solidFill>
                <a:latin typeface="Times New Roman" pitchFamily="18" charset="0"/>
                <a:cs typeface="Times New Roman" pitchFamily="18" charset="0"/>
              </a:rPr>
              <a:t>view equivalent </a:t>
            </a:r>
            <a:r>
              <a:rPr lang="en-US" sz="2400" dirty="0">
                <a:solidFill>
                  <a:srgbClr val="002060"/>
                </a:solidFill>
                <a:latin typeface="Times New Roman" pitchFamily="18" charset="0"/>
                <a:cs typeface="Times New Roman" pitchFamily="18" charset="0"/>
              </a:rPr>
              <a:t>to some serial schedule, then it is called as a view serializable schedule.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Autofit/>
          </a:bodyPr>
          <a:lstStyle/>
          <a:p>
            <a:pPr fontAlgn="base">
              <a:lnSpc>
                <a:spcPct val="150000"/>
              </a:lnSpc>
            </a:pPr>
            <a:r>
              <a:rPr lang="en-US" sz="4000" b="1" dirty="0">
                <a:solidFill>
                  <a:srgbClr val="FF0000"/>
                </a:solidFill>
                <a:latin typeface="Maiandra GD" pitchFamily="34" charset="0"/>
                <a:cs typeface="Times New Roman" pitchFamily="18" charset="0"/>
              </a:rPr>
              <a:t>View Serializability</a:t>
            </a:r>
          </a:p>
        </p:txBody>
      </p:sp>
      <p:sp>
        <p:nvSpPr>
          <p:cNvPr id="5" name="Rectangle 4"/>
          <p:cNvSpPr/>
          <p:nvPr/>
        </p:nvSpPr>
        <p:spPr>
          <a:xfrm>
            <a:off x="0" y="762000"/>
            <a:ext cx="9144000" cy="5632311"/>
          </a:xfrm>
          <a:prstGeom prst="rect">
            <a:avLst/>
          </a:prstGeom>
        </p:spPr>
        <p:txBody>
          <a:bodyPr wrap="square">
            <a:spAutoFit/>
          </a:bodyPr>
          <a:lstStyle/>
          <a:p>
            <a:pPr algn="just" fontAlgn="base">
              <a:lnSpc>
                <a:spcPct val="150000"/>
              </a:lnSpc>
            </a:pPr>
            <a:r>
              <a:rPr lang="en-US" sz="2400" b="1" u="sng" dirty="0">
                <a:solidFill>
                  <a:srgbClr val="002060"/>
                </a:solidFill>
                <a:latin typeface="Times New Roman" pitchFamily="18" charset="0"/>
                <a:cs typeface="Times New Roman" pitchFamily="18" charset="0"/>
              </a:rPr>
              <a:t>View Equivalent Schedules-</a:t>
            </a:r>
          </a:p>
          <a:p>
            <a:pPr marL="344488" indent="-344488" algn="just" fontAlgn="base">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Schedules </a:t>
            </a:r>
            <a:r>
              <a:rPr lang="en-US" sz="2200" dirty="0">
                <a:solidFill>
                  <a:srgbClr val="FF0000"/>
                </a:solidFill>
                <a:latin typeface="Times New Roman" pitchFamily="18" charset="0"/>
                <a:cs typeface="Times New Roman" pitchFamily="18" charset="0"/>
              </a:rPr>
              <a:t>S1</a:t>
            </a:r>
            <a:r>
              <a:rPr lang="en-US" sz="2200" dirty="0">
                <a:solidFill>
                  <a:srgbClr val="002060"/>
                </a:solidFill>
                <a:latin typeface="Times New Roman" pitchFamily="18" charset="0"/>
                <a:cs typeface="Times New Roman" pitchFamily="18" charset="0"/>
              </a:rPr>
              <a:t> and </a:t>
            </a:r>
            <a:r>
              <a:rPr lang="en-US" sz="2200" dirty="0">
                <a:solidFill>
                  <a:srgbClr val="FF0000"/>
                </a:solidFill>
                <a:latin typeface="Times New Roman" pitchFamily="18" charset="0"/>
                <a:cs typeface="Times New Roman" pitchFamily="18" charset="0"/>
              </a:rPr>
              <a:t>S2</a:t>
            </a:r>
            <a:r>
              <a:rPr lang="en-US" sz="2200" dirty="0">
                <a:solidFill>
                  <a:srgbClr val="002060"/>
                </a:solidFill>
                <a:latin typeface="Times New Roman" pitchFamily="18" charset="0"/>
                <a:cs typeface="Times New Roman" pitchFamily="18" charset="0"/>
              </a:rPr>
              <a:t> are called </a:t>
            </a:r>
            <a:r>
              <a:rPr lang="en-US" sz="2200" dirty="0">
                <a:solidFill>
                  <a:srgbClr val="FF0000"/>
                </a:solidFill>
                <a:latin typeface="Times New Roman" pitchFamily="18" charset="0"/>
                <a:cs typeface="Times New Roman" pitchFamily="18" charset="0"/>
              </a:rPr>
              <a:t>view equivalent </a:t>
            </a:r>
            <a:r>
              <a:rPr lang="en-US" sz="2200" dirty="0">
                <a:solidFill>
                  <a:srgbClr val="002060"/>
                </a:solidFill>
                <a:latin typeface="Times New Roman" pitchFamily="18" charset="0"/>
                <a:cs typeface="Times New Roman" pitchFamily="18" charset="0"/>
              </a:rPr>
              <a:t>if the following three conditions hold true for them-</a:t>
            </a:r>
          </a:p>
          <a:p>
            <a:pPr fontAlgn="base"/>
            <a:r>
              <a:rPr lang="en-US" sz="2400" b="1" u="sng" dirty="0">
                <a:solidFill>
                  <a:srgbClr val="FF0000"/>
                </a:solidFill>
                <a:latin typeface="Maiandra GD" pitchFamily="34" charset="0"/>
                <a:cs typeface="Times New Roman" pitchFamily="18" charset="0"/>
              </a:rPr>
              <a:t>Condition-01</a:t>
            </a:r>
            <a:r>
              <a:rPr lang="en-US" sz="2400" b="1" dirty="0">
                <a:solidFill>
                  <a:srgbClr val="FF0000"/>
                </a:solidFill>
                <a:latin typeface="Maiandra GD" pitchFamily="34" charset="0"/>
                <a:cs typeface="Times New Roman" pitchFamily="18" charset="0"/>
              </a:rPr>
              <a:t>:</a:t>
            </a:r>
          </a:p>
          <a:p>
            <a:pPr algn="just" fontAlgn="base">
              <a:lnSpc>
                <a:spcPct val="150000"/>
              </a:lnSpc>
            </a:pPr>
            <a:r>
              <a:rPr lang="en-US" sz="2200" dirty="0">
                <a:solidFill>
                  <a:srgbClr val="002060"/>
                </a:solidFill>
                <a:latin typeface="Times New Roman" pitchFamily="18" charset="0"/>
                <a:cs typeface="Times New Roman" pitchFamily="18" charset="0"/>
              </a:rPr>
              <a:t>For each data item X, if transaction T</a:t>
            </a:r>
            <a:r>
              <a:rPr lang="en-US" sz="2200" baseline="-25000" dirty="0">
                <a:solidFill>
                  <a:srgbClr val="002060"/>
                </a:solidFill>
                <a:latin typeface="Times New Roman" pitchFamily="18" charset="0"/>
                <a:cs typeface="Times New Roman" pitchFamily="18" charset="0"/>
              </a:rPr>
              <a:t>i</a:t>
            </a:r>
            <a:r>
              <a:rPr lang="en-US" sz="2200" dirty="0">
                <a:solidFill>
                  <a:srgbClr val="002060"/>
                </a:solidFill>
                <a:latin typeface="Times New Roman" pitchFamily="18" charset="0"/>
                <a:cs typeface="Times New Roman" pitchFamily="18" charset="0"/>
              </a:rPr>
              <a:t> reads X from the database initially in schedule S1, then in schedule S2 also, T</a:t>
            </a:r>
            <a:r>
              <a:rPr lang="en-US" sz="2200" baseline="-25000" dirty="0">
                <a:solidFill>
                  <a:srgbClr val="002060"/>
                </a:solidFill>
                <a:latin typeface="Times New Roman" pitchFamily="18" charset="0"/>
                <a:cs typeface="Times New Roman" pitchFamily="18" charset="0"/>
              </a:rPr>
              <a:t>i </a:t>
            </a:r>
            <a:r>
              <a:rPr lang="en-US" sz="2200" dirty="0">
                <a:solidFill>
                  <a:srgbClr val="002060"/>
                </a:solidFill>
                <a:latin typeface="Times New Roman" pitchFamily="18" charset="0"/>
                <a:cs typeface="Times New Roman" pitchFamily="18" charset="0"/>
              </a:rPr>
              <a:t>must perform the initial read of X from the database.</a:t>
            </a:r>
          </a:p>
          <a:p>
            <a:pPr algn="just" fontAlgn="base">
              <a:lnSpc>
                <a:spcPct val="150000"/>
              </a:lnSpc>
            </a:pPr>
            <a:r>
              <a:rPr lang="en-US" sz="2400" b="1" u="sng" dirty="0">
                <a:solidFill>
                  <a:srgbClr val="FF0000"/>
                </a:solidFill>
                <a:latin typeface="Maiandra GD" pitchFamily="34" charset="0"/>
                <a:cs typeface="Times New Roman" pitchFamily="18" charset="0"/>
              </a:rPr>
              <a:t>Condition-02</a:t>
            </a:r>
            <a:r>
              <a:rPr lang="en-US" sz="2400" b="1" dirty="0">
                <a:solidFill>
                  <a:srgbClr val="FF0000"/>
                </a:solidFill>
                <a:latin typeface="Maiandra GD" pitchFamily="34" charset="0"/>
                <a:cs typeface="Times New Roman" pitchFamily="18" charset="0"/>
              </a:rPr>
              <a:t>:</a:t>
            </a:r>
          </a:p>
          <a:p>
            <a:pPr algn="just" fontAlgn="base">
              <a:lnSpc>
                <a:spcPct val="150000"/>
              </a:lnSpc>
            </a:pPr>
            <a:r>
              <a:rPr lang="en-US" sz="2200" dirty="0">
                <a:solidFill>
                  <a:srgbClr val="002060"/>
                </a:solidFill>
                <a:latin typeface="Times New Roman" pitchFamily="18" charset="0"/>
                <a:cs typeface="Times New Roman" pitchFamily="18" charset="0"/>
              </a:rPr>
              <a:t>If transaction T</a:t>
            </a:r>
            <a:r>
              <a:rPr lang="en-US" sz="2200" baseline="-25000" dirty="0">
                <a:solidFill>
                  <a:srgbClr val="002060"/>
                </a:solidFill>
                <a:latin typeface="Times New Roman" pitchFamily="18" charset="0"/>
                <a:cs typeface="Times New Roman" pitchFamily="18" charset="0"/>
              </a:rPr>
              <a:t>i</a:t>
            </a:r>
            <a:r>
              <a:rPr lang="en-US" sz="2200" dirty="0">
                <a:solidFill>
                  <a:srgbClr val="002060"/>
                </a:solidFill>
                <a:latin typeface="Times New Roman" pitchFamily="18" charset="0"/>
                <a:cs typeface="Times New Roman" pitchFamily="18" charset="0"/>
              </a:rPr>
              <a:t> reads a data item that has been updated by the transaction T</a:t>
            </a:r>
            <a:r>
              <a:rPr lang="en-US" sz="2200" baseline="-25000" dirty="0">
                <a:solidFill>
                  <a:srgbClr val="002060"/>
                </a:solidFill>
                <a:latin typeface="Times New Roman" pitchFamily="18" charset="0"/>
                <a:cs typeface="Times New Roman" pitchFamily="18" charset="0"/>
              </a:rPr>
              <a:t>j</a:t>
            </a:r>
            <a:r>
              <a:rPr lang="en-US" sz="2200" dirty="0">
                <a:solidFill>
                  <a:srgbClr val="002060"/>
                </a:solidFill>
                <a:latin typeface="Times New Roman" pitchFamily="18" charset="0"/>
                <a:cs typeface="Times New Roman" pitchFamily="18" charset="0"/>
              </a:rPr>
              <a:t> in schedule S1, then in schedule S2 also, transaction T</a:t>
            </a:r>
            <a:r>
              <a:rPr lang="en-US" sz="2200" baseline="-25000" dirty="0">
                <a:solidFill>
                  <a:srgbClr val="002060"/>
                </a:solidFill>
                <a:latin typeface="Times New Roman" pitchFamily="18" charset="0"/>
                <a:cs typeface="Times New Roman" pitchFamily="18" charset="0"/>
              </a:rPr>
              <a:t>i</a:t>
            </a:r>
            <a:r>
              <a:rPr lang="en-US" sz="2200" dirty="0">
                <a:solidFill>
                  <a:srgbClr val="002060"/>
                </a:solidFill>
                <a:latin typeface="Times New Roman" pitchFamily="18" charset="0"/>
                <a:cs typeface="Times New Roman" pitchFamily="18" charset="0"/>
              </a:rPr>
              <a:t> must read the same data item that has been updated by the transaction T</a:t>
            </a:r>
            <a:r>
              <a:rPr lang="en-US" sz="2200" baseline="-25000" dirty="0">
                <a:solidFill>
                  <a:srgbClr val="002060"/>
                </a:solidFill>
                <a:latin typeface="Times New Roman" pitchFamily="18" charset="0"/>
                <a:cs typeface="Times New Roman" pitchFamily="18" charset="0"/>
              </a:rPr>
              <a:t>j.</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 calcmode="lin" valueType="num">
                                      <p:cBhvr additive="base">
                                        <p:cTn id="2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 calcmode="lin" valueType="num">
                                      <p:cBhvr additive="base">
                                        <p:cTn id="2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 calcmode="lin" valueType="num">
                                      <p:cBhvr additive="base">
                                        <p:cTn id="3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Autofit/>
          </a:bodyPr>
          <a:lstStyle/>
          <a:p>
            <a:pPr fontAlgn="base">
              <a:lnSpc>
                <a:spcPct val="150000"/>
              </a:lnSpc>
            </a:pPr>
            <a:r>
              <a:rPr lang="en-US" sz="4000" b="1" dirty="0">
                <a:solidFill>
                  <a:srgbClr val="FF0000"/>
                </a:solidFill>
                <a:latin typeface="Maiandra GD" pitchFamily="34" charset="0"/>
                <a:cs typeface="Times New Roman" pitchFamily="18" charset="0"/>
              </a:rPr>
              <a:t>View Serializability</a:t>
            </a:r>
          </a:p>
        </p:txBody>
      </p:sp>
      <p:sp>
        <p:nvSpPr>
          <p:cNvPr id="5" name="Rectangle 4"/>
          <p:cNvSpPr/>
          <p:nvPr/>
        </p:nvSpPr>
        <p:spPr>
          <a:xfrm>
            <a:off x="0" y="762000"/>
            <a:ext cx="9144000" cy="2862322"/>
          </a:xfrm>
          <a:prstGeom prst="rect">
            <a:avLst/>
          </a:prstGeom>
        </p:spPr>
        <p:txBody>
          <a:bodyPr wrap="square">
            <a:spAutoFit/>
          </a:bodyPr>
          <a:lstStyle/>
          <a:p>
            <a:pPr algn="just" fontAlgn="base">
              <a:lnSpc>
                <a:spcPct val="150000"/>
              </a:lnSpc>
            </a:pPr>
            <a:r>
              <a:rPr lang="en-US" sz="2400" b="1" u="sng" dirty="0">
                <a:solidFill>
                  <a:srgbClr val="002060"/>
                </a:solidFill>
                <a:latin typeface="Times New Roman" pitchFamily="18" charset="0"/>
                <a:cs typeface="Times New Roman" pitchFamily="18" charset="0"/>
              </a:rPr>
              <a:t>View Equivalent Schedules-</a:t>
            </a:r>
          </a:p>
          <a:p>
            <a:pPr algn="just" fontAlgn="base">
              <a:lnSpc>
                <a:spcPct val="150000"/>
              </a:lnSpc>
            </a:pPr>
            <a:r>
              <a:rPr lang="en-US" sz="2400" b="1" u="sng" dirty="0">
                <a:solidFill>
                  <a:srgbClr val="FF0000"/>
                </a:solidFill>
                <a:latin typeface="Maiandra GD" pitchFamily="34" charset="0"/>
              </a:rPr>
              <a:t>Condition-03</a:t>
            </a:r>
            <a:r>
              <a:rPr lang="en-US" sz="2400" b="1" dirty="0">
                <a:solidFill>
                  <a:srgbClr val="FF0000"/>
                </a:solidFill>
                <a:latin typeface="Maiandra GD" pitchFamily="34" charset="0"/>
              </a:rPr>
              <a:t>:</a:t>
            </a:r>
          </a:p>
          <a:p>
            <a:pPr algn="just" fontAlgn="base">
              <a:lnSpc>
                <a:spcPct val="150000"/>
              </a:lnSpc>
            </a:pPr>
            <a:r>
              <a:rPr lang="en-US" sz="2400" dirty="0">
                <a:solidFill>
                  <a:srgbClr val="002060"/>
                </a:solidFill>
                <a:latin typeface="Times New Roman" pitchFamily="18" charset="0"/>
                <a:cs typeface="Times New Roman" pitchFamily="18" charset="0"/>
              </a:rPr>
              <a:t>For each data item X, if X has been updated at last by transaction T</a:t>
            </a:r>
            <a:r>
              <a:rPr lang="en-US" sz="2400" baseline="-25000" dirty="0">
                <a:solidFill>
                  <a:srgbClr val="002060"/>
                </a:solidFill>
                <a:latin typeface="Times New Roman" pitchFamily="18" charset="0"/>
                <a:cs typeface="Times New Roman" pitchFamily="18" charset="0"/>
              </a:rPr>
              <a:t>i</a:t>
            </a:r>
            <a:r>
              <a:rPr lang="en-US" sz="2400" dirty="0">
                <a:solidFill>
                  <a:srgbClr val="002060"/>
                </a:solidFill>
                <a:latin typeface="Times New Roman" pitchFamily="18" charset="0"/>
                <a:cs typeface="Times New Roman" pitchFamily="18" charset="0"/>
              </a:rPr>
              <a:t> in schedule S1, then in schedule S2 also, X must be updated at last by transaction T</a:t>
            </a:r>
            <a:r>
              <a:rPr lang="en-US" sz="2400" baseline="-25000" dirty="0">
                <a:solidFill>
                  <a:srgbClr val="002060"/>
                </a:solidFill>
                <a:latin typeface="Times New Roman" pitchFamily="18" charset="0"/>
                <a:cs typeface="Times New Roman" pitchFamily="18" charset="0"/>
              </a:rPr>
              <a:t>i</a:t>
            </a:r>
            <a:r>
              <a:rPr lang="en-US" sz="2400" dirty="0">
                <a:solidFill>
                  <a:srgbClr val="002060"/>
                </a:solidFill>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 calcmode="lin" valueType="num">
                                      <p:cBhvr additive="base">
                                        <p:cTn id="1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Autofit/>
          </a:bodyPr>
          <a:lstStyle/>
          <a:p>
            <a:pPr fontAlgn="base">
              <a:lnSpc>
                <a:spcPct val="150000"/>
              </a:lnSpc>
            </a:pPr>
            <a:r>
              <a:rPr lang="en-US" sz="4000" b="1" dirty="0">
                <a:solidFill>
                  <a:srgbClr val="FF0000"/>
                </a:solidFill>
                <a:latin typeface="Maiandra GD" pitchFamily="34" charset="0"/>
                <a:cs typeface="Times New Roman" pitchFamily="18" charset="0"/>
              </a:rPr>
              <a:t>View Serializability</a:t>
            </a:r>
          </a:p>
        </p:txBody>
      </p:sp>
      <p:sp>
        <p:nvSpPr>
          <p:cNvPr id="5" name="Rectangle 4"/>
          <p:cNvSpPr/>
          <p:nvPr/>
        </p:nvSpPr>
        <p:spPr>
          <a:xfrm>
            <a:off x="0" y="762000"/>
            <a:ext cx="9144000" cy="579967"/>
          </a:xfrm>
          <a:prstGeom prst="rect">
            <a:avLst/>
          </a:prstGeom>
        </p:spPr>
        <p:txBody>
          <a:bodyPr wrap="square">
            <a:spAutoFit/>
          </a:bodyPr>
          <a:lstStyle/>
          <a:p>
            <a:pPr algn="just" fontAlgn="base">
              <a:lnSpc>
                <a:spcPct val="150000"/>
              </a:lnSpc>
            </a:pPr>
            <a:endParaRPr lang="en-US" sz="2400" dirty="0">
              <a:solidFill>
                <a:srgbClr val="002060"/>
              </a:solidFill>
              <a:latin typeface="Times New Roman" pitchFamily="18" charset="0"/>
              <a:cs typeface="Times New Roman" pitchFamily="18" charset="0"/>
            </a:endParaRPr>
          </a:p>
        </p:txBody>
      </p:sp>
      <p:sp>
        <p:nvSpPr>
          <p:cNvPr id="4" name="Rectangle 3"/>
          <p:cNvSpPr/>
          <p:nvPr/>
        </p:nvSpPr>
        <p:spPr>
          <a:xfrm>
            <a:off x="0" y="762000"/>
            <a:ext cx="9144000" cy="3647152"/>
          </a:xfrm>
          <a:prstGeom prst="rect">
            <a:avLst/>
          </a:prstGeom>
        </p:spPr>
        <p:txBody>
          <a:bodyPr wrap="square">
            <a:spAutoFit/>
          </a:bodyPr>
          <a:lstStyle/>
          <a:p>
            <a:pPr algn="just" fontAlgn="base">
              <a:lnSpc>
                <a:spcPct val="150000"/>
              </a:lnSpc>
            </a:pPr>
            <a:r>
              <a:rPr lang="en-US" sz="2200" b="1" u="sng" dirty="0">
                <a:solidFill>
                  <a:srgbClr val="FF0000"/>
                </a:solidFill>
                <a:latin typeface="Maiandra GD" pitchFamily="34" charset="0"/>
                <a:cs typeface="Times New Roman" pitchFamily="18" charset="0"/>
              </a:rPr>
              <a:t>Checking Whether a Schedule is View Serializable Or Not-</a:t>
            </a:r>
            <a:endParaRPr lang="en-US" sz="2200" b="1" dirty="0">
              <a:solidFill>
                <a:srgbClr val="FF0000"/>
              </a:solidFill>
              <a:latin typeface="Maiandra GD" pitchFamily="34" charset="0"/>
              <a:cs typeface="Times New Roman" pitchFamily="18" charset="0"/>
            </a:endParaRPr>
          </a:p>
          <a:p>
            <a:pPr algn="just" fontAlgn="base">
              <a:lnSpc>
                <a:spcPct val="150000"/>
              </a:lnSpc>
            </a:pPr>
            <a:r>
              <a:rPr lang="en-US" sz="2200" b="1" dirty="0">
                <a:solidFill>
                  <a:schemeClr val="bg2">
                    <a:lumMod val="10000"/>
                  </a:schemeClr>
                </a:solidFill>
                <a:latin typeface="Times New Roman" pitchFamily="18" charset="0"/>
                <a:cs typeface="Times New Roman" pitchFamily="18" charset="0"/>
              </a:rPr>
              <a:t>Method-01:</a:t>
            </a:r>
          </a:p>
          <a:p>
            <a:pPr marL="465138" indent="-465138" algn="just" fontAlgn="base">
              <a:lnSpc>
                <a:spcPct val="150000"/>
              </a:lnSpc>
              <a:buFont typeface="+mj-lt"/>
              <a:buAutoNum type="arabicPeriod"/>
            </a:pPr>
            <a:r>
              <a:rPr lang="en-US" sz="2200" dirty="0">
                <a:solidFill>
                  <a:srgbClr val="002060"/>
                </a:solidFill>
                <a:latin typeface="Times New Roman" pitchFamily="18" charset="0"/>
                <a:cs typeface="Times New Roman" pitchFamily="18" charset="0"/>
              </a:rPr>
              <a:t>Check whether the given schedule is </a:t>
            </a:r>
            <a:r>
              <a:rPr lang="en-US" sz="2200" dirty="0">
                <a:solidFill>
                  <a:srgbClr val="FF0000"/>
                </a:solidFill>
                <a:latin typeface="Times New Roman" pitchFamily="18" charset="0"/>
                <a:cs typeface="Times New Roman" pitchFamily="18" charset="0"/>
              </a:rPr>
              <a:t>conflict serializable or not</a:t>
            </a:r>
            <a:r>
              <a:rPr lang="en-US" sz="2200" dirty="0">
                <a:solidFill>
                  <a:srgbClr val="002060"/>
                </a:solidFill>
                <a:latin typeface="Times New Roman" pitchFamily="18" charset="0"/>
                <a:cs typeface="Times New Roman" pitchFamily="18" charset="0"/>
              </a:rPr>
              <a:t>.</a:t>
            </a:r>
          </a:p>
          <a:p>
            <a:pPr marL="465138" indent="-465138" algn="just" fontAlgn="base">
              <a:lnSpc>
                <a:spcPct val="150000"/>
              </a:lnSpc>
              <a:buFont typeface="+mj-lt"/>
              <a:buAutoNum type="arabicPeriod"/>
            </a:pPr>
            <a:r>
              <a:rPr lang="en-US" sz="2200" dirty="0">
                <a:solidFill>
                  <a:srgbClr val="002060"/>
                </a:solidFill>
                <a:latin typeface="Times New Roman" pitchFamily="18" charset="0"/>
                <a:cs typeface="Times New Roman" pitchFamily="18" charset="0"/>
              </a:rPr>
              <a:t>If the given schedule is </a:t>
            </a:r>
            <a:r>
              <a:rPr lang="en-US" sz="2200" dirty="0">
                <a:solidFill>
                  <a:srgbClr val="FF0000"/>
                </a:solidFill>
                <a:latin typeface="Times New Roman" pitchFamily="18" charset="0"/>
                <a:cs typeface="Times New Roman" pitchFamily="18" charset="0"/>
              </a:rPr>
              <a:t>conflict serializable</a:t>
            </a:r>
            <a:r>
              <a:rPr lang="en-US" sz="2200" dirty="0">
                <a:solidFill>
                  <a:srgbClr val="002060"/>
                </a:solidFill>
                <a:latin typeface="Times New Roman" pitchFamily="18" charset="0"/>
                <a:cs typeface="Times New Roman" pitchFamily="18" charset="0"/>
              </a:rPr>
              <a:t>, then it is </a:t>
            </a:r>
            <a:r>
              <a:rPr lang="en-US" sz="2200" dirty="0">
                <a:solidFill>
                  <a:srgbClr val="FF0000"/>
                </a:solidFill>
                <a:latin typeface="Times New Roman" pitchFamily="18" charset="0"/>
                <a:cs typeface="Times New Roman" pitchFamily="18" charset="0"/>
              </a:rPr>
              <a:t>surely view serializable</a:t>
            </a:r>
            <a:r>
              <a:rPr lang="en-US" sz="2200" dirty="0">
                <a:solidFill>
                  <a:srgbClr val="002060"/>
                </a:solidFill>
                <a:latin typeface="Times New Roman" pitchFamily="18" charset="0"/>
                <a:cs typeface="Times New Roman" pitchFamily="18" charset="0"/>
              </a:rPr>
              <a:t>. Stop and report your answer.</a:t>
            </a:r>
          </a:p>
          <a:p>
            <a:pPr marL="465138" indent="-465138" algn="just" fontAlgn="base">
              <a:lnSpc>
                <a:spcPct val="150000"/>
              </a:lnSpc>
              <a:buFont typeface="+mj-lt"/>
              <a:buAutoNum type="arabicPeriod"/>
            </a:pPr>
            <a:r>
              <a:rPr lang="en-US" sz="2200" dirty="0">
                <a:solidFill>
                  <a:srgbClr val="002060"/>
                </a:solidFill>
                <a:latin typeface="Times New Roman" pitchFamily="18" charset="0"/>
                <a:cs typeface="Times New Roman" pitchFamily="18" charset="0"/>
              </a:rPr>
              <a:t>If the given schedule is </a:t>
            </a:r>
            <a:r>
              <a:rPr lang="en-US" sz="2200" dirty="0">
                <a:solidFill>
                  <a:srgbClr val="FF0000"/>
                </a:solidFill>
                <a:latin typeface="Times New Roman" pitchFamily="18" charset="0"/>
                <a:cs typeface="Times New Roman" pitchFamily="18" charset="0"/>
              </a:rPr>
              <a:t>not conflict serializable</a:t>
            </a:r>
            <a:r>
              <a:rPr lang="en-US" sz="2200" dirty="0">
                <a:solidFill>
                  <a:srgbClr val="002060"/>
                </a:solidFill>
                <a:latin typeface="Times New Roman" pitchFamily="18" charset="0"/>
                <a:cs typeface="Times New Roman" pitchFamily="18" charset="0"/>
              </a:rPr>
              <a:t>, then it </a:t>
            </a:r>
            <a:r>
              <a:rPr lang="en-US" sz="2200" dirty="0">
                <a:solidFill>
                  <a:srgbClr val="FF0000"/>
                </a:solidFill>
                <a:latin typeface="Times New Roman" pitchFamily="18" charset="0"/>
                <a:cs typeface="Times New Roman" pitchFamily="18" charset="0"/>
              </a:rPr>
              <a:t>may or may not be view serializable</a:t>
            </a:r>
            <a:r>
              <a:rPr lang="en-US" sz="2200" dirty="0">
                <a:solidFill>
                  <a:srgbClr val="002060"/>
                </a:solidFill>
                <a:latin typeface="Times New Roman" pitchFamily="18" charset="0"/>
                <a:cs typeface="Times New Roman" pitchFamily="18" charset="0"/>
              </a:rPr>
              <a:t>. </a:t>
            </a:r>
          </a:p>
        </p:txBody>
      </p:sp>
      <p:sp>
        <p:nvSpPr>
          <p:cNvPr id="7" name="Rounded Rectangle 6"/>
          <p:cNvSpPr/>
          <p:nvPr/>
        </p:nvSpPr>
        <p:spPr>
          <a:xfrm>
            <a:off x="0" y="4495800"/>
            <a:ext cx="9144000" cy="1828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200000"/>
              </a:lnSpc>
              <a:buClr>
                <a:srgbClr val="FF0000"/>
              </a:buClr>
              <a:buFont typeface="Wingdings" pitchFamily="2" charset="2"/>
              <a:buChar char="v"/>
            </a:pPr>
            <a:r>
              <a:rPr lang="en-US" sz="2200" b="1" dirty="0">
                <a:solidFill>
                  <a:srgbClr val="FFFF00"/>
                </a:solidFill>
                <a:latin typeface="Maiandra GD" pitchFamily="34" charset="0"/>
              </a:rPr>
              <a:t>All conflict serializable schedules are view serializable.</a:t>
            </a:r>
          </a:p>
          <a:p>
            <a:pPr algn="just">
              <a:lnSpc>
                <a:spcPct val="200000"/>
              </a:lnSpc>
              <a:buClr>
                <a:srgbClr val="FF0000"/>
              </a:buClr>
              <a:buFont typeface="Wingdings" pitchFamily="2" charset="2"/>
              <a:buChar char="v"/>
            </a:pPr>
            <a:r>
              <a:rPr lang="en-US" sz="2200" b="1" dirty="0">
                <a:solidFill>
                  <a:srgbClr val="FFFF00"/>
                </a:solidFill>
                <a:latin typeface="Maiandra GD" pitchFamily="34" charset="0"/>
              </a:rPr>
              <a:t>All view serializable schedules may or may not be conflict serializable.</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Autofit/>
          </a:bodyPr>
          <a:lstStyle/>
          <a:p>
            <a:pPr fontAlgn="base">
              <a:lnSpc>
                <a:spcPct val="150000"/>
              </a:lnSpc>
            </a:pPr>
            <a:r>
              <a:rPr lang="en-US" sz="4000" b="1" dirty="0">
                <a:solidFill>
                  <a:srgbClr val="FF0000"/>
                </a:solidFill>
                <a:latin typeface="Maiandra GD" pitchFamily="34" charset="0"/>
                <a:cs typeface="Times New Roman" pitchFamily="18" charset="0"/>
              </a:rPr>
              <a:t>View Serializability</a:t>
            </a:r>
          </a:p>
        </p:txBody>
      </p:sp>
      <p:sp>
        <p:nvSpPr>
          <p:cNvPr id="5" name="Rectangle 4"/>
          <p:cNvSpPr/>
          <p:nvPr/>
        </p:nvSpPr>
        <p:spPr>
          <a:xfrm>
            <a:off x="0" y="762000"/>
            <a:ext cx="9144000" cy="579967"/>
          </a:xfrm>
          <a:prstGeom prst="rect">
            <a:avLst/>
          </a:prstGeom>
        </p:spPr>
        <p:txBody>
          <a:bodyPr wrap="square">
            <a:spAutoFit/>
          </a:bodyPr>
          <a:lstStyle/>
          <a:p>
            <a:pPr algn="just" fontAlgn="base">
              <a:lnSpc>
                <a:spcPct val="150000"/>
              </a:lnSpc>
            </a:pPr>
            <a:endParaRPr lang="en-US" sz="2400" dirty="0">
              <a:solidFill>
                <a:srgbClr val="002060"/>
              </a:solidFill>
              <a:latin typeface="Times New Roman" pitchFamily="18" charset="0"/>
              <a:cs typeface="Times New Roman" pitchFamily="18" charset="0"/>
            </a:endParaRPr>
          </a:p>
        </p:txBody>
      </p:sp>
      <p:sp>
        <p:nvSpPr>
          <p:cNvPr id="4" name="Rectangle 3"/>
          <p:cNvSpPr/>
          <p:nvPr/>
        </p:nvSpPr>
        <p:spPr>
          <a:xfrm>
            <a:off x="0" y="762000"/>
            <a:ext cx="9144000" cy="4154984"/>
          </a:xfrm>
          <a:prstGeom prst="rect">
            <a:avLst/>
          </a:prstGeom>
        </p:spPr>
        <p:txBody>
          <a:bodyPr wrap="square">
            <a:spAutoFit/>
          </a:bodyPr>
          <a:lstStyle/>
          <a:p>
            <a:pPr algn="just" fontAlgn="base">
              <a:lnSpc>
                <a:spcPct val="150000"/>
              </a:lnSpc>
            </a:pPr>
            <a:r>
              <a:rPr lang="en-US" sz="2200" b="1" u="sng" dirty="0">
                <a:solidFill>
                  <a:srgbClr val="FF0000"/>
                </a:solidFill>
                <a:latin typeface="Maiandra GD" pitchFamily="34" charset="0"/>
                <a:cs typeface="Times New Roman" pitchFamily="18" charset="0"/>
              </a:rPr>
              <a:t>Checking Whether a Schedule is View Serializable Or Not-</a:t>
            </a:r>
            <a:endParaRPr lang="en-US" sz="2200" b="1" dirty="0">
              <a:solidFill>
                <a:srgbClr val="FF0000"/>
              </a:solidFill>
              <a:latin typeface="Maiandra GD" pitchFamily="34" charset="0"/>
              <a:cs typeface="Times New Roman" pitchFamily="18" charset="0"/>
            </a:endParaRPr>
          </a:p>
          <a:p>
            <a:pPr algn="just" fontAlgn="base">
              <a:lnSpc>
                <a:spcPct val="150000"/>
              </a:lnSpc>
            </a:pPr>
            <a:r>
              <a:rPr lang="en-US" sz="2200" b="1" dirty="0">
                <a:solidFill>
                  <a:schemeClr val="bg2">
                    <a:lumMod val="10000"/>
                  </a:schemeClr>
                </a:solidFill>
                <a:latin typeface="Times New Roman" pitchFamily="18" charset="0"/>
                <a:cs typeface="Times New Roman" pitchFamily="18" charset="0"/>
              </a:rPr>
              <a:t>Method-02:</a:t>
            </a:r>
          </a:p>
          <a:p>
            <a:pPr marL="465138" indent="-465138" algn="just" fontAlgn="base">
              <a:lnSpc>
                <a:spcPct val="150000"/>
              </a:lnSpc>
              <a:buFont typeface="+mj-lt"/>
              <a:buAutoNum type="arabicPeriod"/>
            </a:pPr>
            <a:r>
              <a:rPr lang="en-US" sz="2200" dirty="0">
                <a:solidFill>
                  <a:srgbClr val="002060"/>
                </a:solidFill>
                <a:latin typeface="Times New Roman" pitchFamily="18" charset="0"/>
                <a:cs typeface="Times New Roman" pitchFamily="18" charset="0"/>
              </a:rPr>
              <a:t>Check if there exists any blind write operation.</a:t>
            </a:r>
          </a:p>
          <a:p>
            <a:pPr marL="465138" indent="-465138" algn="just" fontAlgn="base">
              <a:lnSpc>
                <a:spcPct val="150000"/>
              </a:lnSpc>
            </a:pPr>
            <a:r>
              <a:rPr lang="en-US" sz="2200" dirty="0">
                <a:solidFill>
                  <a:srgbClr val="002060"/>
                </a:solidFill>
                <a:latin typeface="Times New Roman" pitchFamily="18" charset="0"/>
                <a:cs typeface="Times New Roman" pitchFamily="18" charset="0"/>
              </a:rPr>
              <a:t>	</a:t>
            </a:r>
            <a:r>
              <a:rPr lang="en-US" sz="2300" dirty="0">
                <a:solidFill>
                  <a:srgbClr val="002060"/>
                </a:solidFill>
                <a:latin typeface="Times New Roman" pitchFamily="18" charset="0"/>
                <a:cs typeface="Times New Roman" pitchFamily="18" charset="0"/>
              </a:rPr>
              <a:t>(</a:t>
            </a:r>
            <a:r>
              <a:rPr lang="en-US" sz="2300" b="1" dirty="0">
                <a:solidFill>
                  <a:schemeClr val="bg2">
                    <a:lumMod val="10000"/>
                  </a:schemeClr>
                </a:solidFill>
                <a:latin typeface="Times New Roman" pitchFamily="18" charset="0"/>
                <a:cs typeface="Times New Roman" pitchFamily="18" charset="0"/>
              </a:rPr>
              <a:t>Writing without reading is called as a blind write</a:t>
            </a:r>
            <a:r>
              <a:rPr lang="en-US" sz="2300" dirty="0">
                <a:solidFill>
                  <a:srgbClr val="002060"/>
                </a:solidFill>
                <a:latin typeface="Times New Roman" pitchFamily="18" charset="0"/>
                <a:cs typeface="Times New Roman" pitchFamily="18" charset="0"/>
              </a:rPr>
              <a:t>).</a:t>
            </a:r>
          </a:p>
          <a:p>
            <a:pPr marL="465138" indent="-465138" algn="just" fontAlgn="base">
              <a:lnSpc>
                <a:spcPct val="150000"/>
              </a:lnSpc>
              <a:buFont typeface="+mj-lt"/>
              <a:buAutoNum type="arabicPeriod"/>
            </a:pPr>
            <a:r>
              <a:rPr lang="en-US" sz="2200" dirty="0">
                <a:solidFill>
                  <a:srgbClr val="002060"/>
                </a:solidFill>
                <a:latin typeface="Times New Roman" pitchFamily="18" charset="0"/>
                <a:cs typeface="Times New Roman" pitchFamily="18" charset="0"/>
              </a:rPr>
              <a:t>If there does not exist any blind write, then the schedule is </a:t>
            </a:r>
            <a:r>
              <a:rPr lang="en-US" sz="2200" dirty="0">
                <a:solidFill>
                  <a:srgbClr val="FF0000"/>
                </a:solidFill>
                <a:latin typeface="Times New Roman" pitchFamily="18" charset="0"/>
                <a:cs typeface="Times New Roman" pitchFamily="18" charset="0"/>
              </a:rPr>
              <a:t>surely not view serializable</a:t>
            </a:r>
            <a:r>
              <a:rPr lang="en-US" sz="2200" dirty="0">
                <a:solidFill>
                  <a:srgbClr val="002060"/>
                </a:solidFill>
                <a:latin typeface="Times New Roman" pitchFamily="18" charset="0"/>
                <a:cs typeface="Times New Roman" pitchFamily="18" charset="0"/>
              </a:rPr>
              <a:t>. Stop and report your answer.</a:t>
            </a:r>
          </a:p>
          <a:p>
            <a:pPr marL="465138" indent="-465138" algn="just" fontAlgn="base">
              <a:lnSpc>
                <a:spcPct val="150000"/>
              </a:lnSpc>
              <a:buFont typeface="+mj-lt"/>
              <a:buAutoNum type="arabicPeriod"/>
            </a:pPr>
            <a:r>
              <a:rPr lang="en-US" sz="2200" dirty="0">
                <a:solidFill>
                  <a:srgbClr val="002060"/>
                </a:solidFill>
                <a:latin typeface="Times New Roman" pitchFamily="18" charset="0"/>
                <a:cs typeface="Times New Roman" pitchFamily="18" charset="0"/>
              </a:rPr>
              <a:t>If there exists any blind write, then the schedule </a:t>
            </a:r>
            <a:r>
              <a:rPr lang="en-US" sz="2200" dirty="0">
                <a:solidFill>
                  <a:srgbClr val="FF0000"/>
                </a:solidFill>
                <a:latin typeface="Times New Roman" pitchFamily="18" charset="0"/>
                <a:cs typeface="Times New Roman" pitchFamily="18" charset="0"/>
              </a:rPr>
              <a:t>may or may not</a:t>
            </a:r>
            <a:r>
              <a:rPr lang="en-US" sz="2200" dirty="0">
                <a:solidFill>
                  <a:srgbClr val="002060"/>
                </a:solidFill>
                <a:latin typeface="Times New Roman" pitchFamily="18" charset="0"/>
                <a:cs typeface="Times New Roman" pitchFamily="18" charset="0"/>
              </a:rPr>
              <a:t> </a:t>
            </a:r>
            <a:r>
              <a:rPr lang="en-US" sz="2200" dirty="0">
                <a:solidFill>
                  <a:srgbClr val="FF0000"/>
                </a:solidFill>
                <a:latin typeface="Times New Roman" pitchFamily="18" charset="0"/>
                <a:cs typeface="Times New Roman" pitchFamily="18" charset="0"/>
              </a:rPr>
              <a:t>be view serializable</a:t>
            </a:r>
            <a:r>
              <a:rPr lang="en-US" sz="2200" dirty="0">
                <a:solidFill>
                  <a:srgbClr val="002060"/>
                </a:solidFill>
                <a:latin typeface="Times New Roman" pitchFamily="18" charset="0"/>
                <a:cs typeface="Times New Roman" pitchFamily="18" charset="0"/>
              </a:rPr>
              <a:t>. </a:t>
            </a:r>
          </a:p>
        </p:txBody>
      </p:sp>
      <p:sp>
        <p:nvSpPr>
          <p:cNvPr id="6" name="Cloud 5"/>
          <p:cNvSpPr/>
          <p:nvPr/>
        </p:nvSpPr>
        <p:spPr>
          <a:xfrm>
            <a:off x="304800" y="4648200"/>
            <a:ext cx="8839200" cy="19050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FF0000"/>
              </a:buClr>
              <a:buFont typeface="Wingdings" pitchFamily="2" charset="2"/>
              <a:buChar char="v"/>
            </a:pPr>
            <a:r>
              <a:rPr lang="en-US" sz="2200" b="1" dirty="0">
                <a:solidFill>
                  <a:srgbClr val="FFFF00"/>
                </a:solidFill>
                <a:latin typeface="Maiandra GD" pitchFamily="34" charset="0"/>
              </a:rPr>
              <a:t>No blind write means not a view serializable schedule.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 calcmode="lin" valueType="num">
                                      <p:cBhvr additive="base">
                                        <p:cTn id="1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 calcmode="lin" valueType="num">
                                      <p:cBhvr additive="base">
                                        <p:cTn id="2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Autofit/>
          </a:bodyPr>
          <a:lstStyle/>
          <a:p>
            <a:pPr fontAlgn="base">
              <a:lnSpc>
                <a:spcPct val="150000"/>
              </a:lnSpc>
            </a:pPr>
            <a:r>
              <a:rPr lang="en-US" sz="4000" b="1" dirty="0">
                <a:solidFill>
                  <a:srgbClr val="FF0000"/>
                </a:solidFill>
                <a:latin typeface="Maiandra GD" pitchFamily="34" charset="0"/>
                <a:cs typeface="Times New Roman" pitchFamily="18" charset="0"/>
              </a:rPr>
              <a:t>View Serializability</a:t>
            </a:r>
          </a:p>
        </p:txBody>
      </p:sp>
      <p:sp>
        <p:nvSpPr>
          <p:cNvPr id="5" name="Rectangle 4"/>
          <p:cNvSpPr/>
          <p:nvPr/>
        </p:nvSpPr>
        <p:spPr>
          <a:xfrm>
            <a:off x="0" y="762000"/>
            <a:ext cx="9144000" cy="579967"/>
          </a:xfrm>
          <a:prstGeom prst="rect">
            <a:avLst/>
          </a:prstGeom>
        </p:spPr>
        <p:txBody>
          <a:bodyPr wrap="square">
            <a:spAutoFit/>
          </a:bodyPr>
          <a:lstStyle/>
          <a:p>
            <a:pPr algn="just" fontAlgn="base">
              <a:lnSpc>
                <a:spcPct val="150000"/>
              </a:lnSpc>
            </a:pPr>
            <a:endParaRPr lang="en-US" sz="2400" dirty="0">
              <a:solidFill>
                <a:srgbClr val="002060"/>
              </a:solidFill>
              <a:latin typeface="Times New Roman" pitchFamily="18" charset="0"/>
              <a:cs typeface="Times New Roman" pitchFamily="18" charset="0"/>
            </a:endParaRPr>
          </a:p>
        </p:txBody>
      </p:sp>
      <p:sp>
        <p:nvSpPr>
          <p:cNvPr id="4" name="Rectangle 3"/>
          <p:cNvSpPr/>
          <p:nvPr/>
        </p:nvSpPr>
        <p:spPr>
          <a:xfrm>
            <a:off x="0" y="762000"/>
            <a:ext cx="9144000" cy="3139321"/>
          </a:xfrm>
          <a:prstGeom prst="rect">
            <a:avLst/>
          </a:prstGeom>
        </p:spPr>
        <p:txBody>
          <a:bodyPr wrap="square">
            <a:spAutoFit/>
          </a:bodyPr>
          <a:lstStyle/>
          <a:p>
            <a:pPr algn="just" fontAlgn="base">
              <a:lnSpc>
                <a:spcPct val="150000"/>
              </a:lnSpc>
            </a:pPr>
            <a:r>
              <a:rPr lang="en-US" sz="2200" b="1" u="sng" dirty="0">
                <a:solidFill>
                  <a:srgbClr val="FF0000"/>
                </a:solidFill>
                <a:latin typeface="Maiandra GD" pitchFamily="34" charset="0"/>
                <a:cs typeface="Times New Roman" pitchFamily="18" charset="0"/>
              </a:rPr>
              <a:t>Checking Whether a Schedule is View Serializable Or Not-</a:t>
            </a:r>
            <a:endParaRPr lang="en-US" sz="2200" b="1" dirty="0">
              <a:solidFill>
                <a:srgbClr val="FF0000"/>
              </a:solidFill>
              <a:latin typeface="Maiandra GD" pitchFamily="34" charset="0"/>
              <a:cs typeface="Times New Roman" pitchFamily="18" charset="0"/>
            </a:endParaRPr>
          </a:p>
          <a:p>
            <a:pPr algn="just" fontAlgn="base">
              <a:lnSpc>
                <a:spcPct val="150000"/>
              </a:lnSpc>
            </a:pPr>
            <a:r>
              <a:rPr lang="en-US" sz="2200" b="1" dirty="0">
                <a:solidFill>
                  <a:schemeClr val="bg2">
                    <a:lumMod val="10000"/>
                  </a:schemeClr>
                </a:solidFill>
                <a:latin typeface="Times New Roman" pitchFamily="18" charset="0"/>
                <a:cs typeface="Times New Roman" pitchFamily="18" charset="0"/>
              </a:rPr>
              <a:t>Method-03:</a:t>
            </a:r>
          </a:p>
          <a:p>
            <a:pPr marL="465138" indent="-465138" algn="just" fontAlgn="base">
              <a:lnSpc>
                <a:spcPct val="150000"/>
              </a:lnSpc>
              <a:buFont typeface="+mj-lt"/>
              <a:buAutoNum type="arabicPeriod"/>
            </a:pPr>
            <a:r>
              <a:rPr lang="en-US" sz="2200" dirty="0">
                <a:solidFill>
                  <a:srgbClr val="002060"/>
                </a:solidFill>
                <a:latin typeface="Times New Roman" pitchFamily="18" charset="0"/>
                <a:cs typeface="Times New Roman" pitchFamily="18" charset="0"/>
              </a:rPr>
              <a:t>In this method, try finding a view equivalent serial schedule.</a:t>
            </a:r>
          </a:p>
          <a:p>
            <a:pPr marL="465138" indent="-465138" algn="just" fontAlgn="base">
              <a:lnSpc>
                <a:spcPct val="150000"/>
              </a:lnSpc>
              <a:buFont typeface="+mj-lt"/>
              <a:buAutoNum type="arabicPeriod"/>
            </a:pPr>
            <a:r>
              <a:rPr lang="en-US" sz="2200" dirty="0">
                <a:solidFill>
                  <a:srgbClr val="002060"/>
                </a:solidFill>
                <a:latin typeface="Times New Roman" pitchFamily="18" charset="0"/>
                <a:cs typeface="Times New Roman" pitchFamily="18" charset="0"/>
              </a:rPr>
              <a:t>Then, draw a graph using those dependencies.</a:t>
            </a:r>
          </a:p>
          <a:p>
            <a:pPr marL="465138" indent="-465138" algn="just" fontAlgn="base">
              <a:lnSpc>
                <a:spcPct val="150000"/>
              </a:lnSpc>
              <a:buFont typeface="+mj-lt"/>
              <a:buAutoNum type="arabicPeriod"/>
            </a:pPr>
            <a:r>
              <a:rPr lang="en-US" sz="2200" dirty="0">
                <a:solidFill>
                  <a:srgbClr val="002060"/>
                </a:solidFill>
                <a:latin typeface="Times New Roman" pitchFamily="18" charset="0"/>
                <a:cs typeface="Times New Roman" pitchFamily="18" charset="0"/>
              </a:rPr>
              <a:t>If there exists no cycle in the graph, then the schedule is view serializable otherwise not.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Autofit/>
          </a:bodyPr>
          <a:lstStyle/>
          <a:p>
            <a:pPr fontAlgn="base">
              <a:lnSpc>
                <a:spcPct val="150000"/>
              </a:lnSpc>
            </a:pPr>
            <a:r>
              <a:rPr lang="en-US" sz="4000" b="1" dirty="0">
                <a:solidFill>
                  <a:srgbClr val="FF0000"/>
                </a:solidFill>
                <a:latin typeface="Maiandra GD" pitchFamily="34" charset="0"/>
                <a:cs typeface="Times New Roman" pitchFamily="18" charset="0"/>
              </a:rPr>
              <a:t>View Serializability</a:t>
            </a:r>
          </a:p>
        </p:txBody>
      </p:sp>
      <p:sp>
        <p:nvSpPr>
          <p:cNvPr id="5" name="Rectangle 4"/>
          <p:cNvSpPr/>
          <p:nvPr/>
        </p:nvSpPr>
        <p:spPr>
          <a:xfrm>
            <a:off x="0" y="762000"/>
            <a:ext cx="9144000" cy="579967"/>
          </a:xfrm>
          <a:prstGeom prst="rect">
            <a:avLst/>
          </a:prstGeom>
        </p:spPr>
        <p:txBody>
          <a:bodyPr wrap="square">
            <a:spAutoFit/>
          </a:bodyPr>
          <a:lstStyle/>
          <a:p>
            <a:pPr algn="just" fontAlgn="base">
              <a:lnSpc>
                <a:spcPct val="150000"/>
              </a:lnSpc>
            </a:pPr>
            <a:endParaRPr lang="en-US" sz="2400" dirty="0">
              <a:solidFill>
                <a:srgbClr val="002060"/>
              </a:solidFill>
              <a:latin typeface="Times New Roman" pitchFamily="18" charset="0"/>
              <a:cs typeface="Times New Roman" pitchFamily="18" charset="0"/>
            </a:endParaRPr>
          </a:p>
        </p:txBody>
      </p:sp>
      <p:sp>
        <p:nvSpPr>
          <p:cNvPr id="4" name="Rectangle 3"/>
          <p:cNvSpPr/>
          <p:nvPr/>
        </p:nvSpPr>
        <p:spPr>
          <a:xfrm>
            <a:off x="0" y="762000"/>
            <a:ext cx="9144000" cy="1107996"/>
          </a:xfrm>
          <a:prstGeom prst="rect">
            <a:avLst/>
          </a:prstGeom>
        </p:spPr>
        <p:txBody>
          <a:bodyPr wrap="square">
            <a:spAutoFit/>
          </a:bodyPr>
          <a:lstStyle/>
          <a:p>
            <a:pPr algn="just" fontAlgn="base">
              <a:lnSpc>
                <a:spcPct val="150000"/>
              </a:lnSpc>
            </a:pPr>
            <a:r>
              <a:rPr lang="en-US" sz="2200" b="1" u="sng" dirty="0">
                <a:solidFill>
                  <a:srgbClr val="FF0000"/>
                </a:solidFill>
                <a:latin typeface="Maiandra GD" pitchFamily="34" charset="0"/>
                <a:cs typeface="Times New Roman" pitchFamily="18" charset="0"/>
              </a:rPr>
              <a:t>Checking Whether a Schedule is View Serializable Or Not-</a:t>
            </a:r>
            <a:endParaRPr lang="en-US" sz="2200" b="1" dirty="0">
              <a:solidFill>
                <a:srgbClr val="FF0000"/>
              </a:solidFill>
              <a:latin typeface="Maiandra GD" pitchFamily="34" charset="0"/>
              <a:cs typeface="Times New Roman" pitchFamily="18" charset="0"/>
            </a:endParaRPr>
          </a:p>
          <a:p>
            <a:pPr algn="just" fontAlgn="base">
              <a:lnSpc>
                <a:spcPct val="150000"/>
              </a:lnSpc>
            </a:pPr>
            <a:r>
              <a:rPr lang="en-US" sz="2200" b="1" dirty="0">
                <a:solidFill>
                  <a:schemeClr val="bg2">
                    <a:lumMod val="10000"/>
                  </a:schemeClr>
                </a:solidFill>
                <a:latin typeface="Times New Roman" pitchFamily="18" charset="0"/>
                <a:cs typeface="Times New Roman" pitchFamily="18" charset="0"/>
              </a:rPr>
              <a:t>Problem-01:</a:t>
            </a:r>
          </a:p>
        </p:txBody>
      </p:sp>
      <p:pic>
        <p:nvPicPr>
          <p:cNvPr id="178178" name="Picture 2" descr="G:\VTU NOTES\2018-19 SUMMER SEMESTER\DBMS 2018-19 SUMMER\DBMS UNIT IV\New folder\images\View-Serializability-Problem-01.png"/>
          <p:cNvPicPr>
            <a:picLocks noChangeAspect="1" noChangeArrowheads="1"/>
          </p:cNvPicPr>
          <p:nvPr/>
        </p:nvPicPr>
        <p:blipFill>
          <a:blip r:embed="rId2"/>
          <a:srcRect/>
          <a:stretch>
            <a:fillRect/>
          </a:stretch>
        </p:blipFill>
        <p:spPr bwMode="auto">
          <a:xfrm>
            <a:off x="838200" y="1752600"/>
            <a:ext cx="6124575" cy="4219575"/>
          </a:xfrm>
          <a:prstGeom prst="rect">
            <a:avLst/>
          </a:prstGeom>
          <a:noFill/>
          <a:ln w="28575">
            <a:solidFill>
              <a:srgbClr val="0070C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Autofit/>
          </a:bodyPr>
          <a:lstStyle/>
          <a:p>
            <a:pPr fontAlgn="base">
              <a:lnSpc>
                <a:spcPct val="150000"/>
              </a:lnSpc>
            </a:pPr>
            <a:r>
              <a:rPr lang="en-US" sz="4000" b="1" dirty="0">
                <a:solidFill>
                  <a:srgbClr val="FF0000"/>
                </a:solidFill>
                <a:latin typeface="Maiandra GD" pitchFamily="34" charset="0"/>
                <a:cs typeface="Times New Roman" pitchFamily="18" charset="0"/>
              </a:rPr>
              <a:t>View Serializability</a:t>
            </a:r>
          </a:p>
        </p:txBody>
      </p:sp>
      <p:sp>
        <p:nvSpPr>
          <p:cNvPr id="5" name="Rectangle 4"/>
          <p:cNvSpPr/>
          <p:nvPr/>
        </p:nvSpPr>
        <p:spPr>
          <a:xfrm>
            <a:off x="0" y="762000"/>
            <a:ext cx="9144000" cy="579967"/>
          </a:xfrm>
          <a:prstGeom prst="rect">
            <a:avLst/>
          </a:prstGeom>
        </p:spPr>
        <p:txBody>
          <a:bodyPr wrap="square">
            <a:spAutoFit/>
          </a:bodyPr>
          <a:lstStyle/>
          <a:p>
            <a:pPr algn="just" fontAlgn="base">
              <a:lnSpc>
                <a:spcPct val="150000"/>
              </a:lnSpc>
            </a:pPr>
            <a:endParaRPr lang="en-US" sz="2400" dirty="0">
              <a:solidFill>
                <a:srgbClr val="002060"/>
              </a:solidFill>
              <a:latin typeface="Times New Roman" pitchFamily="18" charset="0"/>
              <a:cs typeface="Times New Roman" pitchFamily="18" charset="0"/>
            </a:endParaRPr>
          </a:p>
        </p:txBody>
      </p:sp>
      <p:sp>
        <p:nvSpPr>
          <p:cNvPr id="4" name="Rectangle 3"/>
          <p:cNvSpPr/>
          <p:nvPr/>
        </p:nvSpPr>
        <p:spPr>
          <a:xfrm>
            <a:off x="0" y="762000"/>
            <a:ext cx="9144000" cy="5232202"/>
          </a:xfrm>
          <a:prstGeom prst="rect">
            <a:avLst/>
          </a:prstGeom>
        </p:spPr>
        <p:txBody>
          <a:bodyPr wrap="square">
            <a:spAutoFit/>
          </a:bodyPr>
          <a:lstStyle/>
          <a:p>
            <a:pPr algn="just" fontAlgn="base"/>
            <a:r>
              <a:rPr lang="en-US" sz="2200" b="1" u="sng" dirty="0">
                <a:solidFill>
                  <a:srgbClr val="FF0000"/>
                </a:solidFill>
                <a:latin typeface="Maiandra GD" pitchFamily="34" charset="0"/>
                <a:cs typeface="Times New Roman" pitchFamily="18" charset="0"/>
              </a:rPr>
              <a:t>Checking Whether a Schedule is View Serializable Or Not</a:t>
            </a:r>
          </a:p>
          <a:p>
            <a:pPr marL="344488" indent="-344488" algn="just" fontAlgn="base">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If a schedule is </a:t>
            </a:r>
            <a:r>
              <a:rPr lang="en-US" sz="2200" dirty="0">
                <a:solidFill>
                  <a:srgbClr val="FF0000"/>
                </a:solidFill>
                <a:latin typeface="Times New Roman" pitchFamily="18" charset="0"/>
                <a:cs typeface="Times New Roman" pitchFamily="18" charset="0"/>
              </a:rPr>
              <a:t>conflict serializable</a:t>
            </a:r>
            <a:r>
              <a:rPr lang="en-US" sz="2200" dirty="0">
                <a:solidFill>
                  <a:srgbClr val="002060"/>
                </a:solidFill>
                <a:latin typeface="Times New Roman" pitchFamily="18" charset="0"/>
                <a:cs typeface="Times New Roman" pitchFamily="18" charset="0"/>
              </a:rPr>
              <a:t>, then it is </a:t>
            </a:r>
            <a:r>
              <a:rPr lang="en-US" sz="2200" dirty="0">
                <a:solidFill>
                  <a:srgbClr val="FF0000"/>
                </a:solidFill>
                <a:latin typeface="Times New Roman" pitchFamily="18" charset="0"/>
                <a:cs typeface="Times New Roman" pitchFamily="18" charset="0"/>
              </a:rPr>
              <a:t>surely view serializable</a:t>
            </a:r>
            <a:r>
              <a:rPr lang="en-US" sz="2200" dirty="0">
                <a:solidFill>
                  <a:srgbClr val="002060"/>
                </a:solidFill>
                <a:latin typeface="Times New Roman" pitchFamily="18" charset="0"/>
                <a:cs typeface="Times New Roman" pitchFamily="18" charset="0"/>
              </a:rPr>
              <a:t>.</a:t>
            </a:r>
          </a:p>
          <a:p>
            <a:pPr marL="344488" indent="-344488" algn="just" fontAlgn="base">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List all the conflicting operations and determine the dependency between the transactions-</a:t>
            </a:r>
          </a:p>
          <a:p>
            <a:pPr marL="344488" indent="-344488" algn="just" fontAlgn="base">
              <a:buClr>
                <a:srgbClr val="FF0000"/>
              </a:buClr>
            </a:pPr>
            <a:r>
              <a:rPr lang="en-US" sz="2400" b="1" dirty="0">
                <a:solidFill>
                  <a:srgbClr val="002060"/>
                </a:solidFill>
                <a:latin typeface="Times New Roman" pitchFamily="18" charset="0"/>
                <a:cs typeface="Times New Roman" pitchFamily="18" charset="0"/>
              </a:rPr>
              <a:t>W1(B) , W2(B)          (</a:t>
            </a:r>
            <a:r>
              <a:rPr lang="en-US" sz="2400" b="1" dirty="0">
                <a:solidFill>
                  <a:srgbClr val="FF0000"/>
                </a:solidFill>
                <a:latin typeface="Times New Roman" pitchFamily="18" charset="0"/>
                <a:cs typeface="Times New Roman" pitchFamily="18" charset="0"/>
              </a:rPr>
              <a:t>T1 → T2</a:t>
            </a:r>
            <a:r>
              <a:rPr lang="en-US" sz="2400" b="1" dirty="0">
                <a:solidFill>
                  <a:srgbClr val="002060"/>
                </a:solidFill>
                <a:latin typeface="Times New Roman" pitchFamily="18" charset="0"/>
                <a:cs typeface="Times New Roman" pitchFamily="18" charset="0"/>
              </a:rPr>
              <a:t>)</a:t>
            </a:r>
          </a:p>
          <a:p>
            <a:pPr marL="344488" indent="-344488" algn="just" fontAlgn="base">
              <a:buClr>
                <a:srgbClr val="FF0000"/>
              </a:buClr>
            </a:pPr>
            <a:r>
              <a:rPr lang="en-US" sz="2400" b="1" dirty="0">
                <a:solidFill>
                  <a:srgbClr val="002060"/>
                </a:solidFill>
                <a:latin typeface="Times New Roman" pitchFamily="18" charset="0"/>
                <a:cs typeface="Times New Roman" pitchFamily="18" charset="0"/>
              </a:rPr>
              <a:t>W1(B) , W3(B)          (</a:t>
            </a:r>
            <a:r>
              <a:rPr lang="en-US" sz="2400" b="1" dirty="0">
                <a:solidFill>
                  <a:srgbClr val="FF0000"/>
                </a:solidFill>
                <a:latin typeface="Times New Roman" pitchFamily="18" charset="0"/>
                <a:cs typeface="Times New Roman" pitchFamily="18" charset="0"/>
              </a:rPr>
              <a:t>T1 → T3</a:t>
            </a:r>
            <a:r>
              <a:rPr lang="en-US" sz="2400" b="1" dirty="0">
                <a:solidFill>
                  <a:srgbClr val="002060"/>
                </a:solidFill>
                <a:latin typeface="Times New Roman" pitchFamily="18" charset="0"/>
                <a:cs typeface="Times New Roman" pitchFamily="18" charset="0"/>
              </a:rPr>
              <a:t>)</a:t>
            </a:r>
          </a:p>
          <a:p>
            <a:pPr marL="344488" indent="-344488" algn="just" fontAlgn="base">
              <a:buClr>
                <a:srgbClr val="FF0000"/>
              </a:buClr>
            </a:pPr>
            <a:r>
              <a:rPr lang="en-US" sz="2400" b="1" dirty="0">
                <a:solidFill>
                  <a:srgbClr val="002060"/>
                </a:solidFill>
                <a:latin typeface="Times New Roman" pitchFamily="18" charset="0"/>
                <a:cs typeface="Times New Roman" pitchFamily="18" charset="0"/>
              </a:rPr>
              <a:t>W1(B) , W4(B)          (</a:t>
            </a:r>
            <a:r>
              <a:rPr lang="en-US" sz="2400" b="1" dirty="0">
                <a:solidFill>
                  <a:srgbClr val="FF0000"/>
                </a:solidFill>
                <a:latin typeface="Times New Roman" pitchFamily="18" charset="0"/>
                <a:cs typeface="Times New Roman" pitchFamily="18" charset="0"/>
              </a:rPr>
              <a:t>T1 → T4</a:t>
            </a:r>
            <a:r>
              <a:rPr lang="en-US" sz="2400" b="1" dirty="0">
                <a:solidFill>
                  <a:srgbClr val="002060"/>
                </a:solidFill>
                <a:latin typeface="Times New Roman" pitchFamily="18" charset="0"/>
                <a:cs typeface="Times New Roman" pitchFamily="18" charset="0"/>
              </a:rPr>
              <a:t>)</a:t>
            </a:r>
          </a:p>
          <a:p>
            <a:pPr marL="344488" indent="-344488" algn="just" fontAlgn="base">
              <a:buClr>
                <a:srgbClr val="FF0000"/>
              </a:buClr>
            </a:pPr>
            <a:r>
              <a:rPr lang="en-US" sz="2400" b="1" dirty="0">
                <a:solidFill>
                  <a:srgbClr val="002060"/>
                </a:solidFill>
                <a:latin typeface="Times New Roman" pitchFamily="18" charset="0"/>
                <a:cs typeface="Times New Roman" pitchFamily="18" charset="0"/>
              </a:rPr>
              <a:t>W2(B) , W3(B)          (</a:t>
            </a:r>
            <a:r>
              <a:rPr lang="en-US" sz="2400" b="1" dirty="0">
                <a:solidFill>
                  <a:srgbClr val="FF0000"/>
                </a:solidFill>
                <a:latin typeface="Times New Roman" pitchFamily="18" charset="0"/>
                <a:cs typeface="Times New Roman" pitchFamily="18" charset="0"/>
              </a:rPr>
              <a:t>T2 → T3</a:t>
            </a:r>
            <a:r>
              <a:rPr lang="en-US" sz="2400" b="1" dirty="0">
                <a:solidFill>
                  <a:srgbClr val="002060"/>
                </a:solidFill>
                <a:latin typeface="Times New Roman" pitchFamily="18" charset="0"/>
                <a:cs typeface="Times New Roman" pitchFamily="18" charset="0"/>
              </a:rPr>
              <a:t>)</a:t>
            </a:r>
          </a:p>
          <a:p>
            <a:pPr marL="344488" indent="-344488" algn="just" fontAlgn="base">
              <a:buClr>
                <a:srgbClr val="FF0000"/>
              </a:buClr>
            </a:pPr>
            <a:r>
              <a:rPr lang="en-US" sz="2400" b="1" dirty="0">
                <a:solidFill>
                  <a:srgbClr val="002060"/>
                </a:solidFill>
                <a:latin typeface="Times New Roman" pitchFamily="18" charset="0"/>
                <a:cs typeface="Times New Roman" pitchFamily="18" charset="0"/>
              </a:rPr>
              <a:t>W2(B) , W4(B)          (</a:t>
            </a:r>
            <a:r>
              <a:rPr lang="en-US" sz="2400" b="1" dirty="0">
                <a:solidFill>
                  <a:srgbClr val="FF0000"/>
                </a:solidFill>
                <a:latin typeface="Times New Roman" pitchFamily="18" charset="0"/>
                <a:cs typeface="Times New Roman" pitchFamily="18" charset="0"/>
              </a:rPr>
              <a:t>T2 → T4</a:t>
            </a:r>
            <a:r>
              <a:rPr lang="en-US" sz="2400" b="1" dirty="0">
                <a:solidFill>
                  <a:srgbClr val="002060"/>
                </a:solidFill>
                <a:latin typeface="Times New Roman" pitchFamily="18" charset="0"/>
                <a:cs typeface="Times New Roman" pitchFamily="18" charset="0"/>
              </a:rPr>
              <a:t>)</a:t>
            </a:r>
          </a:p>
          <a:p>
            <a:pPr marL="344488" indent="-344488" algn="just" fontAlgn="base">
              <a:buClr>
                <a:srgbClr val="FF0000"/>
              </a:buClr>
            </a:pPr>
            <a:r>
              <a:rPr lang="en-US" sz="2400" b="1" dirty="0">
                <a:solidFill>
                  <a:srgbClr val="002060"/>
                </a:solidFill>
                <a:latin typeface="Times New Roman" pitchFamily="18" charset="0"/>
                <a:cs typeface="Times New Roman" pitchFamily="18" charset="0"/>
              </a:rPr>
              <a:t>W3(B) , W4(B)          (</a:t>
            </a:r>
            <a:r>
              <a:rPr lang="en-US" sz="2400" b="1" dirty="0">
                <a:solidFill>
                  <a:srgbClr val="FF0000"/>
                </a:solidFill>
                <a:latin typeface="Times New Roman" pitchFamily="18" charset="0"/>
                <a:cs typeface="Times New Roman" pitchFamily="18" charset="0"/>
              </a:rPr>
              <a:t>T3 → T4</a:t>
            </a:r>
            <a:r>
              <a:rPr lang="en-US" sz="2400" b="1" dirty="0">
                <a:solidFill>
                  <a:srgbClr val="002060"/>
                </a:solidFill>
                <a:latin typeface="Times New Roman" pitchFamily="18" charset="0"/>
                <a:cs typeface="Times New Roman" pitchFamily="18" charset="0"/>
              </a:rPr>
              <a:t>)</a:t>
            </a:r>
          </a:p>
          <a:p>
            <a:pPr marL="344488" indent="-344488" algn="just" fontAlgn="base">
              <a:lnSpc>
                <a:spcPct val="150000"/>
              </a:lnSpc>
              <a:buClr>
                <a:srgbClr val="FF0000"/>
              </a:buClr>
              <a:buFont typeface="Wingdings" pitchFamily="2" charset="2"/>
              <a:buChar char="v"/>
            </a:pPr>
            <a:endParaRPr lang="en-US" sz="2400" dirty="0">
              <a:solidFill>
                <a:srgbClr val="002060"/>
              </a:solidFill>
              <a:latin typeface="Times New Roman" pitchFamily="18" charset="0"/>
              <a:cs typeface="Times New Roman" pitchFamily="18" charset="0"/>
            </a:endParaRPr>
          </a:p>
          <a:p>
            <a:pPr algn="just" fontAlgn="base">
              <a:lnSpc>
                <a:spcPct val="150000"/>
              </a:lnSpc>
            </a:pPr>
            <a:endParaRPr lang="en-US" sz="2200" b="1" dirty="0">
              <a:solidFill>
                <a:srgbClr val="FF0000"/>
              </a:solidFill>
              <a:latin typeface="Maiandra GD" pitchFamily="34" charset="0"/>
              <a:cs typeface="Times New Roman" pitchFamily="18" charset="0"/>
            </a:endParaRPr>
          </a:p>
        </p:txBody>
      </p:sp>
      <p:sp>
        <p:nvSpPr>
          <p:cNvPr id="6" name="Rectangle 5"/>
          <p:cNvSpPr/>
          <p:nvPr/>
        </p:nvSpPr>
        <p:spPr>
          <a:xfrm>
            <a:off x="5105400" y="2514600"/>
            <a:ext cx="3038011" cy="369332"/>
          </a:xfrm>
          <a:prstGeom prst="rect">
            <a:avLst/>
          </a:prstGeom>
        </p:spPr>
        <p:txBody>
          <a:bodyPr wrap="none">
            <a:spAutoFit/>
          </a:bodyPr>
          <a:lstStyle/>
          <a:p>
            <a:r>
              <a:rPr lang="en-US" b="1" dirty="0">
                <a:solidFill>
                  <a:schemeClr val="bg2">
                    <a:lumMod val="10000"/>
                  </a:schemeClr>
                </a:solidFill>
                <a:latin typeface="Maiandra GD" pitchFamily="34" charset="0"/>
              </a:rPr>
              <a:t>Draw the precedence graph-</a:t>
            </a:r>
          </a:p>
        </p:txBody>
      </p:sp>
      <p:pic>
        <p:nvPicPr>
          <p:cNvPr id="179202" name="Picture 2" descr="G:\VTU NOTES\2018-19 SUMMER SEMESTER\DBMS 2018-19 SUMMER\DBMS UNIT IV\New folder\images\View-Serializability-Problem-01-Precedence-Graph.png"/>
          <p:cNvPicPr>
            <a:picLocks noChangeAspect="1" noChangeArrowheads="1"/>
          </p:cNvPicPr>
          <p:nvPr/>
        </p:nvPicPr>
        <p:blipFill>
          <a:blip r:embed="rId2">
            <a:lum bright="-20000" contrast="30000"/>
          </a:blip>
          <a:srcRect/>
          <a:stretch>
            <a:fillRect/>
          </a:stretch>
        </p:blipFill>
        <p:spPr bwMode="auto">
          <a:xfrm>
            <a:off x="5257800" y="2895600"/>
            <a:ext cx="2876550" cy="1895475"/>
          </a:xfrm>
          <a:prstGeom prst="rect">
            <a:avLst/>
          </a:prstGeom>
          <a:noFill/>
        </p:spPr>
      </p:pic>
      <p:sp>
        <p:nvSpPr>
          <p:cNvPr id="8" name="Rectangle 7"/>
          <p:cNvSpPr/>
          <p:nvPr/>
        </p:nvSpPr>
        <p:spPr>
          <a:xfrm>
            <a:off x="0" y="5105400"/>
            <a:ext cx="9144000" cy="161582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344488" indent="-344488" fontAlgn="base">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Clearly, there exists </a:t>
            </a:r>
            <a:r>
              <a:rPr lang="en-US" sz="2200" dirty="0">
                <a:solidFill>
                  <a:srgbClr val="FF0000"/>
                </a:solidFill>
                <a:latin typeface="Times New Roman" pitchFamily="18" charset="0"/>
                <a:cs typeface="Times New Roman" pitchFamily="18" charset="0"/>
              </a:rPr>
              <a:t>no cycle </a:t>
            </a:r>
            <a:r>
              <a:rPr lang="en-US" sz="2200" dirty="0">
                <a:solidFill>
                  <a:srgbClr val="002060"/>
                </a:solidFill>
                <a:latin typeface="Times New Roman" pitchFamily="18" charset="0"/>
                <a:cs typeface="Times New Roman" pitchFamily="18" charset="0"/>
              </a:rPr>
              <a:t>in the precedence graph.</a:t>
            </a:r>
          </a:p>
          <a:p>
            <a:pPr marL="344488" indent="-344488" fontAlgn="base">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Therefore, the given schedule </a:t>
            </a:r>
            <a:r>
              <a:rPr lang="en-US" sz="2200" dirty="0">
                <a:solidFill>
                  <a:srgbClr val="FF0000"/>
                </a:solidFill>
                <a:latin typeface="Times New Roman" pitchFamily="18" charset="0"/>
                <a:cs typeface="Times New Roman" pitchFamily="18" charset="0"/>
              </a:rPr>
              <a:t>S is conflict serializable</a:t>
            </a:r>
            <a:r>
              <a:rPr lang="en-US" sz="2200" dirty="0">
                <a:solidFill>
                  <a:srgbClr val="002060"/>
                </a:solidFill>
                <a:latin typeface="Times New Roman" pitchFamily="18" charset="0"/>
                <a:cs typeface="Times New Roman" pitchFamily="18" charset="0"/>
              </a:rPr>
              <a:t>.</a:t>
            </a:r>
          </a:p>
          <a:p>
            <a:pPr marL="344488" indent="-344488" fontAlgn="base">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Thus, we conclude that the given schedule is </a:t>
            </a:r>
            <a:r>
              <a:rPr lang="en-US" sz="2200" dirty="0">
                <a:solidFill>
                  <a:srgbClr val="FF0000"/>
                </a:solidFill>
                <a:latin typeface="Times New Roman" pitchFamily="18" charset="0"/>
                <a:cs typeface="Times New Roman" pitchFamily="18" charset="0"/>
              </a:rPr>
              <a:t>also view serializable</a:t>
            </a:r>
            <a:r>
              <a:rPr lang="en-US" sz="2200" dirty="0">
                <a:solidFill>
                  <a:srgbClr val="002060"/>
                </a:solidFill>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 calcmode="lin" valueType="num">
                                      <p:cBhvr additive="base">
                                        <p:cTn id="2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 calcmode="lin" valueType="num">
                                      <p:cBhvr additive="base">
                                        <p:cTn id="3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 calcmode="lin" valueType="num">
                                      <p:cBhvr additive="base">
                                        <p:cTn id="3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
                                            <p:txEl>
                                              <p:pRg st="8" end="8"/>
                                            </p:txEl>
                                          </p:spTgt>
                                        </p:tgtEl>
                                        <p:attrNameLst>
                                          <p:attrName>style.visibility</p:attrName>
                                        </p:attrNameLst>
                                      </p:cBhvr>
                                      <p:to>
                                        <p:strVal val="visible"/>
                                      </p:to>
                                    </p:set>
                                    <p:anim calcmode="lin" valueType="num">
                                      <p:cBhvr additive="base">
                                        <p:cTn id="4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additive="base">
                                        <p:cTn id="47" dur="500" fill="hold"/>
                                        <p:tgtEl>
                                          <p:spTgt spid="6"/>
                                        </p:tgtEl>
                                        <p:attrNameLst>
                                          <p:attrName>ppt_x</p:attrName>
                                        </p:attrNameLst>
                                      </p:cBhvr>
                                      <p:tavLst>
                                        <p:tav tm="0">
                                          <p:val>
                                            <p:strVal val="#ppt_x"/>
                                          </p:val>
                                        </p:tav>
                                        <p:tav tm="100000">
                                          <p:val>
                                            <p:strVal val="#ppt_x"/>
                                          </p:val>
                                        </p:tav>
                                      </p:tavLst>
                                    </p:anim>
                                    <p:anim calcmode="lin" valueType="num">
                                      <p:cBhvr additive="base">
                                        <p:cTn id="48" dur="500" fill="hold"/>
                                        <p:tgtEl>
                                          <p:spTgt spid="6"/>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79202"/>
                                        </p:tgtEl>
                                        <p:attrNameLst>
                                          <p:attrName>style.visibility</p:attrName>
                                        </p:attrNameLst>
                                      </p:cBhvr>
                                      <p:to>
                                        <p:strVal val="visible"/>
                                      </p:to>
                                    </p:set>
                                    <p:anim calcmode="lin" valueType="num">
                                      <p:cBhvr additive="base">
                                        <p:cTn id="51" dur="500" fill="hold"/>
                                        <p:tgtEl>
                                          <p:spTgt spid="179202"/>
                                        </p:tgtEl>
                                        <p:attrNameLst>
                                          <p:attrName>ppt_x</p:attrName>
                                        </p:attrNameLst>
                                      </p:cBhvr>
                                      <p:tavLst>
                                        <p:tav tm="0">
                                          <p:val>
                                            <p:strVal val="#ppt_x"/>
                                          </p:val>
                                        </p:tav>
                                        <p:tav tm="100000">
                                          <p:val>
                                            <p:strVal val="#ppt_x"/>
                                          </p:val>
                                        </p:tav>
                                      </p:tavLst>
                                    </p:anim>
                                    <p:anim calcmode="lin" valueType="num">
                                      <p:cBhvr additive="base">
                                        <p:cTn id="52" dur="500" fill="hold"/>
                                        <p:tgtEl>
                                          <p:spTgt spid="179202"/>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8">
                                            <p:txEl>
                                              <p:pRg st="0" end="0"/>
                                            </p:txEl>
                                          </p:spTgt>
                                        </p:tgtEl>
                                        <p:attrNameLst>
                                          <p:attrName>style.visibility</p:attrName>
                                        </p:attrNameLst>
                                      </p:cBhvr>
                                      <p:to>
                                        <p:strVal val="visible"/>
                                      </p:to>
                                    </p:set>
                                    <p:anim calcmode="lin" valueType="num">
                                      <p:cBhvr additive="base">
                                        <p:cTn id="5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8">
                                            <p:txEl>
                                              <p:pRg st="1" end="1"/>
                                            </p:txEl>
                                          </p:spTgt>
                                        </p:tgtEl>
                                        <p:attrNameLst>
                                          <p:attrName>style.visibility</p:attrName>
                                        </p:attrNameLst>
                                      </p:cBhvr>
                                      <p:to>
                                        <p:strVal val="visible"/>
                                      </p:to>
                                    </p:set>
                                    <p:anim calcmode="lin" valueType="num">
                                      <p:cBhvr additive="base">
                                        <p:cTn id="6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8">
                                            <p:txEl>
                                              <p:pRg st="2" end="2"/>
                                            </p:txEl>
                                          </p:spTgt>
                                        </p:tgtEl>
                                        <p:attrNameLst>
                                          <p:attrName>style.visibility</p:attrName>
                                        </p:attrNameLst>
                                      </p:cBhvr>
                                      <p:to>
                                        <p:strVal val="visible"/>
                                      </p:to>
                                    </p:set>
                                    <p:anim calcmode="lin" valueType="num">
                                      <p:cBhvr additive="base">
                                        <p:cTn id="6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38400"/>
            <a:ext cx="9144000" cy="1600200"/>
          </a:xfrm>
        </p:spPr>
        <p:txBody>
          <a:bodyPr>
            <a:noAutofit/>
          </a:bodyPr>
          <a:lstStyle/>
          <a:p>
            <a:pPr fontAlgn="base">
              <a:lnSpc>
                <a:spcPct val="150000"/>
              </a:lnSpc>
            </a:pPr>
            <a:r>
              <a:rPr lang="en-US" sz="4800" b="1" dirty="0">
                <a:solidFill>
                  <a:srgbClr val="FF0000"/>
                </a:solidFill>
                <a:latin typeface="Maiandra GD" pitchFamily="34" charset="0"/>
                <a:cs typeface="Times New Roman" pitchFamily="18" charset="0"/>
              </a:rPr>
              <a:t>Recoverable Schedules</a:t>
            </a:r>
          </a:p>
        </p:txBody>
      </p:sp>
      <p:sp>
        <p:nvSpPr>
          <p:cNvPr id="5" name="Rectangle 4"/>
          <p:cNvSpPr/>
          <p:nvPr/>
        </p:nvSpPr>
        <p:spPr>
          <a:xfrm>
            <a:off x="0" y="762000"/>
            <a:ext cx="9144000" cy="579967"/>
          </a:xfrm>
          <a:prstGeom prst="rect">
            <a:avLst/>
          </a:prstGeom>
        </p:spPr>
        <p:txBody>
          <a:bodyPr wrap="square">
            <a:spAutoFit/>
          </a:bodyPr>
          <a:lstStyle/>
          <a:p>
            <a:pPr algn="just" fontAlgn="base">
              <a:lnSpc>
                <a:spcPct val="150000"/>
              </a:lnSpc>
            </a:pPr>
            <a:endParaRPr lang="en-US" sz="2400" dirty="0">
              <a:solidFill>
                <a:srgbClr val="002060"/>
              </a:solidFill>
              <a:latin typeface="Times New Roman" pitchFamily="18" charset="0"/>
              <a:cs typeface="Times New Roman"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Autofit/>
          </a:bodyPr>
          <a:lstStyle/>
          <a:p>
            <a:pPr fontAlgn="base">
              <a:lnSpc>
                <a:spcPct val="150000"/>
              </a:lnSpc>
            </a:pPr>
            <a:r>
              <a:rPr lang="en-US" sz="4800" b="1" dirty="0">
                <a:solidFill>
                  <a:srgbClr val="FF0000"/>
                </a:solidFill>
                <a:latin typeface="Maiandra GD" pitchFamily="34" charset="0"/>
                <a:cs typeface="Times New Roman" pitchFamily="18" charset="0"/>
              </a:rPr>
              <a:t>Recoverability in DBMS</a:t>
            </a:r>
          </a:p>
        </p:txBody>
      </p:sp>
      <p:sp>
        <p:nvSpPr>
          <p:cNvPr id="5" name="Rectangle 4"/>
          <p:cNvSpPr/>
          <p:nvPr/>
        </p:nvSpPr>
        <p:spPr>
          <a:xfrm>
            <a:off x="0" y="762000"/>
            <a:ext cx="9144000" cy="579967"/>
          </a:xfrm>
          <a:prstGeom prst="rect">
            <a:avLst/>
          </a:prstGeom>
        </p:spPr>
        <p:txBody>
          <a:bodyPr wrap="square">
            <a:spAutoFit/>
          </a:bodyPr>
          <a:lstStyle/>
          <a:p>
            <a:pPr algn="just" fontAlgn="base">
              <a:lnSpc>
                <a:spcPct val="150000"/>
              </a:lnSpc>
            </a:pPr>
            <a:endParaRPr lang="en-US" sz="2400" dirty="0">
              <a:solidFill>
                <a:srgbClr val="002060"/>
              </a:solidFill>
              <a:latin typeface="Times New Roman" pitchFamily="18" charset="0"/>
              <a:cs typeface="Times New Roman" pitchFamily="18" charset="0"/>
            </a:endParaRPr>
          </a:p>
        </p:txBody>
      </p:sp>
      <p:sp>
        <p:nvSpPr>
          <p:cNvPr id="4" name="Rectangle 3"/>
          <p:cNvSpPr/>
          <p:nvPr/>
        </p:nvSpPr>
        <p:spPr>
          <a:xfrm>
            <a:off x="228600" y="914400"/>
            <a:ext cx="8686800" cy="1687963"/>
          </a:xfrm>
          <a:prstGeom prst="rect">
            <a:avLst/>
          </a:prstGeom>
        </p:spPr>
        <p:txBody>
          <a:bodyPr wrap="square">
            <a:spAutoFit/>
          </a:bodyPr>
          <a:lstStyle/>
          <a:p>
            <a:pPr marL="344488" indent="-344488"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A schedule is the order in which the operations of multiple transactions appear for execution.</a:t>
            </a:r>
          </a:p>
          <a:p>
            <a:pPr marL="344488" indent="-344488"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Non-serial schedules may be </a:t>
            </a:r>
            <a:r>
              <a:rPr lang="en-US" sz="2400" dirty="0">
                <a:solidFill>
                  <a:srgbClr val="FF0000"/>
                </a:solidFill>
                <a:latin typeface="Times New Roman" pitchFamily="18" charset="0"/>
                <a:cs typeface="Times New Roman" pitchFamily="18" charset="0"/>
              </a:rPr>
              <a:t>serializable </a:t>
            </a:r>
            <a:r>
              <a:rPr lang="en-US" sz="2400" dirty="0">
                <a:solidFill>
                  <a:srgbClr val="002060"/>
                </a:solidFill>
                <a:latin typeface="Times New Roman" pitchFamily="18" charset="0"/>
                <a:cs typeface="Times New Roman" pitchFamily="18" charset="0"/>
              </a:rPr>
              <a:t>or </a:t>
            </a:r>
            <a:r>
              <a:rPr lang="en-US" sz="2400" dirty="0">
                <a:solidFill>
                  <a:srgbClr val="FF0000"/>
                </a:solidFill>
                <a:latin typeface="Times New Roman" pitchFamily="18" charset="0"/>
                <a:cs typeface="Times New Roman" pitchFamily="18" charset="0"/>
              </a:rPr>
              <a:t>non-serializable.</a:t>
            </a:r>
          </a:p>
        </p:txBody>
      </p:sp>
      <p:sp>
        <p:nvSpPr>
          <p:cNvPr id="6" name="Rectangle 5"/>
          <p:cNvSpPr/>
          <p:nvPr/>
        </p:nvSpPr>
        <p:spPr>
          <a:xfrm>
            <a:off x="0" y="2743200"/>
            <a:ext cx="9144000" cy="1754326"/>
          </a:xfrm>
          <a:prstGeom prst="rect">
            <a:avLst/>
          </a:prstGeom>
        </p:spPr>
        <p:txBody>
          <a:bodyPr wrap="square">
            <a:spAutoFit/>
          </a:bodyPr>
          <a:lstStyle/>
          <a:p>
            <a:pPr marL="344488" indent="-344488" algn="just" fontAlgn="base">
              <a:lnSpc>
                <a:spcPct val="150000"/>
              </a:lnSpc>
              <a:buClr>
                <a:srgbClr val="FF0000"/>
              </a:buClr>
            </a:pPr>
            <a:r>
              <a:rPr lang="en-US" sz="2400" b="1" u="sng" dirty="0">
                <a:solidFill>
                  <a:srgbClr val="FF0000"/>
                </a:solidFill>
                <a:latin typeface="Times New Roman" pitchFamily="18" charset="0"/>
                <a:cs typeface="Times New Roman" pitchFamily="18" charset="0"/>
              </a:rPr>
              <a:t>Non-Serializable Schedules</a:t>
            </a:r>
            <a:endParaRPr lang="en-US" sz="2400" dirty="0">
              <a:solidFill>
                <a:srgbClr val="FF0000"/>
              </a:solidFill>
              <a:latin typeface="Times New Roman" pitchFamily="18" charset="0"/>
              <a:cs typeface="Times New Roman" pitchFamily="18" charset="0"/>
            </a:endParaRPr>
          </a:p>
          <a:p>
            <a:pPr marL="344488" indent="-344488"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A non-serial schedule which is not serializable is called as a </a:t>
            </a:r>
            <a:r>
              <a:rPr lang="en-US" sz="2400" dirty="0">
                <a:solidFill>
                  <a:srgbClr val="FF0000"/>
                </a:solidFill>
                <a:latin typeface="Times New Roman" pitchFamily="18" charset="0"/>
                <a:cs typeface="Times New Roman" pitchFamily="18" charset="0"/>
              </a:rPr>
              <a:t>non-serializable schedule.</a:t>
            </a:r>
          </a:p>
        </p:txBody>
      </p:sp>
      <p:sp>
        <p:nvSpPr>
          <p:cNvPr id="7" name="Rectangle 6"/>
          <p:cNvSpPr/>
          <p:nvPr/>
        </p:nvSpPr>
        <p:spPr>
          <a:xfrm>
            <a:off x="228600" y="4572000"/>
            <a:ext cx="8915400" cy="1754326"/>
          </a:xfrm>
          <a:prstGeom prst="rect">
            <a:avLst/>
          </a:prstGeom>
        </p:spPr>
        <p:txBody>
          <a:bodyPr wrap="square">
            <a:spAutoFit/>
          </a:bodyPr>
          <a:lstStyle/>
          <a:p>
            <a:pPr algn="just" fontAlgn="base">
              <a:lnSpc>
                <a:spcPct val="150000"/>
              </a:lnSpc>
            </a:pPr>
            <a:r>
              <a:rPr lang="en-US" sz="2400" b="1" u="sng" dirty="0">
                <a:solidFill>
                  <a:srgbClr val="FF0000"/>
                </a:solidFill>
                <a:latin typeface="Times New Roman" pitchFamily="18" charset="0"/>
                <a:cs typeface="Times New Roman" pitchFamily="18" charset="0"/>
              </a:rPr>
              <a:t>Characteristics-</a:t>
            </a:r>
            <a:endParaRPr lang="en-US" sz="2400" b="1" dirty="0">
              <a:solidFill>
                <a:srgbClr val="FF0000"/>
              </a:solidFill>
              <a:latin typeface="Times New Roman" pitchFamily="18" charset="0"/>
              <a:cs typeface="Times New Roman" pitchFamily="18" charset="0"/>
            </a:endParaRPr>
          </a:p>
          <a:p>
            <a:pPr marL="344488" indent="-344488"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may or may not be consistent</a:t>
            </a:r>
          </a:p>
          <a:p>
            <a:pPr marL="344488" indent="-344488"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may or may not be recoverable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 calcmode="lin" valueType="num">
                                      <p:cBhvr additive="base">
                                        <p:cTn id="19"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 calcmode="lin" valueType="num">
                                      <p:cBhvr additive="base">
                                        <p:cTn id="25"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 calcmode="lin" valueType="num">
                                      <p:cBhvr additive="base">
                                        <p:cTn id="3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anim calcmode="lin" valueType="num">
                                      <p:cBhvr additive="base">
                                        <p:cTn id="3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xEl>
                                              <p:pRg st="2" end="2"/>
                                            </p:txEl>
                                          </p:spTgt>
                                        </p:tgtEl>
                                        <p:attrNameLst>
                                          <p:attrName>style.visibility</p:attrName>
                                        </p:attrNameLst>
                                      </p:cBhvr>
                                      <p:to>
                                        <p:strVal val="visible"/>
                                      </p:to>
                                    </p:set>
                                    <p:anim calcmode="lin" valueType="num">
                                      <p:cBhvr additive="base">
                                        <p:cTn id="4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38400"/>
            <a:ext cx="9144000" cy="1600200"/>
          </a:xfrm>
        </p:spPr>
        <p:txBody>
          <a:bodyPr>
            <a:noAutofit/>
          </a:bodyPr>
          <a:lstStyle/>
          <a:p>
            <a:pPr fontAlgn="base">
              <a:lnSpc>
                <a:spcPct val="150000"/>
              </a:lnSpc>
            </a:pPr>
            <a:endParaRPr lang="en-US" sz="4800" b="1" dirty="0">
              <a:solidFill>
                <a:srgbClr val="FF0000"/>
              </a:solidFill>
              <a:latin typeface="Maiandra GD" pitchFamily="34" charset="0"/>
              <a:cs typeface="Times New Roman" pitchFamily="18" charset="0"/>
            </a:endParaRPr>
          </a:p>
        </p:txBody>
      </p:sp>
      <p:sp>
        <p:nvSpPr>
          <p:cNvPr id="5" name="Rectangle 4"/>
          <p:cNvSpPr/>
          <p:nvPr/>
        </p:nvSpPr>
        <p:spPr>
          <a:xfrm>
            <a:off x="0" y="762000"/>
            <a:ext cx="9144000" cy="579967"/>
          </a:xfrm>
          <a:prstGeom prst="rect">
            <a:avLst/>
          </a:prstGeom>
        </p:spPr>
        <p:txBody>
          <a:bodyPr wrap="square">
            <a:spAutoFit/>
          </a:bodyPr>
          <a:lstStyle/>
          <a:p>
            <a:pPr algn="just" fontAlgn="base">
              <a:lnSpc>
                <a:spcPct val="150000"/>
              </a:lnSpc>
            </a:pPr>
            <a:endParaRPr lang="en-US" sz="2400" dirty="0">
              <a:solidFill>
                <a:srgbClr val="002060"/>
              </a:solidFill>
              <a:latin typeface="Times New Roman" pitchFamily="18" charset="0"/>
              <a:cs typeface="Times New Roman" pitchFamily="18" charset="0"/>
            </a:endParaRPr>
          </a:p>
        </p:txBody>
      </p:sp>
      <p:pic>
        <p:nvPicPr>
          <p:cNvPr id="190467" name="Picture 3"/>
          <p:cNvPicPr>
            <a:picLocks noChangeAspect="1" noChangeArrowheads="1"/>
          </p:cNvPicPr>
          <p:nvPr/>
        </p:nvPicPr>
        <p:blipFill>
          <a:blip r:embed="rId2"/>
          <a:srcRect/>
          <a:stretch>
            <a:fillRect/>
          </a:stretch>
        </p:blipFill>
        <p:spPr bwMode="auto">
          <a:xfrm>
            <a:off x="762000" y="1143000"/>
            <a:ext cx="7391400" cy="2743200"/>
          </a:xfrm>
          <a:prstGeom prst="rect">
            <a:avLst/>
          </a:prstGeom>
          <a:noFill/>
          <a:ln w="9525">
            <a:noFill/>
            <a:miter lim="800000"/>
            <a:headEnd/>
            <a:tailEnd/>
          </a:ln>
          <a:effec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Autofit/>
          </a:bodyPr>
          <a:lstStyle/>
          <a:p>
            <a:pPr fontAlgn="base"/>
            <a:r>
              <a:rPr lang="en-US" sz="4800" b="1" dirty="0">
                <a:solidFill>
                  <a:srgbClr val="FF0000"/>
                </a:solidFill>
                <a:latin typeface="Maiandra GD" pitchFamily="34" charset="0"/>
                <a:cs typeface="Times New Roman" pitchFamily="18" charset="0"/>
              </a:rPr>
              <a:t>Recoverable Schedule</a:t>
            </a:r>
          </a:p>
        </p:txBody>
      </p:sp>
      <p:sp>
        <p:nvSpPr>
          <p:cNvPr id="5" name="Rectangle 4"/>
          <p:cNvSpPr/>
          <p:nvPr/>
        </p:nvSpPr>
        <p:spPr>
          <a:xfrm>
            <a:off x="0" y="0"/>
            <a:ext cx="9144000" cy="579967"/>
          </a:xfrm>
          <a:prstGeom prst="rect">
            <a:avLst/>
          </a:prstGeom>
        </p:spPr>
        <p:txBody>
          <a:bodyPr wrap="square">
            <a:spAutoFit/>
          </a:bodyPr>
          <a:lstStyle/>
          <a:p>
            <a:pPr algn="just" fontAlgn="base">
              <a:lnSpc>
                <a:spcPct val="150000"/>
              </a:lnSpc>
            </a:pPr>
            <a:endParaRPr lang="en-US" sz="2400" dirty="0">
              <a:solidFill>
                <a:srgbClr val="002060"/>
              </a:solidFill>
              <a:latin typeface="Times New Roman" pitchFamily="18" charset="0"/>
              <a:cs typeface="Times New Roman" pitchFamily="18" charset="0"/>
            </a:endParaRPr>
          </a:p>
        </p:txBody>
      </p:sp>
      <p:sp>
        <p:nvSpPr>
          <p:cNvPr id="6" name="Rectangle 5"/>
          <p:cNvSpPr/>
          <p:nvPr/>
        </p:nvSpPr>
        <p:spPr>
          <a:xfrm>
            <a:off x="0" y="838200"/>
            <a:ext cx="9144000" cy="3185487"/>
          </a:xfrm>
          <a:prstGeom prst="rect">
            <a:avLst/>
          </a:prstGeom>
        </p:spPr>
        <p:txBody>
          <a:bodyPr wrap="square">
            <a:spAutoFit/>
          </a:bodyPr>
          <a:lstStyle/>
          <a:p>
            <a:pPr>
              <a:lnSpc>
                <a:spcPct val="150000"/>
              </a:lnSpc>
            </a:pPr>
            <a:r>
              <a:rPr lang="en-US" sz="2400" dirty="0">
                <a:solidFill>
                  <a:srgbClr val="002060"/>
                </a:solidFill>
                <a:latin typeface="Times New Roman" pitchFamily="18" charset="0"/>
                <a:cs typeface="Times New Roman" pitchFamily="18" charset="0"/>
              </a:rPr>
              <a:t>If in a schedule,</a:t>
            </a:r>
          </a:p>
          <a:p>
            <a:pPr marL="457200" indent="-457200">
              <a:lnSpc>
                <a:spcPct val="150000"/>
              </a:lnSpc>
              <a:buFont typeface="+mj-lt"/>
              <a:buAutoNum type="arabicPeriod"/>
            </a:pPr>
            <a:r>
              <a:rPr lang="en-US" sz="2200" dirty="0">
                <a:solidFill>
                  <a:srgbClr val="002060"/>
                </a:solidFill>
                <a:latin typeface="Times New Roman" pitchFamily="18" charset="0"/>
                <a:cs typeface="Times New Roman" pitchFamily="18" charset="0"/>
              </a:rPr>
              <a:t>A transaction performs a dirty read operation from an uncommitted transaction.</a:t>
            </a:r>
          </a:p>
          <a:p>
            <a:pPr marL="457200" indent="-457200">
              <a:lnSpc>
                <a:spcPct val="150000"/>
              </a:lnSpc>
              <a:buFont typeface="+mj-lt"/>
              <a:buAutoNum type="arabicPeriod"/>
            </a:pPr>
            <a:r>
              <a:rPr lang="en-US" sz="2200" dirty="0">
                <a:solidFill>
                  <a:srgbClr val="002060"/>
                </a:solidFill>
                <a:latin typeface="Times New Roman" pitchFamily="18" charset="0"/>
                <a:cs typeface="Times New Roman" pitchFamily="18" charset="0"/>
              </a:rPr>
              <a:t>And its commit operation is delayed till the uncommitted transaction either commits or roll backs</a:t>
            </a:r>
          </a:p>
          <a:p>
            <a:pPr marL="457200" indent="-457200">
              <a:lnSpc>
                <a:spcPct val="150000"/>
              </a:lnSpc>
            </a:pPr>
            <a:r>
              <a:rPr lang="en-US" sz="2200" dirty="0">
                <a:solidFill>
                  <a:srgbClr val="002060"/>
                </a:solidFill>
                <a:latin typeface="Times New Roman" pitchFamily="18" charset="0"/>
                <a:cs typeface="Times New Roman" pitchFamily="18" charset="0"/>
              </a:rPr>
              <a:t>Then such a schedule is known as a </a:t>
            </a:r>
            <a:r>
              <a:rPr lang="en-US" sz="2200" b="1" dirty="0">
                <a:solidFill>
                  <a:srgbClr val="FF0000"/>
                </a:solidFill>
                <a:latin typeface="Times New Roman" pitchFamily="18" charset="0"/>
                <a:cs typeface="Times New Roman" pitchFamily="18" charset="0"/>
              </a:rPr>
              <a:t>Recoverable Schedule</a:t>
            </a:r>
            <a:r>
              <a:rPr lang="en-US" sz="2200" dirty="0">
                <a:solidFill>
                  <a:srgbClr val="FF0000"/>
                </a:solidFill>
                <a:latin typeface="Times New Roman" pitchFamily="18" charset="0"/>
                <a:cs typeface="Times New Roman" pitchFamily="18" charset="0"/>
              </a:rPr>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Autofit/>
          </a:bodyPr>
          <a:lstStyle/>
          <a:p>
            <a:pPr fontAlgn="base"/>
            <a:r>
              <a:rPr lang="en-US" sz="4800" b="1" dirty="0">
                <a:solidFill>
                  <a:srgbClr val="FF0000"/>
                </a:solidFill>
                <a:latin typeface="Maiandra GD" pitchFamily="34" charset="0"/>
                <a:cs typeface="Times New Roman" pitchFamily="18" charset="0"/>
              </a:rPr>
              <a:t>Recoverable Schedule</a:t>
            </a:r>
          </a:p>
        </p:txBody>
      </p:sp>
      <p:sp>
        <p:nvSpPr>
          <p:cNvPr id="5" name="Rectangle 4"/>
          <p:cNvSpPr/>
          <p:nvPr/>
        </p:nvSpPr>
        <p:spPr>
          <a:xfrm>
            <a:off x="0" y="0"/>
            <a:ext cx="9144000" cy="579967"/>
          </a:xfrm>
          <a:prstGeom prst="rect">
            <a:avLst/>
          </a:prstGeom>
        </p:spPr>
        <p:txBody>
          <a:bodyPr wrap="square">
            <a:spAutoFit/>
          </a:bodyPr>
          <a:lstStyle/>
          <a:p>
            <a:pPr algn="just" fontAlgn="base">
              <a:lnSpc>
                <a:spcPct val="150000"/>
              </a:lnSpc>
            </a:pPr>
            <a:endParaRPr lang="en-US" sz="2400" dirty="0">
              <a:solidFill>
                <a:srgbClr val="002060"/>
              </a:solidFill>
              <a:latin typeface="Times New Roman" pitchFamily="18" charset="0"/>
              <a:cs typeface="Times New Roman" pitchFamily="18" charset="0"/>
            </a:endParaRPr>
          </a:p>
        </p:txBody>
      </p:sp>
      <p:pic>
        <p:nvPicPr>
          <p:cNvPr id="191490" name="Picture 2" descr="G:\VTU NOTES\2018-19 SUMMER SEMESTER\DBMS 2018-19 SUMMER\DBMS UNIT IV\New folder\images\Recoverable-Schedule-Example.png"/>
          <p:cNvPicPr>
            <a:picLocks noChangeAspect="1" noChangeArrowheads="1"/>
          </p:cNvPicPr>
          <p:nvPr/>
        </p:nvPicPr>
        <p:blipFill>
          <a:blip r:embed="rId2">
            <a:lum bright="-20000" contrast="40000"/>
          </a:blip>
          <a:srcRect/>
          <a:stretch>
            <a:fillRect/>
          </a:stretch>
        </p:blipFill>
        <p:spPr bwMode="auto">
          <a:xfrm>
            <a:off x="119920" y="914400"/>
            <a:ext cx="3810000" cy="4038600"/>
          </a:xfrm>
          <a:prstGeom prst="rect">
            <a:avLst/>
          </a:prstGeom>
          <a:noFill/>
          <a:ln w="28575">
            <a:solidFill>
              <a:schemeClr val="tx1"/>
            </a:solidFill>
          </a:ln>
        </p:spPr>
      </p:pic>
      <p:sp>
        <p:nvSpPr>
          <p:cNvPr id="7" name="Rectangle 6"/>
          <p:cNvSpPr/>
          <p:nvPr/>
        </p:nvSpPr>
        <p:spPr>
          <a:xfrm>
            <a:off x="3962400" y="685800"/>
            <a:ext cx="5181600" cy="4922951"/>
          </a:xfrm>
          <a:prstGeom prst="rect">
            <a:avLst/>
          </a:prstGeom>
        </p:spPr>
        <p:txBody>
          <a:bodyPr wrap="square">
            <a:spAutoFit/>
          </a:bodyPr>
          <a:lstStyle/>
          <a:p>
            <a:pPr marL="344488" indent="-344488" algn="just" fontAlgn="base">
              <a:lnSpc>
                <a:spcPct val="200000"/>
              </a:lnSpc>
              <a:buClr>
                <a:srgbClr val="FF0000"/>
              </a:buClr>
            </a:pPr>
            <a:r>
              <a:rPr lang="en-US" sz="2000" dirty="0">
                <a:latin typeface="Times New Roman" pitchFamily="18" charset="0"/>
                <a:cs typeface="Times New Roman" pitchFamily="18" charset="0"/>
              </a:rPr>
              <a:t>Here,</a:t>
            </a:r>
          </a:p>
          <a:p>
            <a:pPr marL="344488" indent="-344488" algn="just" fontAlgn="base">
              <a:lnSpc>
                <a:spcPct val="200000"/>
              </a:lnSpc>
              <a:buClr>
                <a:srgbClr val="FF0000"/>
              </a:buClr>
              <a:buFont typeface="Wingdings" pitchFamily="2" charset="2"/>
              <a:buChar char="v"/>
            </a:pPr>
            <a:r>
              <a:rPr lang="en-US" sz="2000" dirty="0">
                <a:latin typeface="Times New Roman" pitchFamily="18" charset="0"/>
                <a:cs typeface="Times New Roman" pitchFamily="18" charset="0"/>
              </a:rPr>
              <a:t>T2 performs a dirty read operation.</a:t>
            </a:r>
          </a:p>
          <a:p>
            <a:pPr marL="344488" indent="-344488" algn="just" fontAlgn="base">
              <a:lnSpc>
                <a:spcPct val="200000"/>
              </a:lnSpc>
              <a:buClr>
                <a:srgbClr val="FF0000"/>
              </a:buClr>
              <a:buFont typeface="Wingdings" pitchFamily="2" charset="2"/>
              <a:buChar char="v"/>
            </a:pPr>
            <a:r>
              <a:rPr lang="en-US" sz="2000" dirty="0">
                <a:latin typeface="Times New Roman" pitchFamily="18" charset="0"/>
                <a:cs typeface="Times New Roman" pitchFamily="18" charset="0"/>
              </a:rPr>
              <a:t>The commit operation of T2 is delayed till T1 commits or roll backs.</a:t>
            </a:r>
          </a:p>
          <a:p>
            <a:pPr marL="344488" indent="-344488" algn="just" fontAlgn="base">
              <a:lnSpc>
                <a:spcPct val="200000"/>
              </a:lnSpc>
              <a:buClr>
                <a:srgbClr val="FF0000"/>
              </a:buClr>
              <a:buFont typeface="Wingdings" pitchFamily="2" charset="2"/>
              <a:buChar char="v"/>
            </a:pPr>
            <a:r>
              <a:rPr lang="en-US" sz="2000" dirty="0">
                <a:latin typeface="Times New Roman" pitchFamily="18" charset="0"/>
                <a:cs typeface="Times New Roman" pitchFamily="18" charset="0"/>
              </a:rPr>
              <a:t>T1 commits later.</a:t>
            </a:r>
          </a:p>
          <a:p>
            <a:pPr marL="344488" indent="-344488" algn="just" fontAlgn="base">
              <a:lnSpc>
                <a:spcPct val="200000"/>
              </a:lnSpc>
              <a:buClr>
                <a:srgbClr val="FF0000"/>
              </a:buClr>
              <a:buFont typeface="Wingdings" pitchFamily="2" charset="2"/>
              <a:buChar char="v"/>
            </a:pPr>
            <a:r>
              <a:rPr lang="en-US" sz="2000" dirty="0">
                <a:latin typeface="Times New Roman" pitchFamily="18" charset="0"/>
                <a:cs typeface="Times New Roman" pitchFamily="18" charset="0"/>
              </a:rPr>
              <a:t>T2 is now allowed to commit.</a:t>
            </a:r>
          </a:p>
          <a:p>
            <a:pPr marL="344488" indent="-344488" algn="just" fontAlgn="base">
              <a:lnSpc>
                <a:spcPct val="200000"/>
              </a:lnSpc>
              <a:buClr>
                <a:srgbClr val="FF0000"/>
              </a:buClr>
              <a:buFont typeface="Wingdings" pitchFamily="2" charset="2"/>
              <a:buChar char="v"/>
            </a:pPr>
            <a:r>
              <a:rPr lang="en-US" sz="2000" dirty="0">
                <a:latin typeface="Times New Roman" pitchFamily="18" charset="0"/>
                <a:cs typeface="Times New Roman" pitchFamily="18" charset="0"/>
              </a:rPr>
              <a:t>In case, T1 would have failed, T2 has a chance to recover by rolling back.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1490"/>
                                        </p:tgtEl>
                                        <p:attrNameLst>
                                          <p:attrName>style.visibility</p:attrName>
                                        </p:attrNameLst>
                                      </p:cBhvr>
                                      <p:to>
                                        <p:strVal val="visible"/>
                                      </p:to>
                                    </p:set>
                                    <p:anim calcmode="lin" valueType="num">
                                      <p:cBhvr additive="base">
                                        <p:cTn id="7" dur="500" fill="hold"/>
                                        <p:tgtEl>
                                          <p:spTgt spid="191490"/>
                                        </p:tgtEl>
                                        <p:attrNameLst>
                                          <p:attrName>ppt_x</p:attrName>
                                        </p:attrNameLst>
                                      </p:cBhvr>
                                      <p:tavLst>
                                        <p:tav tm="0">
                                          <p:val>
                                            <p:strVal val="#ppt_x"/>
                                          </p:val>
                                        </p:tav>
                                        <p:tav tm="100000">
                                          <p:val>
                                            <p:strVal val="#ppt_x"/>
                                          </p:val>
                                        </p:tav>
                                      </p:tavLst>
                                    </p:anim>
                                    <p:anim calcmode="lin" valueType="num">
                                      <p:cBhvr additive="base">
                                        <p:cTn id="8" dur="500" fill="hold"/>
                                        <p:tgtEl>
                                          <p:spTgt spid="19149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 calcmode="lin" valueType="num">
                                      <p:cBhvr additive="base">
                                        <p:cTn id="1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 calcmode="lin" valueType="num">
                                      <p:cBhvr additive="base">
                                        <p:cTn id="2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 calcmode="lin" valueType="num">
                                      <p:cBhvr additive="base">
                                        <p:cTn id="2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 calcmode="lin" valueType="num">
                                      <p:cBhvr additive="base">
                                        <p:cTn id="35"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7">
                                            <p:txEl>
                                              <p:pRg st="5" end="5"/>
                                            </p:txEl>
                                          </p:spTgt>
                                        </p:tgtEl>
                                        <p:attrNameLst>
                                          <p:attrName>style.visibility</p:attrName>
                                        </p:attrNameLst>
                                      </p:cBhvr>
                                      <p:to>
                                        <p:strVal val="visible"/>
                                      </p:to>
                                    </p:set>
                                    <p:anim calcmode="lin" valueType="num">
                                      <p:cBhvr additive="base">
                                        <p:cTn id="4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Autofit/>
          </a:bodyPr>
          <a:lstStyle/>
          <a:p>
            <a:pPr fontAlgn="base"/>
            <a:r>
              <a:rPr lang="en-US" sz="4800" b="1" dirty="0">
                <a:solidFill>
                  <a:srgbClr val="FF0000"/>
                </a:solidFill>
                <a:latin typeface="Maiandra GD" pitchFamily="34" charset="0"/>
                <a:cs typeface="Times New Roman" pitchFamily="18" charset="0"/>
              </a:rPr>
              <a:t>Non -Recoverable Schedule</a:t>
            </a:r>
          </a:p>
        </p:txBody>
      </p:sp>
      <p:sp>
        <p:nvSpPr>
          <p:cNvPr id="5" name="Rectangle 4"/>
          <p:cNvSpPr/>
          <p:nvPr/>
        </p:nvSpPr>
        <p:spPr>
          <a:xfrm>
            <a:off x="0" y="0"/>
            <a:ext cx="9144000" cy="579967"/>
          </a:xfrm>
          <a:prstGeom prst="rect">
            <a:avLst/>
          </a:prstGeom>
        </p:spPr>
        <p:txBody>
          <a:bodyPr wrap="square">
            <a:spAutoFit/>
          </a:bodyPr>
          <a:lstStyle/>
          <a:p>
            <a:pPr algn="just" fontAlgn="base">
              <a:lnSpc>
                <a:spcPct val="150000"/>
              </a:lnSpc>
            </a:pPr>
            <a:endParaRPr lang="en-US" sz="2400" dirty="0">
              <a:solidFill>
                <a:srgbClr val="002060"/>
              </a:solidFill>
              <a:latin typeface="Times New Roman" pitchFamily="18" charset="0"/>
              <a:cs typeface="Times New Roman" pitchFamily="18" charset="0"/>
            </a:endParaRPr>
          </a:p>
        </p:txBody>
      </p:sp>
      <p:sp>
        <p:nvSpPr>
          <p:cNvPr id="6" name="Rectangle 5"/>
          <p:cNvSpPr/>
          <p:nvPr/>
        </p:nvSpPr>
        <p:spPr>
          <a:xfrm>
            <a:off x="228600" y="990600"/>
            <a:ext cx="8458200" cy="3359061"/>
          </a:xfrm>
          <a:prstGeom prst="rect">
            <a:avLst/>
          </a:prstGeom>
        </p:spPr>
        <p:txBody>
          <a:bodyPr wrap="square">
            <a:spAutoFit/>
          </a:bodyPr>
          <a:lstStyle/>
          <a:p>
            <a:pPr marL="344488" indent="-344488" algn="just" fontAlgn="base">
              <a:lnSpc>
                <a:spcPct val="150000"/>
              </a:lnSpc>
              <a:buClr>
                <a:srgbClr val="FF0000"/>
              </a:buClr>
            </a:pPr>
            <a:r>
              <a:rPr lang="en-US" sz="2400" dirty="0">
                <a:solidFill>
                  <a:srgbClr val="002060"/>
                </a:solidFill>
                <a:latin typeface="Times New Roman" pitchFamily="18" charset="0"/>
                <a:cs typeface="Times New Roman" pitchFamily="18" charset="0"/>
              </a:rPr>
              <a:t>If in a schedule,</a:t>
            </a:r>
          </a:p>
          <a:p>
            <a:pPr marL="344488" indent="-344488"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A transaction performs a dirty read operation from an uncommitted transaction</a:t>
            </a:r>
          </a:p>
          <a:p>
            <a:pPr marL="344488" indent="-344488"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And commits before the transaction from which it has read the value then such a schedule is known as an </a:t>
            </a:r>
            <a:r>
              <a:rPr lang="en-US" sz="2400" b="1" dirty="0">
                <a:solidFill>
                  <a:srgbClr val="FF0000"/>
                </a:solidFill>
                <a:latin typeface="Times New Roman" pitchFamily="18" charset="0"/>
                <a:cs typeface="Times New Roman" pitchFamily="18" charset="0"/>
              </a:rPr>
              <a:t>Non - Recoverable Schedule</a:t>
            </a:r>
            <a:r>
              <a:rPr lang="en-US" sz="2400" dirty="0">
                <a:solidFill>
                  <a:srgbClr val="FF0000"/>
                </a:solidFill>
                <a:latin typeface="Times New Roman" pitchFamily="18" charset="0"/>
                <a:cs typeface="Times New Roman" pitchFamily="18" charset="0"/>
              </a:rPr>
              <a: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Autofit/>
          </a:bodyPr>
          <a:lstStyle/>
          <a:p>
            <a:pPr fontAlgn="base"/>
            <a:r>
              <a:rPr lang="en-US" sz="4800" b="1" dirty="0">
                <a:solidFill>
                  <a:srgbClr val="FF0000"/>
                </a:solidFill>
                <a:latin typeface="Maiandra GD" pitchFamily="34" charset="0"/>
                <a:cs typeface="Times New Roman" pitchFamily="18" charset="0"/>
              </a:rPr>
              <a:t>Non -Recoverable Schedule</a:t>
            </a:r>
          </a:p>
        </p:txBody>
      </p:sp>
      <p:sp>
        <p:nvSpPr>
          <p:cNvPr id="5" name="Rectangle 4"/>
          <p:cNvSpPr/>
          <p:nvPr/>
        </p:nvSpPr>
        <p:spPr>
          <a:xfrm>
            <a:off x="0" y="0"/>
            <a:ext cx="9144000" cy="579967"/>
          </a:xfrm>
          <a:prstGeom prst="rect">
            <a:avLst/>
          </a:prstGeom>
        </p:spPr>
        <p:txBody>
          <a:bodyPr wrap="square">
            <a:spAutoFit/>
          </a:bodyPr>
          <a:lstStyle/>
          <a:p>
            <a:pPr algn="just" fontAlgn="base">
              <a:lnSpc>
                <a:spcPct val="150000"/>
              </a:lnSpc>
            </a:pPr>
            <a:endParaRPr lang="en-US" sz="2400" dirty="0">
              <a:solidFill>
                <a:srgbClr val="002060"/>
              </a:solidFill>
              <a:latin typeface="Times New Roman" pitchFamily="18" charset="0"/>
              <a:cs typeface="Times New Roman" pitchFamily="18" charset="0"/>
            </a:endParaRPr>
          </a:p>
        </p:txBody>
      </p:sp>
      <p:pic>
        <p:nvPicPr>
          <p:cNvPr id="197634" name="Picture 2" descr="G:\VTU NOTES\2018-19 SUMMER SEMESTER\DBMS 2018-19 SUMMER\DBMS UNIT IV\New folder\images\Irrecoverable-Schedule-Example.png"/>
          <p:cNvPicPr>
            <a:picLocks noChangeAspect="1" noChangeArrowheads="1"/>
          </p:cNvPicPr>
          <p:nvPr/>
        </p:nvPicPr>
        <p:blipFill>
          <a:blip r:embed="rId2"/>
          <a:srcRect/>
          <a:stretch>
            <a:fillRect/>
          </a:stretch>
        </p:blipFill>
        <p:spPr bwMode="auto">
          <a:xfrm>
            <a:off x="228600" y="990600"/>
            <a:ext cx="3733800" cy="4648200"/>
          </a:xfrm>
          <a:prstGeom prst="rect">
            <a:avLst/>
          </a:prstGeom>
          <a:noFill/>
          <a:ln w="28575">
            <a:solidFill>
              <a:schemeClr val="tx1"/>
            </a:solidFill>
          </a:ln>
        </p:spPr>
      </p:pic>
      <p:sp>
        <p:nvSpPr>
          <p:cNvPr id="7" name="Rectangle 6"/>
          <p:cNvSpPr/>
          <p:nvPr/>
        </p:nvSpPr>
        <p:spPr>
          <a:xfrm>
            <a:off x="4038600" y="838200"/>
            <a:ext cx="4876800" cy="5016758"/>
          </a:xfrm>
          <a:prstGeom prst="rect">
            <a:avLst/>
          </a:prstGeom>
        </p:spPr>
        <p:txBody>
          <a:bodyPr wrap="square">
            <a:spAutoFit/>
          </a:bodyPr>
          <a:lstStyle/>
          <a:p>
            <a:pPr algn="just" fontAlgn="base">
              <a:lnSpc>
                <a:spcPct val="200000"/>
              </a:lnSpc>
            </a:pPr>
            <a:r>
              <a:rPr lang="en-US" sz="2000" dirty="0">
                <a:latin typeface="Times New Roman" pitchFamily="18" charset="0"/>
                <a:cs typeface="Times New Roman" pitchFamily="18" charset="0"/>
              </a:rPr>
              <a:t>Here,</a:t>
            </a:r>
          </a:p>
          <a:p>
            <a:pPr marL="284163" indent="-284163" algn="just" fontAlgn="base">
              <a:lnSpc>
                <a:spcPct val="200000"/>
              </a:lnSpc>
              <a:buClr>
                <a:srgbClr val="FF0000"/>
              </a:buClr>
              <a:buFont typeface="Wingdings" pitchFamily="2" charset="2"/>
              <a:buChar char="v"/>
            </a:pPr>
            <a:r>
              <a:rPr lang="en-US" sz="2000" dirty="0">
                <a:latin typeface="Times New Roman" pitchFamily="18" charset="0"/>
                <a:cs typeface="Times New Roman" pitchFamily="18" charset="0"/>
              </a:rPr>
              <a:t>T2 performs a dirty read operation.</a:t>
            </a:r>
          </a:p>
          <a:p>
            <a:pPr marL="284163" indent="-284163" algn="just" fontAlgn="base">
              <a:lnSpc>
                <a:spcPct val="200000"/>
              </a:lnSpc>
              <a:buClr>
                <a:srgbClr val="FF0000"/>
              </a:buClr>
              <a:buFont typeface="Wingdings" pitchFamily="2" charset="2"/>
              <a:buChar char="v"/>
            </a:pPr>
            <a:r>
              <a:rPr lang="en-US" sz="2000" dirty="0">
                <a:latin typeface="Times New Roman" pitchFamily="18" charset="0"/>
                <a:cs typeface="Times New Roman" pitchFamily="18" charset="0"/>
              </a:rPr>
              <a:t>T2 commits before T1.</a:t>
            </a:r>
          </a:p>
          <a:p>
            <a:pPr marL="284163" indent="-284163" algn="just" fontAlgn="base">
              <a:lnSpc>
                <a:spcPct val="200000"/>
              </a:lnSpc>
              <a:buClr>
                <a:srgbClr val="FF0000"/>
              </a:buClr>
              <a:buFont typeface="Wingdings" pitchFamily="2" charset="2"/>
              <a:buChar char="v"/>
            </a:pPr>
            <a:r>
              <a:rPr lang="en-US" sz="2000" dirty="0">
                <a:latin typeface="Times New Roman" pitchFamily="18" charset="0"/>
                <a:cs typeface="Times New Roman" pitchFamily="18" charset="0"/>
              </a:rPr>
              <a:t>T1 fails later and roll backs.</a:t>
            </a:r>
          </a:p>
          <a:p>
            <a:pPr marL="284163" indent="-284163" algn="just" fontAlgn="base">
              <a:lnSpc>
                <a:spcPct val="200000"/>
              </a:lnSpc>
              <a:buClr>
                <a:srgbClr val="FF0000"/>
              </a:buClr>
              <a:buFont typeface="Wingdings" pitchFamily="2" charset="2"/>
              <a:buChar char="v"/>
            </a:pPr>
            <a:r>
              <a:rPr lang="en-US" sz="2000" dirty="0">
                <a:latin typeface="Times New Roman" pitchFamily="18" charset="0"/>
                <a:cs typeface="Times New Roman" pitchFamily="18" charset="0"/>
              </a:rPr>
              <a:t>The value that T2 read now stands to be incorrect.</a:t>
            </a:r>
          </a:p>
          <a:p>
            <a:pPr marL="284163" indent="-284163" algn="just" fontAlgn="base">
              <a:lnSpc>
                <a:spcPct val="200000"/>
              </a:lnSpc>
              <a:buClr>
                <a:srgbClr val="FF0000"/>
              </a:buClr>
              <a:buFont typeface="Wingdings" pitchFamily="2" charset="2"/>
              <a:buChar char="v"/>
            </a:pPr>
            <a:r>
              <a:rPr lang="en-US" sz="2000" dirty="0">
                <a:latin typeface="Times New Roman" pitchFamily="18" charset="0"/>
                <a:cs typeface="Times New Roman" pitchFamily="18" charset="0"/>
              </a:rPr>
              <a:t>T2 can not recover since it has already committed.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7634"/>
                                        </p:tgtEl>
                                        <p:attrNameLst>
                                          <p:attrName>style.visibility</p:attrName>
                                        </p:attrNameLst>
                                      </p:cBhvr>
                                      <p:to>
                                        <p:strVal val="visible"/>
                                      </p:to>
                                    </p:set>
                                    <p:anim calcmode="lin" valueType="num">
                                      <p:cBhvr additive="base">
                                        <p:cTn id="7" dur="500" fill="hold"/>
                                        <p:tgtEl>
                                          <p:spTgt spid="197634"/>
                                        </p:tgtEl>
                                        <p:attrNameLst>
                                          <p:attrName>ppt_x</p:attrName>
                                        </p:attrNameLst>
                                      </p:cBhvr>
                                      <p:tavLst>
                                        <p:tav tm="0">
                                          <p:val>
                                            <p:strVal val="#ppt_x"/>
                                          </p:val>
                                        </p:tav>
                                        <p:tav tm="100000">
                                          <p:val>
                                            <p:strVal val="#ppt_x"/>
                                          </p:val>
                                        </p:tav>
                                      </p:tavLst>
                                    </p:anim>
                                    <p:anim calcmode="lin" valueType="num">
                                      <p:cBhvr additive="base">
                                        <p:cTn id="8" dur="500" fill="hold"/>
                                        <p:tgtEl>
                                          <p:spTgt spid="1976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 calcmode="lin" valueType="num">
                                      <p:cBhvr additive="base">
                                        <p:cTn id="1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 calcmode="lin" valueType="num">
                                      <p:cBhvr additive="base">
                                        <p:cTn id="2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 calcmode="lin" valueType="num">
                                      <p:cBhvr additive="base">
                                        <p:cTn id="2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 calcmode="lin" valueType="num">
                                      <p:cBhvr additive="base">
                                        <p:cTn id="35"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7">
                                            <p:txEl>
                                              <p:pRg st="5" end="5"/>
                                            </p:txEl>
                                          </p:spTgt>
                                        </p:tgtEl>
                                        <p:attrNameLst>
                                          <p:attrName>style.visibility</p:attrName>
                                        </p:attrNameLst>
                                      </p:cBhvr>
                                      <p:to>
                                        <p:strVal val="visible"/>
                                      </p:to>
                                    </p:set>
                                    <p:anim calcmode="lin" valueType="num">
                                      <p:cBhvr additive="base">
                                        <p:cTn id="4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Autofit/>
          </a:bodyPr>
          <a:lstStyle/>
          <a:p>
            <a:pPr fontAlgn="base"/>
            <a:r>
              <a:rPr lang="en-US" sz="4800" b="1" dirty="0">
                <a:solidFill>
                  <a:srgbClr val="FF0000"/>
                </a:solidFill>
                <a:latin typeface="Maiandra GD" pitchFamily="34" charset="0"/>
                <a:cs typeface="Times New Roman" pitchFamily="18" charset="0"/>
              </a:rPr>
              <a:t>Recoverable Vs Non-Recoverable</a:t>
            </a:r>
          </a:p>
        </p:txBody>
      </p:sp>
      <p:sp>
        <p:nvSpPr>
          <p:cNvPr id="5" name="Rectangle 4"/>
          <p:cNvSpPr/>
          <p:nvPr/>
        </p:nvSpPr>
        <p:spPr>
          <a:xfrm>
            <a:off x="0" y="0"/>
            <a:ext cx="9144000" cy="579967"/>
          </a:xfrm>
          <a:prstGeom prst="rect">
            <a:avLst/>
          </a:prstGeom>
        </p:spPr>
        <p:txBody>
          <a:bodyPr wrap="square">
            <a:spAutoFit/>
          </a:bodyPr>
          <a:lstStyle/>
          <a:p>
            <a:pPr algn="just" fontAlgn="base">
              <a:lnSpc>
                <a:spcPct val="150000"/>
              </a:lnSpc>
            </a:pPr>
            <a:endParaRPr lang="en-US" sz="2400" dirty="0">
              <a:solidFill>
                <a:srgbClr val="002060"/>
              </a:solidFill>
              <a:latin typeface="Times New Roman" pitchFamily="18" charset="0"/>
              <a:cs typeface="Times New Roman" pitchFamily="18" charset="0"/>
            </a:endParaRPr>
          </a:p>
        </p:txBody>
      </p:sp>
      <p:pic>
        <p:nvPicPr>
          <p:cNvPr id="197634" name="Picture 2" descr="G:\VTU NOTES\2018-19 SUMMER SEMESTER\DBMS 2018-19 SUMMER\DBMS UNIT IV\New folder\images\Irrecoverable-Schedule-Example.png"/>
          <p:cNvPicPr>
            <a:picLocks noChangeAspect="1" noChangeArrowheads="1"/>
          </p:cNvPicPr>
          <p:nvPr/>
        </p:nvPicPr>
        <p:blipFill>
          <a:blip r:embed="rId2"/>
          <a:srcRect/>
          <a:stretch>
            <a:fillRect/>
          </a:stretch>
        </p:blipFill>
        <p:spPr bwMode="auto">
          <a:xfrm>
            <a:off x="5029200" y="1295400"/>
            <a:ext cx="4114800" cy="4953000"/>
          </a:xfrm>
          <a:prstGeom prst="rect">
            <a:avLst/>
          </a:prstGeom>
          <a:noFill/>
          <a:ln w="38100">
            <a:solidFill>
              <a:schemeClr val="tx1"/>
            </a:solidFill>
          </a:ln>
        </p:spPr>
      </p:pic>
      <p:pic>
        <p:nvPicPr>
          <p:cNvPr id="6" name="Picture 2" descr="G:\VTU NOTES\2018-19 SUMMER SEMESTER\DBMS 2018-19 SUMMER\DBMS UNIT IV\New folder\images\Recoverable-Schedule-Example.png"/>
          <p:cNvPicPr>
            <a:picLocks noChangeAspect="1" noChangeArrowheads="1"/>
          </p:cNvPicPr>
          <p:nvPr/>
        </p:nvPicPr>
        <p:blipFill>
          <a:blip r:embed="rId3">
            <a:lum bright="-20000" contrast="40000"/>
          </a:blip>
          <a:srcRect/>
          <a:stretch>
            <a:fillRect/>
          </a:stretch>
        </p:blipFill>
        <p:spPr bwMode="auto">
          <a:xfrm>
            <a:off x="304800" y="1371600"/>
            <a:ext cx="4267200" cy="4876800"/>
          </a:xfrm>
          <a:prstGeom prst="rect">
            <a:avLst/>
          </a:prstGeom>
          <a:noFill/>
          <a:ln w="38100">
            <a:solidFill>
              <a:schemeClr val="tx1"/>
            </a:solid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Autofit/>
          </a:bodyPr>
          <a:lstStyle/>
          <a:p>
            <a:pPr fontAlgn="base"/>
            <a:r>
              <a:rPr lang="en-US" sz="4800" b="1" dirty="0">
                <a:solidFill>
                  <a:srgbClr val="FF0000"/>
                </a:solidFill>
                <a:latin typeface="Maiandra GD" pitchFamily="34" charset="0"/>
                <a:cs typeface="Times New Roman" pitchFamily="18" charset="0"/>
              </a:rPr>
              <a:t>Recoverable Problems</a:t>
            </a:r>
          </a:p>
        </p:txBody>
      </p:sp>
      <p:sp>
        <p:nvSpPr>
          <p:cNvPr id="5" name="Rectangle 4"/>
          <p:cNvSpPr/>
          <p:nvPr/>
        </p:nvSpPr>
        <p:spPr>
          <a:xfrm>
            <a:off x="0" y="0"/>
            <a:ext cx="9144000" cy="579967"/>
          </a:xfrm>
          <a:prstGeom prst="rect">
            <a:avLst/>
          </a:prstGeom>
        </p:spPr>
        <p:txBody>
          <a:bodyPr wrap="square">
            <a:spAutoFit/>
          </a:bodyPr>
          <a:lstStyle/>
          <a:p>
            <a:pPr algn="just" fontAlgn="base">
              <a:lnSpc>
                <a:spcPct val="150000"/>
              </a:lnSpc>
            </a:pPr>
            <a:endParaRPr lang="en-US" sz="2400" dirty="0">
              <a:solidFill>
                <a:srgbClr val="002060"/>
              </a:solidFill>
              <a:latin typeface="Times New Roman" pitchFamily="18" charset="0"/>
              <a:cs typeface="Times New Roman" pitchFamily="18" charset="0"/>
            </a:endParaRPr>
          </a:p>
        </p:txBody>
      </p:sp>
      <p:sp>
        <p:nvSpPr>
          <p:cNvPr id="7" name="Rectangle 6"/>
          <p:cNvSpPr/>
          <p:nvPr/>
        </p:nvSpPr>
        <p:spPr>
          <a:xfrm>
            <a:off x="0" y="838200"/>
            <a:ext cx="8686800" cy="3877985"/>
          </a:xfrm>
          <a:prstGeom prst="rect">
            <a:avLst/>
          </a:prstGeom>
        </p:spPr>
        <p:txBody>
          <a:bodyPr wrap="square">
            <a:spAutoFit/>
          </a:bodyPr>
          <a:lstStyle/>
          <a:p>
            <a:pPr fontAlgn="base"/>
            <a:r>
              <a:rPr lang="en-US" sz="2400" b="1" u="sng" dirty="0">
                <a:solidFill>
                  <a:srgbClr val="FF0000"/>
                </a:solidFill>
                <a:latin typeface="Maiandra GD" pitchFamily="34" charset="0"/>
              </a:rPr>
              <a:t>Checking Whether a Schedule is Recoverable or Irrecoverable-</a:t>
            </a:r>
            <a:endParaRPr lang="en-US" sz="2400" b="1" dirty="0">
              <a:solidFill>
                <a:srgbClr val="FF0000"/>
              </a:solidFill>
              <a:latin typeface="Maiandra GD" pitchFamily="34" charset="0"/>
            </a:endParaRPr>
          </a:p>
          <a:p>
            <a:pPr fontAlgn="base"/>
            <a:r>
              <a:rPr lang="en-US" dirty="0"/>
              <a:t> </a:t>
            </a:r>
          </a:p>
          <a:p>
            <a:pPr algn="ctr" fontAlgn="base"/>
            <a:r>
              <a:rPr lang="en-US" sz="2400" b="1" u="sng" dirty="0">
                <a:solidFill>
                  <a:srgbClr val="FF0000"/>
                </a:solidFill>
                <a:latin typeface="Times New Roman" pitchFamily="18" charset="0"/>
                <a:cs typeface="Times New Roman" pitchFamily="18" charset="0"/>
              </a:rPr>
              <a:t>Method-01:</a:t>
            </a:r>
            <a:endParaRPr lang="en-US" sz="2400" b="1" dirty="0">
              <a:solidFill>
                <a:srgbClr val="FF0000"/>
              </a:solidFill>
              <a:latin typeface="Times New Roman" pitchFamily="18" charset="0"/>
              <a:cs typeface="Times New Roman" pitchFamily="18" charset="0"/>
            </a:endParaRPr>
          </a:p>
          <a:p>
            <a:pPr marL="344488" indent="-344488" algn="just" fontAlgn="base">
              <a:lnSpc>
                <a:spcPct val="150000"/>
              </a:lnSpc>
              <a:buClr>
                <a:srgbClr val="FF0000"/>
              </a:buClr>
              <a:buFont typeface="Wingdings" pitchFamily="2" charset="2"/>
              <a:buChar char="v"/>
            </a:pPr>
            <a:r>
              <a:rPr lang="en-US" sz="2400" dirty="0"/>
              <a:t> </a:t>
            </a:r>
            <a:r>
              <a:rPr lang="en-US" sz="2400" dirty="0">
                <a:solidFill>
                  <a:srgbClr val="002060"/>
                </a:solidFill>
                <a:latin typeface="Times New Roman" pitchFamily="18" charset="0"/>
                <a:cs typeface="Times New Roman" pitchFamily="18" charset="0"/>
              </a:rPr>
              <a:t>Check whether the given schedule is </a:t>
            </a:r>
            <a:r>
              <a:rPr lang="en-US" sz="2400" dirty="0">
                <a:solidFill>
                  <a:srgbClr val="FF0000"/>
                </a:solidFill>
                <a:latin typeface="Times New Roman" pitchFamily="18" charset="0"/>
                <a:cs typeface="Times New Roman" pitchFamily="18" charset="0"/>
              </a:rPr>
              <a:t>conflict serializable or not</a:t>
            </a:r>
            <a:r>
              <a:rPr lang="en-US" sz="2400" dirty="0">
                <a:solidFill>
                  <a:srgbClr val="002060"/>
                </a:solidFill>
                <a:latin typeface="Times New Roman" pitchFamily="18" charset="0"/>
                <a:cs typeface="Times New Roman" pitchFamily="18" charset="0"/>
              </a:rPr>
              <a:t>.</a:t>
            </a:r>
          </a:p>
          <a:p>
            <a:pPr marL="344488" indent="-344488"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If the given schedule is </a:t>
            </a:r>
            <a:r>
              <a:rPr lang="en-US" sz="2400" dirty="0">
                <a:solidFill>
                  <a:srgbClr val="FF0000"/>
                </a:solidFill>
                <a:latin typeface="Times New Roman" pitchFamily="18" charset="0"/>
                <a:cs typeface="Times New Roman" pitchFamily="18" charset="0"/>
              </a:rPr>
              <a:t>conflict serializable, </a:t>
            </a:r>
            <a:r>
              <a:rPr lang="en-US" sz="2400" dirty="0">
                <a:solidFill>
                  <a:srgbClr val="002060"/>
                </a:solidFill>
                <a:latin typeface="Times New Roman" pitchFamily="18" charset="0"/>
                <a:cs typeface="Times New Roman" pitchFamily="18" charset="0"/>
              </a:rPr>
              <a:t>then it is </a:t>
            </a:r>
            <a:r>
              <a:rPr lang="en-US" sz="2400" dirty="0">
                <a:solidFill>
                  <a:srgbClr val="FF0000"/>
                </a:solidFill>
                <a:latin typeface="Times New Roman" pitchFamily="18" charset="0"/>
                <a:cs typeface="Times New Roman" pitchFamily="18" charset="0"/>
              </a:rPr>
              <a:t>surely recoverable</a:t>
            </a:r>
            <a:r>
              <a:rPr lang="en-US" sz="2400" dirty="0">
                <a:solidFill>
                  <a:srgbClr val="002060"/>
                </a:solidFill>
                <a:latin typeface="Times New Roman" pitchFamily="18" charset="0"/>
                <a:cs typeface="Times New Roman" pitchFamily="18" charset="0"/>
              </a:rPr>
              <a:t>. Stop and report your answer.</a:t>
            </a:r>
          </a:p>
          <a:p>
            <a:pPr marL="344488" indent="-344488"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If the given schedule is </a:t>
            </a:r>
            <a:r>
              <a:rPr lang="en-US" sz="2400" dirty="0">
                <a:solidFill>
                  <a:srgbClr val="FF0000"/>
                </a:solidFill>
                <a:latin typeface="Times New Roman" pitchFamily="18" charset="0"/>
                <a:cs typeface="Times New Roman" pitchFamily="18" charset="0"/>
              </a:rPr>
              <a:t>not conflict </a:t>
            </a:r>
            <a:r>
              <a:rPr lang="en-US" sz="2400" dirty="0">
                <a:solidFill>
                  <a:srgbClr val="002060"/>
                </a:solidFill>
                <a:latin typeface="Times New Roman" pitchFamily="18" charset="0"/>
                <a:cs typeface="Times New Roman" pitchFamily="18" charset="0"/>
              </a:rPr>
              <a:t>serializable, then it </a:t>
            </a:r>
            <a:r>
              <a:rPr lang="en-US" sz="2400" dirty="0">
                <a:solidFill>
                  <a:srgbClr val="FF0000"/>
                </a:solidFill>
                <a:latin typeface="Times New Roman" pitchFamily="18" charset="0"/>
                <a:cs typeface="Times New Roman" pitchFamily="18" charset="0"/>
              </a:rPr>
              <a:t>may or may not be recoverable</a:t>
            </a:r>
            <a:r>
              <a:rPr lang="en-US" sz="2400" dirty="0">
                <a:solidFill>
                  <a:srgbClr val="002060"/>
                </a:solidFill>
                <a:latin typeface="Times New Roman" pitchFamily="18" charset="0"/>
                <a:cs typeface="Times New Roman" pitchFamily="18" charset="0"/>
              </a:rPr>
              <a:t>. Go and check using other methods.</a:t>
            </a:r>
          </a:p>
        </p:txBody>
      </p:sp>
      <p:sp>
        <p:nvSpPr>
          <p:cNvPr id="8" name="Rounded Rectangle 7"/>
          <p:cNvSpPr/>
          <p:nvPr/>
        </p:nvSpPr>
        <p:spPr>
          <a:xfrm>
            <a:off x="152400" y="4800600"/>
            <a:ext cx="8991600" cy="1828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4488" indent="-344488" fontAlgn="base">
              <a:lnSpc>
                <a:spcPct val="150000"/>
              </a:lnSpc>
              <a:buClr>
                <a:srgbClr val="002060"/>
              </a:buClr>
              <a:buFont typeface="Wingdings" pitchFamily="2" charset="2"/>
              <a:buChar char="v"/>
            </a:pPr>
            <a:r>
              <a:rPr lang="en-US" sz="2400" b="1" dirty="0">
                <a:solidFill>
                  <a:srgbClr val="FFFF00"/>
                </a:solidFill>
                <a:latin typeface="Maiandra GD" pitchFamily="34" charset="0"/>
              </a:rPr>
              <a:t>All conflict serializable schedules are recoverable.</a:t>
            </a:r>
          </a:p>
          <a:p>
            <a:pPr marL="344488" indent="-344488" fontAlgn="base">
              <a:lnSpc>
                <a:spcPct val="150000"/>
              </a:lnSpc>
              <a:buClr>
                <a:srgbClr val="002060"/>
              </a:buClr>
              <a:buFont typeface="Wingdings" pitchFamily="2" charset="2"/>
              <a:buChar char="v"/>
            </a:pPr>
            <a:r>
              <a:rPr lang="en-US" sz="2400" b="1" dirty="0">
                <a:solidFill>
                  <a:srgbClr val="FFFF00"/>
                </a:solidFill>
                <a:latin typeface="Maiandra GD" pitchFamily="34" charset="0"/>
              </a:rPr>
              <a:t>All recoverable schedules may or may not be conflict serializable.</a:t>
            </a:r>
          </a:p>
          <a:p>
            <a:pPr algn="ctr">
              <a:lnSpc>
                <a:spcPct val="150000"/>
              </a:lnSpc>
              <a:buClr>
                <a:srgbClr val="002060"/>
              </a:buClr>
              <a:buFont typeface="Wingdings" pitchFamily="2" charset="2"/>
              <a:buChar char="v"/>
            </a:pPr>
            <a:endParaRPr lang="en-US" sz="2400" b="1" dirty="0">
              <a:solidFill>
                <a:srgbClr val="FFFF00"/>
              </a:solidFill>
              <a:latin typeface="Maiandra GD"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additive="base">
                                        <p:cTn id="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anim calcmode="lin" valueType="num">
                                      <p:cBhvr additive="base">
                                        <p:cTn id="11"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 calcmode="lin" valueType="num">
                                      <p:cBhvr additive="base">
                                        <p:cTn id="1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 calcmode="lin" valueType="num">
                                      <p:cBhvr additive="base">
                                        <p:cTn id="2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 calcmode="lin" valueType="num">
                                      <p:cBhvr additive="base">
                                        <p:cTn id="2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Autofit/>
          </a:bodyPr>
          <a:lstStyle/>
          <a:p>
            <a:pPr fontAlgn="base"/>
            <a:r>
              <a:rPr lang="en-US" sz="4800" b="1" dirty="0">
                <a:solidFill>
                  <a:srgbClr val="FF0000"/>
                </a:solidFill>
                <a:latin typeface="Maiandra GD" pitchFamily="34" charset="0"/>
                <a:cs typeface="Times New Roman" pitchFamily="18" charset="0"/>
              </a:rPr>
              <a:t>Recoverable Problems</a:t>
            </a:r>
          </a:p>
        </p:txBody>
      </p:sp>
      <p:sp>
        <p:nvSpPr>
          <p:cNvPr id="5" name="Rectangle 4"/>
          <p:cNvSpPr/>
          <p:nvPr/>
        </p:nvSpPr>
        <p:spPr>
          <a:xfrm>
            <a:off x="0" y="0"/>
            <a:ext cx="9144000" cy="579967"/>
          </a:xfrm>
          <a:prstGeom prst="rect">
            <a:avLst/>
          </a:prstGeom>
        </p:spPr>
        <p:txBody>
          <a:bodyPr wrap="square">
            <a:spAutoFit/>
          </a:bodyPr>
          <a:lstStyle/>
          <a:p>
            <a:pPr algn="just" fontAlgn="base">
              <a:lnSpc>
                <a:spcPct val="150000"/>
              </a:lnSpc>
            </a:pPr>
            <a:endParaRPr lang="en-US" sz="2400" dirty="0">
              <a:solidFill>
                <a:srgbClr val="002060"/>
              </a:solidFill>
              <a:latin typeface="Times New Roman" pitchFamily="18" charset="0"/>
              <a:cs typeface="Times New Roman" pitchFamily="18" charset="0"/>
            </a:endParaRPr>
          </a:p>
        </p:txBody>
      </p:sp>
      <p:sp>
        <p:nvSpPr>
          <p:cNvPr id="7" name="Rectangle 6"/>
          <p:cNvSpPr/>
          <p:nvPr/>
        </p:nvSpPr>
        <p:spPr>
          <a:xfrm>
            <a:off x="0" y="838200"/>
            <a:ext cx="8686800" cy="4385816"/>
          </a:xfrm>
          <a:prstGeom prst="rect">
            <a:avLst/>
          </a:prstGeom>
        </p:spPr>
        <p:txBody>
          <a:bodyPr wrap="square">
            <a:spAutoFit/>
          </a:bodyPr>
          <a:lstStyle/>
          <a:p>
            <a:pPr fontAlgn="base"/>
            <a:r>
              <a:rPr lang="en-US" sz="2400" b="1" u="sng" dirty="0">
                <a:solidFill>
                  <a:srgbClr val="FF0000"/>
                </a:solidFill>
                <a:latin typeface="Maiandra GD" pitchFamily="34" charset="0"/>
              </a:rPr>
              <a:t>Checking Whether a Schedule is Recoverable or Irrecoverable-</a:t>
            </a:r>
            <a:endParaRPr lang="en-US" sz="2400" b="1" dirty="0">
              <a:solidFill>
                <a:srgbClr val="FF0000"/>
              </a:solidFill>
              <a:latin typeface="Maiandra GD" pitchFamily="34" charset="0"/>
            </a:endParaRPr>
          </a:p>
          <a:p>
            <a:pPr fontAlgn="base"/>
            <a:r>
              <a:rPr lang="en-US" dirty="0"/>
              <a:t> </a:t>
            </a:r>
          </a:p>
          <a:p>
            <a:pPr algn="ctr" fontAlgn="base"/>
            <a:r>
              <a:rPr lang="en-US" sz="2400" b="1" u="sng" dirty="0">
                <a:solidFill>
                  <a:srgbClr val="FF0000"/>
                </a:solidFill>
                <a:latin typeface="Times New Roman" pitchFamily="18" charset="0"/>
                <a:cs typeface="Times New Roman" pitchFamily="18" charset="0"/>
              </a:rPr>
              <a:t>Method-02:</a:t>
            </a:r>
            <a:endParaRPr lang="en-US" sz="2400" b="1" dirty="0">
              <a:solidFill>
                <a:srgbClr val="FF0000"/>
              </a:solidFill>
              <a:latin typeface="Times New Roman" pitchFamily="18" charset="0"/>
              <a:cs typeface="Times New Roman" pitchFamily="18" charset="0"/>
            </a:endParaRPr>
          </a:p>
          <a:p>
            <a:pPr marL="344488" indent="-344488" algn="just" fontAlgn="base">
              <a:lnSpc>
                <a:spcPct val="150000"/>
              </a:lnSpc>
              <a:buClr>
                <a:srgbClr val="FF0000"/>
              </a:buClr>
              <a:buFont typeface="Wingdings" pitchFamily="2" charset="2"/>
              <a:buChar char="v"/>
            </a:pPr>
            <a:r>
              <a:rPr lang="en-US" sz="2400" dirty="0"/>
              <a:t> </a:t>
            </a:r>
            <a:r>
              <a:rPr lang="en-US" sz="2400" dirty="0">
                <a:solidFill>
                  <a:srgbClr val="002060"/>
                </a:solidFill>
                <a:latin typeface="Times New Roman" pitchFamily="18" charset="0"/>
                <a:cs typeface="Times New Roman" pitchFamily="18" charset="0"/>
              </a:rPr>
              <a:t> Check if there exists any dirty read operation.</a:t>
            </a:r>
          </a:p>
          <a:p>
            <a:pPr marL="344488" indent="-344488" algn="just" fontAlgn="base">
              <a:lnSpc>
                <a:spcPct val="150000"/>
              </a:lnSpc>
              <a:buClr>
                <a:srgbClr val="FF0000"/>
              </a:buClr>
            </a:pPr>
            <a:r>
              <a:rPr lang="en-US" sz="2200" b="1" dirty="0">
                <a:solidFill>
                  <a:schemeClr val="accent6">
                    <a:lumMod val="50000"/>
                  </a:schemeClr>
                </a:solidFill>
                <a:latin typeface="Times New Roman" pitchFamily="18" charset="0"/>
                <a:cs typeface="Times New Roman" pitchFamily="18" charset="0"/>
              </a:rPr>
              <a:t>(Reading from an uncommitted transaction is called as a </a:t>
            </a:r>
            <a:r>
              <a:rPr lang="en-US" sz="2200" b="1" dirty="0">
                <a:solidFill>
                  <a:srgbClr val="0070C0"/>
                </a:solidFill>
                <a:latin typeface="Times New Roman" pitchFamily="18" charset="0"/>
                <a:cs typeface="Times New Roman" pitchFamily="18" charset="0"/>
              </a:rPr>
              <a:t>dirty read</a:t>
            </a:r>
            <a:r>
              <a:rPr lang="en-US" sz="2200" b="1" dirty="0">
                <a:solidFill>
                  <a:schemeClr val="accent6">
                    <a:lumMod val="50000"/>
                  </a:schemeClr>
                </a:solidFill>
                <a:latin typeface="Times New Roman" pitchFamily="18" charset="0"/>
                <a:cs typeface="Times New Roman" pitchFamily="18" charset="0"/>
              </a:rPr>
              <a:t>)</a:t>
            </a:r>
          </a:p>
          <a:p>
            <a:pPr marL="344488" indent="-344488"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If there does </a:t>
            </a:r>
            <a:r>
              <a:rPr lang="en-US" sz="2400" dirty="0">
                <a:solidFill>
                  <a:srgbClr val="FF0000"/>
                </a:solidFill>
                <a:latin typeface="Times New Roman" pitchFamily="18" charset="0"/>
                <a:cs typeface="Times New Roman" pitchFamily="18" charset="0"/>
              </a:rPr>
              <a:t>not exist any dirty read </a:t>
            </a:r>
            <a:r>
              <a:rPr lang="en-US" sz="2400" dirty="0">
                <a:solidFill>
                  <a:srgbClr val="002060"/>
                </a:solidFill>
                <a:latin typeface="Times New Roman" pitchFamily="18" charset="0"/>
                <a:cs typeface="Times New Roman" pitchFamily="18" charset="0"/>
              </a:rPr>
              <a:t>operation, then the schedule is surely </a:t>
            </a:r>
            <a:r>
              <a:rPr lang="en-US" sz="2400" dirty="0">
                <a:solidFill>
                  <a:srgbClr val="FF0000"/>
                </a:solidFill>
                <a:latin typeface="Times New Roman" pitchFamily="18" charset="0"/>
                <a:cs typeface="Times New Roman" pitchFamily="18" charset="0"/>
              </a:rPr>
              <a:t>recoverable</a:t>
            </a:r>
            <a:r>
              <a:rPr lang="en-US" sz="2400" dirty="0">
                <a:solidFill>
                  <a:srgbClr val="002060"/>
                </a:solidFill>
                <a:latin typeface="Times New Roman" pitchFamily="18" charset="0"/>
                <a:cs typeface="Times New Roman" pitchFamily="18" charset="0"/>
              </a:rPr>
              <a:t>. Stop and report your answer.</a:t>
            </a:r>
          </a:p>
          <a:p>
            <a:pPr marL="344488" indent="-344488" algn="just" fontAlgn="base">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If there </a:t>
            </a:r>
            <a:r>
              <a:rPr lang="en-US" sz="2400" dirty="0">
                <a:solidFill>
                  <a:srgbClr val="FF0000"/>
                </a:solidFill>
                <a:latin typeface="Times New Roman" pitchFamily="18" charset="0"/>
                <a:cs typeface="Times New Roman" pitchFamily="18" charset="0"/>
              </a:rPr>
              <a:t>exists any dirty </a:t>
            </a:r>
            <a:r>
              <a:rPr lang="en-US" sz="2400" dirty="0">
                <a:solidFill>
                  <a:srgbClr val="002060"/>
                </a:solidFill>
                <a:latin typeface="Times New Roman" pitchFamily="18" charset="0"/>
                <a:cs typeface="Times New Roman" pitchFamily="18" charset="0"/>
              </a:rPr>
              <a:t>read operation, then the schedule </a:t>
            </a:r>
            <a:r>
              <a:rPr lang="en-US" sz="2400" dirty="0">
                <a:solidFill>
                  <a:srgbClr val="FF0000"/>
                </a:solidFill>
                <a:latin typeface="Times New Roman" pitchFamily="18" charset="0"/>
                <a:cs typeface="Times New Roman" pitchFamily="18" charset="0"/>
              </a:rPr>
              <a:t>may or may not be recoverable</a:t>
            </a:r>
            <a:r>
              <a:rPr lang="en-US" sz="2400" dirty="0">
                <a:solidFill>
                  <a:srgbClr val="002060"/>
                </a:solidFill>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 calcmode="lin" valueType="num">
                                      <p:cBhvr additive="base">
                                        <p:cTn id="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 calcmode="lin" valueType="num">
                                      <p:cBhvr additive="base">
                                        <p:cTn id="1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 calcmode="lin" valueType="num">
                                      <p:cBhvr additive="base">
                                        <p:cTn id="1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anim calcmode="lin" valueType="num">
                                      <p:cBhvr additive="base">
                                        <p:cTn id="23"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 calcmode="lin" valueType="num">
                                      <p:cBhvr additive="base">
                                        <p:cTn id="29"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sz="3600" b="1" dirty="0">
                <a:solidFill>
                  <a:srgbClr val="FF0000"/>
                </a:solidFill>
                <a:latin typeface="Times New Roman" pitchFamily="18" charset="0"/>
                <a:cs typeface="Times New Roman" pitchFamily="18" charset="0"/>
              </a:rPr>
              <a:t>SCHEDULES BASED ON RECOVERY</a:t>
            </a:r>
          </a:p>
        </p:txBody>
      </p:sp>
      <p:graphicFrame>
        <p:nvGraphicFramePr>
          <p:cNvPr id="4" name="Content Placeholder 3"/>
          <p:cNvGraphicFramePr>
            <a:graphicFrameLocks noGrp="1"/>
          </p:cNvGraphicFramePr>
          <p:nvPr>
            <p:ph idx="1"/>
          </p:nvPr>
        </p:nvGraphicFramePr>
        <p:xfrm>
          <a:off x="228600" y="1219200"/>
          <a:ext cx="3200400" cy="3352800"/>
        </p:xfrm>
        <a:graphic>
          <a:graphicData uri="http://schemas.openxmlformats.org/drawingml/2006/table">
            <a:tbl>
              <a:tblPr firstRow="1" bandRow="1">
                <a:tableStyleId>{5C22544A-7EE6-4342-B048-85BDC9FD1C3A}</a:tableStyleId>
              </a:tblPr>
              <a:tblGrid>
                <a:gridCol w="1548581">
                  <a:extLst>
                    <a:ext uri="{9D8B030D-6E8A-4147-A177-3AD203B41FA5}">
                      <a16:colId xmlns:a16="http://schemas.microsoft.com/office/drawing/2014/main" val="20000"/>
                    </a:ext>
                  </a:extLst>
                </a:gridCol>
                <a:gridCol w="1651819">
                  <a:extLst>
                    <a:ext uri="{9D8B030D-6E8A-4147-A177-3AD203B41FA5}">
                      <a16:colId xmlns:a16="http://schemas.microsoft.com/office/drawing/2014/main" val="20001"/>
                    </a:ext>
                  </a:extLst>
                </a:gridCol>
              </a:tblGrid>
              <a:tr h="419100">
                <a:tc>
                  <a:txBody>
                    <a:bodyPr/>
                    <a:lstStyle/>
                    <a:p>
                      <a:pPr algn="ctr"/>
                      <a:r>
                        <a:rPr lang="en-US" b="1" dirty="0">
                          <a:solidFill>
                            <a:srgbClr val="FF000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FF000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9100">
                <a:tc>
                  <a:txBody>
                    <a:bodyPr/>
                    <a:lstStyle/>
                    <a:p>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9100">
                <a:tc>
                  <a:txBody>
                    <a:bodyPr/>
                    <a:lstStyle/>
                    <a:p>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9100">
                <a:tc>
                  <a:txBody>
                    <a:bodyPr/>
                    <a:lstStyle/>
                    <a:p>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9100">
                <a:tc>
                  <a:txBody>
                    <a:bodyPr/>
                    <a:lstStyle/>
                    <a:p>
                      <a:r>
                        <a:rPr lang="en-US" b="1" dirty="0">
                          <a:solidFill>
                            <a:srgbClr val="002060"/>
                          </a:solidFill>
                          <a:latin typeface="Times New Roman" pitchFamily="18" charset="0"/>
                          <a:cs typeface="Times New Roman" pitchFamily="18" charset="0"/>
                        </a:rPr>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9100">
                <a:tc>
                  <a:txBody>
                    <a:bodyPr/>
                    <a:lstStyle/>
                    <a:p>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9100">
                <a:tc>
                  <a:txBody>
                    <a:bodyPr/>
                    <a:lstStyle/>
                    <a:p>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solidFill>
                            <a:srgbClr val="002060"/>
                          </a:solidFill>
                          <a:latin typeface="Times New Roman" pitchFamily="18" charset="0"/>
                          <a:cs typeface="Times New Roman" pitchFamily="18" charset="0"/>
                        </a:rPr>
                        <a:t>Commit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9100">
                <a:tc>
                  <a:txBody>
                    <a:bodyPr/>
                    <a:lstStyle/>
                    <a:p>
                      <a:r>
                        <a:rPr lang="en-US" b="1" dirty="0">
                          <a:solidFill>
                            <a:srgbClr val="002060"/>
                          </a:solidFill>
                          <a:latin typeface="Times New Roman" pitchFamily="18" charset="0"/>
                          <a:cs typeface="Times New Roman" pitchFamily="18" charset="0"/>
                        </a:rPr>
                        <a:t>Abort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5" name="Title 1"/>
          <p:cNvSpPr txBox="1">
            <a:spLocks/>
          </p:cNvSpPr>
          <p:nvPr/>
        </p:nvSpPr>
        <p:spPr>
          <a:xfrm>
            <a:off x="304800" y="762000"/>
            <a:ext cx="28194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SCHEDULE B</a:t>
            </a:r>
          </a:p>
        </p:txBody>
      </p:sp>
      <p:sp>
        <p:nvSpPr>
          <p:cNvPr id="6" name="Title 1"/>
          <p:cNvSpPr txBox="1">
            <a:spLocks/>
          </p:cNvSpPr>
          <p:nvPr/>
        </p:nvSpPr>
        <p:spPr>
          <a:xfrm>
            <a:off x="3657600" y="914400"/>
            <a:ext cx="5486400" cy="4038600"/>
          </a:xfrm>
          <a:prstGeom prst="rect">
            <a:avLst/>
          </a:prstGeom>
        </p:spPr>
        <p:txBody>
          <a:bodyPr vert="horz" lIns="91440" tIns="45720" rIns="91440" bIns="45720" rtlCol="0" anchor="ctr">
            <a:normAutofit fontScale="92500" lnSpcReduction="20000"/>
          </a:bodyPr>
          <a:lstStyle/>
          <a:p>
            <a:pPr marL="465138" marR="0" lvl="0" indent="-344488" algn="just" defTabSz="914400" rtl="0" eaLnBrk="1" fontAlgn="auto" latinLnBrk="0" hangingPunct="1">
              <a:lnSpc>
                <a:spcPct val="200000"/>
              </a:lnSpc>
              <a:spcBef>
                <a:spcPct val="0"/>
              </a:spcBef>
              <a:spcAft>
                <a:spcPts val="0"/>
              </a:spcAft>
              <a:buClrTx/>
              <a:buSzTx/>
              <a:buFont typeface="Wingdings" pitchFamily="2" charset="2"/>
              <a:buChar char="v"/>
              <a:tabLst/>
              <a:defRPr/>
            </a:pPr>
            <a:r>
              <a:rPr kumimoji="0" lang="en-US" sz="2200" i="0" u="none" strike="noStrike" kern="1200" cap="none" spc="0" normalizeH="0" baseline="0" noProof="0" dirty="0">
                <a:ln>
                  <a:noFill/>
                </a:ln>
                <a:effectLst/>
                <a:uLnTx/>
                <a:uFillTx/>
                <a:latin typeface="Times New Roman" pitchFamily="18" charset="0"/>
                <a:ea typeface="+mj-ea"/>
                <a:cs typeface="Times New Roman" pitchFamily="18" charset="0"/>
              </a:rPr>
              <a:t>The Schedule B is Not</a:t>
            </a:r>
            <a:r>
              <a:rPr kumimoji="0" lang="en-US" sz="2200" i="0" u="none" strike="noStrike" kern="1200" cap="none" spc="0" normalizeH="0" noProof="0" dirty="0">
                <a:ln>
                  <a:noFill/>
                </a:ln>
                <a:effectLst/>
                <a:uLnTx/>
                <a:uFillTx/>
                <a:latin typeface="Times New Roman" pitchFamily="18" charset="0"/>
                <a:ea typeface="+mj-ea"/>
                <a:cs typeface="Times New Roman" pitchFamily="18" charset="0"/>
              </a:rPr>
              <a:t> </a:t>
            </a:r>
            <a:r>
              <a:rPr kumimoji="0" lang="en-US" sz="2200" i="0" u="none" strike="noStrike" kern="1200" cap="none" spc="0" normalizeH="0" baseline="0" noProof="0" dirty="0">
                <a:ln>
                  <a:noFill/>
                </a:ln>
                <a:effectLst/>
                <a:uLnTx/>
                <a:uFillTx/>
                <a:latin typeface="Times New Roman" pitchFamily="18" charset="0"/>
                <a:ea typeface="+mj-ea"/>
                <a:cs typeface="Times New Roman" pitchFamily="18" charset="0"/>
              </a:rPr>
              <a:t>Recoverable.</a:t>
            </a:r>
          </a:p>
          <a:p>
            <a:pPr marL="465138" marR="0" lvl="0" indent="-344488" algn="just" defTabSz="914400" rtl="0" eaLnBrk="1" fontAlgn="auto" latinLnBrk="0" hangingPunct="1">
              <a:lnSpc>
                <a:spcPct val="200000"/>
              </a:lnSpc>
              <a:spcBef>
                <a:spcPct val="0"/>
              </a:spcBef>
              <a:spcAft>
                <a:spcPts val="0"/>
              </a:spcAft>
              <a:buClrTx/>
              <a:buSzTx/>
              <a:buFont typeface="Wingdings" pitchFamily="2" charset="2"/>
              <a:buChar char="v"/>
              <a:tabLst/>
              <a:defRPr/>
            </a:pPr>
            <a:r>
              <a:rPr lang="en-US" sz="2200" dirty="0">
                <a:latin typeface="Times New Roman" pitchFamily="18" charset="0"/>
                <a:ea typeface="+mj-ea"/>
                <a:cs typeface="Times New Roman" pitchFamily="18" charset="0"/>
              </a:rPr>
              <a:t>T2 reads item X from T1.</a:t>
            </a:r>
          </a:p>
          <a:p>
            <a:pPr marL="465138" marR="0" lvl="0" indent="-344488" algn="just" defTabSz="914400" rtl="0" eaLnBrk="1" fontAlgn="auto" latinLnBrk="0" hangingPunct="1">
              <a:lnSpc>
                <a:spcPct val="200000"/>
              </a:lnSpc>
              <a:spcBef>
                <a:spcPct val="0"/>
              </a:spcBef>
              <a:spcAft>
                <a:spcPts val="0"/>
              </a:spcAft>
              <a:buClrTx/>
              <a:buSzTx/>
              <a:buFont typeface="Wingdings" pitchFamily="2" charset="2"/>
              <a:buChar char="v"/>
              <a:tabLst/>
              <a:defRPr/>
            </a:pPr>
            <a:r>
              <a:rPr kumimoji="0" lang="en-US" sz="2200" i="0" u="none" strike="noStrike" kern="1200" cap="none" spc="0" normalizeH="0" baseline="0" noProof="0" dirty="0">
                <a:ln>
                  <a:noFill/>
                </a:ln>
                <a:effectLst/>
                <a:uLnTx/>
                <a:uFillTx/>
                <a:latin typeface="Times New Roman" pitchFamily="18" charset="0"/>
                <a:ea typeface="+mj-ea"/>
                <a:cs typeface="Times New Roman" pitchFamily="18" charset="0"/>
              </a:rPr>
              <a:t>T2 commits before T1 commits.</a:t>
            </a:r>
          </a:p>
          <a:p>
            <a:pPr marL="465138" marR="0" lvl="0" indent="-344488" algn="just" defTabSz="914400" rtl="0" eaLnBrk="1" fontAlgn="auto" latinLnBrk="0" hangingPunct="1">
              <a:lnSpc>
                <a:spcPct val="200000"/>
              </a:lnSpc>
              <a:spcBef>
                <a:spcPct val="0"/>
              </a:spcBef>
              <a:spcAft>
                <a:spcPts val="0"/>
              </a:spcAft>
              <a:buClrTx/>
              <a:buSzTx/>
              <a:buFont typeface="Wingdings" pitchFamily="2" charset="2"/>
              <a:buChar char="v"/>
              <a:tabLst/>
              <a:defRPr/>
            </a:pPr>
            <a:r>
              <a:rPr lang="en-US" sz="2200" dirty="0">
                <a:latin typeface="Times New Roman" pitchFamily="18" charset="0"/>
                <a:ea typeface="+mj-ea"/>
                <a:cs typeface="Times New Roman" pitchFamily="18" charset="0"/>
              </a:rPr>
              <a:t>T1 Aborts after T2 Commits.</a:t>
            </a:r>
          </a:p>
          <a:p>
            <a:pPr marL="465138" marR="0" lvl="0" indent="-344488" algn="just" defTabSz="914400" rtl="0" eaLnBrk="1" fontAlgn="auto" latinLnBrk="0" hangingPunct="1">
              <a:lnSpc>
                <a:spcPct val="200000"/>
              </a:lnSpc>
              <a:spcBef>
                <a:spcPct val="0"/>
              </a:spcBef>
              <a:spcAft>
                <a:spcPts val="0"/>
              </a:spcAft>
              <a:buClrTx/>
              <a:buSzTx/>
              <a:buFont typeface="Wingdings" pitchFamily="2" charset="2"/>
              <a:buChar char="v"/>
              <a:tabLst/>
              <a:defRPr/>
            </a:pPr>
            <a:r>
              <a:rPr kumimoji="0" lang="en-US" sz="2200" i="0" u="none" strike="noStrike" kern="1200" cap="none" spc="0" normalizeH="0" baseline="0" noProof="0" dirty="0">
                <a:ln>
                  <a:noFill/>
                </a:ln>
                <a:effectLst/>
                <a:uLnTx/>
                <a:uFillTx/>
                <a:latin typeface="Times New Roman" pitchFamily="18" charset="0"/>
                <a:ea typeface="+mj-ea"/>
                <a:cs typeface="Times New Roman" pitchFamily="18" charset="0"/>
              </a:rPr>
              <a:t>The value of X that T2 read is no longer valid. </a:t>
            </a:r>
          </a:p>
          <a:p>
            <a:pPr marL="465138" marR="0" lvl="0" indent="-344488" algn="just" defTabSz="914400" rtl="0" eaLnBrk="1" fontAlgn="auto" latinLnBrk="0" hangingPunct="1">
              <a:lnSpc>
                <a:spcPct val="200000"/>
              </a:lnSpc>
              <a:spcBef>
                <a:spcPct val="0"/>
              </a:spcBef>
              <a:spcAft>
                <a:spcPts val="0"/>
              </a:spcAft>
              <a:buClrTx/>
              <a:buSzTx/>
              <a:buFont typeface="Wingdings" pitchFamily="2" charset="2"/>
              <a:buChar char="v"/>
              <a:tabLst/>
              <a:defRPr/>
            </a:pPr>
            <a:r>
              <a:rPr lang="en-US" sz="2200" dirty="0">
                <a:latin typeface="Times New Roman" pitchFamily="18" charset="0"/>
                <a:ea typeface="+mj-ea"/>
                <a:cs typeface="Times New Roman" pitchFamily="18" charset="0"/>
              </a:rPr>
              <a:t>T2 must be Aborted after its Committed.</a:t>
            </a:r>
          </a:p>
          <a:p>
            <a:pPr marL="465138" marR="0" lvl="0" indent="-344488" algn="just" defTabSz="914400" rtl="0" eaLnBrk="1" fontAlgn="auto" latinLnBrk="0" hangingPunct="1">
              <a:lnSpc>
                <a:spcPct val="200000"/>
              </a:lnSpc>
              <a:spcBef>
                <a:spcPct val="0"/>
              </a:spcBef>
              <a:spcAft>
                <a:spcPts val="0"/>
              </a:spcAft>
              <a:buClrTx/>
              <a:buSzTx/>
              <a:buFont typeface="Wingdings" pitchFamily="2" charset="2"/>
              <a:buChar char="v"/>
              <a:tabLst/>
              <a:defRPr/>
            </a:pPr>
            <a:r>
              <a:rPr lang="en-US" sz="2200" dirty="0">
                <a:latin typeface="Times New Roman" pitchFamily="18" charset="0"/>
                <a:ea typeface="+mj-ea"/>
                <a:cs typeface="Times New Roman" pitchFamily="18" charset="0"/>
              </a:rPr>
              <a:t>Leading to schedule that is not recoverable.</a:t>
            </a:r>
            <a:endParaRPr kumimoji="0" lang="en-US" sz="2000" b="1" i="0" u="none" strike="noStrike" kern="1200" cap="none" spc="0" normalizeH="0" baseline="0" noProof="0" dirty="0">
              <a:ln>
                <a:noFill/>
              </a:ln>
              <a:effectLst/>
              <a:uLnTx/>
              <a:uFillTx/>
              <a:latin typeface="Times New Roman" pitchFamily="18" charset="0"/>
              <a:ea typeface="+mj-ea"/>
              <a:cs typeface="Times New Roman" pitchFamily="18" charset="0"/>
            </a:endParaRPr>
          </a:p>
        </p:txBody>
      </p:sp>
      <p:sp>
        <p:nvSpPr>
          <p:cNvPr id="7" name="Title 1"/>
          <p:cNvSpPr txBox="1">
            <a:spLocks/>
          </p:cNvSpPr>
          <p:nvPr/>
        </p:nvSpPr>
        <p:spPr>
          <a:xfrm>
            <a:off x="228600" y="5105400"/>
            <a:ext cx="8458200" cy="914400"/>
          </a:xfrm>
          <a:prstGeom prst="rect">
            <a:avLst/>
          </a:prstGeom>
        </p:spPr>
        <p:txBody>
          <a:bodyPr vert="horz" lIns="91440" tIns="45720" rIns="91440" bIns="45720" rtlCol="0" anchor="ctr">
            <a:noAutofit/>
          </a:bodyPr>
          <a:lstStyle/>
          <a:p>
            <a:pPr marL="0" marR="0" lvl="0" indent="0" defTabSz="914400" rtl="0" eaLnBrk="1" fontAlgn="auto" latinLnBrk="0" hangingPunct="1">
              <a:lnSpc>
                <a:spcPct val="170000"/>
              </a:lnSpc>
              <a:spcBef>
                <a:spcPct val="0"/>
              </a:spcBef>
              <a:spcAft>
                <a:spcPts val="0"/>
              </a:spcAft>
              <a:buClrTx/>
              <a:buSzTx/>
              <a:buFontTx/>
              <a:buNone/>
              <a:tabLst/>
              <a:defRPr/>
            </a:pPr>
            <a:r>
              <a:rPr kumimoji="0" lang="en-US" sz="20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Note</a:t>
            </a:r>
            <a:r>
              <a:rPr kumimoji="0" lang="en-US" sz="2000" b="1" i="0" u="none"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 For the schedule to be recoverable,</a:t>
            </a:r>
            <a:r>
              <a:rPr kumimoji="0" lang="en-US" sz="2000" b="1" i="0" u="none" strike="noStrike" kern="1200" cap="none" spc="0" normalizeH="0" noProof="0" dirty="0">
                <a:ln>
                  <a:noFill/>
                </a:ln>
                <a:solidFill>
                  <a:srgbClr val="002060"/>
                </a:solidFill>
                <a:effectLst/>
                <a:uLnTx/>
                <a:uFillTx/>
                <a:latin typeface="Times New Roman" pitchFamily="18" charset="0"/>
                <a:ea typeface="+mj-ea"/>
                <a:cs typeface="Times New Roman" pitchFamily="18" charset="0"/>
              </a:rPr>
              <a:t> the T2 Commit operation in Schedule B must be postponed until T1 Commits.</a:t>
            </a:r>
            <a:r>
              <a:rPr kumimoji="0" lang="en-US" sz="2000" b="1" i="0" u="none"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 calcmode="lin" valueType="num">
                                      <p:cBhvr additive="base">
                                        <p:cTn id="3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 calcmode="lin" valueType="num">
                                      <p:cBhvr additive="base">
                                        <p:cTn id="37"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anim calcmode="lin" valueType="num">
                                      <p:cBhvr additive="base">
                                        <p:cTn id="43"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
                                            <p:txEl>
                                              <p:pRg st="0" end="0"/>
                                            </p:txEl>
                                          </p:spTgt>
                                        </p:tgtEl>
                                        <p:attrNameLst>
                                          <p:attrName>style.visibility</p:attrName>
                                        </p:attrNameLst>
                                      </p:cBhvr>
                                      <p:to>
                                        <p:strVal val="visible"/>
                                      </p:to>
                                    </p:set>
                                    <p:anim calcmode="lin" valueType="num">
                                      <p:cBhvr additive="base">
                                        <p:cTn id="49"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sz="3600" b="1" dirty="0">
                <a:solidFill>
                  <a:srgbClr val="FF0000"/>
                </a:solidFill>
                <a:latin typeface="Times New Roman" pitchFamily="18" charset="0"/>
                <a:cs typeface="Times New Roman" pitchFamily="18" charset="0"/>
              </a:rPr>
              <a:t>SCHEDULES BASED ON RECOVERY</a:t>
            </a:r>
          </a:p>
        </p:txBody>
      </p:sp>
      <p:graphicFrame>
        <p:nvGraphicFramePr>
          <p:cNvPr id="4" name="Content Placeholder 3"/>
          <p:cNvGraphicFramePr>
            <a:graphicFrameLocks noGrp="1"/>
          </p:cNvGraphicFramePr>
          <p:nvPr>
            <p:ph idx="1"/>
          </p:nvPr>
        </p:nvGraphicFramePr>
        <p:xfrm>
          <a:off x="304800" y="1600200"/>
          <a:ext cx="3733800" cy="3337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370840">
                <a:tc>
                  <a:txBody>
                    <a:bodyPr/>
                    <a:lstStyle/>
                    <a:p>
                      <a:pPr algn="ctr"/>
                      <a:r>
                        <a:rPr lang="en-US" b="1" dirty="0">
                          <a:solidFill>
                            <a:srgbClr val="FF000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FF000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r>
                        <a:rPr lang="en-US" b="1" dirty="0">
                          <a:solidFill>
                            <a:srgbClr val="002060"/>
                          </a:solidFill>
                          <a:latin typeface="Times New Roman" pitchFamily="18" charset="0"/>
                          <a:cs typeface="Times New Roman" pitchFamily="18" charset="0"/>
                        </a:rPr>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r>
                        <a:rPr lang="en-US" b="1" dirty="0">
                          <a:solidFill>
                            <a:srgbClr val="002060"/>
                          </a:solidFill>
                          <a:latin typeface="Times New Roman" pitchFamily="18" charset="0"/>
                          <a:cs typeface="Times New Roman" pitchFamily="18" charset="0"/>
                        </a:rPr>
                        <a:t>Write(Y)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r>
                        <a:rPr lang="en-US" b="1" dirty="0">
                          <a:solidFill>
                            <a:srgbClr val="002060"/>
                          </a:solidFill>
                          <a:latin typeface="Times New Roman" pitchFamily="18" charset="0"/>
                          <a:cs typeface="Times New Roman" pitchFamily="18" charset="0"/>
                        </a:rPr>
                        <a:t>Commit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solidFill>
                            <a:srgbClr val="002060"/>
                          </a:solidFill>
                          <a:latin typeface="Times New Roman" pitchFamily="18" charset="0"/>
                          <a:cs typeface="Times New Roman" pitchFamily="18" charset="0"/>
                        </a:rPr>
                        <a:t>Commit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5" name="Title 1"/>
          <p:cNvSpPr txBox="1">
            <a:spLocks/>
          </p:cNvSpPr>
          <p:nvPr/>
        </p:nvSpPr>
        <p:spPr>
          <a:xfrm>
            <a:off x="304800" y="1066800"/>
            <a:ext cx="28194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SCHEDULE C</a:t>
            </a:r>
          </a:p>
        </p:txBody>
      </p:sp>
      <p:sp>
        <p:nvSpPr>
          <p:cNvPr id="6" name="Title 1"/>
          <p:cNvSpPr txBox="1">
            <a:spLocks/>
          </p:cNvSpPr>
          <p:nvPr/>
        </p:nvSpPr>
        <p:spPr>
          <a:xfrm>
            <a:off x="4343400" y="990600"/>
            <a:ext cx="4648200" cy="2514600"/>
          </a:xfrm>
          <a:prstGeom prst="rect">
            <a:avLst/>
          </a:prstGeom>
        </p:spPr>
        <p:txBody>
          <a:bodyPr vert="horz" lIns="91440" tIns="45720" rIns="91440" bIns="45720" rtlCol="0" anchor="ctr">
            <a:noAutofit/>
          </a:bodyPr>
          <a:lstStyle/>
          <a:p>
            <a:pPr marL="0" marR="0" lvl="0" indent="0" algn="just" defTabSz="914400" rtl="0" eaLnBrk="1" fontAlgn="auto" latinLnBrk="0" hangingPunct="1">
              <a:lnSpc>
                <a:spcPct val="150000"/>
              </a:lnSpc>
              <a:spcBef>
                <a:spcPct val="0"/>
              </a:spcBef>
              <a:spcAft>
                <a:spcPts val="0"/>
              </a:spcAft>
              <a:buClrTx/>
              <a:buSzTx/>
              <a:buFont typeface="Wingdings" pitchFamily="2" charset="2"/>
              <a:buChar char="v"/>
              <a:tabLst/>
              <a:defRPr/>
            </a:pPr>
            <a:r>
              <a:rPr kumimoji="0" lang="en-US" sz="2400" i="0" u="none"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The Schedule C is </a:t>
            </a:r>
            <a:r>
              <a:rPr kumimoji="0" lang="en-US" sz="2400"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Recoverable</a:t>
            </a:r>
            <a:r>
              <a:rPr kumimoji="0" lang="en-US" sz="2400" i="0" u="none"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a:t>
            </a:r>
          </a:p>
          <a:p>
            <a:pPr marL="0" marR="0" lvl="0" indent="0" algn="just" defTabSz="914400" rtl="0" eaLnBrk="1" fontAlgn="auto" latinLnBrk="0" hangingPunct="1">
              <a:lnSpc>
                <a:spcPct val="150000"/>
              </a:lnSpc>
              <a:spcBef>
                <a:spcPct val="0"/>
              </a:spcBef>
              <a:spcAft>
                <a:spcPts val="0"/>
              </a:spcAft>
              <a:buClrTx/>
              <a:buSzTx/>
              <a:buFont typeface="Wingdings" pitchFamily="2" charset="2"/>
              <a:buChar char="v"/>
              <a:tabLst/>
              <a:defRPr/>
            </a:pPr>
            <a:r>
              <a:rPr lang="en-US" sz="2400" dirty="0">
                <a:solidFill>
                  <a:srgbClr val="002060"/>
                </a:solidFill>
                <a:latin typeface="Times New Roman" pitchFamily="18" charset="0"/>
                <a:ea typeface="+mj-ea"/>
                <a:cs typeface="Times New Roman" pitchFamily="18" charset="0"/>
              </a:rPr>
              <a:t>T2 reads item X from T1.</a:t>
            </a:r>
          </a:p>
          <a:p>
            <a:pPr marL="0" marR="0" lvl="0" indent="0" algn="just" defTabSz="914400" rtl="0" eaLnBrk="1" fontAlgn="auto" latinLnBrk="0" hangingPunct="1">
              <a:lnSpc>
                <a:spcPct val="150000"/>
              </a:lnSpc>
              <a:spcBef>
                <a:spcPct val="0"/>
              </a:spcBef>
              <a:spcAft>
                <a:spcPts val="0"/>
              </a:spcAft>
              <a:buClrTx/>
              <a:buSzTx/>
              <a:buFont typeface="Wingdings" pitchFamily="2" charset="2"/>
              <a:buChar char="v"/>
              <a:tabLst/>
              <a:defRPr/>
            </a:pPr>
            <a:r>
              <a:rPr kumimoji="0" lang="en-US" sz="2400" i="0" u="none"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T2 commits after T1 commits.</a:t>
            </a:r>
            <a:endPar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sz="3600" b="1" dirty="0">
                <a:solidFill>
                  <a:srgbClr val="FF0000"/>
                </a:solidFill>
                <a:latin typeface="Times New Roman" pitchFamily="18" charset="0"/>
                <a:cs typeface="Times New Roman" pitchFamily="18" charset="0"/>
              </a:rPr>
              <a:t>SCHEDULES BASED ON RECOVERY</a:t>
            </a:r>
          </a:p>
        </p:txBody>
      </p:sp>
      <p:graphicFrame>
        <p:nvGraphicFramePr>
          <p:cNvPr id="4" name="Content Placeholder 3"/>
          <p:cNvGraphicFramePr>
            <a:graphicFrameLocks noGrp="1"/>
          </p:cNvGraphicFramePr>
          <p:nvPr>
            <p:ph idx="1"/>
          </p:nvPr>
        </p:nvGraphicFramePr>
        <p:xfrm>
          <a:off x="228600" y="1371600"/>
          <a:ext cx="3276600" cy="333756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tblGrid>
              <a:tr h="370840">
                <a:tc>
                  <a:txBody>
                    <a:bodyPr/>
                    <a:lstStyle/>
                    <a:p>
                      <a:pPr algn="ctr"/>
                      <a:r>
                        <a:rPr lang="en-US" b="1" dirty="0">
                          <a:solidFill>
                            <a:srgbClr val="FF000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rgbClr val="FF000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solidFill>
                            <a:srgbClr val="002060"/>
                          </a:solidFill>
                          <a:latin typeface="Times New Roman" pitchFamily="18" charset="0"/>
                          <a:cs typeface="Times New Roman" pitchFamily="18" charset="0"/>
                        </a:rPr>
                        <a:t>Read(X)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r>
                        <a:rPr lang="en-US" b="1" dirty="0">
                          <a:solidFill>
                            <a:srgbClr val="002060"/>
                          </a:solidFill>
                          <a:latin typeface="Times New Roman" pitchFamily="18" charset="0"/>
                          <a:cs typeface="Times New Roman" pitchFamily="18" charset="0"/>
                        </a:rPr>
                        <a:t>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endParaRPr lang="en-US"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solidFill>
                            <a:srgbClr val="002060"/>
                          </a:solidFill>
                          <a:latin typeface="Times New Roman" pitchFamily="18" charset="0"/>
                          <a:cs typeface="Times New Roman" pitchFamily="18" charset="0"/>
                        </a:rPr>
                        <a:t>Write(X)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r>
                        <a:rPr lang="en-US" b="1" dirty="0">
                          <a:solidFill>
                            <a:srgbClr val="002060"/>
                          </a:solidFill>
                          <a:latin typeface="Times New Roman" pitchFamily="18" charset="0"/>
                          <a:cs typeface="Times New Roman" pitchFamily="18" charset="0"/>
                        </a:rPr>
                        <a:t>Write(Y)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r>
                        <a:rPr lang="en-US" b="1" dirty="0">
                          <a:solidFill>
                            <a:srgbClr val="002060"/>
                          </a:solidFill>
                          <a:latin typeface="Times New Roman" pitchFamily="18" charset="0"/>
                          <a:cs typeface="Times New Roman" pitchFamily="18" charset="0"/>
                        </a:rPr>
                        <a:t>Abort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solidFill>
                            <a:srgbClr val="002060"/>
                          </a:solidFill>
                          <a:latin typeface="Times New Roman" pitchFamily="18" charset="0"/>
                          <a:cs typeface="Times New Roman" pitchFamily="18" charset="0"/>
                        </a:rPr>
                        <a:t>Abort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5" name="Title 1"/>
          <p:cNvSpPr txBox="1">
            <a:spLocks/>
          </p:cNvSpPr>
          <p:nvPr/>
        </p:nvSpPr>
        <p:spPr>
          <a:xfrm>
            <a:off x="228600" y="838200"/>
            <a:ext cx="28194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SCHEDULE D</a:t>
            </a:r>
          </a:p>
        </p:txBody>
      </p:sp>
      <p:sp>
        <p:nvSpPr>
          <p:cNvPr id="6" name="Title 1"/>
          <p:cNvSpPr txBox="1">
            <a:spLocks/>
          </p:cNvSpPr>
          <p:nvPr/>
        </p:nvSpPr>
        <p:spPr>
          <a:xfrm>
            <a:off x="3733800" y="990600"/>
            <a:ext cx="5181600" cy="3810000"/>
          </a:xfrm>
          <a:prstGeom prst="rect">
            <a:avLst/>
          </a:prstGeom>
        </p:spPr>
        <p:txBody>
          <a:bodyPr vert="horz" lIns="91440" tIns="45720" rIns="91440" bIns="45720" rtlCol="0" anchor="ctr">
            <a:normAutofit/>
          </a:bodyPr>
          <a:lstStyle/>
          <a:p>
            <a:pPr marL="465138" marR="0" lvl="0" indent="-465138" algn="just" defTabSz="914400" rtl="0" eaLnBrk="1" fontAlgn="auto" latinLnBrk="0" hangingPunct="1">
              <a:lnSpc>
                <a:spcPct val="150000"/>
              </a:lnSpc>
              <a:spcBef>
                <a:spcPct val="0"/>
              </a:spcBef>
              <a:spcAft>
                <a:spcPts val="0"/>
              </a:spcAft>
              <a:buClrTx/>
              <a:buSzTx/>
              <a:buFont typeface="Wingdings" pitchFamily="2" charset="2"/>
              <a:buChar char="v"/>
              <a:tabLst/>
              <a:defRPr/>
            </a:pPr>
            <a:r>
              <a:rPr kumimoji="0" lang="en-US" sz="2400" i="0" u="none"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The Schedule D is </a:t>
            </a:r>
            <a:r>
              <a:rPr kumimoji="0" lang="en-US" sz="2400"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Recoverable</a:t>
            </a:r>
            <a:r>
              <a:rPr kumimoji="0" lang="en-US" sz="2400" i="0" u="none"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a:t>
            </a:r>
          </a:p>
          <a:p>
            <a:pPr marL="465138" marR="0" lvl="0" indent="-465138" algn="just" defTabSz="914400" rtl="0" eaLnBrk="1" fontAlgn="auto" latinLnBrk="0" hangingPunct="1">
              <a:lnSpc>
                <a:spcPct val="150000"/>
              </a:lnSpc>
              <a:spcBef>
                <a:spcPct val="0"/>
              </a:spcBef>
              <a:spcAft>
                <a:spcPts val="0"/>
              </a:spcAft>
              <a:buClrTx/>
              <a:buSzTx/>
              <a:buFont typeface="Wingdings" pitchFamily="2" charset="2"/>
              <a:buChar char="v"/>
              <a:tabLst/>
              <a:defRPr/>
            </a:pPr>
            <a:r>
              <a:rPr lang="en-US" sz="2400" dirty="0">
                <a:solidFill>
                  <a:srgbClr val="002060"/>
                </a:solidFill>
                <a:latin typeface="Times New Roman" pitchFamily="18" charset="0"/>
                <a:ea typeface="+mj-ea"/>
                <a:cs typeface="Times New Roman" pitchFamily="18" charset="0"/>
              </a:rPr>
              <a:t>T2 reads item X from T1.</a:t>
            </a:r>
          </a:p>
          <a:p>
            <a:pPr marL="465138" marR="0" lvl="0" indent="-465138" algn="just" defTabSz="914400" rtl="0" eaLnBrk="1" fontAlgn="auto" latinLnBrk="0" hangingPunct="1">
              <a:lnSpc>
                <a:spcPct val="150000"/>
              </a:lnSpc>
              <a:spcBef>
                <a:spcPct val="0"/>
              </a:spcBef>
              <a:spcAft>
                <a:spcPts val="0"/>
              </a:spcAft>
              <a:buClrTx/>
              <a:buSzTx/>
              <a:buFont typeface="Wingdings" pitchFamily="2" charset="2"/>
              <a:buChar char="v"/>
              <a:tabLst/>
              <a:defRPr/>
            </a:pPr>
            <a:r>
              <a:rPr kumimoji="0" lang="en-US" sz="2400" i="0" u="none"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T1 Aborts instead of Committing, Then T2 Should also Abort.</a:t>
            </a:r>
          </a:p>
          <a:p>
            <a:pPr marL="465138" marR="0" lvl="0" indent="-465138" algn="just" defTabSz="914400" rtl="0" eaLnBrk="1" fontAlgn="auto" latinLnBrk="0" hangingPunct="1">
              <a:lnSpc>
                <a:spcPct val="150000"/>
              </a:lnSpc>
              <a:spcBef>
                <a:spcPct val="0"/>
              </a:spcBef>
              <a:spcAft>
                <a:spcPts val="0"/>
              </a:spcAft>
              <a:buClrTx/>
              <a:buSzTx/>
              <a:buFont typeface="Wingdings" pitchFamily="2" charset="2"/>
              <a:buChar char="v"/>
              <a:tabLst/>
              <a:defRPr/>
            </a:pPr>
            <a:r>
              <a:rPr lang="en-US" sz="2400" dirty="0">
                <a:solidFill>
                  <a:srgbClr val="002060"/>
                </a:solidFill>
                <a:latin typeface="Times New Roman" pitchFamily="18" charset="0"/>
                <a:ea typeface="+mj-ea"/>
                <a:cs typeface="Times New Roman" pitchFamily="18" charset="0"/>
              </a:rPr>
              <a:t>Because the value of X it read is no longer valid</a:t>
            </a:r>
            <a:endParaRPr kumimoji="0" lang="en-US" sz="2400" i="0" u="none"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57400"/>
            <a:ext cx="9144000" cy="1676400"/>
          </a:xfrm>
        </p:spPr>
        <p:txBody>
          <a:bodyPr>
            <a:normAutofit/>
          </a:bodyPr>
          <a:lstStyle/>
          <a:p>
            <a:r>
              <a:rPr lang="en-US" sz="3600" b="1" dirty="0">
                <a:solidFill>
                  <a:srgbClr val="FF0000"/>
                </a:solidFill>
                <a:latin typeface="Times New Roman" pitchFamily="18" charset="0"/>
                <a:cs typeface="Times New Roman" pitchFamily="18" charset="0"/>
              </a:rPr>
              <a:t>RECOVERABLE SCHEDULES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sz="3600" b="1" dirty="0">
                <a:solidFill>
                  <a:srgbClr val="FF0000"/>
                </a:solidFill>
                <a:latin typeface="Times New Roman" pitchFamily="18" charset="0"/>
                <a:cs typeface="Times New Roman" pitchFamily="18" charset="0"/>
              </a:rPr>
              <a:t>RECOVERABLE SCHEDULES</a:t>
            </a:r>
          </a:p>
        </p:txBody>
      </p:sp>
      <p:sp>
        <p:nvSpPr>
          <p:cNvPr id="4" name="Rectangle 3"/>
          <p:cNvSpPr/>
          <p:nvPr/>
        </p:nvSpPr>
        <p:spPr>
          <a:xfrm>
            <a:off x="0" y="914400"/>
            <a:ext cx="9144000" cy="3139321"/>
          </a:xfrm>
          <a:prstGeom prst="rect">
            <a:avLst/>
          </a:prstGeom>
        </p:spPr>
        <p:txBody>
          <a:bodyPr wrap="square">
            <a:spAutoFit/>
          </a:bodyPr>
          <a:lstStyle/>
          <a:p>
            <a:pPr algn="just" fontAlgn="base">
              <a:lnSpc>
                <a:spcPct val="150000"/>
              </a:lnSpc>
            </a:pPr>
            <a:r>
              <a:rPr lang="en-US" sz="2200" dirty="0">
                <a:solidFill>
                  <a:srgbClr val="002060"/>
                </a:solidFill>
                <a:latin typeface="Times New Roman" pitchFamily="18" charset="0"/>
                <a:cs typeface="Times New Roman" pitchFamily="18" charset="0"/>
              </a:rPr>
              <a:t>If in a schedule,</a:t>
            </a:r>
          </a:p>
          <a:p>
            <a:pPr marL="344488" indent="-344488" algn="just" fontAlgn="base">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A transaction performs a dirty read operation from an uncommitted transaction</a:t>
            </a:r>
          </a:p>
          <a:p>
            <a:pPr marL="344488" indent="-344488" algn="just" fontAlgn="base">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And its commit operation is delayed till the uncommitted transaction either commits or roll backs</a:t>
            </a:r>
          </a:p>
          <a:p>
            <a:pPr marL="344488" indent="-344488" algn="just" fontAlgn="base">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then such a schedule is called as a </a:t>
            </a:r>
            <a:r>
              <a:rPr lang="en-US" sz="2200" b="1" dirty="0">
                <a:solidFill>
                  <a:srgbClr val="FF0000"/>
                </a:solidFill>
                <a:latin typeface="Times New Roman" pitchFamily="18" charset="0"/>
                <a:cs typeface="Times New Roman" pitchFamily="18" charset="0"/>
              </a:rPr>
              <a:t>Recoverable Schedule</a:t>
            </a:r>
            <a:r>
              <a:rPr lang="en-US" sz="2200" dirty="0">
                <a:solidFill>
                  <a:srgbClr val="FF0000"/>
                </a:solidFill>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sz="3600" b="1" dirty="0">
                <a:solidFill>
                  <a:srgbClr val="FF0000"/>
                </a:solidFill>
                <a:latin typeface="Times New Roman" pitchFamily="18" charset="0"/>
                <a:cs typeface="Times New Roman" pitchFamily="18" charset="0"/>
              </a:rPr>
              <a:t>RECOVERABLE SCHEDULES</a:t>
            </a:r>
          </a:p>
        </p:txBody>
      </p:sp>
      <p:pic>
        <p:nvPicPr>
          <p:cNvPr id="202754" name="Picture 2"/>
          <p:cNvPicPr>
            <a:picLocks noChangeAspect="1" noChangeArrowheads="1"/>
          </p:cNvPicPr>
          <p:nvPr/>
        </p:nvPicPr>
        <p:blipFill>
          <a:blip r:embed="rId2">
            <a:lum bright="-20000" contrast="40000"/>
          </a:blip>
          <a:srcRect/>
          <a:stretch>
            <a:fillRect/>
          </a:stretch>
        </p:blipFill>
        <p:spPr bwMode="auto">
          <a:xfrm>
            <a:off x="762000" y="1752600"/>
            <a:ext cx="7629525" cy="2514600"/>
          </a:xfrm>
          <a:prstGeom prst="rect">
            <a:avLst/>
          </a:prstGeom>
          <a:noFill/>
          <a:ln w="9525">
            <a:noFill/>
            <a:miter lim="800000"/>
            <a:headEnd/>
            <a:tailEnd/>
          </a:ln>
          <a:effec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sz="3600" b="1" dirty="0">
                <a:solidFill>
                  <a:srgbClr val="FF0000"/>
                </a:solidFill>
                <a:latin typeface="Times New Roman" pitchFamily="18" charset="0"/>
                <a:cs typeface="Times New Roman" pitchFamily="18" charset="0"/>
              </a:rPr>
              <a:t>Types of Recoverable Schedules</a:t>
            </a:r>
          </a:p>
        </p:txBody>
      </p:sp>
      <p:sp>
        <p:nvSpPr>
          <p:cNvPr id="5" name="Rectangle 4"/>
          <p:cNvSpPr/>
          <p:nvPr/>
        </p:nvSpPr>
        <p:spPr>
          <a:xfrm>
            <a:off x="0" y="685800"/>
            <a:ext cx="9144000" cy="4216539"/>
          </a:xfrm>
          <a:prstGeom prst="rect">
            <a:avLst/>
          </a:prstGeom>
        </p:spPr>
        <p:txBody>
          <a:bodyPr wrap="square">
            <a:spAutoFit/>
          </a:bodyPr>
          <a:lstStyle/>
          <a:p>
            <a:pPr algn="ctr" fontAlgn="base">
              <a:lnSpc>
                <a:spcPct val="200000"/>
              </a:lnSpc>
            </a:pPr>
            <a:r>
              <a:rPr lang="en-US" sz="2400" b="1" dirty="0">
                <a:solidFill>
                  <a:srgbClr val="FF0000"/>
                </a:solidFill>
                <a:latin typeface="Times New Roman" pitchFamily="18" charset="0"/>
                <a:cs typeface="Times New Roman" pitchFamily="18" charset="0"/>
              </a:rPr>
              <a:t>I. </a:t>
            </a:r>
            <a:r>
              <a:rPr lang="en-US" sz="2400" b="1" u="sng" dirty="0">
                <a:solidFill>
                  <a:srgbClr val="FF0000"/>
                </a:solidFill>
                <a:latin typeface="Times New Roman" pitchFamily="18" charset="0"/>
                <a:cs typeface="Times New Roman" pitchFamily="18" charset="0"/>
              </a:rPr>
              <a:t>Cascading Schedule-</a:t>
            </a:r>
            <a:endParaRPr lang="en-US" sz="2400" b="1" dirty="0">
              <a:solidFill>
                <a:srgbClr val="FF0000"/>
              </a:solidFill>
              <a:latin typeface="Times New Roman" pitchFamily="18" charset="0"/>
              <a:cs typeface="Times New Roman" pitchFamily="18" charset="0"/>
            </a:endParaRPr>
          </a:p>
          <a:p>
            <a:pPr marL="344488" indent="-344488" algn="just" fontAlgn="base">
              <a:lnSpc>
                <a:spcPct val="200000"/>
              </a:lnSpc>
              <a:buClr>
                <a:srgbClr val="FF0000"/>
              </a:buClr>
            </a:pPr>
            <a:r>
              <a:rPr lang="en-US" sz="2200" dirty="0">
                <a:solidFill>
                  <a:srgbClr val="002060"/>
                </a:solidFill>
                <a:latin typeface="Times New Roman" pitchFamily="18" charset="0"/>
                <a:cs typeface="Times New Roman" pitchFamily="18" charset="0"/>
              </a:rPr>
              <a:t>If in a schedule, </a:t>
            </a:r>
          </a:p>
          <a:p>
            <a:pPr marL="344488" indent="-344488" algn="just" fontAlgn="base">
              <a:lnSpc>
                <a:spcPct val="20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failure of one transaction causes several other dependent transactions to rollback or abort, then such a schedule is called as a </a:t>
            </a:r>
            <a:r>
              <a:rPr lang="en-US" sz="2200" b="1" dirty="0">
                <a:solidFill>
                  <a:srgbClr val="FF0000"/>
                </a:solidFill>
                <a:latin typeface="Times New Roman" pitchFamily="18" charset="0"/>
                <a:cs typeface="Times New Roman" pitchFamily="18" charset="0"/>
              </a:rPr>
              <a:t>Cascading Schedule</a:t>
            </a:r>
            <a:r>
              <a:rPr lang="en-US" sz="2200" dirty="0">
                <a:solidFill>
                  <a:srgbClr val="002060"/>
                </a:solidFill>
                <a:latin typeface="Times New Roman" pitchFamily="18" charset="0"/>
                <a:cs typeface="Times New Roman" pitchFamily="18" charset="0"/>
              </a:rPr>
              <a:t> or </a:t>
            </a:r>
            <a:r>
              <a:rPr lang="en-US" sz="2200" b="1" dirty="0">
                <a:solidFill>
                  <a:srgbClr val="FF0000"/>
                </a:solidFill>
                <a:latin typeface="Times New Roman" pitchFamily="18" charset="0"/>
                <a:cs typeface="Times New Roman" pitchFamily="18" charset="0"/>
              </a:rPr>
              <a:t>Cascading Rollback</a:t>
            </a:r>
            <a:r>
              <a:rPr lang="en-US" sz="2200" dirty="0">
                <a:solidFill>
                  <a:srgbClr val="002060"/>
                </a:solidFill>
                <a:latin typeface="Times New Roman" pitchFamily="18" charset="0"/>
                <a:cs typeface="Times New Roman" pitchFamily="18" charset="0"/>
              </a:rPr>
              <a:t> or </a:t>
            </a:r>
            <a:r>
              <a:rPr lang="en-US" sz="2200" b="1" dirty="0">
                <a:solidFill>
                  <a:srgbClr val="FF0000"/>
                </a:solidFill>
                <a:latin typeface="Times New Roman" pitchFamily="18" charset="0"/>
                <a:cs typeface="Times New Roman" pitchFamily="18" charset="0"/>
              </a:rPr>
              <a:t>Cascading Abort</a:t>
            </a:r>
            <a:r>
              <a:rPr lang="en-US" sz="2200" dirty="0">
                <a:solidFill>
                  <a:srgbClr val="002060"/>
                </a:solidFill>
                <a:latin typeface="Times New Roman" pitchFamily="18" charset="0"/>
                <a:cs typeface="Times New Roman" pitchFamily="18" charset="0"/>
              </a:rPr>
              <a:t>.</a:t>
            </a:r>
          </a:p>
          <a:p>
            <a:pPr marL="344488" indent="-344488" algn="just" fontAlgn="base">
              <a:lnSpc>
                <a:spcPct val="20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It simply leads to the wastage of CPU 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 calcmode="lin" valueType="num">
                                      <p:cBhvr additive="base">
                                        <p:cTn id="2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sz="3600" b="1" dirty="0">
                <a:solidFill>
                  <a:srgbClr val="FF0000"/>
                </a:solidFill>
                <a:latin typeface="Times New Roman" pitchFamily="18" charset="0"/>
                <a:cs typeface="Times New Roman" pitchFamily="18" charset="0"/>
              </a:rPr>
              <a:t>Types of Recoverable Schedules</a:t>
            </a:r>
          </a:p>
        </p:txBody>
      </p:sp>
      <p:sp>
        <p:nvSpPr>
          <p:cNvPr id="5" name="Rectangle 4"/>
          <p:cNvSpPr/>
          <p:nvPr/>
        </p:nvSpPr>
        <p:spPr>
          <a:xfrm>
            <a:off x="0" y="762000"/>
            <a:ext cx="9144000" cy="579967"/>
          </a:xfrm>
          <a:prstGeom prst="rect">
            <a:avLst/>
          </a:prstGeom>
        </p:spPr>
        <p:txBody>
          <a:bodyPr wrap="square">
            <a:spAutoFit/>
          </a:bodyPr>
          <a:lstStyle/>
          <a:p>
            <a:pPr algn="just" fontAlgn="base">
              <a:lnSpc>
                <a:spcPct val="150000"/>
              </a:lnSpc>
            </a:pPr>
            <a:r>
              <a:rPr lang="en-US" sz="2400" b="1" dirty="0">
                <a:solidFill>
                  <a:srgbClr val="FF0000"/>
                </a:solidFill>
                <a:latin typeface="Times New Roman" pitchFamily="18" charset="0"/>
                <a:cs typeface="Times New Roman" pitchFamily="18" charset="0"/>
              </a:rPr>
              <a:t>I. </a:t>
            </a:r>
            <a:r>
              <a:rPr lang="en-US" sz="2400" b="1" u="sng" dirty="0">
                <a:solidFill>
                  <a:srgbClr val="FF0000"/>
                </a:solidFill>
                <a:latin typeface="Times New Roman" pitchFamily="18" charset="0"/>
                <a:cs typeface="Times New Roman" pitchFamily="18" charset="0"/>
              </a:rPr>
              <a:t>Cascading Schedule-</a:t>
            </a:r>
            <a:endParaRPr lang="en-US" sz="2400" b="1" dirty="0">
              <a:solidFill>
                <a:srgbClr val="FF0000"/>
              </a:solidFill>
              <a:latin typeface="Times New Roman" pitchFamily="18" charset="0"/>
              <a:cs typeface="Times New Roman" pitchFamily="18" charset="0"/>
            </a:endParaRPr>
          </a:p>
        </p:txBody>
      </p:sp>
      <p:pic>
        <p:nvPicPr>
          <p:cNvPr id="209922" name="Picture 2" descr="G:\VTU NOTES\2018-19 SUMMER SEMESTER\DBMS 2018-19 SUMMER\DBMS UNIT IV\New folder\images\Cascading-Schedule-Cascading-Rollback-Cascading-Abort-1.png"/>
          <p:cNvPicPr>
            <a:picLocks noChangeAspect="1" noChangeArrowheads="1"/>
          </p:cNvPicPr>
          <p:nvPr/>
        </p:nvPicPr>
        <p:blipFill>
          <a:blip r:embed="rId2">
            <a:lum bright="-20000" contrast="40000"/>
          </a:blip>
          <a:srcRect/>
          <a:stretch>
            <a:fillRect/>
          </a:stretch>
        </p:blipFill>
        <p:spPr bwMode="auto">
          <a:xfrm>
            <a:off x="228601" y="1600200"/>
            <a:ext cx="3809999" cy="4267200"/>
          </a:xfrm>
          <a:prstGeom prst="rect">
            <a:avLst/>
          </a:prstGeom>
          <a:noFill/>
          <a:ln w="28575">
            <a:solidFill>
              <a:schemeClr val="tx1"/>
            </a:solidFill>
          </a:ln>
        </p:spPr>
      </p:pic>
      <p:sp>
        <p:nvSpPr>
          <p:cNvPr id="6" name="Rectangle 5"/>
          <p:cNvSpPr/>
          <p:nvPr/>
        </p:nvSpPr>
        <p:spPr>
          <a:xfrm>
            <a:off x="4038600" y="762000"/>
            <a:ext cx="5105400" cy="6093976"/>
          </a:xfrm>
          <a:prstGeom prst="rect">
            <a:avLst/>
          </a:prstGeom>
          <a:ln w="19050">
            <a:solidFill>
              <a:schemeClr val="tx1"/>
            </a:solidFill>
          </a:ln>
        </p:spPr>
        <p:txBody>
          <a:bodyPr wrap="square">
            <a:spAutoFit/>
          </a:bodyPr>
          <a:lstStyle/>
          <a:p>
            <a:pPr algn="just" fontAlgn="base">
              <a:lnSpc>
                <a:spcPct val="150000"/>
              </a:lnSpc>
            </a:pPr>
            <a:r>
              <a:rPr lang="fr-FR" sz="2000" dirty="0">
                <a:solidFill>
                  <a:srgbClr val="002060"/>
                </a:solidFill>
                <a:latin typeface="Times New Roman" pitchFamily="18" charset="0"/>
                <a:cs typeface="Times New Roman" pitchFamily="18" charset="0"/>
              </a:rPr>
              <a:t>Hère,</a:t>
            </a:r>
          </a:p>
          <a:p>
            <a:pPr algn="just" fontAlgn="base">
              <a:lnSpc>
                <a:spcPct val="150000"/>
              </a:lnSpc>
              <a:buClr>
                <a:srgbClr val="FF0000"/>
              </a:buClr>
              <a:buFont typeface="Wingdings" pitchFamily="2" charset="2"/>
              <a:buChar char="v"/>
            </a:pPr>
            <a:r>
              <a:rPr lang="fr-FR" sz="2000" dirty="0">
                <a:solidFill>
                  <a:srgbClr val="002060"/>
                </a:solidFill>
                <a:latin typeface="Times New Roman" pitchFamily="18" charset="0"/>
                <a:cs typeface="Times New Roman" pitchFamily="18" charset="0"/>
              </a:rPr>
              <a:t>Transaction T2 dépends on transaction T1.</a:t>
            </a:r>
          </a:p>
          <a:p>
            <a:pPr algn="just" fontAlgn="base">
              <a:lnSpc>
                <a:spcPct val="150000"/>
              </a:lnSpc>
              <a:buClr>
                <a:srgbClr val="FF0000"/>
              </a:buClr>
              <a:buFont typeface="Wingdings" pitchFamily="2" charset="2"/>
              <a:buChar char="v"/>
            </a:pPr>
            <a:r>
              <a:rPr lang="fr-FR" sz="2000" dirty="0">
                <a:solidFill>
                  <a:srgbClr val="002060"/>
                </a:solidFill>
                <a:latin typeface="Times New Roman" pitchFamily="18" charset="0"/>
                <a:cs typeface="Times New Roman" pitchFamily="18" charset="0"/>
              </a:rPr>
              <a:t>Transaction T3 dépends on transaction T2.</a:t>
            </a:r>
          </a:p>
          <a:p>
            <a:pPr algn="just" fontAlgn="base">
              <a:lnSpc>
                <a:spcPct val="150000"/>
              </a:lnSpc>
              <a:buClr>
                <a:srgbClr val="FF0000"/>
              </a:buClr>
              <a:buFont typeface="Wingdings" pitchFamily="2" charset="2"/>
              <a:buChar char="v"/>
            </a:pPr>
            <a:r>
              <a:rPr lang="fr-FR" sz="2000" dirty="0">
                <a:solidFill>
                  <a:srgbClr val="002060"/>
                </a:solidFill>
                <a:latin typeface="Times New Roman" pitchFamily="18" charset="0"/>
                <a:cs typeface="Times New Roman" pitchFamily="18" charset="0"/>
              </a:rPr>
              <a:t>Transaction T4 dépends on transaction T3.</a:t>
            </a:r>
          </a:p>
          <a:p>
            <a:pPr algn="just" fontAlgn="base">
              <a:lnSpc>
                <a:spcPct val="150000"/>
              </a:lnSpc>
              <a:buClr>
                <a:srgbClr val="FF0000"/>
              </a:buClr>
            </a:pPr>
            <a:r>
              <a:rPr lang="en-US" sz="2000" dirty="0">
                <a:solidFill>
                  <a:srgbClr val="002060"/>
                </a:solidFill>
                <a:latin typeface="Times New Roman" pitchFamily="18" charset="0"/>
                <a:cs typeface="Times New Roman" pitchFamily="18" charset="0"/>
              </a:rPr>
              <a:t>In this schedule,</a:t>
            </a:r>
          </a:p>
          <a:p>
            <a:pPr algn="just" fontAlgn="base">
              <a:lnSpc>
                <a:spcPct val="150000"/>
              </a:lnSpc>
              <a:buClr>
                <a:srgbClr val="FF0000"/>
              </a:buClr>
              <a:buFont typeface="Wingdings" pitchFamily="2" charset="2"/>
              <a:buChar char="v"/>
            </a:pPr>
            <a:r>
              <a:rPr lang="en-US" sz="2000" dirty="0">
                <a:solidFill>
                  <a:srgbClr val="002060"/>
                </a:solidFill>
                <a:latin typeface="Times New Roman" pitchFamily="18" charset="0"/>
                <a:cs typeface="Times New Roman" pitchFamily="18" charset="0"/>
              </a:rPr>
              <a:t>The failure of transaction T1 causes the transaction T2 to rollback.</a:t>
            </a:r>
          </a:p>
          <a:p>
            <a:pPr algn="just" fontAlgn="base">
              <a:lnSpc>
                <a:spcPct val="150000"/>
              </a:lnSpc>
              <a:buClr>
                <a:srgbClr val="FF0000"/>
              </a:buClr>
              <a:buFont typeface="Wingdings" pitchFamily="2" charset="2"/>
              <a:buChar char="v"/>
            </a:pPr>
            <a:r>
              <a:rPr lang="en-US" sz="2000" dirty="0">
                <a:solidFill>
                  <a:srgbClr val="002060"/>
                </a:solidFill>
                <a:latin typeface="Times New Roman" pitchFamily="18" charset="0"/>
                <a:cs typeface="Times New Roman" pitchFamily="18" charset="0"/>
              </a:rPr>
              <a:t>The rollback of transaction T2 causes the transaction T3 to rollback.</a:t>
            </a:r>
          </a:p>
          <a:p>
            <a:pPr algn="just" fontAlgn="base">
              <a:lnSpc>
                <a:spcPct val="150000"/>
              </a:lnSpc>
              <a:buClr>
                <a:srgbClr val="FF0000"/>
              </a:buClr>
              <a:buFont typeface="Wingdings" pitchFamily="2" charset="2"/>
              <a:buChar char="v"/>
            </a:pPr>
            <a:r>
              <a:rPr lang="en-US" sz="2000" dirty="0">
                <a:solidFill>
                  <a:srgbClr val="002060"/>
                </a:solidFill>
                <a:latin typeface="Times New Roman" pitchFamily="18" charset="0"/>
                <a:cs typeface="Times New Roman" pitchFamily="18" charset="0"/>
              </a:rPr>
              <a:t>The rollback of transaction T3 causes the transaction T4 to rollback.</a:t>
            </a:r>
          </a:p>
          <a:p>
            <a:pPr algn="just" fontAlgn="base">
              <a:lnSpc>
                <a:spcPct val="150000"/>
              </a:lnSpc>
              <a:buClr>
                <a:srgbClr val="FF0000"/>
              </a:buClr>
              <a:buFont typeface="Wingdings" pitchFamily="2" charset="2"/>
              <a:buChar char="v"/>
            </a:pPr>
            <a:r>
              <a:rPr lang="en-US" sz="2000" dirty="0">
                <a:solidFill>
                  <a:srgbClr val="002060"/>
                </a:solidFill>
                <a:latin typeface="Times New Roman" pitchFamily="18" charset="0"/>
                <a:cs typeface="Times New Roman" pitchFamily="18" charset="0"/>
              </a:rPr>
              <a:t>Such a rollback is called as a </a:t>
            </a:r>
            <a:r>
              <a:rPr lang="en-US" sz="2000" b="1" dirty="0">
                <a:solidFill>
                  <a:srgbClr val="002060"/>
                </a:solidFill>
                <a:latin typeface="Times New Roman" pitchFamily="18" charset="0"/>
                <a:cs typeface="Times New Roman" pitchFamily="18" charset="0"/>
              </a:rPr>
              <a:t>Cascading Rollback</a:t>
            </a:r>
            <a:r>
              <a:rPr lang="en-US" sz="2000" dirty="0">
                <a:solidFill>
                  <a:srgbClr val="002060"/>
                </a:solidFill>
                <a:latin typeface="Times New Roman" pitchFamily="18" charset="0"/>
                <a:cs typeface="Times New Roman" pitchFamily="18" charset="0"/>
              </a:rPr>
              <a:t>.</a:t>
            </a:r>
            <a:endParaRPr lang="fr-FR" sz="20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 calcmode="lin" valueType="num">
                                      <p:cBhvr additive="base">
                                        <p:cTn id="1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 calcmode="lin" valueType="num">
                                      <p:cBhvr additive="base">
                                        <p:cTn id="1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 calcmode="lin" valueType="num">
                                      <p:cBhvr additive="base">
                                        <p:cTn id="2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 calcmode="lin" valueType="num">
                                      <p:cBhvr additive="base">
                                        <p:cTn id="2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anim calcmode="lin" valueType="num">
                                      <p:cBhvr additive="base">
                                        <p:cTn id="35"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
                                            <p:txEl>
                                              <p:pRg st="6" end="6"/>
                                            </p:txEl>
                                          </p:spTgt>
                                        </p:tgtEl>
                                        <p:attrNameLst>
                                          <p:attrName>style.visibility</p:attrName>
                                        </p:attrNameLst>
                                      </p:cBhvr>
                                      <p:to>
                                        <p:strVal val="visible"/>
                                      </p:to>
                                    </p:set>
                                    <p:anim calcmode="lin" valueType="num">
                                      <p:cBhvr additive="base">
                                        <p:cTn id="41"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anim calcmode="lin" valueType="num">
                                      <p:cBhvr additive="base">
                                        <p:cTn id="47"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6">
                                            <p:txEl>
                                              <p:pRg st="8" end="8"/>
                                            </p:txEl>
                                          </p:spTgt>
                                        </p:tgtEl>
                                        <p:attrNameLst>
                                          <p:attrName>style.visibility</p:attrName>
                                        </p:attrNameLst>
                                      </p:cBhvr>
                                      <p:to>
                                        <p:strVal val="visible"/>
                                      </p:to>
                                    </p:set>
                                    <p:anim calcmode="lin" valueType="num">
                                      <p:cBhvr additive="base">
                                        <p:cTn id="53"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Types of Recoverable Schedules</a:t>
            </a:r>
          </a:p>
        </p:txBody>
      </p:sp>
      <p:sp>
        <p:nvSpPr>
          <p:cNvPr id="5" name="Rectangle 4"/>
          <p:cNvSpPr/>
          <p:nvPr/>
        </p:nvSpPr>
        <p:spPr>
          <a:xfrm>
            <a:off x="0" y="457200"/>
            <a:ext cx="9144000" cy="4201150"/>
          </a:xfrm>
          <a:prstGeom prst="rect">
            <a:avLst/>
          </a:prstGeom>
        </p:spPr>
        <p:txBody>
          <a:bodyPr wrap="square">
            <a:spAutoFit/>
          </a:bodyPr>
          <a:lstStyle/>
          <a:p>
            <a:pPr algn="ctr" fontAlgn="base">
              <a:lnSpc>
                <a:spcPct val="150000"/>
              </a:lnSpc>
            </a:pPr>
            <a:r>
              <a:rPr lang="en-US" sz="2400" b="1" dirty="0">
                <a:solidFill>
                  <a:srgbClr val="FF0000"/>
                </a:solidFill>
                <a:latin typeface="Times New Roman" pitchFamily="18" charset="0"/>
                <a:cs typeface="Times New Roman" pitchFamily="18" charset="0"/>
              </a:rPr>
              <a:t>II. </a:t>
            </a:r>
            <a:r>
              <a:rPr lang="en-US" sz="2400" b="1" u="sng" dirty="0">
                <a:solidFill>
                  <a:srgbClr val="FF0000"/>
                </a:solidFill>
                <a:latin typeface="Times New Roman" pitchFamily="18" charset="0"/>
                <a:cs typeface="Times New Roman" pitchFamily="18" charset="0"/>
              </a:rPr>
              <a:t>Cascadeless Schedule-</a:t>
            </a:r>
            <a:endParaRPr lang="en-US" sz="2400" b="1" dirty="0">
              <a:solidFill>
                <a:srgbClr val="FF0000"/>
              </a:solidFill>
              <a:latin typeface="Times New Roman" pitchFamily="18" charset="0"/>
              <a:cs typeface="Times New Roman" pitchFamily="18" charset="0"/>
            </a:endParaRPr>
          </a:p>
          <a:p>
            <a:pPr marL="344488" indent="-344488" algn="just" fontAlgn="base">
              <a:lnSpc>
                <a:spcPct val="150000"/>
              </a:lnSpc>
              <a:buClr>
                <a:srgbClr val="FF0000"/>
              </a:buClr>
            </a:pPr>
            <a:r>
              <a:rPr lang="en-US" sz="2200" dirty="0">
                <a:solidFill>
                  <a:srgbClr val="002060"/>
                </a:solidFill>
                <a:latin typeface="Times New Roman" pitchFamily="18" charset="0"/>
                <a:cs typeface="Times New Roman" pitchFamily="18" charset="0"/>
              </a:rPr>
              <a:t>If in a schedule, </a:t>
            </a:r>
          </a:p>
          <a:p>
            <a:pPr marL="465138" indent="-465138" algn="just" fontAlgn="base">
              <a:lnSpc>
                <a:spcPct val="150000"/>
              </a:lnSpc>
              <a:buClr>
                <a:srgbClr val="FF0000"/>
              </a:buClr>
              <a:buFont typeface="Wingdings" pitchFamily="2" charset="2"/>
              <a:buChar char="v"/>
            </a:pPr>
            <a:r>
              <a:rPr lang="en-US" sz="2200" dirty="0">
                <a:solidFill>
                  <a:srgbClr val="002060"/>
                </a:solidFill>
                <a:latin typeface="Maiandra GD" pitchFamily="34" charset="0"/>
                <a:cs typeface="Times New Roman" pitchFamily="18" charset="0"/>
              </a:rPr>
              <a:t>“A transaction is not allowed to read a data item until the last transaction that has written it is committed or aborted, then such a schedule is called As a </a:t>
            </a:r>
            <a:r>
              <a:rPr lang="en-US" sz="2200" b="1" dirty="0">
                <a:solidFill>
                  <a:srgbClr val="FF0000"/>
                </a:solidFill>
                <a:latin typeface="Maiandra GD" pitchFamily="34" charset="0"/>
                <a:cs typeface="Times New Roman" pitchFamily="18" charset="0"/>
              </a:rPr>
              <a:t>Cascadeless Schedule</a:t>
            </a:r>
            <a:r>
              <a:rPr lang="en-US" sz="2200" dirty="0">
                <a:solidFill>
                  <a:srgbClr val="002060"/>
                </a:solidFill>
                <a:latin typeface="Maiandra GD" pitchFamily="34" charset="0"/>
                <a:cs typeface="Times New Roman" pitchFamily="18" charset="0"/>
              </a:rPr>
              <a:t>.”</a:t>
            </a:r>
          </a:p>
          <a:p>
            <a:pPr marL="465138" indent="-465138" algn="just" fontAlgn="base">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In other words,</a:t>
            </a:r>
          </a:p>
          <a:p>
            <a:pPr marL="465138" indent="-465138" algn="just" fontAlgn="base">
              <a:lnSpc>
                <a:spcPct val="150000"/>
              </a:lnSpc>
              <a:buClr>
                <a:srgbClr val="FF0000"/>
              </a:buClr>
            </a:pPr>
            <a:r>
              <a:rPr lang="en-US" sz="2200" dirty="0">
                <a:solidFill>
                  <a:srgbClr val="002060"/>
                </a:solidFill>
                <a:latin typeface="Maiandra GD" pitchFamily="34" charset="0"/>
                <a:cs typeface="Times New Roman" pitchFamily="18" charset="0"/>
              </a:rPr>
              <a:t>	“Cascadeless schedule allows only </a:t>
            </a:r>
            <a:r>
              <a:rPr lang="en-US" sz="2200" b="1" dirty="0">
                <a:solidFill>
                  <a:srgbClr val="FF0000"/>
                </a:solidFill>
                <a:latin typeface="Maiandra GD" pitchFamily="34" charset="0"/>
                <a:cs typeface="Times New Roman" pitchFamily="18" charset="0"/>
              </a:rPr>
              <a:t>committed read </a:t>
            </a:r>
            <a:r>
              <a:rPr lang="en-US" sz="2200" dirty="0">
                <a:solidFill>
                  <a:srgbClr val="002060"/>
                </a:solidFill>
                <a:latin typeface="Maiandra GD" pitchFamily="34" charset="0"/>
                <a:cs typeface="Times New Roman" pitchFamily="18" charset="0"/>
              </a:rPr>
              <a:t>operations.”</a:t>
            </a:r>
          </a:p>
          <a:p>
            <a:pPr marL="465138" indent="-465138" algn="just" fontAlgn="base">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Therefore, it avoids cascading roll back and thus saves CPU 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 calcmode="lin" valueType="num">
                                      <p:cBhvr additive="base">
                                        <p:cTn id="1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 calcmode="lin" valueType="num">
                                      <p:cBhvr additive="base">
                                        <p:cTn id="1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 calcmode="lin" valueType="num">
                                      <p:cBhvr additive="base">
                                        <p:cTn id="2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 calcmode="lin" valueType="num">
                                      <p:cBhvr additive="base">
                                        <p:cTn id="2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r>
              <a:rPr lang="en-US" sz="3600" b="1" dirty="0">
                <a:solidFill>
                  <a:srgbClr val="FF0000"/>
                </a:solidFill>
                <a:latin typeface="Times New Roman" pitchFamily="18" charset="0"/>
                <a:cs typeface="Times New Roman" pitchFamily="18" charset="0"/>
              </a:rPr>
              <a:t>Types of Recoverable Schedules</a:t>
            </a:r>
          </a:p>
        </p:txBody>
      </p:sp>
      <p:sp>
        <p:nvSpPr>
          <p:cNvPr id="5" name="Rectangle 4"/>
          <p:cNvSpPr/>
          <p:nvPr/>
        </p:nvSpPr>
        <p:spPr>
          <a:xfrm>
            <a:off x="0" y="457200"/>
            <a:ext cx="9144000" cy="579967"/>
          </a:xfrm>
          <a:prstGeom prst="rect">
            <a:avLst/>
          </a:prstGeom>
        </p:spPr>
        <p:txBody>
          <a:bodyPr wrap="square">
            <a:spAutoFit/>
          </a:bodyPr>
          <a:lstStyle/>
          <a:p>
            <a:pPr algn="ctr" fontAlgn="base">
              <a:lnSpc>
                <a:spcPct val="150000"/>
              </a:lnSpc>
            </a:pPr>
            <a:r>
              <a:rPr lang="en-US" sz="2400" b="1" dirty="0">
                <a:solidFill>
                  <a:srgbClr val="FF0000"/>
                </a:solidFill>
                <a:latin typeface="Times New Roman" pitchFamily="18" charset="0"/>
                <a:cs typeface="Times New Roman" pitchFamily="18" charset="0"/>
              </a:rPr>
              <a:t>II. </a:t>
            </a:r>
            <a:r>
              <a:rPr lang="en-US" sz="2400" b="1" u="sng" dirty="0">
                <a:solidFill>
                  <a:srgbClr val="FF0000"/>
                </a:solidFill>
                <a:latin typeface="Times New Roman" pitchFamily="18" charset="0"/>
                <a:cs typeface="Times New Roman" pitchFamily="18" charset="0"/>
              </a:rPr>
              <a:t>Cascadeless Schedule-</a:t>
            </a:r>
            <a:endParaRPr lang="en-US" sz="2400" b="1" dirty="0">
              <a:solidFill>
                <a:srgbClr val="FF0000"/>
              </a:solidFill>
              <a:latin typeface="Times New Roman" pitchFamily="18" charset="0"/>
              <a:cs typeface="Times New Roman" pitchFamily="18" charset="0"/>
            </a:endParaRPr>
          </a:p>
        </p:txBody>
      </p:sp>
      <p:pic>
        <p:nvPicPr>
          <p:cNvPr id="210946" name="Picture 2" descr="G:\VTU NOTES\2018-19 SUMMER SEMESTER\DBMS 2018-19 SUMMER\DBMS UNIT IV\New folder\images\Cascadeless-Schedule-1.png"/>
          <p:cNvPicPr>
            <a:picLocks noChangeAspect="1" noChangeArrowheads="1"/>
          </p:cNvPicPr>
          <p:nvPr/>
        </p:nvPicPr>
        <p:blipFill>
          <a:blip r:embed="rId2">
            <a:lum bright="-20000" contrast="40000"/>
          </a:blip>
          <a:srcRect/>
          <a:stretch>
            <a:fillRect/>
          </a:stretch>
        </p:blipFill>
        <p:spPr bwMode="auto">
          <a:xfrm>
            <a:off x="59960" y="1676400"/>
            <a:ext cx="4600575" cy="4600575"/>
          </a:xfrm>
          <a:prstGeom prst="rect">
            <a:avLst/>
          </a:prstGeom>
          <a:noFill/>
          <a:ln w="28575">
            <a:solidFill>
              <a:schemeClr val="tx1"/>
            </a:solidFill>
          </a:ln>
        </p:spPr>
      </p:pic>
      <p:sp>
        <p:nvSpPr>
          <p:cNvPr id="6" name="Rectangle 5"/>
          <p:cNvSpPr/>
          <p:nvPr/>
        </p:nvSpPr>
        <p:spPr>
          <a:xfrm>
            <a:off x="4572000" y="1447800"/>
            <a:ext cx="4572000" cy="1711366"/>
          </a:xfrm>
          <a:prstGeom prst="rect">
            <a:avLst/>
          </a:prstGeom>
        </p:spPr>
        <p:txBody>
          <a:bodyPr>
            <a:spAutoFit/>
          </a:bodyPr>
          <a:lstStyle/>
          <a:p>
            <a:pPr marL="344488" indent="-344488" algn="just" fontAlgn="base">
              <a:lnSpc>
                <a:spcPct val="150000"/>
              </a:lnSpc>
              <a:buClr>
                <a:srgbClr val="FF0000"/>
              </a:buClr>
              <a:buFont typeface="Wingdings" pitchFamily="2" charset="2"/>
              <a:buChar char="v"/>
            </a:pPr>
            <a:r>
              <a:rPr lang="en-US" dirty="0">
                <a:solidFill>
                  <a:srgbClr val="002060"/>
                </a:solidFill>
                <a:latin typeface="Times New Roman" pitchFamily="18" charset="0"/>
                <a:cs typeface="Times New Roman" pitchFamily="18" charset="0"/>
              </a:rPr>
              <a:t>Cascadeless schedule allows </a:t>
            </a:r>
            <a:r>
              <a:rPr lang="en-US" dirty="0">
                <a:solidFill>
                  <a:srgbClr val="FF0000"/>
                </a:solidFill>
                <a:latin typeface="Times New Roman" pitchFamily="18" charset="0"/>
                <a:cs typeface="Times New Roman" pitchFamily="18" charset="0"/>
              </a:rPr>
              <a:t>only committed read operations</a:t>
            </a:r>
            <a:r>
              <a:rPr lang="en-US" dirty="0">
                <a:solidFill>
                  <a:srgbClr val="002060"/>
                </a:solidFill>
                <a:latin typeface="Times New Roman" pitchFamily="18" charset="0"/>
                <a:cs typeface="Times New Roman" pitchFamily="18" charset="0"/>
              </a:rPr>
              <a:t>.</a:t>
            </a:r>
          </a:p>
          <a:p>
            <a:pPr marL="344488" indent="-344488" algn="just" fontAlgn="base">
              <a:lnSpc>
                <a:spcPct val="150000"/>
              </a:lnSpc>
              <a:buClr>
                <a:srgbClr val="FF0000"/>
              </a:buClr>
              <a:buFont typeface="Wingdings" pitchFamily="2" charset="2"/>
              <a:buChar char="v"/>
            </a:pPr>
            <a:r>
              <a:rPr lang="en-US" dirty="0">
                <a:solidFill>
                  <a:srgbClr val="002060"/>
                </a:solidFill>
                <a:latin typeface="Times New Roman" pitchFamily="18" charset="0"/>
                <a:cs typeface="Times New Roman" pitchFamily="18" charset="0"/>
              </a:rPr>
              <a:t>However, it </a:t>
            </a:r>
            <a:r>
              <a:rPr lang="en-US" dirty="0">
                <a:solidFill>
                  <a:srgbClr val="FF0000"/>
                </a:solidFill>
                <a:latin typeface="Times New Roman" pitchFamily="18" charset="0"/>
                <a:cs typeface="Times New Roman" pitchFamily="18" charset="0"/>
              </a:rPr>
              <a:t>allows uncommitted write </a:t>
            </a:r>
            <a:r>
              <a:rPr lang="en-US" dirty="0">
                <a:solidFill>
                  <a:srgbClr val="002060"/>
                </a:solidFill>
                <a:latin typeface="Times New Roman" pitchFamily="18" charset="0"/>
                <a:cs typeface="Times New Roman" pitchFamily="18" charset="0"/>
              </a:rPr>
              <a:t>operations.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0946"/>
                                        </p:tgtEl>
                                        <p:attrNameLst>
                                          <p:attrName>style.visibility</p:attrName>
                                        </p:attrNameLst>
                                      </p:cBhvr>
                                      <p:to>
                                        <p:strVal val="visible"/>
                                      </p:to>
                                    </p:set>
                                    <p:anim calcmode="lin" valueType="num">
                                      <p:cBhvr additive="base">
                                        <p:cTn id="7" dur="500" fill="hold"/>
                                        <p:tgtEl>
                                          <p:spTgt spid="210946"/>
                                        </p:tgtEl>
                                        <p:attrNameLst>
                                          <p:attrName>ppt_x</p:attrName>
                                        </p:attrNameLst>
                                      </p:cBhvr>
                                      <p:tavLst>
                                        <p:tav tm="0">
                                          <p:val>
                                            <p:strVal val="#ppt_x"/>
                                          </p:val>
                                        </p:tav>
                                        <p:tav tm="100000">
                                          <p:val>
                                            <p:strVal val="#ppt_x"/>
                                          </p:val>
                                        </p:tav>
                                      </p:tavLst>
                                    </p:anim>
                                    <p:anim calcmode="lin" valueType="num">
                                      <p:cBhvr additive="base">
                                        <p:cTn id="8" dur="500" fill="hold"/>
                                        <p:tgtEl>
                                          <p:spTgt spid="2109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 calcmode="lin" valueType="num">
                                      <p:cBhvr additive="base">
                                        <p:cTn id="1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33400"/>
          </a:xfrm>
        </p:spPr>
        <p:txBody>
          <a:bodyPr>
            <a:normAutofit fontScale="90000"/>
          </a:bodyPr>
          <a:lstStyle/>
          <a:p>
            <a:r>
              <a:rPr lang="en-US" sz="3600" b="1" dirty="0">
                <a:solidFill>
                  <a:srgbClr val="FF0000"/>
                </a:solidFill>
                <a:latin typeface="Times New Roman" pitchFamily="18" charset="0"/>
                <a:cs typeface="Times New Roman" pitchFamily="18" charset="0"/>
              </a:rPr>
              <a:t>Types of Recoverable Schedules</a:t>
            </a:r>
          </a:p>
        </p:txBody>
      </p:sp>
      <p:sp>
        <p:nvSpPr>
          <p:cNvPr id="5" name="Rectangle 4"/>
          <p:cNvSpPr/>
          <p:nvPr/>
        </p:nvSpPr>
        <p:spPr>
          <a:xfrm>
            <a:off x="0" y="685800"/>
            <a:ext cx="9144000" cy="656167"/>
          </a:xfrm>
          <a:prstGeom prst="rect">
            <a:avLst/>
          </a:prstGeom>
        </p:spPr>
        <p:txBody>
          <a:bodyPr wrap="square">
            <a:spAutoFit/>
          </a:bodyPr>
          <a:lstStyle/>
          <a:p>
            <a:pPr algn="ctr" fontAlgn="base">
              <a:lnSpc>
                <a:spcPct val="150000"/>
              </a:lnSpc>
            </a:pPr>
            <a:r>
              <a:rPr lang="en-US" sz="2400" b="1" dirty="0">
                <a:solidFill>
                  <a:srgbClr val="FF0000"/>
                </a:solidFill>
                <a:latin typeface="Times New Roman" pitchFamily="18" charset="0"/>
                <a:cs typeface="Times New Roman" pitchFamily="18" charset="0"/>
              </a:rPr>
              <a:t>III. </a:t>
            </a:r>
            <a:r>
              <a:rPr lang="en-US" sz="2400" b="1" u="sng" dirty="0">
                <a:solidFill>
                  <a:srgbClr val="FF0000"/>
                </a:solidFill>
                <a:latin typeface="Times New Roman" pitchFamily="18" charset="0"/>
                <a:cs typeface="Times New Roman" pitchFamily="18" charset="0"/>
              </a:rPr>
              <a:t>Strict Schedule-</a:t>
            </a:r>
            <a:endParaRPr lang="en-US" sz="2400" b="1" dirty="0">
              <a:solidFill>
                <a:srgbClr val="FF0000"/>
              </a:solidFill>
              <a:latin typeface="Times New Roman" pitchFamily="18" charset="0"/>
              <a:cs typeface="Times New Roman" pitchFamily="18" charset="0"/>
            </a:endParaRPr>
          </a:p>
        </p:txBody>
      </p:sp>
      <p:sp>
        <p:nvSpPr>
          <p:cNvPr id="7" name="Rectangle 6"/>
          <p:cNvSpPr/>
          <p:nvPr/>
        </p:nvSpPr>
        <p:spPr>
          <a:xfrm>
            <a:off x="152400" y="1295400"/>
            <a:ext cx="8794230" cy="4832092"/>
          </a:xfrm>
          <a:prstGeom prst="rect">
            <a:avLst/>
          </a:prstGeom>
        </p:spPr>
        <p:txBody>
          <a:bodyPr wrap="square">
            <a:spAutoFit/>
          </a:bodyPr>
          <a:lstStyle/>
          <a:p>
            <a:pPr marL="344488" indent="-344488" algn="just" fontAlgn="base">
              <a:lnSpc>
                <a:spcPct val="200000"/>
              </a:lnSpc>
              <a:buClr>
                <a:srgbClr val="FF0000"/>
              </a:buClr>
              <a:buSzPct val="120000"/>
            </a:pPr>
            <a:r>
              <a:rPr lang="en-US" sz="2200" dirty="0">
                <a:solidFill>
                  <a:srgbClr val="002060"/>
                </a:solidFill>
                <a:latin typeface="Times New Roman" pitchFamily="18" charset="0"/>
                <a:cs typeface="Times New Roman" pitchFamily="18" charset="0"/>
              </a:rPr>
              <a:t>If in a schedule, </a:t>
            </a:r>
          </a:p>
          <a:p>
            <a:pPr marL="344488" indent="-344488" algn="just" fontAlgn="base">
              <a:lnSpc>
                <a:spcPct val="200000"/>
              </a:lnSpc>
              <a:buClr>
                <a:srgbClr val="FF0000"/>
              </a:buClr>
              <a:buSzPct val="120000"/>
              <a:buFont typeface="Wingdings" pitchFamily="2" charset="2"/>
              <a:buChar char="v"/>
            </a:pPr>
            <a:r>
              <a:rPr lang="en-US" sz="2200" dirty="0">
                <a:solidFill>
                  <a:srgbClr val="002060"/>
                </a:solidFill>
                <a:latin typeface="Times New Roman" pitchFamily="18" charset="0"/>
                <a:cs typeface="Times New Roman" pitchFamily="18" charset="0"/>
              </a:rPr>
              <a:t> </a:t>
            </a:r>
            <a:r>
              <a:rPr lang="en-US" sz="2200" dirty="0">
                <a:solidFill>
                  <a:srgbClr val="002060"/>
                </a:solidFill>
                <a:latin typeface="Maiandra GD" pitchFamily="34" charset="0"/>
                <a:cs typeface="Times New Roman" pitchFamily="18" charset="0"/>
              </a:rPr>
              <a:t>“A transaction is neither allowed to read nor write a data item until the last transaction that has written it is committed or aborted, then such a schedule is called as a </a:t>
            </a:r>
            <a:r>
              <a:rPr lang="en-US" sz="2200" b="1" dirty="0">
                <a:solidFill>
                  <a:srgbClr val="FF0000"/>
                </a:solidFill>
                <a:latin typeface="Maiandra GD" pitchFamily="34" charset="0"/>
                <a:cs typeface="Times New Roman" pitchFamily="18" charset="0"/>
              </a:rPr>
              <a:t>Strict Schedule</a:t>
            </a:r>
            <a:r>
              <a:rPr lang="en-US" sz="2200" dirty="0">
                <a:solidFill>
                  <a:srgbClr val="FF0000"/>
                </a:solidFill>
                <a:latin typeface="Maiandra GD" pitchFamily="34" charset="0"/>
                <a:cs typeface="Times New Roman" pitchFamily="18" charset="0"/>
              </a:rPr>
              <a:t>.”</a:t>
            </a:r>
          </a:p>
          <a:p>
            <a:pPr marL="344488" indent="-344488" algn="just" fontAlgn="base">
              <a:lnSpc>
                <a:spcPct val="200000"/>
              </a:lnSpc>
              <a:buClr>
                <a:srgbClr val="FF0000"/>
              </a:buClr>
              <a:buSzPct val="120000"/>
            </a:pPr>
            <a:r>
              <a:rPr lang="en-US" sz="2200" dirty="0">
                <a:solidFill>
                  <a:srgbClr val="002060"/>
                </a:solidFill>
                <a:latin typeface="Times New Roman" pitchFamily="18" charset="0"/>
                <a:cs typeface="Times New Roman" pitchFamily="18" charset="0"/>
              </a:rPr>
              <a:t>In other words,</a:t>
            </a:r>
          </a:p>
          <a:p>
            <a:pPr marL="344488" indent="-344488" algn="just" fontAlgn="base">
              <a:lnSpc>
                <a:spcPct val="200000"/>
              </a:lnSpc>
              <a:buClr>
                <a:srgbClr val="FF0000"/>
              </a:buClr>
              <a:buSzPct val="120000"/>
              <a:buFont typeface="Wingdings" pitchFamily="2" charset="2"/>
              <a:buChar char="v"/>
            </a:pPr>
            <a:r>
              <a:rPr lang="en-US" sz="2200" dirty="0">
                <a:solidFill>
                  <a:srgbClr val="002060"/>
                </a:solidFill>
                <a:latin typeface="Maiandra GD" pitchFamily="34" charset="0"/>
                <a:cs typeface="Times New Roman" pitchFamily="18" charset="0"/>
              </a:rPr>
              <a:t>“Strict schedule allows </a:t>
            </a:r>
            <a:r>
              <a:rPr lang="en-US" sz="2200" b="1" dirty="0">
                <a:solidFill>
                  <a:srgbClr val="FF0000"/>
                </a:solidFill>
                <a:latin typeface="Maiandra GD" pitchFamily="34" charset="0"/>
                <a:cs typeface="Times New Roman" pitchFamily="18" charset="0"/>
              </a:rPr>
              <a:t>only committed read and write </a:t>
            </a:r>
            <a:r>
              <a:rPr lang="en-US" sz="2200" dirty="0">
                <a:solidFill>
                  <a:srgbClr val="002060"/>
                </a:solidFill>
                <a:latin typeface="Maiandra GD" pitchFamily="34" charset="0"/>
                <a:cs typeface="Times New Roman" pitchFamily="18" charset="0"/>
              </a:rPr>
              <a:t>operations.”</a:t>
            </a:r>
          </a:p>
          <a:p>
            <a:pPr marL="344488" indent="-344488" algn="just" fontAlgn="base">
              <a:lnSpc>
                <a:spcPct val="200000"/>
              </a:lnSpc>
              <a:buClr>
                <a:srgbClr val="FF0000"/>
              </a:buClr>
              <a:buSzPct val="120000"/>
              <a:buFont typeface="Wingdings" pitchFamily="2" charset="2"/>
              <a:buChar char="v"/>
            </a:pPr>
            <a:r>
              <a:rPr lang="en-US" sz="2200" dirty="0">
                <a:solidFill>
                  <a:srgbClr val="002060"/>
                </a:solidFill>
                <a:latin typeface="Times New Roman" pitchFamily="18" charset="0"/>
                <a:cs typeface="Times New Roman" pitchFamily="18" charset="0"/>
              </a:rPr>
              <a:t>Strict schedule implements more restrictions than Cascadeless schedule.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 calcmode="lin" valueType="num">
                                      <p:cBhvr additive="base">
                                        <p:cTn id="1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 calcmode="lin" valueType="num">
                                      <p:cBhvr additive="base">
                                        <p:cTn id="21"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 calcmode="lin" valueType="num">
                                      <p:cBhvr additive="base">
                                        <p:cTn id="2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33400"/>
          </a:xfrm>
        </p:spPr>
        <p:txBody>
          <a:bodyPr>
            <a:normAutofit fontScale="90000"/>
          </a:bodyPr>
          <a:lstStyle/>
          <a:p>
            <a:r>
              <a:rPr lang="en-US" sz="3600" b="1" dirty="0">
                <a:solidFill>
                  <a:srgbClr val="FF0000"/>
                </a:solidFill>
                <a:latin typeface="Times New Roman" pitchFamily="18" charset="0"/>
                <a:cs typeface="Times New Roman" pitchFamily="18" charset="0"/>
              </a:rPr>
              <a:t>Types of Recoverable Schedules</a:t>
            </a:r>
          </a:p>
        </p:txBody>
      </p:sp>
      <p:sp>
        <p:nvSpPr>
          <p:cNvPr id="5" name="Rectangle 4"/>
          <p:cNvSpPr/>
          <p:nvPr/>
        </p:nvSpPr>
        <p:spPr>
          <a:xfrm>
            <a:off x="0" y="609600"/>
            <a:ext cx="9144000" cy="579967"/>
          </a:xfrm>
          <a:prstGeom prst="rect">
            <a:avLst/>
          </a:prstGeom>
        </p:spPr>
        <p:txBody>
          <a:bodyPr wrap="square">
            <a:spAutoFit/>
          </a:bodyPr>
          <a:lstStyle/>
          <a:p>
            <a:pPr algn="ctr" fontAlgn="base">
              <a:lnSpc>
                <a:spcPct val="150000"/>
              </a:lnSpc>
            </a:pPr>
            <a:r>
              <a:rPr lang="en-US" sz="2400" b="1" dirty="0">
                <a:solidFill>
                  <a:srgbClr val="FF0000"/>
                </a:solidFill>
                <a:latin typeface="Times New Roman" pitchFamily="18" charset="0"/>
                <a:cs typeface="Times New Roman" pitchFamily="18" charset="0"/>
              </a:rPr>
              <a:t>III. </a:t>
            </a:r>
            <a:r>
              <a:rPr lang="en-US" sz="2400" b="1" u="sng" dirty="0">
                <a:solidFill>
                  <a:srgbClr val="FF0000"/>
                </a:solidFill>
                <a:latin typeface="Times New Roman" pitchFamily="18" charset="0"/>
                <a:cs typeface="Times New Roman" pitchFamily="18" charset="0"/>
              </a:rPr>
              <a:t>Strict Schedule-</a:t>
            </a:r>
            <a:endParaRPr lang="en-US" sz="2400" b="1" dirty="0">
              <a:solidFill>
                <a:srgbClr val="FF0000"/>
              </a:solidFill>
              <a:latin typeface="Times New Roman" pitchFamily="18" charset="0"/>
              <a:cs typeface="Times New Roman" pitchFamily="18" charset="0"/>
            </a:endParaRPr>
          </a:p>
        </p:txBody>
      </p:sp>
      <p:pic>
        <p:nvPicPr>
          <p:cNvPr id="211970" name="Picture 2" descr="G:\VTU NOTES\2018-19 SUMMER SEMESTER\DBMS 2018-19 SUMMER\DBMS UNIT IV\New folder\images\Strict-Schedule-Example.png"/>
          <p:cNvPicPr>
            <a:picLocks noChangeAspect="1" noChangeArrowheads="1"/>
          </p:cNvPicPr>
          <p:nvPr/>
        </p:nvPicPr>
        <p:blipFill>
          <a:blip r:embed="rId2">
            <a:lum bright="-20000" contrast="40000"/>
          </a:blip>
          <a:srcRect/>
          <a:stretch>
            <a:fillRect/>
          </a:stretch>
        </p:blipFill>
        <p:spPr bwMode="auto">
          <a:xfrm>
            <a:off x="93690" y="1371600"/>
            <a:ext cx="2819400" cy="3352800"/>
          </a:xfrm>
          <a:prstGeom prst="rect">
            <a:avLst/>
          </a:prstGeom>
          <a:noFill/>
          <a:ln w="28575">
            <a:solidFill>
              <a:schemeClr val="tx1"/>
            </a:solidFill>
          </a:ln>
        </p:spPr>
      </p:pic>
      <p:sp>
        <p:nvSpPr>
          <p:cNvPr id="6" name="Rectangle 5"/>
          <p:cNvSpPr/>
          <p:nvPr/>
        </p:nvSpPr>
        <p:spPr>
          <a:xfrm>
            <a:off x="3048000" y="1371600"/>
            <a:ext cx="6096000" cy="3062377"/>
          </a:xfrm>
          <a:prstGeom prst="rect">
            <a:avLst/>
          </a:prstGeom>
        </p:spPr>
        <p:txBody>
          <a:bodyPr wrap="square">
            <a:spAutoFit/>
          </a:bodyPr>
          <a:lstStyle/>
          <a:p>
            <a:pPr algn="just" fontAlgn="base">
              <a:lnSpc>
                <a:spcPct val="150000"/>
              </a:lnSpc>
              <a:buClr>
                <a:srgbClr val="FF0000"/>
              </a:buClr>
            </a:pPr>
            <a:r>
              <a:rPr lang="en-US" sz="2200" dirty="0">
                <a:latin typeface="Times New Roman" pitchFamily="18" charset="0"/>
                <a:cs typeface="Times New Roman" pitchFamily="18" charset="0"/>
              </a:rPr>
              <a:t>Here,</a:t>
            </a:r>
          </a:p>
          <a:p>
            <a:pPr marL="344488" indent="-344488" algn="just" fontAlgn="base">
              <a:lnSpc>
                <a:spcPct val="200000"/>
              </a:lnSpc>
              <a:buClr>
                <a:srgbClr val="FF0000"/>
              </a:buClr>
              <a:buFont typeface="Wingdings" pitchFamily="2" charset="2"/>
              <a:buChar char="v"/>
            </a:pPr>
            <a:r>
              <a:rPr lang="en-US" sz="2000" dirty="0">
                <a:latin typeface="Times New Roman" pitchFamily="18" charset="0"/>
                <a:cs typeface="Times New Roman" pitchFamily="18" charset="0"/>
              </a:rPr>
              <a:t>Strict schedules are more strict than Cascadeless schedules.</a:t>
            </a:r>
          </a:p>
          <a:p>
            <a:pPr marL="344488" indent="-344488" algn="just" fontAlgn="base">
              <a:lnSpc>
                <a:spcPct val="200000"/>
              </a:lnSpc>
              <a:buClr>
                <a:srgbClr val="FF0000"/>
              </a:buClr>
              <a:buFont typeface="Wingdings" pitchFamily="2" charset="2"/>
              <a:buChar char="v"/>
            </a:pPr>
            <a:r>
              <a:rPr lang="en-US" sz="2000" dirty="0">
                <a:latin typeface="Times New Roman" pitchFamily="18" charset="0"/>
                <a:cs typeface="Times New Roman" pitchFamily="18" charset="0"/>
              </a:rPr>
              <a:t>All strict schedules are Cascadeless schedules.</a:t>
            </a:r>
          </a:p>
          <a:p>
            <a:pPr marL="344488" indent="-344488" algn="just" fontAlgn="base">
              <a:lnSpc>
                <a:spcPct val="200000"/>
              </a:lnSpc>
              <a:buClr>
                <a:srgbClr val="FF0000"/>
              </a:buClr>
              <a:buFont typeface="Wingdings" pitchFamily="2" charset="2"/>
              <a:buChar char="v"/>
            </a:pPr>
            <a:r>
              <a:rPr lang="en-US" sz="2000" dirty="0">
                <a:latin typeface="Times New Roman" pitchFamily="18" charset="0"/>
                <a:cs typeface="Times New Roman" pitchFamily="18" charset="0"/>
              </a:rPr>
              <a:t>All Cascadeless schedules are not strict schedules.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1970"/>
                                        </p:tgtEl>
                                        <p:attrNameLst>
                                          <p:attrName>style.visibility</p:attrName>
                                        </p:attrNameLst>
                                      </p:cBhvr>
                                      <p:to>
                                        <p:strVal val="visible"/>
                                      </p:to>
                                    </p:set>
                                    <p:anim calcmode="lin" valueType="num">
                                      <p:cBhvr additive="base">
                                        <p:cTn id="7" dur="500" fill="hold"/>
                                        <p:tgtEl>
                                          <p:spTgt spid="211970"/>
                                        </p:tgtEl>
                                        <p:attrNameLst>
                                          <p:attrName>ppt_x</p:attrName>
                                        </p:attrNameLst>
                                      </p:cBhvr>
                                      <p:tavLst>
                                        <p:tav tm="0">
                                          <p:val>
                                            <p:strVal val="#ppt_x"/>
                                          </p:val>
                                        </p:tav>
                                        <p:tav tm="100000">
                                          <p:val>
                                            <p:strVal val="#ppt_x"/>
                                          </p:val>
                                        </p:tav>
                                      </p:tavLst>
                                    </p:anim>
                                    <p:anim calcmode="lin" valueType="num">
                                      <p:cBhvr additive="base">
                                        <p:cTn id="8" dur="500" fill="hold"/>
                                        <p:tgtEl>
                                          <p:spTgt spid="2119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838200"/>
            <a:ext cx="9144000" cy="5715000"/>
          </a:xfrm>
          <a:prstGeom prst="rect">
            <a:avLst/>
          </a:prstGeom>
        </p:spPr>
        <p:txBody>
          <a:bodyPr vert="horz" lIns="91440" tIns="45720" rIns="91440" bIns="45720" rtlCol="0">
            <a:normAutofit/>
          </a:bodyPr>
          <a:lstStyle/>
          <a:p>
            <a:pPr marL="465138" lvl="0" indent="-465138">
              <a:lnSpc>
                <a:spcPct val="150000"/>
              </a:lnSpc>
              <a:buClr>
                <a:srgbClr val="FF0000"/>
              </a:buClr>
              <a:buFont typeface="Wingdings" pitchFamily="2" charset="2"/>
              <a:buChar char="v"/>
              <a:defRPr/>
            </a:pPr>
            <a:r>
              <a:rPr lang="en-US" sz="2400" dirty="0">
                <a:solidFill>
                  <a:srgbClr val="002060"/>
                </a:solidFill>
                <a:latin typeface="Times New Roman" pitchFamily="18" charset="0"/>
                <a:cs typeface="Times New Roman" pitchFamily="18" charset="0"/>
              </a:rPr>
              <a:t>Concurrency control techniques that are used to ensure the </a:t>
            </a:r>
            <a:r>
              <a:rPr lang="en-US" sz="2400" dirty="0">
                <a:solidFill>
                  <a:srgbClr val="FF0000"/>
                </a:solidFill>
                <a:latin typeface="Times New Roman" pitchFamily="18" charset="0"/>
                <a:cs typeface="Times New Roman" pitchFamily="18" charset="0"/>
              </a:rPr>
              <a:t>non-interference </a:t>
            </a:r>
            <a:r>
              <a:rPr lang="en-US" sz="2400" dirty="0">
                <a:solidFill>
                  <a:srgbClr val="002060"/>
                </a:solidFill>
                <a:latin typeface="Times New Roman" pitchFamily="18" charset="0"/>
                <a:cs typeface="Times New Roman" pitchFamily="18" charset="0"/>
              </a:rPr>
              <a:t>or</a:t>
            </a:r>
            <a:r>
              <a:rPr lang="en-US" sz="2400" dirty="0">
                <a:solidFill>
                  <a:srgbClr val="FF0000"/>
                </a:solidFill>
                <a:latin typeface="Times New Roman" pitchFamily="18" charset="0"/>
                <a:cs typeface="Times New Roman" pitchFamily="18" charset="0"/>
              </a:rPr>
              <a:t>  Isolation property </a:t>
            </a:r>
            <a:r>
              <a:rPr lang="en-US" sz="2400" dirty="0">
                <a:solidFill>
                  <a:srgbClr val="002060"/>
                </a:solidFill>
                <a:latin typeface="Times New Roman" pitchFamily="18" charset="0"/>
                <a:cs typeface="Times New Roman" pitchFamily="18" charset="0"/>
              </a:rPr>
              <a:t>of concurrently executing transactions.</a:t>
            </a:r>
          </a:p>
          <a:p>
            <a:pPr marL="465138" lvl="0" indent="-465138">
              <a:lnSpc>
                <a:spcPct val="150000"/>
              </a:lnSpc>
              <a:buClr>
                <a:srgbClr val="FF0000"/>
              </a:buClr>
              <a:buFont typeface="Wingdings" pitchFamily="2" charset="2"/>
              <a:buChar char="v"/>
              <a:defRPr/>
            </a:pPr>
            <a:r>
              <a:rPr lang="en-US" sz="2400" dirty="0">
                <a:solidFill>
                  <a:srgbClr val="002060"/>
                </a:solidFill>
                <a:latin typeface="Times New Roman" pitchFamily="18" charset="0"/>
                <a:cs typeface="Times New Roman" pitchFamily="18" charset="0"/>
              </a:rPr>
              <a:t>There are </a:t>
            </a:r>
            <a:r>
              <a:rPr lang="en-US" sz="2400" b="1" dirty="0">
                <a:solidFill>
                  <a:srgbClr val="FF0000"/>
                </a:solidFill>
                <a:latin typeface="Times New Roman" pitchFamily="18" charset="0"/>
                <a:cs typeface="Times New Roman" pitchFamily="18" charset="0"/>
              </a:rPr>
              <a:t>three methods for concurrency control</a:t>
            </a:r>
            <a:r>
              <a:rPr lang="en-US" sz="2400" dirty="0">
                <a:solidFill>
                  <a:srgbClr val="002060"/>
                </a:solidFill>
                <a:latin typeface="Times New Roman" pitchFamily="18" charset="0"/>
                <a:cs typeface="Times New Roman" pitchFamily="18" charset="0"/>
              </a:rPr>
              <a:t>. They are as Follows:</a:t>
            </a:r>
          </a:p>
          <a:p>
            <a:pPr marL="920750" lvl="0" indent="-457200">
              <a:lnSpc>
                <a:spcPct val="150000"/>
              </a:lnSpc>
              <a:buClr>
                <a:srgbClr val="FF0000"/>
              </a:buClr>
              <a:buFont typeface="+mj-lt"/>
              <a:buAutoNum type="arabicPeriod"/>
              <a:defRPr/>
            </a:pPr>
            <a:r>
              <a:rPr lang="en-US" sz="2400" dirty="0">
                <a:solidFill>
                  <a:srgbClr val="002060"/>
                </a:solidFill>
                <a:latin typeface="Times New Roman" pitchFamily="18" charset="0"/>
                <a:cs typeface="Times New Roman" pitchFamily="18" charset="0"/>
              </a:rPr>
              <a:t>Locking Methods</a:t>
            </a:r>
          </a:p>
          <a:p>
            <a:pPr marL="920750" lvl="0" indent="-457200">
              <a:lnSpc>
                <a:spcPct val="150000"/>
              </a:lnSpc>
              <a:buClr>
                <a:srgbClr val="FF0000"/>
              </a:buClr>
              <a:buFont typeface="+mj-lt"/>
              <a:buAutoNum type="arabicPeriod"/>
              <a:defRPr/>
            </a:pPr>
            <a:r>
              <a:rPr lang="en-US" sz="2400" dirty="0">
                <a:solidFill>
                  <a:srgbClr val="002060"/>
                </a:solidFill>
                <a:latin typeface="Times New Roman" pitchFamily="18" charset="0"/>
                <a:cs typeface="Times New Roman" pitchFamily="18" charset="0"/>
              </a:rPr>
              <a:t>Time-stamp Methods </a:t>
            </a:r>
          </a:p>
          <a:p>
            <a:pPr marL="920750" lvl="0" indent="-457200">
              <a:lnSpc>
                <a:spcPct val="150000"/>
              </a:lnSpc>
              <a:buClr>
                <a:srgbClr val="FF0000"/>
              </a:buClr>
              <a:buFont typeface="+mj-lt"/>
              <a:buAutoNum type="arabicPeriod"/>
              <a:defRPr/>
            </a:pPr>
            <a:r>
              <a:rPr lang="en-US" sz="2400" dirty="0">
                <a:solidFill>
                  <a:srgbClr val="002060"/>
                </a:solidFill>
                <a:latin typeface="Times New Roman" pitchFamily="18" charset="0"/>
                <a:cs typeface="Times New Roman" pitchFamily="18" charset="0"/>
              </a:rPr>
              <a:t>Optimistic Methods</a:t>
            </a:r>
            <a:endParaRPr kumimoji="0" lang="en-US" sz="2400" b="0" i="0" u="none" strike="noStrike" kern="1200" cap="none" spc="0" normalizeH="0" baseline="0" noProof="0" dirty="0">
              <a:ln>
                <a:noFill/>
              </a:ln>
              <a:solidFill>
                <a:srgbClr val="002060"/>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838200"/>
            <a:ext cx="9144000" cy="5715000"/>
          </a:xfrm>
          <a:prstGeom prst="rect">
            <a:avLst/>
          </a:prstGeom>
        </p:spPr>
        <p:txBody>
          <a:bodyPr vert="horz" lIns="91440" tIns="45720" rIns="91440" bIns="45720" rtlCol="0">
            <a:normAutofit/>
          </a:bodyPr>
          <a:lstStyle/>
          <a:p>
            <a:pPr marL="457200" indent="-457200" algn="just">
              <a:lnSpc>
                <a:spcPct val="150000"/>
              </a:lnSpc>
              <a:buClr>
                <a:srgbClr val="002060"/>
              </a:buClr>
              <a:buFont typeface="+mj-lt"/>
              <a:buAutoNum type="arabicPeriod"/>
            </a:pPr>
            <a:r>
              <a:rPr lang="en-US" sz="2400" b="1" dirty="0">
                <a:solidFill>
                  <a:srgbClr val="FF0000"/>
                </a:solidFill>
                <a:latin typeface="Times New Roman" pitchFamily="18" charset="0"/>
                <a:cs typeface="Times New Roman" pitchFamily="18" charset="0"/>
              </a:rPr>
              <a:t>Locking Methods of Concurrency Control</a:t>
            </a:r>
            <a:r>
              <a:rPr lang="en-US" sz="2400" b="1" dirty="0">
                <a:solidFill>
                  <a:srgbClr val="002060"/>
                </a:solidFill>
                <a:latin typeface="Times New Roman" pitchFamily="18" charset="0"/>
                <a:cs typeface="Times New Roman" pitchFamily="18" charset="0"/>
              </a:rPr>
              <a:t>:</a:t>
            </a:r>
            <a:endParaRPr lang="en-US" sz="2400" dirty="0">
              <a:solidFill>
                <a:srgbClr val="002060"/>
              </a:solidFill>
              <a:latin typeface="Times New Roman" pitchFamily="18" charset="0"/>
              <a:cs typeface="Times New Roman" pitchFamily="18" charset="0"/>
            </a:endParaRPr>
          </a:p>
          <a:p>
            <a:pPr marL="914400" indent="-449263"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"A lock is a variable, associated with the data item, which controls the access of that data item.” </a:t>
            </a:r>
          </a:p>
          <a:p>
            <a:pPr marL="914400" indent="-449263"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Locking is the most widely used form of  the concurrency control mechanism. </a:t>
            </a:r>
          </a:p>
          <a:p>
            <a:pPr marL="914400" indent="-449263"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Locks are further divided into three fields:</a:t>
            </a:r>
          </a:p>
          <a:p>
            <a:pPr marL="1833562" indent="-514350" algn="just">
              <a:lnSpc>
                <a:spcPct val="150000"/>
              </a:lnSpc>
              <a:buClr>
                <a:srgbClr val="FF0000"/>
              </a:buClr>
              <a:buFont typeface="+mj-lt"/>
              <a:buAutoNum type="romanLcPeriod"/>
            </a:pPr>
            <a:r>
              <a:rPr lang="en-US" sz="2400" dirty="0">
                <a:solidFill>
                  <a:srgbClr val="002060"/>
                </a:solidFill>
                <a:latin typeface="Times New Roman" pitchFamily="18" charset="0"/>
                <a:cs typeface="Times New Roman" pitchFamily="18" charset="0"/>
              </a:rPr>
              <a:t>Lock Granularity</a:t>
            </a:r>
          </a:p>
          <a:p>
            <a:pPr marL="1833562" indent="-514350" algn="just">
              <a:lnSpc>
                <a:spcPct val="150000"/>
              </a:lnSpc>
              <a:buClr>
                <a:srgbClr val="FF0000"/>
              </a:buClr>
              <a:buFont typeface="+mj-lt"/>
              <a:buAutoNum type="romanLcPeriod"/>
            </a:pPr>
            <a:r>
              <a:rPr lang="en-US" sz="2400" dirty="0">
                <a:solidFill>
                  <a:srgbClr val="002060"/>
                </a:solidFill>
                <a:latin typeface="Times New Roman" pitchFamily="18" charset="0"/>
                <a:cs typeface="Times New Roman" pitchFamily="18" charset="0"/>
              </a:rPr>
              <a:t>Lock Types</a:t>
            </a:r>
          </a:p>
          <a:p>
            <a:pPr marL="1833562" indent="-514350" algn="just">
              <a:lnSpc>
                <a:spcPct val="150000"/>
              </a:lnSpc>
              <a:buClr>
                <a:srgbClr val="FF0000"/>
              </a:buClr>
              <a:buFont typeface="+mj-lt"/>
              <a:buAutoNum type="romanLcPeriod"/>
            </a:pPr>
            <a:r>
              <a:rPr lang="en-US" sz="2400" dirty="0">
                <a:solidFill>
                  <a:srgbClr val="002060"/>
                </a:solidFill>
                <a:latin typeface="Times New Roman" pitchFamily="18" charset="0"/>
                <a:cs typeface="Times New Roman" pitchFamily="18" charset="0"/>
              </a:rPr>
              <a:t>Deadlocks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Effect transition="in" filter="diamond(in)">
                                      <p:cBhvr>
                                        <p:cTn id="25" dur="2000"/>
                                        <p:tgtEl>
                                          <p:spTgt spid="8">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nodeType="clickEffect">
                                  <p:stCondLst>
                                    <p:cond delay="0"/>
                                  </p:stCondLst>
                                  <p:childTnLst>
                                    <p:set>
                                      <p:cBhvr>
                                        <p:cTn id="29" dur="1" fill="hold">
                                          <p:stCondLst>
                                            <p:cond delay="0"/>
                                          </p:stCondLst>
                                        </p:cTn>
                                        <p:tgtEl>
                                          <p:spTgt spid="8">
                                            <p:txEl>
                                              <p:pRg st="5" end="5"/>
                                            </p:txEl>
                                          </p:spTgt>
                                        </p:tgtEl>
                                        <p:attrNameLst>
                                          <p:attrName>style.visibility</p:attrName>
                                        </p:attrNameLst>
                                      </p:cBhvr>
                                      <p:to>
                                        <p:strVal val="visible"/>
                                      </p:to>
                                    </p:set>
                                    <p:animEffect transition="in" filter="diamond(in)">
                                      <p:cBhvr>
                                        <p:cTn id="30" dur="2000"/>
                                        <p:tgtEl>
                                          <p:spTgt spid="8">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8" presetClass="entr" presetSubtype="16" fill="hold" nodeType="click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Effect transition="in" filter="diamond(in)">
                                      <p:cBhvr>
                                        <p:cTn id="35" dur="500"/>
                                        <p:tgtEl>
                                          <p:spTgt spid="8">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8" presetClass="entr" presetSubtype="16" fill="hold" nodeType="clickEffect">
                                  <p:stCondLst>
                                    <p:cond delay="0"/>
                                  </p:stCondLst>
                                  <p:childTnLst>
                                    <p:set>
                                      <p:cBhvr>
                                        <p:cTn id="39" dur="1" fill="hold">
                                          <p:stCondLst>
                                            <p:cond delay="0"/>
                                          </p:stCondLst>
                                        </p:cTn>
                                        <p:tgtEl>
                                          <p:spTgt spid="8">
                                            <p:txEl>
                                              <p:pRg st="4" end="4"/>
                                            </p:txEl>
                                          </p:spTgt>
                                        </p:tgtEl>
                                        <p:attrNameLst>
                                          <p:attrName>style.visibility</p:attrName>
                                        </p:attrNameLst>
                                      </p:cBhvr>
                                      <p:to>
                                        <p:strVal val="visible"/>
                                      </p:to>
                                    </p:set>
                                    <p:animEffect transition="in" filter="diamond(in)">
                                      <p:cBhvr>
                                        <p:cTn id="40" dur="500"/>
                                        <p:tgtEl>
                                          <p:spTgt spid="8">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8" presetClass="entr" presetSubtype="16" fill="hold" nodeType="clickEffect">
                                  <p:stCondLst>
                                    <p:cond delay="0"/>
                                  </p:stCondLst>
                                  <p:childTnLst>
                                    <p:set>
                                      <p:cBhvr>
                                        <p:cTn id="44" dur="1" fill="hold">
                                          <p:stCondLst>
                                            <p:cond delay="0"/>
                                          </p:stCondLst>
                                        </p:cTn>
                                        <p:tgtEl>
                                          <p:spTgt spid="8">
                                            <p:txEl>
                                              <p:pRg st="5" end="5"/>
                                            </p:txEl>
                                          </p:spTgt>
                                        </p:tgtEl>
                                        <p:attrNameLst>
                                          <p:attrName>style.visibility</p:attrName>
                                        </p:attrNameLst>
                                      </p:cBhvr>
                                      <p:to>
                                        <p:strVal val="visible"/>
                                      </p:to>
                                    </p:set>
                                    <p:animEffect transition="in" filter="diamond(in)">
                                      <p:cBhvr>
                                        <p:cTn id="45" dur="500"/>
                                        <p:tgtEl>
                                          <p:spTgt spid="8">
                                            <p:txEl>
                                              <p:pRg st="5" end="5"/>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8" presetClass="entr" presetSubtype="16" fill="hold" nodeType="clickEffect">
                                  <p:stCondLst>
                                    <p:cond delay="0"/>
                                  </p:stCondLst>
                                  <p:childTnLst>
                                    <p:set>
                                      <p:cBhvr>
                                        <p:cTn id="49" dur="1" fill="hold">
                                          <p:stCondLst>
                                            <p:cond delay="0"/>
                                          </p:stCondLst>
                                        </p:cTn>
                                        <p:tgtEl>
                                          <p:spTgt spid="8">
                                            <p:txEl>
                                              <p:pRg st="6" end="6"/>
                                            </p:txEl>
                                          </p:spTgt>
                                        </p:tgtEl>
                                        <p:attrNameLst>
                                          <p:attrName>style.visibility</p:attrName>
                                        </p:attrNameLst>
                                      </p:cBhvr>
                                      <p:to>
                                        <p:strVal val="visible"/>
                                      </p:to>
                                    </p:set>
                                    <p:animEffect transition="in" filter="diamond(in)">
                                      <p:cBhvr>
                                        <p:cTn id="50"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838200"/>
            <a:ext cx="9144000" cy="5715000"/>
          </a:xfrm>
          <a:prstGeom prst="rect">
            <a:avLst/>
          </a:prstGeom>
        </p:spPr>
        <p:txBody>
          <a:bodyPr vert="horz" lIns="91440" tIns="45720" rIns="91440" bIns="45720" rtlCol="0">
            <a:normAutofit/>
          </a:bodyPr>
          <a:lstStyle/>
          <a:p>
            <a:pPr marL="514350" indent="-514350" algn="just">
              <a:lnSpc>
                <a:spcPct val="150000"/>
              </a:lnSpc>
              <a:buClr>
                <a:srgbClr val="002060"/>
              </a:buClr>
              <a:buFont typeface="+mj-lt"/>
              <a:buAutoNum type="romanUcPeriod"/>
            </a:pPr>
            <a:r>
              <a:rPr lang="en-US" sz="2400" b="1" u="sng" dirty="0">
                <a:solidFill>
                  <a:srgbClr val="FF0000"/>
                </a:solidFill>
                <a:latin typeface="Times New Roman" pitchFamily="18" charset="0"/>
                <a:cs typeface="Times New Roman" pitchFamily="18" charset="0"/>
              </a:rPr>
              <a:t>Lock Granularity</a:t>
            </a:r>
            <a:r>
              <a:rPr lang="en-US" sz="2400" dirty="0">
                <a:solidFill>
                  <a:srgbClr val="002060"/>
                </a:solidFill>
                <a:latin typeface="Times New Roman" pitchFamily="18" charset="0"/>
                <a:cs typeface="Times New Roman" pitchFamily="18" charset="0"/>
              </a:rPr>
              <a:t>:</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A database is a collection of named data items.  </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The size of the data item chosen as the unit of protection by a concurrency control program is called</a:t>
            </a:r>
            <a:r>
              <a:rPr lang="en-US" sz="2400" b="1" dirty="0">
                <a:solidFill>
                  <a:srgbClr val="FF0000"/>
                </a:solidFill>
                <a:latin typeface="Times New Roman" pitchFamily="18" charset="0"/>
                <a:cs typeface="Times New Roman" pitchFamily="18" charset="0"/>
              </a:rPr>
              <a:t> GRANULARITY</a:t>
            </a:r>
            <a:r>
              <a:rPr lang="en-US" sz="2400" dirty="0">
                <a:solidFill>
                  <a:srgbClr val="002060"/>
                </a:solidFill>
                <a:latin typeface="Times New Roman" pitchFamily="18" charset="0"/>
                <a:cs typeface="Times New Roman" pitchFamily="18" charset="0"/>
              </a:rPr>
              <a:t>. </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Locking can take place at the following level :</a:t>
            </a:r>
          </a:p>
          <a:p>
            <a:pPr marL="914400" indent="-449263" algn="just">
              <a:lnSpc>
                <a:spcPct val="150000"/>
              </a:lnSpc>
              <a:buClr>
                <a:srgbClr val="FF0000"/>
              </a:buClr>
              <a:buFont typeface="+mj-lt"/>
              <a:buAutoNum type="arabicPeriod"/>
            </a:pPr>
            <a:r>
              <a:rPr lang="en-US" sz="2400" dirty="0">
                <a:solidFill>
                  <a:srgbClr val="002060"/>
                </a:solidFill>
                <a:latin typeface="Times New Roman" pitchFamily="18" charset="0"/>
                <a:cs typeface="Times New Roman" pitchFamily="18" charset="0"/>
              </a:rPr>
              <a:t>Database level locking.</a:t>
            </a:r>
          </a:p>
          <a:p>
            <a:pPr marL="914400" indent="-449263" algn="just">
              <a:lnSpc>
                <a:spcPct val="150000"/>
              </a:lnSpc>
              <a:buClr>
                <a:srgbClr val="FF0000"/>
              </a:buClr>
              <a:buFont typeface="+mj-lt"/>
              <a:buAutoNum type="arabicPeriod"/>
            </a:pPr>
            <a:r>
              <a:rPr lang="en-US" sz="2400" dirty="0">
                <a:solidFill>
                  <a:srgbClr val="002060"/>
                </a:solidFill>
                <a:latin typeface="Times New Roman" pitchFamily="18" charset="0"/>
                <a:cs typeface="Times New Roman" pitchFamily="18" charset="0"/>
              </a:rPr>
              <a:t>Table level locking.</a:t>
            </a:r>
          </a:p>
          <a:p>
            <a:pPr marL="914400" indent="-449263" algn="just">
              <a:lnSpc>
                <a:spcPct val="150000"/>
              </a:lnSpc>
              <a:buClr>
                <a:srgbClr val="FF0000"/>
              </a:buClr>
              <a:buFont typeface="+mj-lt"/>
              <a:buAutoNum type="arabicPeriod"/>
            </a:pPr>
            <a:r>
              <a:rPr lang="en-US" sz="2400" dirty="0">
                <a:solidFill>
                  <a:srgbClr val="002060"/>
                </a:solidFill>
                <a:latin typeface="Times New Roman" pitchFamily="18" charset="0"/>
                <a:cs typeface="Times New Roman" pitchFamily="18" charset="0"/>
              </a:rPr>
              <a:t>Page level locking.</a:t>
            </a:r>
          </a:p>
          <a:p>
            <a:pPr marL="914400" indent="-449263" algn="just">
              <a:lnSpc>
                <a:spcPct val="150000"/>
              </a:lnSpc>
              <a:buClr>
                <a:srgbClr val="FF0000"/>
              </a:buClr>
              <a:buFont typeface="+mj-lt"/>
              <a:buAutoNum type="arabicPeriod"/>
            </a:pPr>
            <a:r>
              <a:rPr lang="en-US" sz="2400" dirty="0">
                <a:solidFill>
                  <a:srgbClr val="002060"/>
                </a:solidFill>
                <a:latin typeface="Times New Roman" pitchFamily="18" charset="0"/>
                <a:cs typeface="Times New Roman" pitchFamily="18" charset="0"/>
              </a:rPr>
              <a:t>Row (Tuple) level locking.</a:t>
            </a:r>
          </a:p>
          <a:p>
            <a:pPr marL="914400" indent="-449263" algn="just">
              <a:lnSpc>
                <a:spcPct val="150000"/>
              </a:lnSpc>
              <a:buClr>
                <a:srgbClr val="FF0000"/>
              </a:buClr>
              <a:buFont typeface="+mj-lt"/>
              <a:buAutoNum type="arabicPeriod"/>
            </a:pPr>
            <a:r>
              <a:rPr lang="en-US" sz="2400" dirty="0">
                <a:solidFill>
                  <a:srgbClr val="002060"/>
                </a:solidFill>
                <a:latin typeface="Times New Roman" pitchFamily="18" charset="0"/>
                <a:cs typeface="Times New Roman" pitchFamily="18" charset="0"/>
              </a:rPr>
              <a:t>Attributes (fields) level locking.</a:t>
            </a:r>
          </a:p>
          <a:p>
            <a:pPr marL="457200" indent="-457200" algn="just">
              <a:lnSpc>
                <a:spcPct val="150000"/>
              </a:lnSpc>
              <a:buClr>
                <a:srgbClr val="002060"/>
              </a:buClr>
            </a:pP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 calcmode="lin" valueType="num">
                                      <p:cBhvr additive="base">
                                        <p:cTn id="2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 calcmode="lin" valueType="num">
                                      <p:cBhvr additive="base">
                                        <p:cTn id="3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 calcmode="lin" valueType="num">
                                      <p:cBhvr additive="base">
                                        <p:cTn id="3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
                                            <p:txEl>
                                              <p:pRg st="7" end="7"/>
                                            </p:txEl>
                                          </p:spTgt>
                                        </p:tgtEl>
                                        <p:attrNameLst>
                                          <p:attrName>style.visibility</p:attrName>
                                        </p:attrNameLst>
                                      </p:cBhvr>
                                      <p:to>
                                        <p:strVal val="visible"/>
                                      </p:to>
                                    </p:set>
                                    <p:anim calcmode="lin" valueType="num">
                                      <p:cBhvr additive="base">
                                        <p:cTn id="43"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
                                            <p:txEl>
                                              <p:pRg st="8" end="8"/>
                                            </p:txEl>
                                          </p:spTgt>
                                        </p:tgtEl>
                                        <p:attrNameLst>
                                          <p:attrName>style.visibility</p:attrName>
                                        </p:attrNameLst>
                                      </p:cBhvr>
                                      <p:to>
                                        <p:strVal val="visible"/>
                                      </p:to>
                                    </p:set>
                                    <p:anim calcmode="lin" valueType="num">
                                      <p:cBhvr additive="base">
                                        <p:cTn id="49"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838200"/>
            <a:ext cx="9144000" cy="5715000"/>
          </a:xfrm>
          <a:prstGeom prst="rect">
            <a:avLst/>
          </a:prstGeom>
        </p:spPr>
        <p:txBody>
          <a:bodyPr vert="horz" lIns="91440" tIns="45720" rIns="91440" bIns="45720" rtlCol="0">
            <a:normAutofit/>
          </a:bodyPr>
          <a:lstStyle/>
          <a:p>
            <a:pPr marL="514350" indent="-514350" algn="just">
              <a:lnSpc>
                <a:spcPct val="150000"/>
              </a:lnSpc>
              <a:buClr>
                <a:srgbClr val="002060"/>
              </a:buClr>
              <a:buFont typeface="+mj-lt"/>
              <a:buAutoNum type="romanUcPeriod" startAt="2"/>
            </a:pPr>
            <a:r>
              <a:rPr lang="en-US" sz="2400" b="1" u="sng" dirty="0">
                <a:solidFill>
                  <a:srgbClr val="FF0000"/>
                </a:solidFill>
                <a:latin typeface="Times New Roman" pitchFamily="18" charset="0"/>
                <a:cs typeface="Times New Roman" pitchFamily="18" charset="0"/>
              </a:rPr>
              <a:t>Lock Types</a:t>
            </a:r>
            <a:r>
              <a:rPr lang="en-US" sz="2400" b="1" dirty="0">
                <a:solidFill>
                  <a:srgbClr val="002060"/>
                </a:solidFill>
                <a:latin typeface="Times New Roman" pitchFamily="18" charset="0"/>
                <a:cs typeface="Times New Roman" pitchFamily="18" charset="0"/>
              </a:rPr>
              <a:t>:</a:t>
            </a:r>
            <a:endParaRPr lang="en-US" sz="2400" dirty="0">
              <a:solidFill>
                <a:srgbClr val="002060"/>
              </a:solidFill>
              <a:latin typeface="Times New Roman" pitchFamily="18" charset="0"/>
              <a:cs typeface="Times New Roman" pitchFamily="18" charset="0"/>
            </a:endParaRPr>
          </a:p>
          <a:p>
            <a:pPr marL="457200" indent="-457200" algn="just">
              <a:lnSpc>
                <a:spcPct val="200000"/>
              </a:lnSpc>
            </a:pPr>
            <a:r>
              <a:rPr lang="en-US" sz="2400" dirty="0">
                <a:solidFill>
                  <a:srgbClr val="002060"/>
                </a:solidFill>
                <a:latin typeface="Times New Roman" pitchFamily="18" charset="0"/>
                <a:cs typeface="Times New Roman" pitchFamily="18" charset="0"/>
              </a:rPr>
              <a:t>	The DBMS mainly uses following types of locking techniques. </a:t>
            </a:r>
          </a:p>
          <a:p>
            <a:pPr marL="922337" indent="-457200" algn="just">
              <a:lnSpc>
                <a:spcPct val="200000"/>
              </a:lnSpc>
              <a:buClr>
                <a:srgbClr val="FF0000"/>
              </a:buClr>
              <a:buFont typeface="+mj-lt"/>
              <a:buAutoNum type="alphaLcParenR"/>
            </a:pPr>
            <a:r>
              <a:rPr lang="en-US" sz="2400" dirty="0">
                <a:solidFill>
                  <a:srgbClr val="002060"/>
                </a:solidFill>
                <a:latin typeface="Times New Roman" pitchFamily="18" charset="0"/>
                <a:cs typeface="Times New Roman" pitchFamily="18" charset="0"/>
              </a:rPr>
              <a:t>Binary Locking</a:t>
            </a:r>
          </a:p>
          <a:p>
            <a:pPr marL="922337" indent="-457200" algn="just">
              <a:lnSpc>
                <a:spcPct val="200000"/>
              </a:lnSpc>
              <a:buClr>
                <a:srgbClr val="FF0000"/>
              </a:buClr>
              <a:buFont typeface="+mj-lt"/>
              <a:buAutoNum type="alphaLcParenR"/>
            </a:pPr>
            <a:r>
              <a:rPr lang="en-US" sz="2400" dirty="0">
                <a:solidFill>
                  <a:srgbClr val="002060"/>
                </a:solidFill>
                <a:latin typeface="Times New Roman" pitchFamily="18" charset="0"/>
                <a:cs typeface="Times New Roman" pitchFamily="18" charset="0"/>
              </a:rPr>
              <a:t>Shared / Exclusive Locking</a:t>
            </a:r>
          </a:p>
          <a:p>
            <a:pPr marL="922337" indent="-457200" algn="just">
              <a:lnSpc>
                <a:spcPct val="200000"/>
              </a:lnSpc>
              <a:buClr>
                <a:srgbClr val="FF0000"/>
              </a:buClr>
              <a:buFont typeface="+mj-lt"/>
              <a:buAutoNum type="alphaLcParenR"/>
            </a:pPr>
            <a:r>
              <a:rPr lang="en-US" sz="2400" dirty="0">
                <a:solidFill>
                  <a:srgbClr val="002060"/>
                </a:solidFill>
                <a:latin typeface="Times New Roman" pitchFamily="18" charset="0"/>
                <a:cs typeface="Times New Roman" pitchFamily="18" charset="0"/>
              </a:rPr>
              <a:t>Two - Phase Locking (2PL)</a:t>
            </a:r>
          </a:p>
          <a:p>
            <a:pPr marL="457200" indent="-457200" algn="just">
              <a:lnSpc>
                <a:spcPct val="150000"/>
              </a:lnSpc>
              <a:buClr>
                <a:srgbClr val="002060"/>
              </a:buClr>
            </a:pP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 calcmode="lin" valueType="num">
                                      <p:cBhvr additive="base">
                                        <p:cTn id="1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 calcmode="lin" valueType="num">
                                      <p:cBhvr additive="base">
                                        <p:cTn id="19"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2438400"/>
            <a:ext cx="9144000" cy="2057400"/>
          </a:xfrm>
          <a:prstGeom prst="rect">
            <a:avLst/>
          </a:prstGeom>
        </p:spPr>
        <p:txBody>
          <a:bodyPr vert="horz" lIns="91440" tIns="45720" rIns="91440" bIns="45720" rtlCol="0">
            <a:noAutofit/>
          </a:bodyPr>
          <a:lstStyle/>
          <a:p>
            <a:pPr marL="457200" indent="-457200" algn="ctr">
              <a:lnSpc>
                <a:spcPct val="150000"/>
              </a:lnSpc>
              <a:buClr>
                <a:srgbClr val="002060"/>
              </a:buClr>
            </a:pPr>
            <a:r>
              <a:rPr lang="en-US" sz="4800" b="1" dirty="0">
                <a:solidFill>
                  <a:srgbClr val="FF0000"/>
                </a:solidFill>
                <a:latin typeface="Times New Roman" pitchFamily="18" charset="0"/>
                <a:cs typeface="Times New Roman" pitchFamily="18" charset="0"/>
              </a:rPr>
              <a:t>BINARY LOCKS</a:t>
            </a:r>
            <a:endParaRPr lang="en-US" sz="4800" dirty="0">
              <a:solidFill>
                <a:srgbClr val="002060"/>
              </a:solidFill>
              <a:latin typeface="Times New Roman" pitchFamily="18" charset="0"/>
              <a:cs typeface="Times New Roman" pitchFamily="18"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09600"/>
            <a:ext cx="9144000" cy="62484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a:pPr>
            <a:r>
              <a:rPr lang="en-US" sz="2400" b="1" u="sng" dirty="0">
                <a:solidFill>
                  <a:srgbClr val="FF0000"/>
                </a:solidFill>
                <a:latin typeface="Times New Roman" pitchFamily="18" charset="0"/>
                <a:cs typeface="Times New Roman" pitchFamily="18" charset="0"/>
              </a:rPr>
              <a:t>BINARY LOCKS</a:t>
            </a:r>
            <a:r>
              <a:rPr lang="en-US" sz="2400" dirty="0">
                <a:solidFill>
                  <a:srgbClr val="002060"/>
                </a:solidFill>
                <a:latin typeface="Times New Roman" pitchFamily="18" charset="0"/>
                <a:cs typeface="Times New Roman" pitchFamily="18" charset="0"/>
              </a:rPr>
              <a:t>:</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A binary lock can have two states or values: </a:t>
            </a:r>
          </a:p>
          <a:p>
            <a:pPr marL="465138" algn="just">
              <a:lnSpc>
                <a:spcPct val="150000"/>
              </a:lnSpc>
              <a:buClr>
                <a:srgbClr val="FF0000"/>
              </a:buClr>
              <a:buFont typeface="+mj-lt"/>
              <a:buAutoNum type="arabicParenR"/>
            </a:pPr>
            <a:r>
              <a:rPr lang="en-US" sz="2400" dirty="0">
                <a:solidFill>
                  <a:srgbClr val="002060"/>
                </a:solidFill>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Locked state - (</a:t>
            </a:r>
            <a:r>
              <a:rPr lang="en-US" sz="2400" dirty="0">
                <a:solidFill>
                  <a:srgbClr val="002060"/>
                </a:solidFill>
                <a:latin typeface="Times New Roman" pitchFamily="18" charset="0"/>
                <a:cs typeface="Times New Roman" pitchFamily="18" charset="0"/>
              </a:rPr>
              <a:t>1</a:t>
            </a:r>
            <a:r>
              <a:rPr lang="en-US" sz="2400" dirty="0">
                <a:solidFill>
                  <a:srgbClr val="FF0000"/>
                </a:solidFill>
                <a:latin typeface="Times New Roman" pitchFamily="18" charset="0"/>
                <a:cs typeface="Times New Roman" pitchFamily="18" charset="0"/>
              </a:rPr>
              <a:t>) </a:t>
            </a:r>
            <a:endParaRPr lang="en-US" sz="2400" dirty="0">
              <a:solidFill>
                <a:srgbClr val="002060"/>
              </a:solidFill>
              <a:latin typeface="Times New Roman" pitchFamily="18" charset="0"/>
              <a:cs typeface="Times New Roman" pitchFamily="18" charset="0"/>
            </a:endParaRPr>
          </a:p>
          <a:p>
            <a:pPr marL="465138" algn="just">
              <a:lnSpc>
                <a:spcPct val="150000"/>
              </a:lnSpc>
              <a:buClr>
                <a:srgbClr val="FF0000"/>
              </a:buClr>
            </a:pPr>
            <a:r>
              <a:rPr lang="en-US" sz="2400" dirty="0">
                <a:solidFill>
                  <a:srgbClr val="FF0000"/>
                </a:solidFill>
                <a:latin typeface="Times New Roman" pitchFamily="18" charset="0"/>
                <a:cs typeface="Times New Roman" pitchFamily="18" charset="0"/>
              </a:rPr>
              <a:t>2)  Unlocked state - (</a:t>
            </a:r>
            <a:r>
              <a:rPr lang="en-US" sz="2400" dirty="0">
                <a:solidFill>
                  <a:srgbClr val="002060"/>
                </a:solidFill>
                <a:latin typeface="Times New Roman" pitchFamily="18" charset="0"/>
                <a:cs typeface="Times New Roman" pitchFamily="18" charset="0"/>
              </a:rPr>
              <a:t>0</a:t>
            </a:r>
            <a:r>
              <a:rPr lang="en-US" sz="2400" dirty="0">
                <a:solidFill>
                  <a:srgbClr val="FF0000"/>
                </a:solidFill>
                <a:latin typeface="Times New Roman" pitchFamily="18" charset="0"/>
                <a:cs typeface="Times New Roman" pitchFamily="18" charset="0"/>
              </a:rPr>
              <a:t>) </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If the value of the lock on </a:t>
            </a:r>
            <a:r>
              <a:rPr lang="en-US" sz="2400" dirty="0">
                <a:solidFill>
                  <a:srgbClr val="FF0000"/>
                </a:solidFill>
                <a:latin typeface="Times New Roman" pitchFamily="18" charset="0"/>
                <a:cs typeface="Times New Roman" pitchFamily="18" charset="0"/>
              </a:rPr>
              <a:t>X is 1</a:t>
            </a:r>
            <a:r>
              <a:rPr lang="en-US" sz="2400" dirty="0">
                <a:solidFill>
                  <a:srgbClr val="002060"/>
                </a:solidFill>
                <a:latin typeface="Times New Roman" pitchFamily="18" charset="0"/>
                <a:cs typeface="Times New Roman" pitchFamily="18" charset="0"/>
              </a:rPr>
              <a:t>, then the item X </a:t>
            </a:r>
            <a:r>
              <a:rPr lang="en-US" sz="2400" dirty="0">
                <a:solidFill>
                  <a:srgbClr val="FF0000"/>
                </a:solidFill>
                <a:latin typeface="Times New Roman" pitchFamily="18" charset="0"/>
                <a:cs typeface="Times New Roman" pitchFamily="18" charset="0"/>
              </a:rPr>
              <a:t>cannot be </a:t>
            </a:r>
            <a:r>
              <a:rPr lang="en-US" sz="2400" dirty="0">
                <a:solidFill>
                  <a:srgbClr val="002060"/>
                </a:solidFill>
                <a:latin typeface="Times New Roman" pitchFamily="18" charset="0"/>
                <a:cs typeface="Times New Roman" pitchFamily="18" charset="0"/>
              </a:rPr>
              <a:t>accessed by a other operation.</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If the value of the lock on </a:t>
            </a:r>
            <a:r>
              <a:rPr lang="en-US" sz="2400" dirty="0">
                <a:solidFill>
                  <a:srgbClr val="FF0000"/>
                </a:solidFill>
                <a:latin typeface="Times New Roman" pitchFamily="18" charset="0"/>
                <a:cs typeface="Times New Roman" pitchFamily="18" charset="0"/>
              </a:rPr>
              <a:t>X is 0</a:t>
            </a:r>
            <a:r>
              <a:rPr lang="en-US" sz="2400" dirty="0">
                <a:solidFill>
                  <a:srgbClr val="002060"/>
                </a:solidFill>
                <a:latin typeface="Times New Roman" pitchFamily="18" charset="0"/>
                <a:cs typeface="Times New Roman" pitchFamily="18" charset="0"/>
              </a:rPr>
              <a:t>, the item </a:t>
            </a:r>
            <a:r>
              <a:rPr lang="en-US" sz="2400" dirty="0">
                <a:solidFill>
                  <a:srgbClr val="FF0000"/>
                </a:solidFill>
                <a:latin typeface="Times New Roman" pitchFamily="18" charset="0"/>
                <a:cs typeface="Times New Roman" pitchFamily="18" charset="0"/>
              </a:rPr>
              <a:t>can be accessed </a:t>
            </a:r>
            <a:r>
              <a:rPr lang="en-US" sz="2400" dirty="0">
                <a:solidFill>
                  <a:srgbClr val="002060"/>
                </a:solidFill>
                <a:latin typeface="Times New Roman" pitchFamily="18" charset="0"/>
                <a:cs typeface="Times New Roman" pitchFamily="18" charset="0"/>
              </a:rPr>
              <a:t>by other operation.</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The current state of the lock associated with item X is </a:t>
            </a:r>
            <a:r>
              <a:rPr lang="en-US" sz="2400" b="1" dirty="0">
                <a:solidFill>
                  <a:srgbClr val="FF0000"/>
                </a:solidFill>
                <a:latin typeface="Times New Roman" pitchFamily="18" charset="0"/>
                <a:cs typeface="Times New Roman" pitchFamily="18" charset="0"/>
              </a:rPr>
              <a:t>LOCK(X</a:t>
            </a:r>
            <a:r>
              <a:rPr lang="en-US" sz="2400" b="1" dirty="0">
                <a:solidFill>
                  <a:srgbClr val="002060"/>
                </a:solidFill>
                <a:latin typeface="Times New Roman" pitchFamily="18" charset="0"/>
                <a:cs typeface="Times New Roman" pitchFamily="18" charset="0"/>
              </a:rPr>
              <a:t>).</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Two operations, </a:t>
            </a:r>
            <a:r>
              <a:rPr lang="en-US" sz="2400" dirty="0" err="1">
                <a:solidFill>
                  <a:srgbClr val="FF0000"/>
                </a:solidFill>
                <a:latin typeface="Times New Roman" pitchFamily="18" charset="0"/>
                <a:cs typeface="Times New Roman" pitchFamily="18" charset="0"/>
              </a:rPr>
              <a:t>lock_item</a:t>
            </a:r>
            <a:r>
              <a:rPr lang="en-US" sz="2400" dirty="0">
                <a:solidFill>
                  <a:srgbClr val="002060"/>
                </a:solidFill>
                <a:latin typeface="Times New Roman" pitchFamily="18" charset="0"/>
                <a:cs typeface="Times New Roman" pitchFamily="18" charset="0"/>
              </a:rPr>
              <a:t> and </a:t>
            </a:r>
            <a:r>
              <a:rPr lang="en-US" sz="2400" dirty="0" err="1">
                <a:solidFill>
                  <a:srgbClr val="FF0000"/>
                </a:solidFill>
                <a:latin typeface="Times New Roman" pitchFamily="18" charset="0"/>
                <a:cs typeface="Times New Roman" pitchFamily="18" charset="0"/>
              </a:rPr>
              <a:t>unlock_item</a:t>
            </a:r>
            <a:r>
              <a:rPr lang="en-US" sz="2400" dirty="0">
                <a:solidFill>
                  <a:srgbClr val="002060"/>
                </a:solidFill>
                <a:latin typeface="Times New Roman" pitchFamily="18" charset="0"/>
                <a:cs typeface="Times New Roman" pitchFamily="18" charset="0"/>
              </a:rPr>
              <a:t>, are used with binary locking.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anim calcmode="lin" valueType="num">
                                      <p:cBhvr additive="base">
                                        <p:cTn id="11"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anim calcmode="lin" valueType="num">
                                      <p:cBhvr additive="base">
                                        <p:cTn id="1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 calcmode="lin" valueType="num">
                                      <p:cBhvr additive="base">
                                        <p:cTn id="2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 calcmode="lin" valueType="num">
                                      <p:cBhvr additive="base">
                                        <p:cTn id="27"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
                                            <p:txEl>
                                              <p:pRg st="6" end="6"/>
                                            </p:txEl>
                                          </p:spTgt>
                                        </p:tgtEl>
                                        <p:attrNameLst>
                                          <p:attrName>style.visibility</p:attrName>
                                        </p:attrNameLst>
                                      </p:cBhvr>
                                      <p:to>
                                        <p:strVal val="visible"/>
                                      </p:to>
                                    </p:set>
                                    <p:anim calcmode="lin" valueType="num">
                                      <p:cBhvr additive="base">
                                        <p:cTn id="33"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8">
                                            <p:txEl>
                                              <p:pRg st="7" end="7"/>
                                            </p:txEl>
                                          </p:spTgt>
                                        </p:tgtEl>
                                        <p:attrNameLst>
                                          <p:attrName>style.visibility</p:attrName>
                                        </p:attrNameLst>
                                      </p:cBhvr>
                                      <p:to>
                                        <p:strVal val="visible"/>
                                      </p:to>
                                    </p:set>
                                    <p:anim calcmode="lin" valueType="num">
                                      <p:cBhvr additive="base">
                                        <p:cTn id="39"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58674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a:pPr>
            <a:r>
              <a:rPr lang="en-US" sz="2400" b="1" u="sng" dirty="0">
                <a:solidFill>
                  <a:srgbClr val="FF0000"/>
                </a:solidFill>
                <a:latin typeface="Times New Roman" pitchFamily="18" charset="0"/>
                <a:cs typeface="Times New Roman" pitchFamily="18" charset="0"/>
              </a:rPr>
              <a:t>BINARY LOCKS</a:t>
            </a:r>
            <a:r>
              <a:rPr lang="en-US" sz="2400" b="1" dirty="0">
                <a:solidFill>
                  <a:srgbClr val="FF0000"/>
                </a:solidFill>
                <a:latin typeface="Times New Roman" pitchFamily="18" charset="0"/>
                <a:cs typeface="Times New Roman" pitchFamily="18" charset="0"/>
              </a:rPr>
              <a:t> (Cont…)</a:t>
            </a:r>
            <a:r>
              <a:rPr lang="en-US" sz="2400" dirty="0">
                <a:solidFill>
                  <a:srgbClr val="002060"/>
                </a:solidFill>
                <a:latin typeface="Times New Roman" pitchFamily="18" charset="0"/>
                <a:cs typeface="Times New Roman" pitchFamily="18" charset="0"/>
              </a:rPr>
              <a:t>:</a:t>
            </a:r>
          </a:p>
          <a:p>
            <a:pPr marL="465138" algn="just">
              <a:lnSpc>
                <a:spcPct val="150000"/>
              </a:lnSpc>
              <a:buClr>
                <a:srgbClr val="002060"/>
              </a:buClr>
            </a:pPr>
            <a:r>
              <a:rPr lang="en-US" sz="2400" b="1" dirty="0" err="1">
                <a:solidFill>
                  <a:srgbClr val="FF0000"/>
                </a:solidFill>
                <a:latin typeface="Times New Roman" pitchFamily="18" charset="0"/>
                <a:cs typeface="Times New Roman" pitchFamily="18" charset="0"/>
              </a:rPr>
              <a:t>Lock_item</a:t>
            </a:r>
            <a:r>
              <a:rPr lang="en-US" sz="2400" b="1" dirty="0">
                <a:solidFill>
                  <a:srgbClr val="FF0000"/>
                </a:solidFill>
                <a:latin typeface="Times New Roman" pitchFamily="18" charset="0"/>
                <a:cs typeface="Times New Roman" pitchFamily="18" charset="0"/>
              </a:rPr>
              <a:t>(X):</a:t>
            </a:r>
          </a:p>
          <a:p>
            <a:pPr marL="914400" indent="-449263" algn="just">
              <a:lnSpc>
                <a:spcPct val="200000"/>
              </a:lnSpc>
              <a:buClr>
                <a:srgbClr val="002060"/>
              </a:buClr>
              <a:buFont typeface="Wingdings" pitchFamily="2" charset="2"/>
              <a:buChar char="v"/>
            </a:pPr>
            <a:r>
              <a:rPr lang="en-US" sz="2400" dirty="0">
                <a:solidFill>
                  <a:srgbClr val="002060"/>
                </a:solidFill>
                <a:latin typeface="Times New Roman" pitchFamily="18" charset="0"/>
                <a:cs typeface="Times New Roman" pitchFamily="18" charset="0"/>
              </a:rPr>
              <a:t>A transaction requests an item. </a:t>
            </a:r>
          </a:p>
          <a:p>
            <a:pPr marL="914400" indent="-449263" algn="just">
              <a:lnSpc>
                <a:spcPct val="200000"/>
              </a:lnSpc>
              <a:buClr>
                <a:srgbClr val="002060"/>
              </a:buClr>
              <a:buFont typeface="Wingdings" pitchFamily="2" charset="2"/>
              <a:buChar char="v"/>
            </a:pPr>
            <a:r>
              <a:rPr lang="en-US" sz="2400" dirty="0">
                <a:solidFill>
                  <a:srgbClr val="002060"/>
                </a:solidFill>
                <a:latin typeface="Times New Roman" pitchFamily="18" charset="0"/>
                <a:cs typeface="Times New Roman" pitchFamily="18" charset="0"/>
              </a:rPr>
              <a:t>If LOCK(X) = 1, then transaction has to </a:t>
            </a:r>
            <a:r>
              <a:rPr lang="en-US" sz="2400" b="1" dirty="0">
                <a:solidFill>
                  <a:srgbClr val="002060"/>
                </a:solidFill>
                <a:latin typeface="Times New Roman" pitchFamily="18" charset="0"/>
                <a:cs typeface="Times New Roman" pitchFamily="18" charset="0"/>
              </a:rPr>
              <a:t>wait</a:t>
            </a:r>
            <a:r>
              <a:rPr lang="en-US" sz="2400" dirty="0">
                <a:solidFill>
                  <a:srgbClr val="002060"/>
                </a:solidFill>
                <a:latin typeface="Times New Roman" pitchFamily="18" charset="0"/>
                <a:cs typeface="Times New Roman" pitchFamily="18" charset="0"/>
              </a:rPr>
              <a:t>. </a:t>
            </a:r>
          </a:p>
          <a:p>
            <a:pPr marL="914400" indent="-449263" algn="just">
              <a:lnSpc>
                <a:spcPct val="200000"/>
              </a:lnSpc>
              <a:buClr>
                <a:srgbClr val="002060"/>
              </a:buClr>
              <a:buFont typeface="Wingdings" pitchFamily="2" charset="2"/>
              <a:buChar char="v"/>
            </a:pPr>
            <a:r>
              <a:rPr lang="en-US" sz="2400" dirty="0">
                <a:solidFill>
                  <a:srgbClr val="002060"/>
                </a:solidFill>
                <a:latin typeface="Times New Roman" pitchFamily="18" charset="0"/>
                <a:cs typeface="Times New Roman" pitchFamily="18" charset="0"/>
              </a:rPr>
              <a:t>If LOCK(X) = 0, it is set to 1 and the transaction is allowed to access item X.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 calcmode="lin" valueType="num">
                                      <p:cBhvr additive="base">
                                        <p:cTn id="1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 calcmode="lin" valueType="num">
                                      <p:cBhvr additive="base">
                                        <p:cTn id="19"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58674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a:pPr>
            <a:r>
              <a:rPr lang="en-US" sz="2400" b="1" u="sng" dirty="0">
                <a:solidFill>
                  <a:srgbClr val="FF0000"/>
                </a:solidFill>
                <a:latin typeface="Times New Roman" pitchFamily="18" charset="0"/>
                <a:cs typeface="Times New Roman" pitchFamily="18" charset="0"/>
              </a:rPr>
              <a:t>BINARY LOCKS</a:t>
            </a:r>
            <a:r>
              <a:rPr lang="en-US" sz="2400" b="1" dirty="0">
                <a:solidFill>
                  <a:srgbClr val="FF0000"/>
                </a:solidFill>
                <a:latin typeface="Times New Roman" pitchFamily="18" charset="0"/>
                <a:cs typeface="Times New Roman" pitchFamily="18" charset="0"/>
              </a:rPr>
              <a:t> (Cont…)</a:t>
            </a:r>
            <a:r>
              <a:rPr lang="en-US" sz="2400" dirty="0">
                <a:solidFill>
                  <a:srgbClr val="002060"/>
                </a:solidFill>
                <a:latin typeface="Times New Roman" pitchFamily="18" charset="0"/>
                <a:cs typeface="Times New Roman" pitchFamily="18" charset="0"/>
              </a:rPr>
              <a:t>:</a:t>
            </a:r>
          </a:p>
          <a:p>
            <a:pPr marL="465138" algn="just">
              <a:lnSpc>
                <a:spcPct val="150000"/>
              </a:lnSpc>
              <a:buClr>
                <a:srgbClr val="002060"/>
              </a:buClr>
            </a:pPr>
            <a:r>
              <a:rPr lang="en-US" sz="2400" b="1" dirty="0" err="1">
                <a:solidFill>
                  <a:srgbClr val="FF0000"/>
                </a:solidFill>
                <a:latin typeface="Times New Roman" pitchFamily="18" charset="0"/>
                <a:cs typeface="Times New Roman" pitchFamily="18" charset="0"/>
              </a:rPr>
              <a:t>Unlock_item</a:t>
            </a:r>
            <a:r>
              <a:rPr lang="en-US" sz="2400" b="1" dirty="0">
                <a:solidFill>
                  <a:srgbClr val="FF0000"/>
                </a:solidFill>
                <a:latin typeface="Times New Roman" pitchFamily="18" charset="0"/>
                <a:cs typeface="Times New Roman" pitchFamily="18" charset="0"/>
              </a:rPr>
              <a:t> (X):</a:t>
            </a:r>
          </a:p>
          <a:p>
            <a:pPr marL="914400" indent="-449263" algn="just">
              <a:lnSpc>
                <a:spcPct val="200000"/>
              </a:lnSpc>
              <a:buClr>
                <a:srgbClr val="002060"/>
              </a:buClr>
              <a:buFont typeface="Wingdings" pitchFamily="2" charset="2"/>
              <a:buChar char="v"/>
            </a:pPr>
            <a:r>
              <a:rPr lang="en-US" sz="2400" dirty="0">
                <a:solidFill>
                  <a:srgbClr val="002060"/>
                </a:solidFill>
                <a:latin typeface="Times New Roman" pitchFamily="18" charset="0"/>
                <a:cs typeface="Times New Roman" pitchFamily="18" charset="0"/>
              </a:rPr>
              <a:t>Sets </a:t>
            </a:r>
            <a:r>
              <a:rPr lang="en-US" sz="2400" dirty="0">
                <a:solidFill>
                  <a:srgbClr val="FF0000"/>
                </a:solidFill>
                <a:latin typeface="Times New Roman" pitchFamily="18" charset="0"/>
                <a:cs typeface="Times New Roman" pitchFamily="18" charset="0"/>
              </a:rPr>
              <a:t>LOCK(X) to 0 </a:t>
            </a:r>
            <a:r>
              <a:rPr lang="en-US" sz="2400" dirty="0">
                <a:solidFill>
                  <a:srgbClr val="002060"/>
                </a:solidFill>
                <a:latin typeface="Times New Roman" pitchFamily="18" charset="0"/>
                <a:cs typeface="Times New Roman" pitchFamily="18" charset="0"/>
              </a:rPr>
              <a:t>(unlocks) so that X may be accessed by other transactions.  ( LOCK(X)</a:t>
            </a:r>
            <a:r>
              <a:rPr lang="en-US" sz="2400" dirty="0">
                <a:solidFill>
                  <a:srgbClr val="002060"/>
                </a:solidFill>
                <a:latin typeface="Times New Roman" pitchFamily="18" charset="0"/>
                <a:cs typeface="Times New Roman" pitchFamily="18" charset="0"/>
                <a:sym typeface="Wingdings" pitchFamily="2" charset="2"/>
              </a:rPr>
              <a:t>0 )</a:t>
            </a:r>
            <a:endParaRPr lang="en-US" sz="2400" dirty="0">
              <a:solidFill>
                <a:srgbClr val="002060"/>
              </a:solidFill>
              <a:latin typeface="Times New Roman" pitchFamily="18" charset="0"/>
              <a:cs typeface="Times New Roman" pitchFamily="18" charset="0"/>
            </a:endParaRPr>
          </a:p>
          <a:p>
            <a:pPr marL="914400" indent="-449263" algn="just">
              <a:lnSpc>
                <a:spcPct val="200000"/>
              </a:lnSpc>
              <a:buClr>
                <a:srgbClr val="002060"/>
              </a:buClr>
              <a:buFont typeface="Wingdings" pitchFamily="2" charset="2"/>
              <a:buChar char="v"/>
            </a:pPr>
            <a:r>
              <a:rPr lang="en-US" sz="2400" dirty="0">
                <a:solidFill>
                  <a:srgbClr val="002060"/>
                </a:solidFill>
                <a:latin typeface="Times New Roman" pitchFamily="18" charset="0"/>
                <a:cs typeface="Times New Roman" pitchFamily="18" charset="0"/>
              </a:rPr>
              <a:t>A binary lock enforces mutual exclusion on the data item ; i.e., at  a time </a:t>
            </a:r>
            <a:r>
              <a:rPr lang="en-US" sz="2400" dirty="0">
                <a:solidFill>
                  <a:srgbClr val="FF0000"/>
                </a:solidFill>
                <a:latin typeface="Times New Roman" pitchFamily="18" charset="0"/>
                <a:cs typeface="Times New Roman" pitchFamily="18" charset="0"/>
              </a:rPr>
              <a:t>only one transaction can hold a lock</a:t>
            </a:r>
            <a:r>
              <a:rPr lang="en-US" sz="2400" dirty="0">
                <a:solidFill>
                  <a:srgbClr val="002060"/>
                </a:solidFill>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 calcmode="lin" valueType="num">
                                      <p:cBhvr additive="base">
                                        <p:cTn id="1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58674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a:pPr>
            <a:endParaRPr lang="en-US" sz="2400" b="1" u="sng" dirty="0">
              <a:solidFill>
                <a:srgbClr val="FF0000"/>
              </a:solidFill>
              <a:latin typeface="Times New Roman" pitchFamily="18" charset="0"/>
              <a:cs typeface="Times New Roman" pitchFamily="18" charset="0"/>
            </a:endParaRPr>
          </a:p>
          <a:p>
            <a:pPr marL="457200" indent="-457200" algn="just">
              <a:lnSpc>
                <a:spcPct val="150000"/>
              </a:lnSpc>
              <a:buClr>
                <a:srgbClr val="002060"/>
              </a:buClr>
              <a:buFont typeface="+mj-lt"/>
              <a:buAutoNum type="alphaLcParenR"/>
            </a:pPr>
            <a:r>
              <a:rPr lang="en-US" sz="2400" b="1" u="sng" dirty="0">
                <a:solidFill>
                  <a:srgbClr val="FF0000"/>
                </a:solidFill>
                <a:latin typeface="Times New Roman" pitchFamily="18" charset="0"/>
                <a:cs typeface="Times New Roman" pitchFamily="18" charset="0"/>
              </a:rPr>
              <a:t>BINARY LOCKS RULES </a:t>
            </a:r>
            <a:r>
              <a:rPr lang="en-US" sz="2400" b="1" dirty="0">
                <a:solidFill>
                  <a:srgbClr val="FF0000"/>
                </a:solidFill>
                <a:latin typeface="Times New Roman" pitchFamily="18" charset="0"/>
                <a:cs typeface="Times New Roman" pitchFamily="18" charset="0"/>
              </a:rPr>
              <a:t>(Cont…)</a:t>
            </a:r>
            <a:r>
              <a:rPr lang="en-US" sz="2400" dirty="0">
                <a:solidFill>
                  <a:srgbClr val="002060"/>
                </a:solidFill>
                <a:latin typeface="Times New Roman" pitchFamily="18" charset="0"/>
                <a:cs typeface="Times New Roman" pitchFamily="18" charset="0"/>
              </a:rPr>
              <a:t>:</a:t>
            </a:r>
          </a:p>
          <a:p>
            <a:pPr marL="465138" indent="-465138" algn="just">
              <a:lnSpc>
                <a:spcPct val="150000"/>
              </a:lnSpc>
              <a:buClr>
                <a:srgbClr val="FF0000"/>
              </a:buClr>
              <a:buAutoNum type="arabicPeriod"/>
            </a:pPr>
            <a:r>
              <a:rPr lang="en-US" sz="2800" dirty="0">
                <a:solidFill>
                  <a:srgbClr val="002060"/>
                </a:solidFill>
                <a:latin typeface="Times New Roman" pitchFamily="18" charset="0"/>
                <a:cs typeface="Times New Roman" pitchFamily="18" charset="0"/>
              </a:rPr>
              <a:t>A transaction T must issue the operation </a:t>
            </a:r>
            <a:r>
              <a:rPr lang="en-US" sz="2800" dirty="0" err="1">
                <a:solidFill>
                  <a:srgbClr val="FF0000"/>
                </a:solidFill>
                <a:latin typeface="Times New Roman" pitchFamily="18" charset="0"/>
                <a:cs typeface="Times New Roman" pitchFamily="18" charset="0"/>
              </a:rPr>
              <a:t>lock_item</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 before any </a:t>
            </a:r>
            <a:r>
              <a:rPr lang="en-US" sz="2800" dirty="0" err="1">
                <a:solidFill>
                  <a:srgbClr val="FF0000"/>
                </a:solidFill>
                <a:latin typeface="Times New Roman" pitchFamily="18" charset="0"/>
                <a:cs typeface="Times New Roman" pitchFamily="18" charset="0"/>
              </a:rPr>
              <a:t>read_item</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or </a:t>
            </a:r>
            <a:r>
              <a:rPr lang="en-US" sz="2800" dirty="0" err="1">
                <a:solidFill>
                  <a:srgbClr val="FF0000"/>
                </a:solidFill>
                <a:latin typeface="Times New Roman" pitchFamily="18" charset="0"/>
                <a:cs typeface="Times New Roman" pitchFamily="18" charset="0"/>
              </a:rPr>
              <a:t>write_item</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 operations are performed in T.</a:t>
            </a:r>
          </a:p>
          <a:p>
            <a:pPr marL="457200" indent="-457200" algn="just">
              <a:lnSpc>
                <a:spcPct val="150000"/>
              </a:lnSpc>
              <a:buClr>
                <a:srgbClr val="002060"/>
              </a:buClr>
            </a:pP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58674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a:pPr>
            <a:endParaRPr lang="en-US" sz="2400" b="1" u="sng" dirty="0">
              <a:solidFill>
                <a:srgbClr val="FF0000"/>
              </a:solidFill>
              <a:latin typeface="Times New Roman" pitchFamily="18" charset="0"/>
              <a:cs typeface="Times New Roman" pitchFamily="18" charset="0"/>
            </a:endParaRPr>
          </a:p>
          <a:p>
            <a:pPr marL="457200" indent="-457200" algn="just">
              <a:lnSpc>
                <a:spcPct val="150000"/>
              </a:lnSpc>
              <a:buClr>
                <a:srgbClr val="002060"/>
              </a:buClr>
              <a:buFont typeface="+mj-lt"/>
              <a:buAutoNum type="alphaLcParenR"/>
            </a:pPr>
            <a:r>
              <a:rPr lang="en-US" sz="2400" b="1" u="sng" dirty="0">
                <a:solidFill>
                  <a:srgbClr val="FF0000"/>
                </a:solidFill>
                <a:latin typeface="Times New Roman" pitchFamily="18" charset="0"/>
                <a:cs typeface="Times New Roman" pitchFamily="18" charset="0"/>
              </a:rPr>
              <a:t>BINARY LOCKS RULES </a:t>
            </a:r>
            <a:r>
              <a:rPr lang="en-US" sz="2400" b="1" dirty="0">
                <a:solidFill>
                  <a:srgbClr val="FF0000"/>
                </a:solidFill>
                <a:latin typeface="Times New Roman" pitchFamily="18" charset="0"/>
                <a:cs typeface="Times New Roman" pitchFamily="18" charset="0"/>
              </a:rPr>
              <a:t>(Cont…)</a:t>
            </a:r>
            <a:r>
              <a:rPr lang="en-US" sz="2400" dirty="0">
                <a:solidFill>
                  <a:srgbClr val="002060"/>
                </a:solidFill>
                <a:latin typeface="Times New Roman" pitchFamily="18" charset="0"/>
                <a:cs typeface="Times New Roman" pitchFamily="18" charset="0"/>
              </a:rPr>
              <a:t>:</a:t>
            </a:r>
          </a:p>
          <a:p>
            <a:pPr marL="465138" indent="-465138" algn="just">
              <a:lnSpc>
                <a:spcPct val="150000"/>
              </a:lnSpc>
              <a:buClr>
                <a:srgbClr val="FF0000"/>
              </a:buClr>
              <a:buFont typeface="+mj-lt"/>
              <a:buAutoNum type="arabicPeriod" startAt="2"/>
            </a:pPr>
            <a:r>
              <a:rPr lang="en-US" sz="2800" dirty="0">
                <a:solidFill>
                  <a:srgbClr val="002060"/>
                </a:solidFill>
                <a:latin typeface="Times New Roman" pitchFamily="18" charset="0"/>
                <a:cs typeface="Times New Roman" pitchFamily="18" charset="0"/>
              </a:rPr>
              <a:t>A transaction T must issue the operation </a:t>
            </a:r>
            <a:r>
              <a:rPr lang="en-US" sz="2800" dirty="0" err="1">
                <a:solidFill>
                  <a:srgbClr val="FF0000"/>
                </a:solidFill>
                <a:latin typeface="Times New Roman" pitchFamily="18" charset="0"/>
                <a:cs typeface="Times New Roman" pitchFamily="18" charset="0"/>
              </a:rPr>
              <a:t>unlock_item</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 after all </a:t>
            </a:r>
            <a:r>
              <a:rPr lang="en-US" sz="2800" dirty="0" err="1">
                <a:solidFill>
                  <a:srgbClr val="FF0000"/>
                </a:solidFill>
                <a:latin typeface="Times New Roman" pitchFamily="18" charset="0"/>
                <a:cs typeface="Times New Roman" pitchFamily="18" charset="0"/>
              </a:rPr>
              <a:t>read_item</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 and </a:t>
            </a:r>
            <a:r>
              <a:rPr lang="en-US" sz="2800" dirty="0" err="1">
                <a:solidFill>
                  <a:srgbClr val="FF0000"/>
                </a:solidFill>
                <a:latin typeface="Times New Roman" pitchFamily="18" charset="0"/>
                <a:cs typeface="Times New Roman" pitchFamily="18" charset="0"/>
              </a:rPr>
              <a:t>write_item</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operations are completed in T.</a:t>
            </a:r>
          </a:p>
          <a:p>
            <a:pPr marL="457200" indent="-457200" algn="just">
              <a:lnSpc>
                <a:spcPct val="150000"/>
              </a:lnSpc>
              <a:buClr>
                <a:srgbClr val="002060"/>
              </a:buClr>
            </a:pP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58674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a:pPr>
            <a:endParaRPr lang="en-US" sz="2400" b="1" u="sng" dirty="0">
              <a:solidFill>
                <a:srgbClr val="FF0000"/>
              </a:solidFill>
              <a:latin typeface="Times New Roman" pitchFamily="18" charset="0"/>
              <a:cs typeface="Times New Roman" pitchFamily="18" charset="0"/>
            </a:endParaRPr>
          </a:p>
          <a:p>
            <a:pPr marL="457200" indent="-457200" algn="just">
              <a:lnSpc>
                <a:spcPct val="150000"/>
              </a:lnSpc>
              <a:buClr>
                <a:srgbClr val="002060"/>
              </a:buClr>
              <a:buFont typeface="+mj-lt"/>
              <a:buAutoNum type="alphaLcParenR"/>
            </a:pPr>
            <a:r>
              <a:rPr lang="en-US" sz="2400" b="1" u="sng" dirty="0">
                <a:solidFill>
                  <a:srgbClr val="FF0000"/>
                </a:solidFill>
                <a:latin typeface="Times New Roman" pitchFamily="18" charset="0"/>
                <a:cs typeface="Times New Roman" pitchFamily="18" charset="0"/>
              </a:rPr>
              <a:t>BINARY LOCKS RULES </a:t>
            </a:r>
            <a:r>
              <a:rPr lang="en-US" sz="2400" b="1" dirty="0">
                <a:solidFill>
                  <a:srgbClr val="FF0000"/>
                </a:solidFill>
                <a:latin typeface="Times New Roman" pitchFamily="18" charset="0"/>
                <a:cs typeface="Times New Roman" pitchFamily="18" charset="0"/>
              </a:rPr>
              <a:t>(Cont…)</a:t>
            </a:r>
            <a:r>
              <a:rPr lang="en-US" sz="2400" dirty="0">
                <a:solidFill>
                  <a:srgbClr val="002060"/>
                </a:solidFill>
                <a:latin typeface="Times New Roman" pitchFamily="18" charset="0"/>
                <a:cs typeface="Times New Roman" pitchFamily="18" charset="0"/>
              </a:rPr>
              <a:t>:</a:t>
            </a:r>
          </a:p>
          <a:p>
            <a:pPr marL="465138" indent="-465138" algn="just">
              <a:lnSpc>
                <a:spcPct val="200000"/>
              </a:lnSpc>
              <a:buClr>
                <a:srgbClr val="FF0000"/>
              </a:buClr>
              <a:buFont typeface="+mj-lt"/>
              <a:buAutoNum type="arabicPeriod" startAt="3"/>
            </a:pPr>
            <a:r>
              <a:rPr lang="en-US" sz="2800" dirty="0">
                <a:solidFill>
                  <a:srgbClr val="002060"/>
                </a:solidFill>
                <a:latin typeface="Times New Roman" pitchFamily="18" charset="0"/>
                <a:cs typeface="Times New Roman" pitchFamily="18" charset="0"/>
              </a:rPr>
              <a:t>A transaction T </a:t>
            </a:r>
            <a:r>
              <a:rPr lang="en-US" sz="2800" dirty="0">
                <a:solidFill>
                  <a:srgbClr val="FF0000"/>
                </a:solidFill>
                <a:latin typeface="Times New Roman" pitchFamily="18" charset="0"/>
                <a:cs typeface="Times New Roman" pitchFamily="18" charset="0"/>
              </a:rPr>
              <a:t>will not issue a </a:t>
            </a:r>
            <a:r>
              <a:rPr lang="en-US" sz="2800" dirty="0" err="1">
                <a:solidFill>
                  <a:srgbClr val="FF0000"/>
                </a:solidFill>
                <a:latin typeface="Times New Roman" pitchFamily="18" charset="0"/>
                <a:cs typeface="Times New Roman" pitchFamily="18" charset="0"/>
              </a:rPr>
              <a:t>lock_item</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operation if it already holds the lock on item X.</a:t>
            </a:r>
          </a:p>
          <a:p>
            <a:pPr marL="457200" indent="-457200" algn="just">
              <a:lnSpc>
                <a:spcPct val="150000"/>
              </a:lnSpc>
              <a:buClr>
                <a:srgbClr val="002060"/>
              </a:buClr>
            </a:pP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58674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a:pPr>
            <a:endParaRPr lang="en-US" sz="2400" b="1" u="sng" dirty="0">
              <a:solidFill>
                <a:srgbClr val="FF0000"/>
              </a:solidFill>
              <a:latin typeface="Times New Roman" pitchFamily="18" charset="0"/>
              <a:cs typeface="Times New Roman" pitchFamily="18" charset="0"/>
            </a:endParaRPr>
          </a:p>
          <a:p>
            <a:pPr marL="457200" indent="-457200" algn="just">
              <a:lnSpc>
                <a:spcPct val="150000"/>
              </a:lnSpc>
              <a:buClr>
                <a:srgbClr val="002060"/>
              </a:buClr>
              <a:buFont typeface="+mj-lt"/>
              <a:buAutoNum type="alphaLcParenR"/>
            </a:pPr>
            <a:r>
              <a:rPr lang="en-US" sz="2400" b="1" u="sng" dirty="0">
                <a:solidFill>
                  <a:srgbClr val="FF0000"/>
                </a:solidFill>
                <a:latin typeface="Times New Roman" pitchFamily="18" charset="0"/>
                <a:cs typeface="Times New Roman" pitchFamily="18" charset="0"/>
              </a:rPr>
              <a:t>BINARY LOCKS RULES </a:t>
            </a:r>
            <a:r>
              <a:rPr lang="en-US" sz="2400" b="1" dirty="0">
                <a:solidFill>
                  <a:srgbClr val="FF0000"/>
                </a:solidFill>
                <a:latin typeface="Times New Roman" pitchFamily="18" charset="0"/>
                <a:cs typeface="Times New Roman" pitchFamily="18" charset="0"/>
              </a:rPr>
              <a:t>(Cont…)</a:t>
            </a:r>
            <a:r>
              <a:rPr lang="en-US" sz="2400" dirty="0">
                <a:solidFill>
                  <a:srgbClr val="002060"/>
                </a:solidFill>
                <a:latin typeface="Times New Roman" pitchFamily="18" charset="0"/>
                <a:cs typeface="Times New Roman" pitchFamily="18" charset="0"/>
              </a:rPr>
              <a:t>:</a:t>
            </a:r>
          </a:p>
          <a:p>
            <a:pPr marL="465138" indent="-465138" algn="just">
              <a:lnSpc>
                <a:spcPct val="200000"/>
              </a:lnSpc>
              <a:buClr>
                <a:srgbClr val="FF0000"/>
              </a:buClr>
              <a:buFont typeface="+mj-lt"/>
              <a:buAutoNum type="arabicPeriod" startAt="4"/>
            </a:pPr>
            <a:r>
              <a:rPr lang="en-US" sz="2800" dirty="0">
                <a:solidFill>
                  <a:srgbClr val="002060"/>
                </a:solidFill>
                <a:latin typeface="Times New Roman" pitchFamily="18" charset="0"/>
                <a:cs typeface="Times New Roman" pitchFamily="18" charset="0"/>
              </a:rPr>
              <a:t>A transaction T </a:t>
            </a:r>
            <a:r>
              <a:rPr lang="en-US" sz="2800" dirty="0">
                <a:solidFill>
                  <a:srgbClr val="FF0000"/>
                </a:solidFill>
                <a:latin typeface="Times New Roman" pitchFamily="18" charset="0"/>
                <a:cs typeface="Times New Roman" pitchFamily="18" charset="0"/>
              </a:rPr>
              <a:t>will not issue an </a:t>
            </a:r>
            <a:r>
              <a:rPr lang="en-US" sz="2800" dirty="0" err="1">
                <a:solidFill>
                  <a:srgbClr val="FF0000"/>
                </a:solidFill>
                <a:latin typeface="Times New Roman" pitchFamily="18" charset="0"/>
                <a:cs typeface="Times New Roman" pitchFamily="18" charset="0"/>
              </a:rPr>
              <a:t>unlock_item</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operation unless it already holds the lock on item X.</a:t>
            </a:r>
          </a:p>
          <a:p>
            <a:pPr marL="457200" indent="-457200" algn="just">
              <a:lnSpc>
                <a:spcPct val="150000"/>
              </a:lnSpc>
              <a:buClr>
                <a:srgbClr val="002060"/>
              </a:buClr>
            </a:pP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58674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a:pPr>
            <a:r>
              <a:rPr lang="en-US" sz="2400" b="1" u="sng" dirty="0">
                <a:solidFill>
                  <a:srgbClr val="FF0000"/>
                </a:solidFill>
                <a:latin typeface="Times New Roman" pitchFamily="18" charset="0"/>
                <a:cs typeface="Times New Roman" pitchFamily="18" charset="0"/>
              </a:rPr>
              <a:t>BINARY LOCKS RULES </a:t>
            </a:r>
            <a:r>
              <a:rPr lang="en-US" sz="2400" b="1" dirty="0">
                <a:solidFill>
                  <a:srgbClr val="FF0000"/>
                </a:solidFill>
                <a:latin typeface="Times New Roman" pitchFamily="18" charset="0"/>
                <a:cs typeface="Times New Roman" pitchFamily="18" charset="0"/>
              </a:rPr>
              <a:t>(Cont…)</a:t>
            </a:r>
            <a:r>
              <a:rPr lang="en-US" sz="2400" dirty="0">
                <a:solidFill>
                  <a:srgbClr val="002060"/>
                </a:solidFill>
                <a:latin typeface="Times New Roman" pitchFamily="18" charset="0"/>
                <a:cs typeface="Times New Roman" pitchFamily="18" charset="0"/>
              </a:rPr>
              <a:t>:</a:t>
            </a:r>
          </a:p>
          <a:p>
            <a:pPr marL="465138" indent="-465138" algn="just">
              <a:lnSpc>
                <a:spcPct val="200000"/>
              </a:lnSpc>
              <a:buClr>
                <a:srgbClr val="FF0000"/>
              </a:buClr>
              <a:buAutoNum type="arabicPeriod"/>
            </a:pPr>
            <a:r>
              <a:rPr lang="en-US" sz="2200" dirty="0">
                <a:solidFill>
                  <a:srgbClr val="002060"/>
                </a:solidFill>
                <a:latin typeface="Times New Roman" pitchFamily="18" charset="0"/>
                <a:cs typeface="Times New Roman" pitchFamily="18" charset="0"/>
              </a:rPr>
              <a:t>A transaction T must issue the operation </a:t>
            </a:r>
            <a:r>
              <a:rPr lang="en-US" sz="2200" dirty="0" err="1">
                <a:solidFill>
                  <a:srgbClr val="002060"/>
                </a:solidFill>
                <a:latin typeface="Times New Roman" pitchFamily="18" charset="0"/>
                <a:cs typeface="Times New Roman" pitchFamily="18" charset="0"/>
              </a:rPr>
              <a:t>lock_item</a:t>
            </a:r>
            <a:r>
              <a:rPr lang="en-US" sz="2200" dirty="0">
                <a:solidFill>
                  <a:srgbClr val="002060"/>
                </a:solidFill>
                <a:latin typeface="Times New Roman" pitchFamily="18" charset="0"/>
                <a:cs typeface="Times New Roman" pitchFamily="18" charset="0"/>
              </a:rPr>
              <a:t>(X) before any </a:t>
            </a:r>
            <a:r>
              <a:rPr lang="en-US" sz="2200" dirty="0" err="1">
                <a:solidFill>
                  <a:srgbClr val="002060"/>
                </a:solidFill>
                <a:latin typeface="Times New Roman" pitchFamily="18" charset="0"/>
                <a:cs typeface="Times New Roman" pitchFamily="18" charset="0"/>
              </a:rPr>
              <a:t>read_item</a:t>
            </a:r>
            <a:r>
              <a:rPr lang="en-US" sz="2200" dirty="0">
                <a:solidFill>
                  <a:srgbClr val="002060"/>
                </a:solidFill>
                <a:latin typeface="Times New Roman" pitchFamily="18" charset="0"/>
                <a:cs typeface="Times New Roman" pitchFamily="18" charset="0"/>
              </a:rPr>
              <a:t>(X) or </a:t>
            </a:r>
            <a:r>
              <a:rPr lang="en-US" sz="2200" dirty="0" err="1">
                <a:solidFill>
                  <a:srgbClr val="002060"/>
                </a:solidFill>
                <a:latin typeface="Times New Roman" pitchFamily="18" charset="0"/>
                <a:cs typeface="Times New Roman" pitchFamily="18" charset="0"/>
              </a:rPr>
              <a:t>write_item</a:t>
            </a:r>
            <a:r>
              <a:rPr lang="en-US" sz="2200" dirty="0">
                <a:solidFill>
                  <a:srgbClr val="002060"/>
                </a:solidFill>
                <a:latin typeface="Times New Roman" pitchFamily="18" charset="0"/>
                <a:cs typeface="Times New Roman" pitchFamily="18" charset="0"/>
              </a:rPr>
              <a:t>(X) operations are performed in T.</a:t>
            </a:r>
          </a:p>
          <a:p>
            <a:pPr marL="465138" indent="-465138" algn="just">
              <a:lnSpc>
                <a:spcPct val="200000"/>
              </a:lnSpc>
              <a:buClr>
                <a:srgbClr val="FF0000"/>
              </a:buClr>
              <a:buAutoNum type="arabicPeriod"/>
            </a:pPr>
            <a:r>
              <a:rPr lang="en-US" sz="2200" dirty="0">
                <a:solidFill>
                  <a:srgbClr val="002060"/>
                </a:solidFill>
                <a:latin typeface="Times New Roman" pitchFamily="18" charset="0"/>
                <a:cs typeface="Times New Roman" pitchFamily="18" charset="0"/>
              </a:rPr>
              <a:t>A transaction T must issue the operation </a:t>
            </a:r>
            <a:r>
              <a:rPr lang="en-US" sz="2200" dirty="0" err="1">
                <a:solidFill>
                  <a:srgbClr val="002060"/>
                </a:solidFill>
                <a:latin typeface="Times New Roman" pitchFamily="18" charset="0"/>
                <a:cs typeface="Times New Roman" pitchFamily="18" charset="0"/>
              </a:rPr>
              <a:t>unlock_item</a:t>
            </a:r>
            <a:r>
              <a:rPr lang="en-US" sz="2200" dirty="0">
                <a:solidFill>
                  <a:srgbClr val="002060"/>
                </a:solidFill>
                <a:latin typeface="Times New Roman" pitchFamily="18" charset="0"/>
                <a:cs typeface="Times New Roman" pitchFamily="18" charset="0"/>
              </a:rPr>
              <a:t>(X) after all </a:t>
            </a:r>
            <a:r>
              <a:rPr lang="en-US" sz="2200" dirty="0" err="1">
                <a:solidFill>
                  <a:srgbClr val="002060"/>
                </a:solidFill>
                <a:latin typeface="Times New Roman" pitchFamily="18" charset="0"/>
                <a:cs typeface="Times New Roman" pitchFamily="18" charset="0"/>
              </a:rPr>
              <a:t>read_item</a:t>
            </a:r>
            <a:r>
              <a:rPr lang="en-US" sz="2200" dirty="0">
                <a:solidFill>
                  <a:srgbClr val="002060"/>
                </a:solidFill>
                <a:latin typeface="Times New Roman" pitchFamily="18" charset="0"/>
                <a:cs typeface="Times New Roman" pitchFamily="18" charset="0"/>
              </a:rPr>
              <a:t>(X) and </a:t>
            </a:r>
            <a:r>
              <a:rPr lang="en-US" sz="2200" dirty="0" err="1">
                <a:solidFill>
                  <a:srgbClr val="002060"/>
                </a:solidFill>
                <a:latin typeface="Times New Roman" pitchFamily="18" charset="0"/>
                <a:cs typeface="Times New Roman" pitchFamily="18" charset="0"/>
              </a:rPr>
              <a:t>write_item</a:t>
            </a:r>
            <a:r>
              <a:rPr lang="en-US" sz="2200" dirty="0">
                <a:solidFill>
                  <a:srgbClr val="002060"/>
                </a:solidFill>
                <a:latin typeface="Times New Roman" pitchFamily="18" charset="0"/>
                <a:cs typeface="Times New Roman" pitchFamily="18" charset="0"/>
              </a:rPr>
              <a:t>(X) operations are completed in T.</a:t>
            </a:r>
          </a:p>
          <a:p>
            <a:pPr marL="465138" indent="-465138" algn="just">
              <a:lnSpc>
                <a:spcPct val="200000"/>
              </a:lnSpc>
              <a:buClr>
                <a:srgbClr val="FF0000"/>
              </a:buClr>
              <a:buAutoNum type="arabicPeriod"/>
            </a:pPr>
            <a:r>
              <a:rPr lang="en-US" sz="2200" dirty="0">
                <a:solidFill>
                  <a:srgbClr val="002060"/>
                </a:solidFill>
                <a:latin typeface="Times New Roman" pitchFamily="18" charset="0"/>
                <a:cs typeface="Times New Roman" pitchFamily="18" charset="0"/>
              </a:rPr>
              <a:t>A transaction T will not issue a </a:t>
            </a:r>
            <a:r>
              <a:rPr lang="en-US" sz="2200" dirty="0" err="1">
                <a:solidFill>
                  <a:srgbClr val="002060"/>
                </a:solidFill>
                <a:latin typeface="Times New Roman" pitchFamily="18" charset="0"/>
                <a:cs typeface="Times New Roman" pitchFamily="18" charset="0"/>
              </a:rPr>
              <a:t>lock_item</a:t>
            </a:r>
            <a:r>
              <a:rPr lang="en-US" sz="2200" dirty="0">
                <a:solidFill>
                  <a:srgbClr val="002060"/>
                </a:solidFill>
                <a:latin typeface="Times New Roman" pitchFamily="18" charset="0"/>
                <a:cs typeface="Times New Roman" pitchFamily="18" charset="0"/>
              </a:rPr>
              <a:t>(X) operation if it already holds the lock on item X.</a:t>
            </a:r>
          </a:p>
          <a:p>
            <a:pPr marL="465138" indent="-465138" algn="just">
              <a:lnSpc>
                <a:spcPct val="200000"/>
              </a:lnSpc>
              <a:buClr>
                <a:srgbClr val="FF0000"/>
              </a:buClr>
              <a:buAutoNum type="arabicPeriod"/>
            </a:pPr>
            <a:r>
              <a:rPr lang="en-US" sz="2200" dirty="0">
                <a:solidFill>
                  <a:srgbClr val="002060"/>
                </a:solidFill>
                <a:latin typeface="Times New Roman" pitchFamily="18" charset="0"/>
                <a:cs typeface="Times New Roman" pitchFamily="18" charset="0"/>
              </a:rPr>
              <a:t>A transaction T will not issue an </a:t>
            </a:r>
            <a:r>
              <a:rPr lang="en-US" sz="2200" dirty="0" err="1">
                <a:solidFill>
                  <a:srgbClr val="002060"/>
                </a:solidFill>
                <a:latin typeface="Times New Roman" pitchFamily="18" charset="0"/>
                <a:cs typeface="Times New Roman" pitchFamily="18" charset="0"/>
              </a:rPr>
              <a:t>unlock_item</a:t>
            </a:r>
            <a:r>
              <a:rPr lang="en-US" sz="2200" dirty="0">
                <a:solidFill>
                  <a:srgbClr val="002060"/>
                </a:solidFill>
                <a:latin typeface="Times New Roman" pitchFamily="18" charset="0"/>
                <a:cs typeface="Times New Roman" pitchFamily="18" charset="0"/>
              </a:rPr>
              <a:t>(X) operation unless it already holds the lock on item X.</a:t>
            </a:r>
          </a:p>
          <a:p>
            <a:pPr marL="457200" indent="-457200" algn="just">
              <a:lnSpc>
                <a:spcPct val="150000"/>
              </a:lnSpc>
              <a:buClr>
                <a:srgbClr val="002060"/>
              </a:buClr>
            </a:pPr>
            <a:endParaRPr lang="en-US" sz="2400" dirty="0">
              <a:solidFill>
                <a:srgbClr val="002060"/>
              </a:solidFill>
              <a:latin typeface="Times New Roman" pitchFamily="18" charset="0"/>
              <a:cs typeface="Times New Roman"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0" y="2057400"/>
            <a:ext cx="9144000" cy="2286000"/>
          </a:xfrm>
          <a:prstGeom prst="rect">
            <a:avLst/>
          </a:prstGeom>
        </p:spPr>
        <p:txBody>
          <a:bodyPr vert="horz" lIns="91440" tIns="45720" rIns="91440" bIns="45720" rtlCol="0">
            <a:noAutofit/>
          </a:bodyPr>
          <a:lstStyle/>
          <a:p>
            <a:pPr marL="457200" indent="-457200" algn="ctr">
              <a:lnSpc>
                <a:spcPct val="150000"/>
              </a:lnSpc>
              <a:buClr>
                <a:srgbClr val="002060"/>
              </a:buClr>
            </a:pPr>
            <a:r>
              <a:rPr lang="en-US" sz="5400" b="1" dirty="0">
                <a:solidFill>
                  <a:srgbClr val="FF0000"/>
                </a:solidFill>
                <a:latin typeface="Times New Roman" pitchFamily="18" charset="0"/>
                <a:cs typeface="Times New Roman" pitchFamily="18" charset="0"/>
              </a:rPr>
              <a:t>Shared / Exclusive Locking</a:t>
            </a:r>
            <a:endParaRPr lang="en-US" sz="5400" dirty="0">
              <a:solidFill>
                <a:srgbClr val="FF0000"/>
              </a:solidFill>
              <a:latin typeface="Times New Roman" pitchFamily="18" charset="0"/>
              <a:cs typeface="Times New Roman"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58674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2"/>
            </a:pPr>
            <a:r>
              <a:rPr lang="en-US" sz="2400" b="1" dirty="0">
                <a:solidFill>
                  <a:srgbClr val="FF0000"/>
                </a:solidFill>
                <a:latin typeface="Times New Roman" pitchFamily="18" charset="0"/>
                <a:cs typeface="Times New Roman" pitchFamily="18" charset="0"/>
              </a:rPr>
              <a:t>Shared / Exclusive Locking: </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Binary locking scheme allows </a:t>
            </a:r>
            <a:r>
              <a:rPr lang="en-US" sz="2400" dirty="0">
                <a:solidFill>
                  <a:srgbClr val="FF0000"/>
                </a:solidFill>
                <a:latin typeface="Times New Roman" pitchFamily="18" charset="0"/>
                <a:cs typeface="Times New Roman" pitchFamily="18" charset="0"/>
              </a:rPr>
              <a:t>at most one </a:t>
            </a:r>
            <a:r>
              <a:rPr lang="en-US" sz="2400" dirty="0">
                <a:solidFill>
                  <a:srgbClr val="002060"/>
                </a:solidFill>
                <a:latin typeface="Times New Roman" pitchFamily="18" charset="0"/>
                <a:cs typeface="Times New Roman" pitchFamily="18" charset="0"/>
              </a:rPr>
              <a:t>transaction can hold a lock on a given time.</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We </a:t>
            </a:r>
            <a:r>
              <a:rPr lang="en-US" sz="2400" dirty="0">
                <a:solidFill>
                  <a:srgbClr val="FF0000"/>
                </a:solidFill>
                <a:latin typeface="Times New Roman" pitchFamily="18" charset="0"/>
                <a:cs typeface="Times New Roman" pitchFamily="18" charset="0"/>
              </a:rPr>
              <a:t>should allow several transaction </a:t>
            </a:r>
            <a:r>
              <a:rPr lang="en-US" sz="2400" dirty="0">
                <a:solidFill>
                  <a:srgbClr val="002060"/>
                </a:solidFill>
                <a:latin typeface="Times New Roman" pitchFamily="18" charset="0"/>
                <a:cs typeface="Times New Roman" pitchFamily="18" charset="0"/>
              </a:rPr>
              <a:t>to access the same data item X if they all access X for </a:t>
            </a:r>
            <a:r>
              <a:rPr lang="en-US" sz="2400" dirty="0">
                <a:solidFill>
                  <a:srgbClr val="FF0000"/>
                </a:solidFill>
                <a:latin typeface="Times New Roman" pitchFamily="18" charset="0"/>
                <a:cs typeface="Times New Roman" pitchFamily="18" charset="0"/>
              </a:rPr>
              <a:t>reading purposes </a:t>
            </a:r>
            <a:r>
              <a:rPr lang="en-US" sz="2400" dirty="0">
                <a:solidFill>
                  <a:srgbClr val="002060"/>
                </a:solidFill>
                <a:latin typeface="Times New Roman" pitchFamily="18" charset="0"/>
                <a:cs typeface="Times New Roman" pitchFamily="18" charset="0"/>
              </a:rPr>
              <a:t>only.</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If a transaction is to </a:t>
            </a:r>
            <a:r>
              <a:rPr lang="en-US" sz="2400" dirty="0">
                <a:solidFill>
                  <a:srgbClr val="FF0000"/>
                </a:solidFill>
                <a:latin typeface="Times New Roman" pitchFamily="18" charset="0"/>
                <a:cs typeface="Times New Roman" pitchFamily="18" charset="0"/>
              </a:rPr>
              <a:t>write a data item </a:t>
            </a:r>
            <a:r>
              <a:rPr lang="en-US" sz="2400" dirty="0">
                <a:solidFill>
                  <a:srgbClr val="002060"/>
                </a:solidFill>
                <a:latin typeface="Times New Roman" pitchFamily="18" charset="0"/>
                <a:cs typeface="Times New Roman" pitchFamily="18" charset="0"/>
              </a:rPr>
              <a:t>X, it must have </a:t>
            </a:r>
            <a:r>
              <a:rPr lang="en-US" sz="2400" dirty="0">
                <a:solidFill>
                  <a:srgbClr val="FF0000"/>
                </a:solidFill>
                <a:latin typeface="Times New Roman" pitchFamily="18" charset="0"/>
                <a:cs typeface="Times New Roman" pitchFamily="18" charset="0"/>
              </a:rPr>
              <a:t>exclusive access to X</a:t>
            </a:r>
            <a:r>
              <a:rPr lang="en-US" sz="2400" dirty="0">
                <a:solidFill>
                  <a:srgbClr val="002060"/>
                </a:solidFill>
                <a:latin typeface="Times New Roman" pitchFamily="18" charset="0"/>
                <a:cs typeface="Times New Roman" pitchFamily="18" charset="0"/>
              </a:rPr>
              <a:t>.</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For this purpose, a different type of lock called </a:t>
            </a:r>
            <a:r>
              <a:rPr lang="en-US" sz="2400" dirty="0">
                <a:solidFill>
                  <a:srgbClr val="FF0000"/>
                </a:solidFill>
                <a:latin typeface="Times New Roman" pitchFamily="18" charset="0"/>
                <a:cs typeface="Times New Roman" pitchFamily="18" charset="0"/>
              </a:rPr>
              <a:t>multiple-mode lock </a:t>
            </a:r>
            <a:r>
              <a:rPr lang="en-US" sz="2400" dirty="0">
                <a:solidFill>
                  <a:srgbClr val="002060"/>
                </a:solidFill>
                <a:latin typeface="Times New Roman" pitchFamily="18" charset="0"/>
                <a:cs typeface="Times New Roman" pitchFamily="18" charset="0"/>
              </a:rPr>
              <a:t>is used.</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This scheme is called </a:t>
            </a:r>
            <a:r>
              <a:rPr lang="en-US" sz="2400" dirty="0">
                <a:solidFill>
                  <a:srgbClr val="FF0000"/>
                </a:solidFill>
                <a:latin typeface="Times New Roman" pitchFamily="18" charset="0"/>
                <a:cs typeface="Times New Roman" pitchFamily="18" charset="0"/>
              </a:rPr>
              <a:t>shared/exclusive lock</a:t>
            </a:r>
            <a:r>
              <a:rPr lang="en-US" sz="2400" dirty="0">
                <a:solidFill>
                  <a:srgbClr val="002060"/>
                </a:solidFill>
                <a:latin typeface="Times New Roman" pitchFamily="18" charset="0"/>
                <a:cs typeface="Times New Roman" pitchFamily="18" charset="0"/>
              </a:rPr>
              <a:t>.</a:t>
            </a:r>
          </a:p>
          <a:p>
            <a:pPr marL="457200" indent="-457200" algn="just">
              <a:lnSpc>
                <a:spcPct val="150000"/>
              </a:lnSpc>
              <a:buClr>
                <a:srgbClr val="002060"/>
              </a:buClr>
            </a:pPr>
            <a:r>
              <a:rPr lang="en-US" sz="2400" b="1" dirty="0">
                <a:solidFill>
                  <a:srgbClr val="FF0000"/>
                </a:solidFill>
                <a:latin typeface="Times New Roman" pitchFamily="18" charset="0"/>
                <a:cs typeface="Times New Roman" pitchFamily="18" charset="0"/>
              </a:rPr>
              <a:t>  </a:t>
            </a:r>
            <a:endParaRPr lang="en-US" sz="2400"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 calcmode="lin" valueType="num">
                                      <p:cBhvr additive="base">
                                        <p:cTn id="2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 calcmode="lin" valueType="num">
                                      <p:cBhvr additive="base">
                                        <p:cTn id="3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2"/>
            </a:pPr>
            <a:r>
              <a:rPr lang="en-US" sz="2800" b="1" dirty="0">
                <a:solidFill>
                  <a:srgbClr val="FF0000"/>
                </a:solidFill>
                <a:latin typeface="Times New Roman" pitchFamily="18" charset="0"/>
                <a:cs typeface="Times New Roman" pitchFamily="18" charset="0"/>
              </a:rPr>
              <a:t>Shared / Exclusive Locking: </a:t>
            </a:r>
          </a:p>
          <a:p>
            <a:pPr marL="457200" indent="-457200" algn="just">
              <a:lnSpc>
                <a:spcPct val="20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There are </a:t>
            </a:r>
            <a:r>
              <a:rPr lang="en-US" sz="2400" dirty="0">
                <a:solidFill>
                  <a:srgbClr val="FF0000"/>
                </a:solidFill>
                <a:latin typeface="Times New Roman" pitchFamily="18" charset="0"/>
                <a:cs typeface="Times New Roman" pitchFamily="18" charset="0"/>
              </a:rPr>
              <a:t>three</a:t>
            </a:r>
            <a:r>
              <a:rPr lang="en-US" sz="2400" dirty="0">
                <a:solidFill>
                  <a:srgbClr val="002060"/>
                </a:solidFill>
                <a:latin typeface="Times New Roman" pitchFamily="18" charset="0"/>
                <a:cs typeface="Times New Roman" pitchFamily="18" charset="0"/>
              </a:rPr>
              <a:t> locking operations:</a:t>
            </a:r>
          </a:p>
          <a:p>
            <a:pPr marL="457200" indent="-457200" algn="just">
              <a:lnSpc>
                <a:spcPct val="200000"/>
              </a:lnSpc>
              <a:buClr>
                <a:srgbClr val="FF0000"/>
              </a:buClr>
            </a:pPr>
            <a:r>
              <a:rPr lang="en-US" sz="2400" dirty="0">
                <a:solidFill>
                  <a:srgbClr val="002060"/>
                </a:solidFill>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1</a:t>
            </a:r>
            <a:r>
              <a:rPr lang="en-US" sz="2400" dirty="0">
                <a:solidFill>
                  <a:srgbClr val="002060"/>
                </a:solidFill>
                <a:latin typeface="Times New Roman" pitchFamily="18" charset="0"/>
                <a:cs typeface="Times New Roman" pitchFamily="18" charset="0"/>
              </a:rPr>
              <a:t>. Read_lock(X)  	</a:t>
            </a:r>
            <a:r>
              <a:rPr lang="en-US" sz="2400" dirty="0">
                <a:solidFill>
                  <a:srgbClr val="FF0000"/>
                </a:solidFill>
                <a:latin typeface="Times New Roman" pitchFamily="18" charset="0"/>
                <a:cs typeface="Times New Roman" pitchFamily="18" charset="0"/>
              </a:rPr>
              <a:t>2</a:t>
            </a:r>
            <a:r>
              <a:rPr lang="en-US" sz="2400" dirty="0">
                <a:solidFill>
                  <a:srgbClr val="002060"/>
                </a:solidFill>
                <a:latin typeface="Times New Roman" pitchFamily="18" charset="0"/>
                <a:cs typeface="Times New Roman" pitchFamily="18" charset="0"/>
              </a:rPr>
              <a:t>. Write_lock(X)  	</a:t>
            </a:r>
            <a:r>
              <a:rPr lang="en-US" sz="2400" dirty="0">
                <a:solidFill>
                  <a:srgbClr val="FF0000"/>
                </a:solidFill>
                <a:latin typeface="Times New Roman" pitchFamily="18" charset="0"/>
                <a:cs typeface="Times New Roman" pitchFamily="18" charset="0"/>
              </a:rPr>
              <a:t>3</a:t>
            </a:r>
            <a:r>
              <a:rPr lang="en-US" sz="2400" dirty="0">
                <a:solidFill>
                  <a:srgbClr val="002060"/>
                </a:solidFill>
                <a:latin typeface="Times New Roman" pitchFamily="18" charset="0"/>
                <a:cs typeface="Times New Roman" pitchFamily="18" charset="0"/>
              </a:rPr>
              <a:t>.Unlock(X)</a:t>
            </a:r>
            <a:endParaRPr lang="en-US" sz="2400" dirty="0">
              <a:solidFill>
                <a:srgbClr val="FF0000"/>
              </a:solidFill>
              <a:latin typeface="Times New Roman" pitchFamily="18" charset="0"/>
              <a:cs typeface="Times New Roman" pitchFamily="18" charset="0"/>
            </a:endParaRPr>
          </a:p>
          <a:p>
            <a:pPr marL="457200" indent="-457200" algn="just">
              <a:lnSpc>
                <a:spcPct val="20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A lock associated with an data item X, </a:t>
            </a:r>
            <a:r>
              <a:rPr lang="en-US" sz="2400" b="1" dirty="0">
                <a:solidFill>
                  <a:srgbClr val="FF0000"/>
                </a:solidFill>
                <a:latin typeface="Times New Roman" pitchFamily="18" charset="0"/>
                <a:cs typeface="Times New Roman" pitchFamily="18" charset="0"/>
              </a:rPr>
              <a:t>LOCK(X)</a:t>
            </a:r>
          </a:p>
          <a:p>
            <a:pPr marL="457200" indent="-457200" algn="just">
              <a:lnSpc>
                <a:spcPct val="20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Has three states – </a:t>
            </a:r>
            <a:r>
              <a:rPr lang="en-US" sz="2400" dirty="0">
                <a:solidFill>
                  <a:srgbClr val="FF0000"/>
                </a:solidFill>
                <a:latin typeface="Times New Roman" pitchFamily="18" charset="0"/>
                <a:cs typeface="Times New Roman" pitchFamily="18" charset="0"/>
              </a:rPr>
              <a:t>1) read-locked state</a:t>
            </a:r>
          </a:p>
          <a:p>
            <a:pPr marL="457200" indent="-457200" algn="just">
              <a:lnSpc>
                <a:spcPct val="200000"/>
              </a:lnSpc>
              <a:buClr>
                <a:srgbClr val="FF0000"/>
              </a:buClr>
            </a:pPr>
            <a:r>
              <a:rPr lang="en-US" sz="2400" dirty="0">
                <a:solidFill>
                  <a:srgbClr val="FF0000"/>
                </a:solidFill>
                <a:latin typeface="Times New Roman" pitchFamily="18" charset="0"/>
                <a:cs typeface="Times New Roman" pitchFamily="18" charset="0"/>
              </a:rPr>
              <a:t>				2) write-locked state</a:t>
            </a:r>
          </a:p>
          <a:p>
            <a:pPr marL="457200" indent="-457200" algn="just">
              <a:lnSpc>
                <a:spcPct val="200000"/>
              </a:lnSpc>
              <a:buClr>
                <a:srgbClr val="FF0000"/>
              </a:buClr>
            </a:pPr>
            <a:r>
              <a:rPr lang="en-US" sz="2400" dirty="0">
                <a:solidFill>
                  <a:srgbClr val="FF0000"/>
                </a:solidFill>
                <a:latin typeface="Times New Roman" pitchFamily="18" charset="0"/>
                <a:cs typeface="Times New Roman" pitchFamily="18" charset="0"/>
              </a:rPr>
              <a:t>				3) unlocked state.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 calcmode="lin" valueType="num">
                                      <p:cBhvr additive="base">
                                        <p:cTn id="2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 calcmode="lin" valueType="num">
                                      <p:cBhvr additive="base">
                                        <p:cTn id="3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 calcmode="lin" valueType="num">
                                      <p:cBhvr additive="base">
                                        <p:cTn id="3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2"/>
            </a:pPr>
            <a:r>
              <a:rPr lang="en-US" sz="2800" b="1" dirty="0">
                <a:solidFill>
                  <a:srgbClr val="FF0000"/>
                </a:solidFill>
                <a:latin typeface="Times New Roman" pitchFamily="18" charset="0"/>
                <a:cs typeface="Times New Roman" pitchFamily="18" charset="0"/>
              </a:rPr>
              <a:t>Shared / Exclusive Locking: </a:t>
            </a:r>
          </a:p>
          <a:p>
            <a:pPr marL="457200" indent="-457200" algn="just">
              <a:lnSpc>
                <a:spcPct val="20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A </a:t>
            </a:r>
            <a:r>
              <a:rPr lang="en-US" sz="2400" dirty="0">
                <a:solidFill>
                  <a:srgbClr val="FF0000"/>
                </a:solidFill>
                <a:latin typeface="Times New Roman" pitchFamily="18" charset="0"/>
                <a:cs typeface="Times New Roman" pitchFamily="18" charset="0"/>
              </a:rPr>
              <a:t>read-locked</a:t>
            </a:r>
            <a:r>
              <a:rPr lang="en-US" sz="2400" dirty="0">
                <a:solidFill>
                  <a:srgbClr val="002060"/>
                </a:solidFill>
                <a:latin typeface="Times New Roman" pitchFamily="18" charset="0"/>
                <a:cs typeface="Times New Roman" pitchFamily="18" charset="0"/>
              </a:rPr>
              <a:t> item is also called </a:t>
            </a:r>
            <a:r>
              <a:rPr lang="en-US" sz="2400" dirty="0">
                <a:solidFill>
                  <a:srgbClr val="FF0000"/>
                </a:solidFill>
                <a:latin typeface="Times New Roman" pitchFamily="18" charset="0"/>
                <a:cs typeface="Times New Roman" pitchFamily="18" charset="0"/>
              </a:rPr>
              <a:t>share-locked</a:t>
            </a:r>
            <a:r>
              <a:rPr lang="en-US" sz="2400" dirty="0">
                <a:solidFill>
                  <a:srgbClr val="002060"/>
                </a:solidFill>
                <a:latin typeface="Times New Roman" pitchFamily="18" charset="0"/>
                <a:cs typeface="Times New Roman" pitchFamily="18" charset="0"/>
              </a:rPr>
              <a:t> because other transactions are </a:t>
            </a:r>
            <a:r>
              <a:rPr lang="en-US" sz="2400" dirty="0">
                <a:solidFill>
                  <a:srgbClr val="FF0000"/>
                </a:solidFill>
                <a:latin typeface="Times New Roman" pitchFamily="18" charset="0"/>
                <a:cs typeface="Times New Roman" pitchFamily="18" charset="0"/>
              </a:rPr>
              <a:t>allowed to read </a:t>
            </a:r>
            <a:r>
              <a:rPr lang="en-US" sz="2400" dirty="0">
                <a:solidFill>
                  <a:srgbClr val="002060"/>
                </a:solidFill>
                <a:latin typeface="Times New Roman" pitchFamily="18" charset="0"/>
                <a:cs typeface="Times New Roman" pitchFamily="18" charset="0"/>
              </a:rPr>
              <a:t>the item.</a:t>
            </a:r>
          </a:p>
          <a:p>
            <a:pPr marL="457200" indent="-457200" algn="just">
              <a:lnSpc>
                <a:spcPct val="20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A </a:t>
            </a:r>
            <a:r>
              <a:rPr lang="en-US" sz="2400" dirty="0">
                <a:solidFill>
                  <a:srgbClr val="FF0000"/>
                </a:solidFill>
                <a:latin typeface="Times New Roman" pitchFamily="18" charset="0"/>
                <a:cs typeface="Times New Roman" pitchFamily="18" charset="0"/>
              </a:rPr>
              <a:t>write-locked</a:t>
            </a:r>
            <a:r>
              <a:rPr lang="en-US" sz="2400" dirty="0">
                <a:solidFill>
                  <a:srgbClr val="002060"/>
                </a:solidFill>
                <a:latin typeface="Times New Roman" pitchFamily="18" charset="0"/>
                <a:cs typeface="Times New Roman" pitchFamily="18" charset="0"/>
              </a:rPr>
              <a:t> item is called </a:t>
            </a:r>
            <a:r>
              <a:rPr lang="en-US" sz="2400" dirty="0">
                <a:solidFill>
                  <a:srgbClr val="FF0000"/>
                </a:solidFill>
                <a:latin typeface="Times New Roman" pitchFamily="18" charset="0"/>
                <a:cs typeface="Times New Roman" pitchFamily="18" charset="0"/>
              </a:rPr>
              <a:t>exclusive –locked </a:t>
            </a:r>
            <a:r>
              <a:rPr lang="en-US" sz="2400" dirty="0">
                <a:solidFill>
                  <a:srgbClr val="002060"/>
                </a:solidFill>
                <a:latin typeface="Times New Roman" pitchFamily="18" charset="0"/>
                <a:cs typeface="Times New Roman" pitchFamily="18" charset="0"/>
              </a:rPr>
              <a:t>because a single transaction exclusively holds the lock on the item.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58674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2"/>
            </a:pPr>
            <a:r>
              <a:rPr lang="en-US" sz="2400" b="1" dirty="0">
                <a:solidFill>
                  <a:srgbClr val="FF0000"/>
                </a:solidFill>
                <a:latin typeface="Times New Roman" pitchFamily="18" charset="0"/>
                <a:cs typeface="Times New Roman" pitchFamily="18" charset="0"/>
              </a:rPr>
              <a:t>Shared / Exclusive Locking: </a:t>
            </a:r>
            <a:endParaRPr lang="en-US" sz="2400" dirty="0">
              <a:solidFill>
                <a:srgbClr val="FF0000"/>
              </a:solidFill>
              <a:latin typeface="Times New Roman" pitchFamily="18" charset="0"/>
              <a:cs typeface="Times New Roman" pitchFamily="18" charset="0"/>
            </a:endParaRPr>
          </a:p>
          <a:p>
            <a:pPr marL="465138" algn="just">
              <a:lnSpc>
                <a:spcPct val="150000"/>
              </a:lnSpc>
            </a:pPr>
            <a:r>
              <a:rPr lang="en-US" sz="2400" b="1" u="sng" dirty="0">
                <a:solidFill>
                  <a:schemeClr val="accent2">
                    <a:lumMod val="50000"/>
                  </a:schemeClr>
                </a:solidFill>
                <a:latin typeface="Times New Roman" pitchFamily="18" charset="0"/>
                <a:cs typeface="Times New Roman" pitchFamily="18" charset="0"/>
              </a:rPr>
              <a:t>Shared Lock</a:t>
            </a:r>
            <a:r>
              <a:rPr lang="en-US" sz="2400" dirty="0">
                <a:solidFill>
                  <a:srgbClr val="002060"/>
                </a:solidFill>
                <a:latin typeface="Times New Roman" pitchFamily="18" charset="0"/>
                <a:cs typeface="Times New Roman" pitchFamily="18" charset="0"/>
              </a:rPr>
              <a:t>:</a:t>
            </a:r>
          </a:p>
          <a:p>
            <a:pPr marL="465138" indent="449263"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These locks are referred as </a:t>
            </a:r>
            <a:r>
              <a:rPr lang="en-US" sz="2400" dirty="0">
                <a:solidFill>
                  <a:srgbClr val="FF0000"/>
                </a:solidFill>
                <a:latin typeface="Times New Roman" pitchFamily="18" charset="0"/>
                <a:cs typeface="Times New Roman" pitchFamily="18" charset="0"/>
              </a:rPr>
              <a:t>read locks</a:t>
            </a:r>
            <a:r>
              <a:rPr lang="en-US" sz="2400" dirty="0">
                <a:solidFill>
                  <a:srgbClr val="002060"/>
                </a:solidFill>
                <a:latin typeface="Times New Roman" pitchFamily="18" charset="0"/>
                <a:cs typeface="Times New Roman" pitchFamily="18" charset="0"/>
              </a:rPr>
              <a:t>, and denoted by </a:t>
            </a:r>
            <a:r>
              <a:rPr lang="en-US" sz="4000" b="1" dirty="0">
                <a:solidFill>
                  <a:srgbClr val="FF0000"/>
                </a:solidFill>
                <a:latin typeface="Times New Roman" pitchFamily="18" charset="0"/>
                <a:cs typeface="Times New Roman" pitchFamily="18" charset="0"/>
              </a:rPr>
              <a:t>'S'.</a:t>
            </a:r>
          </a:p>
          <a:p>
            <a:pPr marL="914400" indent="-449263" algn="just">
              <a:lnSpc>
                <a:spcPct val="20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If a transaction T has obtained </a:t>
            </a:r>
            <a:r>
              <a:rPr lang="en-US" sz="2400" dirty="0">
                <a:solidFill>
                  <a:srgbClr val="FF0000"/>
                </a:solidFill>
                <a:latin typeface="Times New Roman" pitchFamily="18" charset="0"/>
                <a:cs typeface="Times New Roman" pitchFamily="18" charset="0"/>
              </a:rPr>
              <a:t>Shared-lock</a:t>
            </a:r>
            <a:r>
              <a:rPr lang="en-US" sz="2400" dirty="0">
                <a:solidFill>
                  <a:srgbClr val="002060"/>
                </a:solidFill>
                <a:latin typeface="Times New Roman" pitchFamily="18" charset="0"/>
                <a:cs typeface="Times New Roman" pitchFamily="18" charset="0"/>
              </a:rPr>
              <a:t> on data item X, then T </a:t>
            </a:r>
            <a:r>
              <a:rPr lang="en-US" sz="2400" dirty="0">
                <a:solidFill>
                  <a:srgbClr val="FF0000"/>
                </a:solidFill>
                <a:latin typeface="Times New Roman" pitchFamily="18" charset="0"/>
                <a:cs typeface="Times New Roman" pitchFamily="18" charset="0"/>
              </a:rPr>
              <a:t>can read X</a:t>
            </a:r>
            <a:r>
              <a:rPr lang="en-US" sz="2400" dirty="0">
                <a:solidFill>
                  <a:srgbClr val="002060"/>
                </a:solidFill>
                <a:latin typeface="Times New Roman" pitchFamily="18" charset="0"/>
                <a:cs typeface="Times New Roman" pitchFamily="18" charset="0"/>
              </a:rPr>
              <a:t>, but </a:t>
            </a:r>
            <a:r>
              <a:rPr lang="en-US" sz="2400" dirty="0">
                <a:solidFill>
                  <a:srgbClr val="FF0000"/>
                </a:solidFill>
                <a:latin typeface="Times New Roman" pitchFamily="18" charset="0"/>
                <a:cs typeface="Times New Roman" pitchFamily="18" charset="0"/>
              </a:rPr>
              <a:t>cannot write </a:t>
            </a:r>
            <a:r>
              <a:rPr lang="en-US" sz="2400" dirty="0">
                <a:solidFill>
                  <a:srgbClr val="002060"/>
                </a:solidFill>
                <a:latin typeface="Times New Roman" pitchFamily="18" charset="0"/>
                <a:cs typeface="Times New Roman" pitchFamily="18" charset="0"/>
              </a:rPr>
              <a:t>X. </a:t>
            </a:r>
          </a:p>
          <a:p>
            <a:pPr marL="914400" indent="-449263" algn="just">
              <a:lnSpc>
                <a:spcPct val="200000"/>
              </a:lnSpc>
              <a:buClr>
                <a:srgbClr val="FF0000"/>
              </a:buClr>
              <a:buFont typeface="Wingdings" pitchFamily="2" charset="2"/>
              <a:buChar char="v"/>
            </a:pPr>
            <a:r>
              <a:rPr lang="en-US" sz="2400" dirty="0">
                <a:solidFill>
                  <a:srgbClr val="FF0000"/>
                </a:solidFill>
                <a:latin typeface="Times New Roman" pitchFamily="18" charset="0"/>
                <a:cs typeface="Times New Roman" pitchFamily="18" charset="0"/>
              </a:rPr>
              <a:t>Multiple Shared lock </a:t>
            </a:r>
            <a:r>
              <a:rPr lang="en-US" sz="2400" dirty="0">
                <a:solidFill>
                  <a:srgbClr val="002060"/>
                </a:solidFill>
                <a:latin typeface="Times New Roman" pitchFamily="18" charset="0"/>
                <a:cs typeface="Times New Roman" pitchFamily="18" charset="0"/>
              </a:rPr>
              <a:t>can be placed simultaneously on a data item.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 calcmode="lin" valueType="num">
                                      <p:cBhvr additive="base">
                                        <p:cTn id="1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 calcmode="lin" valueType="num">
                                      <p:cBhvr additive="base">
                                        <p:cTn id="19"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2"/>
            </a:pPr>
            <a:r>
              <a:rPr lang="en-US" sz="2800" b="1" dirty="0">
                <a:solidFill>
                  <a:srgbClr val="FF0000"/>
                </a:solidFill>
                <a:latin typeface="Times New Roman" pitchFamily="18" charset="0"/>
                <a:cs typeface="Times New Roman" pitchFamily="18" charset="0"/>
              </a:rPr>
              <a:t>Shared / Exclusive Locking </a:t>
            </a:r>
            <a:r>
              <a:rPr lang="en-US" sz="2400" b="1" dirty="0">
                <a:solidFill>
                  <a:srgbClr val="FF0000"/>
                </a:solidFill>
                <a:latin typeface="Times New Roman" pitchFamily="18" charset="0"/>
                <a:cs typeface="Times New Roman" pitchFamily="18" charset="0"/>
              </a:rPr>
              <a:t>(Cont…): </a:t>
            </a:r>
            <a:endParaRPr lang="en-US" sz="2400" dirty="0">
              <a:solidFill>
                <a:srgbClr val="FF0000"/>
              </a:solidFill>
              <a:latin typeface="Times New Roman" pitchFamily="18" charset="0"/>
              <a:cs typeface="Times New Roman" pitchFamily="18" charset="0"/>
            </a:endParaRPr>
          </a:p>
          <a:p>
            <a:pPr marL="465138" indent="-465138" algn="just"/>
            <a:r>
              <a:rPr lang="en-US" sz="2400" dirty="0">
                <a:solidFill>
                  <a:srgbClr val="002060"/>
                </a:solidFill>
                <a:latin typeface="Times New Roman" pitchFamily="18" charset="0"/>
                <a:cs typeface="Times New Roman" pitchFamily="18" charset="0"/>
              </a:rPr>
              <a:t>	</a:t>
            </a:r>
            <a:r>
              <a:rPr lang="en-US" sz="2400" b="1" u="sng" dirty="0">
                <a:solidFill>
                  <a:srgbClr val="002060"/>
                </a:solidFill>
                <a:latin typeface="Times New Roman" pitchFamily="18" charset="0"/>
                <a:cs typeface="Times New Roman" pitchFamily="18" charset="0"/>
              </a:rPr>
              <a:t>Exclusive lock</a:t>
            </a:r>
            <a:r>
              <a:rPr lang="en-US" sz="2400" b="1" dirty="0">
                <a:solidFill>
                  <a:srgbClr val="002060"/>
                </a:solidFill>
                <a:latin typeface="Times New Roman" pitchFamily="18" charset="0"/>
                <a:cs typeface="Times New Roman" pitchFamily="18" charset="0"/>
              </a:rPr>
              <a:t>: </a:t>
            </a:r>
            <a:endParaRPr lang="en-US" sz="2400" dirty="0">
              <a:solidFill>
                <a:srgbClr val="002060"/>
              </a:solidFill>
              <a:latin typeface="Times New Roman" pitchFamily="18" charset="0"/>
              <a:cs typeface="Times New Roman" pitchFamily="18" charset="0"/>
            </a:endParaRPr>
          </a:p>
          <a:p>
            <a:pPr marL="509588" indent="-388938" algn="just">
              <a:lnSpc>
                <a:spcPct val="200000"/>
              </a:lnSpc>
              <a:buFont typeface="Wingdings" pitchFamily="2" charset="2"/>
              <a:buChar char="v"/>
            </a:pPr>
            <a:r>
              <a:rPr lang="en-US" sz="2400" dirty="0">
                <a:solidFill>
                  <a:srgbClr val="002060"/>
                </a:solidFill>
                <a:latin typeface="Times New Roman" pitchFamily="18" charset="0"/>
                <a:cs typeface="Times New Roman" pitchFamily="18" charset="0"/>
              </a:rPr>
              <a:t>These Locks are referred as </a:t>
            </a:r>
            <a:r>
              <a:rPr lang="en-US" sz="2400" dirty="0">
                <a:solidFill>
                  <a:srgbClr val="FF0000"/>
                </a:solidFill>
                <a:latin typeface="Times New Roman" pitchFamily="18" charset="0"/>
                <a:cs typeface="Times New Roman" pitchFamily="18" charset="0"/>
              </a:rPr>
              <a:t>Write locks</a:t>
            </a:r>
            <a:r>
              <a:rPr lang="en-US" sz="2400" dirty="0">
                <a:solidFill>
                  <a:srgbClr val="002060"/>
                </a:solidFill>
                <a:latin typeface="Times New Roman" pitchFamily="18" charset="0"/>
                <a:cs typeface="Times New Roman" pitchFamily="18" charset="0"/>
              </a:rPr>
              <a:t>, and denoted by </a:t>
            </a:r>
            <a:r>
              <a:rPr lang="en-US" sz="4000" b="1" dirty="0">
                <a:solidFill>
                  <a:srgbClr val="FF0000"/>
                </a:solidFill>
                <a:latin typeface="Times New Roman" pitchFamily="18" charset="0"/>
                <a:cs typeface="Times New Roman" pitchFamily="18" charset="0"/>
              </a:rPr>
              <a:t>'X'.</a:t>
            </a:r>
          </a:p>
          <a:p>
            <a:pPr marL="509588" indent="-388938" algn="just">
              <a:lnSpc>
                <a:spcPct val="200000"/>
              </a:lnSpc>
              <a:buFont typeface="Wingdings" pitchFamily="2" charset="2"/>
              <a:buChar char="v"/>
            </a:pPr>
            <a:r>
              <a:rPr lang="en-US" sz="2400" dirty="0">
                <a:solidFill>
                  <a:srgbClr val="002060"/>
                </a:solidFill>
                <a:latin typeface="Times New Roman" pitchFamily="18" charset="0"/>
                <a:cs typeface="Times New Roman" pitchFamily="18" charset="0"/>
              </a:rPr>
              <a:t>If a transaction T has obtained </a:t>
            </a:r>
            <a:r>
              <a:rPr lang="en-US" sz="2400" dirty="0">
                <a:solidFill>
                  <a:srgbClr val="FF0000"/>
                </a:solidFill>
                <a:latin typeface="Times New Roman" pitchFamily="18" charset="0"/>
                <a:cs typeface="Times New Roman" pitchFamily="18" charset="0"/>
              </a:rPr>
              <a:t>Exclusive lock </a:t>
            </a:r>
            <a:r>
              <a:rPr lang="en-US" sz="2400" dirty="0">
                <a:solidFill>
                  <a:srgbClr val="002060"/>
                </a:solidFill>
                <a:latin typeface="Times New Roman" pitchFamily="18" charset="0"/>
                <a:cs typeface="Times New Roman" pitchFamily="18" charset="0"/>
              </a:rPr>
              <a:t>on data item X, then </a:t>
            </a:r>
            <a:r>
              <a:rPr lang="en-US" sz="2400" b="1" dirty="0">
                <a:solidFill>
                  <a:srgbClr val="002060"/>
                </a:solidFill>
                <a:latin typeface="Times New Roman" pitchFamily="18" charset="0"/>
                <a:cs typeface="Times New Roman" pitchFamily="18" charset="0"/>
              </a:rPr>
              <a:t>T can be </a:t>
            </a:r>
            <a:r>
              <a:rPr lang="en-US" sz="2400" b="1" dirty="0">
                <a:solidFill>
                  <a:srgbClr val="FF0000"/>
                </a:solidFill>
                <a:latin typeface="Times New Roman" pitchFamily="18" charset="0"/>
                <a:cs typeface="Times New Roman" pitchFamily="18" charset="0"/>
              </a:rPr>
              <a:t>read</a:t>
            </a:r>
            <a:r>
              <a:rPr lang="en-US" sz="2400" b="1" dirty="0">
                <a:solidFill>
                  <a:srgbClr val="002060"/>
                </a:solidFill>
                <a:latin typeface="Times New Roman" pitchFamily="18" charset="0"/>
                <a:cs typeface="Times New Roman" pitchFamily="18" charset="0"/>
              </a:rPr>
              <a:t> as well as </a:t>
            </a:r>
            <a:r>
              <a:rPr lang="en-US" sz="2400" b="1" dirty="0">
                <a:solidFill>
                  <a:srgbClr val="FF0000"/>
                </a:solidFill>
                <a:latin typeface="Times New Roman" pitchFamily="18" charset="0"/>
                <a:cs typeface="Times New Roman" pitchFamily="18" charset="0"/>
              </a:rPr>
              <a:t>write</a:t>
            </a:r>
            <a:r>
              <a:rPr lang="en-US" sz="2400" b="1" dirty="0">
                <a:solidFill>
                  <a:srgbClr val="002060"/>
                </a:solidFill>
                <a:latin typeface="Times New Roman" pitchFamily="18" charset="0"/>
                <a:cs typeface="Times New Roman" pitchFamily="18" charset="0"/>
              </a:rPr>
              <a:t> X</a:t>
            </a:r>
            <a:r>
              <a:rPr lang="en-US" sz="2400" dirty="0">
                <a:solidFill>
                  <a:srgbClr val="002060"/>
                </a:solidFill>
                <a:latin typeface="Times New Roman" pitchFamily="18" charset="0"/>
                <a:cs typeface="Times New Roman" pitchFamily="18" charset="0"/>
              </a:rPr>
              <a:t>. </a:t>
            </a:r>
          </a:p>
          <a:p>
            <a:pPr marL="509588" indent="-388938" algn="just">
              <a:lnSpc>
                <a:spcPct val="200000"/>
              </a:lnSpc>
              <a:buFont typeface="Wingdings" pitchFamily="2" charset="2"/>
              <a:buChar char="v"/>
            </a:pPr>
            <a:r>
              <a:rPr lang="en-US" sz="2400" dirty="0">
                <a:solidFill>
                  <a:srgbClr val="FF0000"/>
                </a:solidFill>
                <a:latin typeface="Times New Roman" pitchFamily="18" charset="0"/>
                <a:cs typeface="Times New Roman" pitchFamily="18" charset="0"/>
              </a:rPr>
              <a:t>Only one Exclusive lock </a:t>
            </a:r>
            <a:r>
              <a:rPr lang="en-US" sz="2400" dirty="0">
                <a:solidFill>
                  <a:srgbClr val="002060"/>
                </a:solidFill>
                <a:latin typeface="Times New Roman" pitchFamily="18" charset="0"/>
                <a:cs typeface="Times New Roman" pitchFamily="18" charset="0"/>
              </a:rPr>
              <a:t>can be placed on a data item at a time. </a:t>
            </a:r>
          </a:p>
          <a:p>
            <a:pPr marL="509588" indent="-388938" algn="just">
              <a:lnSpc>
                <a:spcPct val="200000"/>
              </a:lnSpc>
              <a:buFont typeface="Wingdings" pitchFamily="2" charset="2"/>
              <a:buChar char="v"/>
            </a:pPr>
            <a:r>
              <a:rPr lang="en-US" sz="2400" dirty="0">
                <a:solidFill>
                  <a:srgbClr val="002060"/>
                </a:solidFill>
                <a:latin typeface="Times New Roman" pitchFamily="18" charset="0"/>
                <a:cs typeface="Times New Roman" pitchFamily="18" charset="0"/>
              </a:rPr>
              <a:t>This means multiple transactions </a:t>
            </a:r>
            <a:r>
              <a:rPr lang="en-US" sz="2400" dirty="0">
                <a:solidFill>
                  <a:srgbClr val="FF0000"/>
                </a:solidFill>
                <a:latin typeface="Times New Roman" pitchFamily="18" charset="0"/>
                <a:cs typeface="Times New Roman" pitchFamily="18" charset="0"/>
              </a:rPr>
              <a:t>does not modify </a:t>
            </a:r>
            <a:r>
              <a:rPr lang="en-US" sz="2400" dirty="0">
                <a:solidFill>
                  <a:srgbClr val="002060"/>
                </a:solidFill>
                <a:latin typeface="Times New Roman" pitchFamily="18" charset="0"/>
                <a:cs typeface="Times New Roman" pitchFamily="18" charset="0"/>
              </a:rPr>
              <a:t>the same data simultaneously.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 calcmode="lin" valueType="num">
                                      <p:cBhvr additive="base">
                                        <p:cTn id="1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 calcmode="lin" valueType="num">
                                      <p:cBhvr additive="base">
                                        <p:cTn id="19"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anim calcmode="lin" valueType="num">
                                      <p:cBhvr additive="base">
                                        <p:cTn id="25"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2"/>
            </a:pPr>
            <a:endParaRPr lang="en-US" sz="2800" b="1" dirty="0">
              <a:solidFill>
                <a:srgbClr val="FF0000"/>
              </a:solidFill>
              <a:latin typeface="Times New Roman" pitchFamily="18" charset="0"/>
              <a:cs typeface="Times New Roman" pitchFamily="18" charset="0"/>
            </a:endParaRPr>
          </a:p>
          <a:p>
            <a:pPr marL="457200" indent="-457200" algn="just">
              <a:lnSpc>
                <a:spcPct val="150000"/>
              </a:lnSpc>
              <a:buClr>
                <a:srgbClr val="002060"/>
              </a:buClr>
              <a:buFont typeface="+mj-lt"/>
              <a:buAutoNum type="alphaLcParenR" startAt="2"/>
            </a:pPr>
            <a:r>
              <a:rPr lang="en-US" sz="2800" b="1" dirty="0">
                <a:solidFill>
                  <a:srgbClr val="FF0000"/>
                </a:solidFill>
                <a:latin typeface="Times New Roman" pitchFamily="18" charset="0"/>
                <a:cs typeface="Times New Roman" pitchFamily="18" charset="0"/>
              </a:rPr>
              <a:t>Shared / Exclusive Rules</a:t>
            </a:r>
            <a:r>
              <a:rPr lang="en-US" sz="2800" b="1" dirty="0">
                <a:solidFill>
                  <a:schemeClr val="tx2">
                    <a:lumMod val="50000"/>
                  </a:schemeClr>
                </a:solidFill>
                <a:latin typeface="Times New Roman" pitchFamily="18" charset="0"/>
                <a:cs typeface="Times New Roman" pitchFamily="18" charset="0"/>
              </a:rPr>
              <a:t>:</a:t>
            </a:r>
          </a:p>
          <a:p>
            <a:pPr marL="509588" indent="-509588" algn="just">
              <a:lnSpc>
                <a:spcPct val="200000"/>
              </a:lnSpc>
              <a:buClr>
                <a:srgbClr val="FF0000"/>
              </a:buClr>
              <a:buFont typeface="+mj-lt"/>
              <a:buAutoNum type="arabicPeriod"/>
            </a:pPr>
            <a:r>
              <a:rPr lang="en-US" sz="2800" dirty="0">
                <a:solidFill>
                  <a:srgbClr val="002060"/>
                </a:solidFill>
                <a:latin typeface="Times New Roman" pitchFamily="18" charset="0"/>
                <a:cs typeface="Times New Roman" pitchFamily="18" charset="0"/>
              </a:rPr>
              <a:t>A transaction T must issue the operation </a:t>
            </a:r>
            <a:r>
              <a:rPr lang="en-US" sz="2800" dirty="0" err="1">
                <a:solidFill>
                  <a:srgbClr val="FF0000"/>
                </a:solidFill>
                <a:latin typeface="Times New Roman" pitchFamily="18" charset="0"/>
                <a:cs typeface="Times New Roman" pitchFamily="18" charset="0"/>
              </a:rPr>
              <a:t>read_lock</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 or </a:t>
            </a:r>
            <a:r>
              <a:rPr lang="en-US" sz="2800" dirty="0" err="1">
                <a:solidFill>
                  <a:srgbClr val="FF0000"/>
                </a:solidFill>
                <a:latin typeface="Times New Roman" pitchFamily="18" charset="0"/>
                <a:cs typeface="Times New Roman" pitchFamily="18" charset="0"/>
              </a:rPr>
              <a:t>write_lock</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before any </a:t>
            </a:r>
            <a:r>
              <a:rPr lang="en-US" sz="2800" dirty="0" err="1">
                <a:solidFill>
                  <a:srgbClr val="FF0000"/>
                </a:solidFill>
                <a:latin typeface="Times New Roman" pitchFamily="18" charset="0"/>
                <a:cs typeface="Times New Roman" pitchFamily="18" charset="0"/>
              </a:rPr>
              <a:t>read_item</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opeartion</a:t>
            </a:r>
            <a:r>
              <a:rPr lang="en-US" sz="2800" dirty="0">
                <a:solidFill>
                  <a:srgbClr val="002060"/>
                </a:solidFill>
                <a:latin typeface="Times New Roman" pitchFamily="18" charset="0"/>
                <a:cs typeface="Times New Roman" pitchFamily="18" charset="0"/>
              </a:rPr>
              <a:t> is performed in T.</a:t>
            </a:r>
          </a:p>
          <a:p>
            <a:pPr marL="509588" indent="-509588" algn="just">
              <a:lnSpc>
                <a:spcPct val="150000"/>
              </a:lnSpc>
              <a:buClr>
                <a:srgbClr val="002060"/>
              </a:buClr>
            </a:pPr>
            <a:endParaRPr lang="en-US" sz="2400" dirty="0">
              <a:solidFill>
                <a:schemeClr val="tx2">
                  <a:lumMod val="50000"/>
                </a:schemeClr>
              </a:solidFill>
              <a:latin typeface="Times New Roman" pitchFamily="18" charset="0"/>
              <a:cs typeface="Times New Roman" pitchFamily="18" charset="0"/>
            </a:endParaRPr>
          </a:p>
          <a:p>
            <a:pPr marL="457200" indent="-457200" algn="just">
              <a:lnSpc>
                <a:spcPct val="150000"/>
              </a:lnSpc>
              <a:buClr>
                <a:srgbClr val="002060"/>
              </a:buClr>
            </a:pPr>
            <a:r>
              <a:rPr lang="en-US" sz="2400" b="1" dirty="0">
                <a:solidFill>
                  <a:srgbClr val="FF0000"/>
                </a:solidFill>
                <a:latin typeface="Times New Roman" pitchFamily="18" charset="0"/>
                <a:cs typeface="Times New Roman" pitchFamily="18" charset="0"/>
              </a:rPr>
              <a:t> </a:t>
            </a:r>
            <a:endParaRPr lang="en-US" sz="2400" dirty="0">
              <a:solidFill>
                <a:srgbClr val="FF0000"/>
              </a:solidFill>
              <a:latin typeface="Times New Roman" pitchFamily="18" charset="0"/>
              <a:cs typeface="Times New Roman" pitchFamily="18" charset="0"/>
            </a:endParaRPr>
          </a:p>
          <a:p>
            <a:pPr marL="465138" indent="-465138" algn="just"/>
            <a:r>
              <a:rPr lang="en-US" sz="2400" dirty="0">
                <a:solidFill>
                  <a:srgbClr val="002060"/>
                </a:solidFill>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2"/>
            </a:pPr>
            <a:endParaRPr lang="en-US" sz="2800" b="1" dirty="0">
              <a:solidFill>
                <a:srgbClr val="FF0000"/>
              </a:solidFill>
              <a:latin typeface="Times New Roman" pitchFamily="18" charset="0"/>
              <a:cs typeface="Times New Roman" pitchFamily="18" charset="0"/>
            </a:endParaRPr>
          </a:p>
          <a:p>
            <a:pPr marL="457200" indent="-457200" algn="just">
              <a:lnSpc>
                <a:spcPct val="150000"/>
              </a:lnSpc>
              <a:buClr>
                <a:srgbClr val="002060"/>
              </a:buClr>
              <a:buFont typeface="+mj-lt"/>
              <a:buAutoNum type="alphaLcParenR" startAt="2"/>
            </a:pPr>
            <a:r>
              <a:rPr lang="en-US" sz="2800" b="1" dirty="0">
                <a:solidFill>
                  <a:srgbClr val="FF0000"/>
                </a:solidFill>
                <a:latin typeface="Times New Roman" pitchFamily="18" charset="0"/>
                <a:cs typeface="Times New Roman" pitchFamily="18" charset="0"/>
              </a:rPr>
              <a:t>Shared / Exclusive Rules</a:t>
            </a:r>
            <a:r>
              <a:rPr lang="en-US" sz="2800" b="1" dirty="0">
                <a:solidFill>
                  <a:schemeClr val="tx2">
                    <a:lumMod val="50000"/>
                  </a:schemeClr>
                </a:solidFill>
                <a:latin typeface="Times New Roman" pitchFamily="18" charset="0"/>
                <a:cs typeface="Times New Roman" pitchFamily="18" charset="0"/>
              </a:rPr>
              <a:t>:</a:t>
            </a:r>
          </a:p>
          <a:p>
            <a:pPr marL="509588" indent="-509588" algn="just">
              <a:lnSpc>
                <a:spcPct val="200000"/>
              </a:lnSpc>
              <a:buClr>
                <a:srgbClr val="FF0000"/>
              </a:buClr>
              <a:buFont typeface="+mj-lt"/>
              <a:buAutoNum type="arabicPeriod" startAt="2"/>
            </a:pPr>
            <a:r>
              <a:rPr lang="en-US" sz="2800" dirty="0">
                <a:solidFill>
                  <a:srgbClr val="002060"/>
                </a:solidFill>
                <a:latin typeface="Times New Roman" pitchFamily="18" charset="0"/>
                <a:cs typeface="Times New Roman" pitchFamily="18" charset="0"/>
              </a:rPr>
              <a:t>A transaction T must issue the operation </a:t>
            </a:r>
            <a:r>
              <a:rPr lang="en-US" sz="2800" dirty="0">
                <a:solidFill>
                  <a:srgbClr val="FF0000"/>
                </a:solidFill>
                <a:latin typeface="Times New Roman" pitchFamily="18" charset="0"/>
                <a:cs typeface="Times New Roman" pitchFamily="18" charset="0"/>
              </a:rPr>
              <a:t>write_lock(</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before any </a:t>
            </a:r>
            <a:r>
              <a:rPr lang="en-US" sz="2800" dirty="0" err="1">
                <a:solidFill>
                  <a:srgbClr val="FF0000"/>
                </a:solidFill>
                <a:latin typeface="Times New Roman" pitchFamily="18" charset="0"/>
                <a:cs typeface="Times New Roman" pitchFamily="18" charset="0"/>
              </a:rPr>
              <a:t>write_item</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operation is performed in T.</a:t>
            </a:r>
          </a:p>
          <a:p>
            <a:pPr marL="509588" indent="-509588" algn="just">
              <a:lnSpc>
                <a:spcPct val="150000"/>
              </a:lnSpc>
              <a:buClr>
                <a:srgbClr val="002060"/>
              </a:buClr>
            </a:pPr>
            <a:endParaRPr lang="en-US" sz="2400" dirty="0">
              <a:solidFill>
                <a:schemeClr val="tx2">
                  <a:lumMod val="50000"/>
                </a:schemeClr>
              </a:solidFill>
              <a:latin typeface="Times New Roman" pitchFamily="18" charset="0"/>
              <a:cs typeface="Times New Roman" pitchFamily="18" charset="0"/>
            </a:endParaRPr>
          </a:p>
          <a:p>
            <a:pPr marL="457200" indent="-457200" algn="just">
              <a:lnSpc>
                <a:spcPct val="150000"/>
              </a:lnSpc>
              <a:buClr>
                <a:srgbClr val="002060"/>
              </a:buClr>
            </a:pPr>
            <a:r>
              <a:rPr lang="en-US" sz="2400" b="1" dirty="0">
                <a:solidFill>
                  <a:srgbClr val="FF0000"/>
                </a:solidFill>
                <a:latin typeface="Times New Roman" pitchFamily="18" charset="0"/>
                <a:cs typeface="Times New Roman" pitchFamily="18" charset="0"/>
              </a:rPr>
              <a:t> </a:t>
            </a:r>
            <a:endParaRPr lang="en-US" sz="2400" dirty="0">
              <a:solidFill>
                <a:srgbClr val="FF0000"/>
              </a:solidFill>
              <a:latin typeface="Times New Roman" pitchFamily="18" charset="0"/>
              <a:cs typeface="Times New Roman" pitchFamily="18" charset="0"/>
            </a:endParaRPr>
          </a:p>
          <a:p>
            <a:pPr marL="465138" indent="-465138" algn="just"/>
            <a:r>
              <a:rPr lang="en-US" sz="2400" dirty="0">
                <a:solidFill>
                  <a:srgbClr val="002060"/>
                </a:solidFill>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2"/>
            </a:pPr>
            <a:endParaRPr lang="en-US" sz="2800" b="1" dirty="0">
              <a:solidFill>
                <a:schemeClr val="tx2">
                  <a:lumMod val="50000"/>
                </a:schemeClr>
              </a:solidFill>
              <a:latin typeface="Times New Roman" pitchFamily="18" charset="0"/>
              <a:cs typeface="Times New Roman" pitchFamily="18" charset="0"/>
            </a:endParaRPr>
          </a:p>
          <a:p>
            <a:pPr marL="457200" indent="-457200" algn="just">
              <a:lnSpc>
                <a:spcPct val="150000"/>
              </a:lnSpc>
              <a:buClr>
                <a:srgbClr val="002060"/>
              </a:buClr>
              <a:buFont typeface="+mj-lt"/>
              <a:buAutoNum type="alphaLcParenR" startAt="2"/>
            </a:pPr>
            <a:r>
              <a:rPr lang="en-US" sz="2800" b="1" dirty="0">
                <a:solidFill>
                  <a:srgbClr val="FF0000"/>
                </a:solidFill>
                <a:latin typeface="Times New Roman" pitchFamily="18" charset="0"/>
                <a:cs typeface="Times New Roman" pitchFamily="18" charset="0"/>
              </a:rPr>
              <a:t>Shared / Exclusive Rules</a:t>
            </a:r>
            <a:r>
              <a:rPr lang="en-US" sz="2800" b="1" dirty="0">
                <a:solidFill>
                  <a:schemeClr val="tx2">
                    <a:lumMod val="50000"/>
                  </a:schemeClr>
                </a:solidFill>
                <a:latin typeface="Times New Roman" pitchFamily="18" charset="0"/>
                <a:cs typeface="Times New Roman" pitchFamily="18" charset="0"/>
              </a:rPr>
              <a:t>:</a:t>
            </a:r>
          </a:p>
          <a:p>
            <a:pPr marL="514350" indent="-514350" algn="just">
              <a:lnSpc>
                <a:spcPct val="200000"/>
              </a:lnSpc>
              <a:buClr>
                <a:srgbClr val="FF0000"/>
              </a:buClr>
              <a:buFont typeface="+mj-lt"/>
              <a:buAutoNum type="arabicPeriod" startAt="3"/>
            </a:pPr>
            <a:r>
              <a:rPr lang="en-US" sz="2800" dirty="0">
                <a:solidFill>
                  <a:srgbClr val="002060"/>
                </a:solidFill>
                <a:latin typeface="Times New Roman" pitchFamily="18" charset="0"/>
                <a:cs typeface="Times New Roman" pitchFamily="18" charset="0"/>
              </a:rPr>
              <a:t>A transaction T must issue the operation </a:t>
            </a:r>
            <a:r>
              <a:rPr lang="en-US" sz="2800" dirty="0">
                <a:solidFill>
                  <a:srgbClr val="FF0000"/>
                </a:solidFill>
                <a:latin typeface="Times New Roman" pitchFamily="18" charset="0"/>
                <a:cs typeface="Times New Roman" pitchFamily="18" charset="0"/>
              </a:rPr>
              <a:t>unlock(</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after all </a:t>
            </a:r>
            <a:r>
              <a:rPr lang="en-US" sz="2800" dirty="0" err="1">
                <a:solidFill>
                  <a:srgbClr val="FF0000"/>
                </a:solidFill>
                <a:latin typeface="Times New Roman" pitchFamily="18" charset="0"/>
                <a:cs typeface="Times New Roman" pitchFamily="18" charset="0"/>
              </a:rPr>
              <a:t>read_item</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and </a:t>
            </a:r>
            <a:r>
              <a:rPr lang="en-US" sz="2800" dirty="0" err="1">
                <a:solidFill>
                  <a:srgbClr val="FF0000"/>
                </a:solidFill>
                <a:latin typeface="Times New Roman" pitchFamily="18" charset="0"/>
                <a:cs typeface="Times New Roman" pitchFamily="18" charset="0"/>
              </a:rPr>
              <a:t>write_item</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operations are completed in T.</a:t>
            </a:r>
          </a:p>
          <a:p>
            <a:pPr marL="509588" indent="-509588" algn="just">
              <a:lnSpc>
                <a:spcPct val="150000"/>
              </a:lnSpc>
              <a:buClr>
                <a:srgbClr val="002060"/>
              </a:buClr>
            </a:pPr>
            <a:endParaRPr lang="en-US" sz="2400" dirty="0">
              <a:solidFill>
                <a:schemeClr val="tx2">
                  <a:lumMod val="50000"/>
                </a:schemeClr>
              </a:solidFill>
              <a:latin typeface="Times New Roman" pitchFamily="18" charset="0"/>
              <a:cs typeface="Times New Roman" pitchFamily="18" charset="0"/>
            </a:endParaRPr>
          </a:p>
          <a:p>
            <a:pPr marL="457200" indent="-457200" algn="just">
              <a:lnSpc>
                <a:spcPct val="150000"/>
              </a:lnSpc>
              <a:buClr>
                <a:srgbClr val="002060"/>
              </a:buClr>
            </a:pPr>
            <a:r>
              <a:rPr lang="en-US" sz="2400" b="1" dirty="0">
                <a:solidFill>
                  <a:srgbClr val="FF0000"/>
                </a:solidFill>
                <a:latin typeface="Times New Roman" pitchFamily="18" charset="0"/>
                <a:cs typeface="Times New Roman" pitchFamily="18" charset="0"/>
              </a:rPr>
              <a:t> </a:t>
            </a:r>
            <a:endParaRPr lang="en-US" sz="2400" dirty="0">
              <a:solidFill>
                <a:srgbClr val="FF0000"/>
              </a:solidFill>
              <a:latin typeface="Times New Roman" pitchFamily="18" charset="0"/>
              <a:cs typeface="Times New Roman" pitchFamily="18" charset="0"/>
            </a:endParaRPr>
          </a:p>
          <a:p>
            <a:pPr marL="465138" indent="-465138" algn="just"/>
            <a:r>
              <a:rPr lang="en-US" sz="2400" dirty="0">
                <a:solidFill>
                  <a:srgbClr val="002060"/>
                </a:solidFill>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2"/>
            </a:pPr>
            <a:endParaRPr lang="en-US" sz="2800" b="1" dirty="0">
              <a:solidFill>
                <a:schemeClr val="tx2">
                  <a:lumMod val="50000"/>
                </a:schemeClr>
              </a:solidFill>
              <a:latin typeface="Times New Roman" pitchFamily="18" charset="0"/>
              <a:cs typeface="Times New Roman" pitchFamily="18" charset="0"/>
            </a:endParaRPr>
          </a:p>
          <a:p>
            <a:pPr marL="457200" indent="-457200" algn="just">
              <a:lnSpc>
                <a:spcPct val="150000"/>
              </a:lnSpc>
              <a:buClr>
                <a:srgbClr val="002060"/>
              </a:buClr>
              <a:buFont typeface="+mj-lt"/>
              <a:buAutoNum type="alphaLcParenR" startAt="2"/>
            </a:pPr>
            <a:r>
              <a:rPr lang="en-US" sz="2800" b="1" dirty="0">
                <a:solidFill>
                  <a:srgbClr val="FF0000"/>
                </a:solidFill>
                <a:latin typeface="Times New Roman" pitchFamily="18" charset="0"/>
                <a:cs typeface="Times New Roman" pitchFamily="18" charset="0"/>
              </a:rPr>
              <a:t>Shared / Exclusive Rules</a:t>
            </a:r>
            <a:r>
              <a:rPr lang="en-US" sz="2800" b="1" dirty="0">
                <a:solidFill>
                  <a:schemeClr val="tx2">
                    <a:lumMod val="50000"/>
                  </a:schemeClr>
                </a:solidFill>
                <a:latin typeface="Times New Roman" pitchFamily="18" charset="0"/>
                <a:cs typeface="Times New Roman" pitchFamily="18" charset="0"/>
              </a:rPr>
              <a:t>:</a:t>
            </a:r>
          </a:p>
          <a:p>
            <a:pPr marL="514350" indent="-393700" algn="just">
              <a:lnSpc>
                <a:spcPct val="200000"/>
              </a:lnSpc>
              <a:buClr>
                <a:srgbClr val="FF0000"/>
              </a:buClr>
              <a:buFont typeface="+mj-lt"/>
              <a:buAutoNum type="arabicPeriod" startAt="4"/>
            </a:pPr>
            <a:r>
              <a:rPr lang="en-US" sz="2800" dirty="0">
                <a:solidFill>
                  <a:srgbClr val="002060"/>
                </a:solidFill>
                <a:latin typeface="Times New Roman" pitchFamily="18" charset="0"/>
                <a:cs typeface="Times New Roman" pitchFamily="18" charset="0"/>
              </a:rPr>
              <a:t> A transaction </a:t>
            </a:r>
            <a:r>
              <a:rPr lang="en-US" sz="2800" dirty="0">
                <a:solidFill>
                  <a:srgbClr val="FF0000"/>
                </a:solidFill>
                <a:latin typeface="Times New Roman" pitchFamily="18" charset="0"/>
                <a:cs typeface="Times New Roman" pitchFamily="18" charset="0"/>
              </a:rPr>
              <a:t>will not issue a </a:t>
            </a:r>
            <a:r>
              <a:rPr lang="en-US" sz="2800" dirty="0" err="1">
                <a:solidFill>
                  <a:srgbClr val="FF0000"/>
                </a:solidFill>
                <a:latin typeface="Times New Roman" pitchFamily="18" charset="0"/>
                <a:cs typeface="Times New Roman" pitchFamily="18" charset="0"/>
              </a:rPr>
              <a:t>read_lock</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X</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operation if it already holds a </a:t>
            </a:r>
            <a:r>
              <a:rPr lang="en-US" sz="2800" dirty="0" err="1">
                <a:solidFill>
                  <a:srgbClr val="FF0000"/>
                </a:solidFill>
                <a:latin typeface="Times New Roman" pitchFamily="18" charset="0"/>
                <a:cs typeface="Times New Roman" pitchFamily="18" charset="0"/>
              </a:rPr>
              <a:t>read_lock</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shared</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or a </a:t>
            </a:r>
            <a:r>
              <a:rPr lang="en-US" sz="2800" dirty="0">
                <a:solidFill>
                  <a:srgbClr val="FF0000"/>
                </a:solidFill>
                <a:latin typeface="Times New Roman" pitchFamily="18" charset="0"/>
                <a:cs typeface="Times New Roman" pitchFamily="18" charset="0"/>
              </a:rPr>
              <a:t>write_lock (</a:t>
            </a:r>
            <a:r>
              <a:rPr lang="en-US" sz="2800" dirty="0">
                <a:solidFill>
                  <a:srgbClr val="002060"/>
                </a:solidFill>
                <a:latin typeface="Times New Roman" pitchFamily="18" charset="0"/>
                <a:cs typeface="Times New Roman" pitchFamily="18" charset="0"/>
              </a:rPr>
              <a:t>exclusive</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on item X.</a:t>
            </a:r>
          </a:p>
          <a:p>
            <a:pPr marL="509588" indent="-509588" algn="just">
              <a:lnSpc>
                <a:spcPct val="150000"/>
              </a:lnSpc>
              <a:buClr>
                <a:srgbClr val="002060"/>
              </a:buClr>
            </a:pPr>
            <a:endParaRPr lang="en-US" sz="2400" dirty="0">
              <a:solidFill>
                <a:schemeClr val="tx2">
                  <a:lumMod val="50000"/>
                </a:schemeClr>
              </a:solidFill>
              <a:latin typeface="Times New Roman" pitchFamily="18" charset="0"/>
              <a:cs typeface="Times New Roman" pitchFamily="18" charset="0"/>
            </a:endParaRPr>
          </a:p>
          <a:p>
            <a:pPr marL="457200" indent="-457200" algn="just">
              <a:lnSpc>
                <a:spcPct val="150000"/>
              </a:lnSpc>
              <a:buClr>
                <a:srgbClr val="002060"/>
              </a:buClr>
            </a:pPr>
            <a:r>
              <a:rPr lang="en-US" sz="2400" b="1" dirty="0">
                <a:solidFill>
                  <a:srgbClr val="FF0000"/>
                </a:solidFill>
                <a:latin typeface="Times New Roman" pitchFamily="18" charset="0"/>
                <a:cs typeface="Times New Roman" pitchFamily="18" charset="0"/>
              </a:rPr>
              <a:t> </a:t>
            </a:r>
            <a:endParaRPr lang="en-US" sz="2400" dirty="0">
              <a:solidFill>
                <a:srgbClr val="FF0000"/>
              </a:solidFill>
              <a:latin typeface="Times New Roman" pitchFamily="18" charset="0"/>
              <a:cs typeface="Times New Roman" pitchFamily="18" charset="0"/>
            </a:endParaRPr>
          </a:p>
          <a:p>
            <a:pPr marL="465138" indent="-465138" algn="just"/>
            <a:r>
              <a:rPr lang="en-US" sz="2400" dirty="0">
                <a:solidFill>
                  <a:srgbClr val="002060"/>
                </a:solidFill>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2"/>
            </a:pPr>
            <a:endParaRPr lang="en-US" sz="2800" b="1" dirty="0">
              <a:solidFill>
                <a:srgbClr val="FF0000"/>
              </a:solidFill>
              <a:latin typeface="Times New Roman" pitchFamily="18" charset="0"/>
              <a:cs typeface="Times New Roman" pitchFamily="18" charset="0"/>
            </a:endParaRPr>
          </a:p>
          <a:p>
            <a:pPr marL="457200" indent="-457200" algn="just">
              <a:lnSpc>
                <a:spcPct val="150000"/>
              </a:lnSpc>
              <a:buClr>
                <a:srgbClr val="002060"/>
              </a:buClr>
              <a:buFont typeface="+mj-lt"/>
              <a:buAutoNum type="alphaLcParenR" startAt="2"/>
            </a:pPr>
            <a:r>
              <a:rPr lang="en-US" sz="2800" b="1" dirty="0">
                <a:solidFill>
                  <a:srgbClr val="FF0000"/>
                </a:solidFill>
                <a:latin typeface="Times New Roman" pitchFamily="18" charset="0"/>
                <a:cs typeface="Times New Roman" pitchFamily="18" charset="0"/>
              </a:rPr>
              <a:t>Shared / Exclusive Rules</a:t>
            </a:r>
            <a:r>
              <a:rPr lang="en-US" sz="2800" b="1" dirty="0">
                <a:solidFill>
                  <a:schemeClr val="tx2">
                    <a:lumMod val="50000"/>
                  </a:schemeClr>
                </a:solidFill>
                <a:latin typeface="Times New Roman" pitchFamily="18" charset="0"/>
                <a:cs typeface="Times New Roman" pitchFamily="18" charset="0"/>
              </a:rPr>
              <a:t>:</a:t>
            </a:r>
          </a:p>
          <a:p>
            <a:pPr marL="509588" indent="-509588" algn="just">
              <a:lnSpc>
                <a:spcPct val="200000"/>
              </a:lnSpc>
              <a:buClr>
                <a:srgbClr val="FF0000"/>
              </a:buClr>
              <a:buFont typeface="+mj-lt"/>
              <a:buAutoNum type="arabicPeriod" startAt="5"/>
            </a:pPr>
            <a:r>
              <a:rPr lang="en-US" sz="2800" dirty="0">
                <a:solidFill>
                  <a:srgbClr val="002060"/>
                </a:solidFill>
                <a:latin typeface="Times New Roman" pitchFamily="18" charset="0"/>
                <a:cs typeface="Times New Roman" pitchFamily="18" charset="0"/>
              </a:rPr>
              <a:t>A transaction </a:t>
            </a:r>
            <a:r>
              <a:rPr lang="en-US" sz="2800" dirty="0">
                <a:solidFill>
                  <a:srgbClr val="FF0000"/>
                </a:solidFill>
                <a:latin typeface="Times New Roman" pitchFamily="18" charset="0"/>
                <a:cs typeface="Times New Roman" pitchFamily="18" charset="0"/>
              </a:rPr>
              <a:t>will not issue a write_lock(X) </a:t>
            </a:r>
            <a:r>
              <a:rPr lang="en-US" sz="2800" dirty="0">
                <a:solidFill>
                  <a:srgbClr val="002060"/>
                </a:solidFill>
                <a:latin typeface="Times New Roman" pitchFamily="18" charset="0"/>
                <a:cs typeface="Times New Roman" pitchFamily="18" charset="0"/>
              </a:rPr>
              <a:t>operation if it already holds a </a:t>
            </a:r>
            <a:r>
              <a:rPr lang="en-US" sz="2800" dirty="0" err="1">
                <a:solidFill>
                  <a:srgbClr val="FF0000"/>
                </a:solidFill>
                <a:latin typeface="Times New Roman" pitchFamily="18" charset="0"/>
                <a:cs typeface="Times New Roman" pitchFamily="18" charset="0"/>
              </a:rPr>
              <a:t>read_lock</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shared</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or a </a:t>
            </a:r>
            <a:r>
              <a:rPr lang="en-US" sz="2800" dirty="0">
                <a:solidFill>
                  <a:srgbClr val="FF0000"/>
                </a:solidFill>
                <a:latin typeface="Times New Roman" pitchFamily="18" charset="0"/>
                <a:cs typeface="Times New Roman" pitchFamily="18" charset="0"/>
              </a:rPr>
              <a:t>write_lock (</a:t>
            </a:r>
            <a:r>
              <a:rPr lang="en-US" sz="2800" dirty="0">
                <a:solidFill>
                  <a:srgbClr val="002060"/>
                </a:solidFill>
                <a:latin typeface="Times New Roman" pitchFamily="18" charset="0"/>
                <a:cs typeface="Times New Roman" pitchFamily="18" charset="0"/>
              </a:rPr>
              <a:t>exclusive</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on item X.</a:t>
            </a:r>
          </a:p>
          <a:p>
            <a:pPr marL="509588" indent="-509588" algn="just">
              <a:lnSpc>
                <a:spcPct val="150000"/>
              </a:lnSpc>
              <a:buClr>
                <a:srgbClr val="002060"/>
              </a:buClr>
              <a:buFont typeface="+mj-lt"/>
              <a:buAutoNum type="arabicPeriod" startAt="5"/>
            </a:pPr>
            <a:endParaRPr lang="en-US" sz="2400" dirty="0">
              <a:solidFill>
                <a:schemeClr val="tx2">
                  <a:lumMod val="50000"/>
                </a:schemeClr>
              </a:solidFill>
              <a:latin typeface="Times New Roman" pitchFamily="18" charset="0"/>
              <a:cs typeface="Times New Roman" pitchFamily="18" charset="0"/>
            </a:endParaRPr>
          </a:p>
          <a:p>
            <a:pPr marL="457200" indent="-457200" algn="just">
              <a:lnSpc>
                <a:spcPct val="150000"/>
              </a:lnSpc>
              <a:buClr>
                <a:srgbClr val="002060"/>
              </a:buClr>
            </a:pPr>
            <a:r>
              <a:rPr lang="en-US" sz="2400" b="1" dirty="0">
                <a:solidFill>
                  <a:srgbClr val="FF0000"/>
                </a:solidFill>
                <a:latin typeface="Times New Roman" pitchFamily="18" charset="0"/>
                <a:cs typeface="Times New Roman" pitchFamily="18" charset="0"/>
              </a:rPr>
              <a:t> </a:t>
            </a:r>
            <a:endParaRPr lang="en-US" sz="2400" dirty="0">
              <a:solidFill>
                <a:srgbClr val="FF0000"/>
              </a:solidFill>
              <a:latin typeface="Times New Roman" pitchFamily="18" charset="0"/>
              <a:cs typeface="Times New Roman" pitchFamily="18" charset="0"/>
            </a:endParaRPr>
          </a:p>
          <a:p>
            <a:pPr marL="465138" indent="-465138" algn="just"/>
            <a:r>
              <a:rPr lang="en-US" sz="2400" dirty="0">
                <a:solidFill>
                  <a:srgbClr val="002060"/>
                </a:solidFill>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2"/>
            </a:pPr>
            <a:endParaRPr lang="en-US" sz="2800" b="1" dirty="0">
              <a:solidFill>
                <a:srgbClr val="FF0000"/>
              </a:solidFill>
              <a:latin typeface="Times New Roman" pitchFamily="18" charset="0"/>
              <a:cs typeface="Times New Roman" pitchFamily="18" charset="0"/>
            </a:endParaRPr>
          </a:p>
          <a:p>
            <a:pPr marL="457200" indent="-457200" algn="just">
              <a:lnSpc>
                <a:spcPct val="150000"/>
              </a:lnSpc>
              <a:buClr>
                <a:srgbClr val="002060"/>
              </a:buClr>
              <a:buFont typeface="+mj-lt"/>
              <a:buAutoNum type="alphaLcParenR" startAt="2"/>
            </a:pPr>
            <a:r>
              <a:rPr lang="en-US" sz="2800" b="1" dirty="0">
                <a:solidFill>
                  <a:srgbClr val="FF0000"/>
                </a:solidFill>
                <a:latin typeface="Times New Roman" pitchFamily="18" charset="0"/>
                <a:cs typeface="Times New Roman" pitchFamily="18" charset="0"/>
              </a:rPr>
              <a:t>Shared / Exclusive Rules</a:t>
            </a:r>
            <a:r>
              <a:rPr lang="en-US" sz="2800" b="1" dirty="0">
                <a:solidFill>
                  <a:schemeClr val="tx2">
                    <a:lumMod val="50000"/>
                  </a:schemeClr>
                </a:solidFill>
                <a:latin typeface="Times New Roman" pitchFamily="18" charset="0"/>
                <a:cs typeface="Times New Roman" pitchFamily="18" charset="0"/>
              </a:rPr>
              <a:t>:</a:t>
            </a:r>
          </a:p>
          <a:p>
            <a:pPr marL="514350" indent="-514350" algn="just">
              <a:lnSpc>
                <a:spcPct val="200000"/>
              </a:lnSpc>
              <a:buClr>
                <a:srgbClr val="FF0000"/>
              </a:buClr>
              <a:buFont typeface="+mj-lt"/>
              <a:buAutoNum type="arabicPeriod" startAt="6"/>
            </a:pPr>
            <a:r>
              <a:rPr lang="en-US" sz="2800" dirty="0">
                <a:solidFill>
                  <a:srgbClr val="002060"/>
                </a:solidFill>
                <a:latin typeface="Times New Roman" pitchFamily="18" charset="0"/>
                <a:cs typeface="Times New Roman" pitchFamily="18" charset="0"/>
              </a:rPr>
              <a:t>A transaction </a:t>
            </a:r>
            <a:r>
              <a:rPr lang="en-US" sz="2800" dirty="0">
                <a:solidFill>
                  <a:srgbClr val="FF0000"/>
                </a:solidFill>
                <a:latin typeface="Times New Roman" pitchFamily="18" charset="0"/>
                <a:cs typeface="Times New Roman" pitchFamily="18" charset="0"/>
              </a:rPr>
              <a:t>will not issue a unlock(X) </a:t>
            </a:r>
            <a:r>
              <a:rPr lang="en-US" sz="2800" dirty="0">
                <a:solidFill>
                  <a:srgbClr val="002060"/>
                </a:solidFill>
                <a:latin typeface="Times New Roman" pitchFamily="18" charset="0"/>
                <a:cs typeface="Times New Roman" pitchFamily="18" charset="0"/>
              </a:rPr>
              <a:t>operation unless it already holds a </a:t>
            </a:r>
            <a:r>
              <a:rPr lang="en-US" sz="2800" dirty="0" err="1">
                <a:solidFill>
                  <a:srgbClr val="FF0000"/>
                </a:solidFill>
                <a:latin typeface="Times New Roman" pitchFamily="18" charset="0"/>
                <a:cs typeface="Times New Roman" pitchFamily="18" charset="0"/>
              </a:rPr>
              <a:t>read_lock</a:t>
            </a:r>
            <a:r>
              <a:rPr lang="en-US" sz="2800" dirty="0">
                <a:solidFill>
                  <a:srgbClr val="FF000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shared</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or a </a:t>
            </a:r>
            <a:r>
              <a:rPr lang="en-US" sz="2800" dirty="0">
                <a:solidFill>
                  <a:srgbClr val="FF0000"/>
                </a:solidFill>
                <a:latin typeface="Times New Roman" pitchFamily="18" charset="0"/>
                <a:cs typeface="Times New Roman" pitchFamily="18" charset="0"/>
              </a:rPr>
              <a:t>write_lock (</a:t>
            </a:r>
            <a:r>
              <a:rPr lang="en-US" sz="2800" dirty="0">
                <a:solidFill>
                  <a:srgbClr val="002060"/>
                </a:solidFill>
                <a:latin typeface="Times New Roman" pitchFamily="18" charset="0"/>
                <a:cs typeface="Times New Roman" pitchFamily="18" charset="0"/>
              </a:rPr>
              <a:t>exclusive</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on item X.</a:t>
            </a:r>
          </a:p>
          <a:p>
            <a:pPr marL="509588" indent="-509588" algn="just">
              <a:lnSpc>
                <a:spcPct val="150000"/>
              </a:lnSpc>
              <a:buClr>
                <a:srgbClr val="002060"/>
              </a:buClr>
              <a:buFont typeface="+mj-lt"/>
              <a:buAutoNum type="arabicPeriod" startAt="6"/>
            </a:pPr>
            <a:endParaRPr lang="en-US" sz="2400" dirty="0">
              <a:solidFill>
                <a:schemeClr val="tx2">
                  <a:lumMod val="50000"/>
                </a:schemeClr>
              </a:solidFill>
              <a:latin typeface="Times New Roman" pitchFamily="18" charset="0"/>
              <a:cs typeface="Times New Roman" pitchFamily="18" charset="0"/>
            </a:endParaRPr>
          </a:p>
          <a:p>
            <a:pPr marL="457200" indent="-457200" algn="just">
              <a:lnSpc>
                <a:spcPct val="150000"/>
              </a:lnSpc>
              <a:buClr>
                <a:srgbClr val="002060"/>
              </a:buClr>
            </a:pPr>
            <a:r>
              <a:rPr lang="en-US" sz="2400" b="1" dirty="0">
                <a:solidFill>
                  <a:srgbClr val="FF0000"/>
                </a:solidFill>
                <a:latin typeface="Times New Roman" pitchFamily="18" charset="0"/>
                <a:cs typeface="Times New Roman" pitchFamily="18" charset="0"/>
              </a:rPr>
              <a:t> </a:t>
            </a:r>
            <a:endParaRPr lang="en-US" sz="2400" dirty="0">
              <a:solidFill>
                <a:srgbClr val="FF0000"/>
              </a:solidFill>
              <a:latin typeface="Times New Roman" pitchFamily="18" charset="0"/>
              <a:cs typeface="Times New Roman" pitchFamily="18" charset="0"/>
            </a:endParaRPr>
          </a:p>
          <a:p>
            <a:pPr marL="465138" indent="-465138" algn="just"/>
            <a:r>
              <a:rPr lang="en-US" sz="2400" dirty="0">
                <a:solidFill>
                  <a:srgbClr val="002060"/>
                </a:solidFill>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4572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2"/>
            </a:pPr>
            <a:r>
              <a:rPr lang="en-US" sz="2800" b="1" dirty="0">
                <a:solidFill>
                  <a:schemeClr val="tx2">
                    <a:lumMod val="50000"/>
                  </a:schemeClr>
                </a:solidFill>
                <a:latin typeface="Times New Roman" pitchFamily="18" charset="0"/>
                <a:cs typeface="Times New Roman" pitchFamily="18" charset="0"/>
              </a:rPr>
              <a:t>Shared / Exclusive Locking </a:t>
            </a:r>
            <a:r>
              <a:rPr lang="en-US" sz="2400" b="1" dirty="0">
                <a:solidFill>
                  <a:schemeClr val="tx2">
                    <a:lumMod val="50000"/>
                  </a:schemeClr>
                </a:solidFill>
                <a:latin typeface="Times New Roman" pitchFamily="18" charset="0"/>
                <a:cs typeface="Times New Roman" pitchFamily="18" charset="0"/>
              </a:rPr>
              <a:t>(Cont…):</a:t>
            </a:r>
          </a:p>
          <a:p>
            <a:pPr marL="457200" indent="-457200" algn="just">
              <a:lnSpc>
                <a:spcPct val="150000"/>
              </a:lnSpc>
              <a:buClr>
                <a:srgbClr val="002060"/>
              </a:buClr>
            </a:pPr>
            <a:r>
              <a:rPr lang="en-US" sz="2400" b="1" dirty="0">
                <a:solidFill>
                  <a:srgbClr val="FF0000"/>
                </a:solidFill>
                <a:latin typeface="Times New Roman" pitchFamily="18" charset="0"/>
                <a:cs typeface="Times New Roman" pitchFamily="18" charset="0"/>
              </a:rPr>
              <a:t> </a:t>
            </a:r>
            <a:endParaRPr lang="en-US" sz="2400" dirty="0">
              <a:solidFill>
                <a:srgbClr val="FF0000"/>
              </a:solidFill>
              <a:latin typeface="Times New Roman" pitchFamily="18" charset="0"/>
              <a:cs typeface="Times New Roman" pitchFamily="18" charset="0"/>
            </a:endParaRPr>
          </a:p>
          <a:p>
            <a:pPr marL="465138" indent="-465138" algn="just"/>
            <a:r>
              <a:rPr lang="en-US" sz="2400" dirty="0">
                <a:solidFill>
                  <a:srgbClr val="002060"/>
                </a:solidFill>
                <a:latin typeface="Times New Roman" pitchFamily="18" charset="0"/>
                <a:cs typeface="Times New Roman" pitchFamily="18" charset="0"/>
              </a:rPr>
              <a:t>	</a:t>
            </a:r>
          </a:p>
        </p:txBody>
      </p:sp>
      <p:graphicFrame>
        <p:nvGraphicFramePr>
          <p:cNvPr id="4" name="Table 3"/>
          <p:cNvGraphicFramePr>
            <a:graphicFrameLocks noGrp="1"/>
          </p:cNvGraphicFramePr>
          <p:nvPr/>
        </p:nvGraphicFramePr>
        <p:xfrm>
          <a:off x="228600" y="1447800"/>
          <a:ext cx="4038600" cy="4267200"/>
        </p:xfrm>
        <a:graphic>
          <a:graphicData uri="http://schemas.openxmlformats.org/drawingml/2006/table">
            <a:tbl>
              <a:tblPr firstRow="1" bandRow="1">
                <a:tableStyleId>{5C22544A-7EE6-4342-B048-85BDC9FD1C3A}</a:tableStyleId>
              </a:tblPr>
              <a:tblGrid>
                <a:gridCol w="1076960">
                  <a:extLst>
                    <a:ext uri="{9D8B030D-6E8A-4147-A177-3AD203B41FA5}">
                      <a16:colId xmlns:a16="http://schemas.microsoft.com/office/drawing/2014/main" val="20000"/>
                    </a:ext>
                  </a:extLst>
                </a:gridCol>
                <a:gridCol w="2961640">
                  <a:extLst>
                    <a:ext uri="{9D8B030D-6E8A-4147-A177-3AD203B41FA5}">
                      <a16:colId xmlns:a16="http://schemas.microsoft.com/office/drawing/2014/main" val="20001"/>
                    </a:ext>
                  </a:extLst>
                </a:gridCol>
              </a:tblGrid>
              <a:tr h="370840">
                <a:tc>
                  <a:txBody>
                    <a:bodyPr/>
                    <a:lstStyle/>
                    <a:p>
                      <a:pPr algn="ctr"/>
                      <a:r>
                        <a:rPr lang="en-US" sz="2200" b="1" dirty="0">
                          <a:solidFill>
                            <a:srgbClr val="FF0000"/>
                          </a:solidFill>
                          <a:latin typeface="Times New Roman" pitchFamily="18" charset="0"/>
                          <a:cs typeface="Times New Roman" pitchFamily="18" charset="0"/>
                        </a:rPr>
                        <a:t>T1</a:t>
                      </a:r>
                      <a:r>
                        <a:rPr lang="en-US" sz="2200" b="1" dirty="0">
                          <a:solidFill>
                            <a:srgbClr val="002060"/>
                          </a:solidFill>
                          <a:latin typeface="Times New Roman" pitchFamily="18" charset="0"/>
                          <a:cs typeface="Times New Roman" pitchFamily="18"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Lock-X(B)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Read(B)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B:=B-50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Write(B)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Unlock(B)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Lock-X(A)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Read(A)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A:=A+50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Write(A)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Unlock(A)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4572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2"/>
            </a:pPr>
            <a:r>
              <a:rPr lang="en-US" sz="2800" b="1" dirty="0">
                <a:solidFill>
                  <a:schemeClr val="tx2">
                    <a:lumMod val="50000"/>
                  </a:schemeClr>
                </a:solidFill>
                <a:latin typeface="Times New Roman" pitchFamily="18" charset="0"/>
                <a:cs typeface="Times New Roman" pitchFamily="18" charset="0"/>
              </a:rPr>
              <a:t>Shared / Exclusive Locking </a:t>
            </a:r>
            <a:r>
              <a:rPr lang="en-US" sz="2400" b="1" dirty="0">
                <a:solidFill>
                  <a:schemeClr val="tx2">
                    <a:lumMod val="50000"/>
                  </a:schemeClr>
                </a:solidFill>
                <a:latin typeface="Times New Roman" pitchFamily="18" charset="0"/>
                <a:cs typeface="Times New Roman" pitchFamily="18" charset="0"/>
              </a:rPr>
              <a:t>(Cont…):</a:t>
            </a:r>
          </a:p>
          <a:p>
            <a:pPr marL="457200" indent="-457200" algn="just">
              <a:lnSpc>
                <a:spcPct val="150000"/>
              </a:lnSpc>
              <a:buClr>
                <a:srgbClr val="002060"/>
              </a:buClr>
            </a:pPr>
            <a:r>
              <a:rPr lang="en-US" sz="2400" b="1" dirty="0">
                <a:solidFill>
                  <a:srgbClr val="FF0000"/>
                </a:solidFill>
                <a:latin typeface="Times New Roman" pitchFamily="18" charset="0"/>
                <a:cs typeface="Times New Roman" pitchFamily="18" charset="0"/>
              </a:rPr>
              <a:t> </a:t>
            </a:r>
            <a:endParaRPr lang="en-US" sz="2400" dirty="0">
              <a:solidFill>
                <a:srgbClr val="FF0000"/>
              </a:solidFill>
              <a:latin typeface="Times New Roman" pitchFamily="18" charset="0"/>
              <a:cs typeface="Times New Roman" pitchFamily="18" charset="0"/>
            </a:endParaRPr>
          </a:p>
          <a:p>
            <a:pPr marL="465138" indent="-465138" algn="just"/>
            <a:r>
              <a:rPr lang="en-US" sz="2400" dirty="0">
                <a:solidFill>
                  <a:srgbClr val="002060"/>
                </a:solidFill>
                <a:latin typeface="Times New Roman" pitchFamily="18" charset="0"/>
                <a:cs typeface="Times New Roman" pitchFamily="18" charset="0"/>
              </a:rPr>
              <a:t>	</a:t>
            </a:r>
          </a:p>
        </p:txBody>
      </p:sp>
      <p:graphicFrame>
        <p:nvGraphicFramePr>
          <p:cNvPr id="4" name="Table 3"/>
          <p:cNvGraphicFramePr>
            <a:graphicFrameLocks noGrp="1"/>
          </p:cNvGraphicFramePr>
          <p:nvPr/>
        </p:nvGraphicFramePr>
        <p:xfrm>
          <a:off x="228600" y="1447800"/>
          <a:ext cx="4038600" cy="2987040"/>
        </p:xfrm>
        <a:graphic>
          <a:graphicData uri="http://schemas.openxmlformats.org/drawingml/2006/table">
            <a:tbl>
              <a:tblPr firstRow="1" bandRow="1">
                <a:tableStyleId>{5C22544A-7EE6-4342-B048-85BDC9FD1C3A}</a:tableStyleId>
              </a:tblPr>
              <a:tblGrid>
                <a:gridCol w="1076960">
                  <a:extLst>
                    <a:ext uri="{9D8B030D-6E8A-4147-A177-3AD203B41FA5}">
                      <a16:colId xmlns:a16="http://schemas.microsoft.com/office/drawing/2014/main" val="20000"/>
                    </a:ext>
                  </a:extLst>
                </a:gridCol>
                <a:gridCol w="2961640">
                  <a:extLst>
                    <a:ext uri="{9D8B030D-6E8A-4147-A177-3AD203B41FA5}">
                      <a16:colId xmlns:a16="http://schemas.microsoft.com/office/drawing/2014/main" val="20001"/>
                    </a:ext>
                  </a:extLst>
                </a:gridCol>
              </a:tblGrid>
              <a:tr h="370840">
                <a:tc>
                  <a:txBody>
                    <a:bodyPr/>
                    <a:lstStyle/>
                    <a:p>
                      <a:pPr algn="ctr"/>
                      <a:r>
                        <a:rPr lang="en-US" sz="2200" b="1" dirty="0">
                          <a:solidFill>
                            <a:srgbClr val="FF0000"/>
                          </a:solidFill>
                          <a:latin typeface="Times New Roman" pitchFamily="18" charset="0"/>
                          <a:cs typeface="Times New Roman" pitchFamily="18" charset="0"/>
                        </a:rPr>
                        <a:t>T2</a:t>
                      </a:r>
                      <a:r>
                        <a:rPr lang="en-US" sz="2200" b="1" dirty="0">
                          <a:solidFill>
                            <a:srgbClr val="002060"/>
                          </a:solidFill>
                          <a:latin typeface="Times New Roman" pitchFamily="18" charset="0"/>
                          <a:cs typeface="Times New Roman" pitchFamily="18"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Lock-S(A)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Read(A)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Unlock(A)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Lock-S(B)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Read(B)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Unlock(B)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Display(A+B)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2"/>
            </a:pPr>
            <a:r>
              <a:rPr lang="en-US" sz="2800" b="1" dirty="0">
                <a:solidFill>
                  <a:schemeClr val="tx2">
                    <a:lumMod val="50000"/>
                  </a:schemeClr>
                </a:solidFill>
                <a:latin typeface="Times New Roman" pitchFamily="18" charset="0"/>
                <a:cs typeface="Times New Roman" pitchFamily="18" charset="0"/>
              </a:rPr>
              <a:t>Shared / Exclusive Rules:</a:t>
            </a:r>
          </a:p>
          <a:p>
            <a:pPr marL="509588" indent="-509588" algn="just">
              <a:lnSpc>
                <a:spcPct val="150000"/>
              </a:lnSpc>
              <a:buClr>
                <a:srgbClr val="002060"/>
              </a:buClr>
              <a:buFont typeface="+mj-lt"/>
              <a:buAutoNum type="arabicPeriod"/>
            </a:pPr>
            <a:r>
              <a:rPr lang="en-US" sz="2400" dirty="0">
                <a:solidFill>
                  <a:srgbClr val="002060"/>
                </a:solidFill>
                <a:latin typeface="Times New Roman" pitchFamily="18" charset="0"/>
                <a:cs typeface="Times New Roman" pitchFamily="18" charset="0"/>
              </a:rPr>
              <a:t>A transaction T must issue the operation </a:t>
            </a:r>
            <a:r>
              <a:rPr lang="en-US" sz="2400" dirty="0" err="1">
                <a:solidFill>
                  <a:srgbClr val="002060"/>
                </a:solidFill>
                <a:latin typeface="Times New Roman" pitchFamily="18" charset="0"/>
                <a:cs typeface="Times New Roman" pitchFamily="18" charset="0"/>
              </a:rPr>
              <a:t>read_lock</a:t>
            </a:r>
            <a:r>
              <a:rPr lang="en-US" sz="2400" dirty="0">
                <a:solidFill>
                  <a:srgbClr val="002060"/>
                </a:solidFill>
                <a:latin typeface="Times New Roman" pitchFamily="18" charset="0"/>
                <a:cs typeface="Times New Roman" pitchFamily="18" charset="0"/>
              </a:rPr>
              <a:t>(X) or </a:t>
            </a:r>
            <a:r>
              <a:rPr lang="en-US" sz="2400" dirty="0" err="1">
                <a:solidFill>
                  <a:srgbClr val="002060"/>
                </a:solidFill>
                <a:latin typeface="Times New Roman" pitchFamily="18" charset="0"/>
                <a:cs typeface="Times New Roman" pitchFamily="18" charset="0"/>
              </a:rPr>
              <a:t>write_lock</a:t>
            </a:r>
            <a:r>
              <a:rPr lang="en-US" sz="2400" dirty="0">
                <a:solidFill>
                  <a:srgbClr val="002060"/>
                </a:solidFill>
                <a:latin typeface="Times New Roman" pitchFamily="18" charset="0"/>
                <a:cs typeface="Times New Roman" pitchFamily="18" charset="0"/>
              </a:rPr>
              <a:t>(X) before any </a:t>
            </a:r>
            <a:r>
              <a:rPr lang="en-US" sz="2400" dirty="0" err="1">
                <a:solidFill>
                  <a:srgbClr val="002060"/>
                </a:solidFill>
                <a:latin typeface="Times New Roman" pitchFamily="18" charset="0"/>
                <a:cs typeface="Times New Roman" pitchFamily="18" charset="0"/>
              </a:rPr>
              <a:t>read_item</a:t>
            </a:r>
            <a:r>
              <a:rPr lang="en-US" sz="2400" dirty="0">
                <a:solidFill>
                  <a:srgbClr val="002060"/>
                </a:solidFill>
                <a:latin typeface="Times New Roman" pitchFamily="18" charset="0"/>
                <a:cs typeface="Times New Roman" pitchFamily="18" charset="0"/>
              </a:rPr>
              <a:t>(X) </a:t>
            </a:r>
            <a:r>
              <a:rPr lang="en-US" sz="2400" dirty="0" err="1">
                <a:solidFill>
                  <a:srgbClr val="002060"/>
                </a:solidFill>
                <a:latin typeface="Times New Roman" pitchFamily="18" charset="0"/>
                <a:cs typeface="Times New Roman" pitchFamily="18" charset="0"/>
              </a:rPr>
              <a:t>opeartion</a:t>
            </a:r>
            <a:r>
              <a:rPr lang="en-US" sz="2400" dirty="0">
                <a:solidFill>
                  <a:srgbClr val="002060"/>
                </a:solidFill>
                <a:latin typeface="Times New Roman" pitchFamily="18" charset="0"/>
                <a:cs typeface="Times New Roman" pitchFamily="18" charset="0"/>
              </a:rPr>
              <a:t> is performed in T.</a:t>
            </a:r>
          </a:p>
          <a:p>
            <a:pPr marL="509588" indent="-509588" algn="just">
              <a:lnSpc>
                <a:spcPct val="150000"/>
              </a:lnSpc>
              <a:buClr>
                <a:srgbClr val="002060"/>
              </a:buClr>
              <a:buFont typeface="+mj-lt"/>
              <a:buAutoNum type="arabicPeriod"/>
            </a:pPr>
            <a:r>
              <a:rPr lang="en-US" sz="2400" dirty="0">
                <a:solidFill>
                  <a:srgbClr val="002060"/>
                </a:solidFill>
                <a:latin typeface="Times New Roman" pitchFamily="18" charset="0"/>
                <a:cs typeface="Times New Roman" pitchFamily="18" charset="0"/>
              </a:rPr>
              <a:t>A transaction T must issue the operation </a:t>
            </a:r>
            <a:r>
              <a:rPr lang="en-US" sz="2400" dirty="0" err="1">
                <a:solidFill>
                  <a:srgbClr val="002060"/>
                </a:solidFill>
                <a:latin typeface="Times New Roman" pitchFamily="18" charset="0"/>
                <a:cs typeface="Times New Roman" pitchFamily="18" charset="0"/>
              </a:rPr>
              <a:t>write_lock</a:t>
            </a:r>
            <a:r>
              <a:rPr lang="en-US" sz="2400" dirty="0">
                <a:solidFill>
                  <a:srgbClr val="002060"/>
                </a:solidFill>
                <a:latin typeface="Times New Roman" pitchFamily="18" charset="0"/>
                <a:cs typeface="Times New Roman" pitchFamily="18" charset="0"/>
              </a:rPr>
              <a:t>(X) before any </a:t>
            </a:r>
            <a:r>
              <a:rPr lang="en-US" sz="2400" dirty="0" err="1">
                <a:solidFill>
                  <a:srgbClr val="002060"/>
                </a:solidFill>
                <a:latin typeface="Times New Roman" pitchFamily="18" charset="0"/>
                <a:cs typeface="Times New Roman" pitchFamily="18" charset="0"/>
              </a:rPr>
              <a:t>write_item</a:t>
            </a:r>
            <a:r>
              <a:rPr lang="en-US" sz="2400" dirty="0">
                <a:solidFill>
                  <a:srgbClr val="002060"/>
                </a:solidFill>
                <a:latin typeface="Times New Roman" pitchFamily="18" charset="0"/>
                <a:cs typeface="Times New Roman" pitchFamily="18" charset="0"/>
              </a:rPr>
              <a:t>(X) </a:t>
            </a:r>
            <a:r>
              <a:rPr lang="en-US" sz="2400" dirty="0" err="1">
                <a:solidFill>
                  <a:srgbClr val="002060"/>
                </a:solidFill>
                <a:latin typeface="Times New Roman" pitchFamily="18" charset="0"/>
                <a:cs typeface="Times New Roman" pitchFamily="18" charset="0"/>
              </a:rPr>
              <a:t>opearation</a:t>
            </a:r>
            <a:r>
              <a:rPr lang="en-US" sz="2400" dirty="0">
                <a:solidFill>
                  <a:srgbClr val="002060"/>
                </a:solidFill>
                <a:latin typeface="Times New Roman" pitchFamily="18" charset="0"/>
                <a:cs typeface="Times New Roman" pitchFamily="18" charset="0"/>
              </a:rPr>
              <a:t> is performed in T.</a:t>
            </a:r>
          </a:p>
          <a:p>
            <a:pPr marL="509588" indent="-509588" algn="just">
              <a:lnSpc>
                <a:spcPct val="150000"/>
              </a:lnSpc>
              <a:buClr>
                <a:srgbClr val="002060"/>
              </a:buClr>
              <a:buFont typeface="+mj-lt"/>
              <a:buAutoNum type="arabicPeriod"/>
            </a:pPr>
            <a:r>
              <a:rPr lang="en-US" sz="2400" dirty="0">
                <a:solidFill>
                  <a:srgbClr val="002060"/>
                </a:solidFill>
                <a:latin typeface="Times New Roman" pitchFamily="18" charset="0"/>
                <a:cs typeface="Times New Roman" pitchFamily="18" charset="0"/>
              </a:rPr>
              <a:t>A transaction T must issue the operation unlock(X) after all </a:t>
            </a:r>
            <a:r>
              <a:rPr lang="en-US" sz="2400" dirty="0" err="1">
                <a:solidFill>
                  <a:srgbClr val="002060"/>
                </a:solidFill>
                <a:latin typeface="Times New Roman" pitchFamily="18" charset="0"/>
                <a:cs typeface="Times New Roman" pitchFamily="18" charset="0"/>
              </a:rPr>
              <a:t>read_item</a:t>
            </a:r>
            <a:r>
              <a:rPr lang="en-US" sz="2400" dirty="0">
                <a:solidFill>
                  <a:srgbClr val="002060"/>
                </a:solidFill>
                <a:latin typeface="Times New Roman" pitchFamily="18" charset="0"/>
                <a:cs typeface="Times New Roman" pitchFamily="18" charset="0"/>
              </a:rPr>
              <a:t>(X) and </a:t>
            </a:r>
            <a:r>
              <a:rPr lang="en-US" sz="2400" dirty="0" err="1">
                <a:solidFill>
                  <a:srgbClr val="002060"/>
                </a:solidFill>
                <a:latin typeface="Times New Roman" pitchFamily="18" charset="0"/>
                <a:cs typeface="Times New Roman" pitchFamily="18" charset="0"/>
              </a:rPr>
              <a:t>write_item</a:t>
            </a:r>
            <a:r>
              <a:rPr lang="en-US" sz="2400" dirty="0">
                <a:solidFill>
                  <a:srgbClr val="002060"/>
                </a:solidFill>
                <a:latin typeface="Times New Roman" pitchFamily="18" charset="0"/>
                <a:cs typeface="Times New Roman" pitchFamily="18" charset="0"/>
              </a:rPr>
              <a:t>(X) operations are completed in T.</a:t>
            </a:r>
          </a:p>
          <a:p>
            <a:pPr marL="509588" indent="-509588" algn="just">
              <a:lnSpc>
                <a:spcPct val="150000"/>
              </a:lnSpc>
              <a:buClr>
                <a:srgbClr val="002060"/>
              </a:buClr>
              <a:buFont typeface="+mj-lt"/>
              <a:buAutoNum type="arabicPeriod"/>
            </a:pPr>
            <a:r>
              <a:rPr lang="en-US" sz="2400" dirty="0">
                <a:solidFill>
                  <a:srgbClr val="002060"/>
                </a:solidFill>
                <a:latin typeface="Times New Roman" pitchFamily="18" charset="0"/>
                <a:cs typeface="Times New Roman" pitchFamily="18" charset="0"/>
              </a:rPr>
              <a:t>A transaction will not issue a </a:t>
            </a:r>
            <a:r>
              <a:rPr lang="en-US" sz="2400" dirty="0" err="1">
                <a:solidFill>
                  <a:srgbClr val="002060"/>
                </a:solidFill>
                <a:latin typeface="Times New Roman" pitchFamily="18" charset="0"/>
                <a:cs typeface="Times New Roman" pitchFamily="18" charset="0"/>
              </a:rPr>
              <a:t>read_lock</a:t>
            </a:r>
            <a:r>
              <a:rPr lang="en-US" sz="2400" dirty="0">
                <a:solidFill>
                  <a:srgbClr val="002060"/>
                </a:solidFill>
                <a:latin typeface="Times New Roman" pitchFamily="18" charset="0"/>
                <a:cs typeface="Times New Roman" pitchFamily="18" charset="0"/>
              </a:rPr>
              <a:t>(X) operation if it already holds a read (shared) lock or a write (exclusive) lock on item X.</a:t>
            </a:r>
          </a:p>
          <a:p>
            <a:pPr marL="509588" indent="-509588" algn="just">
              <a:lnSpc>
                <a:spcPct val="150000"/>
              </a:lnSpc>
              <a:buClr>
                <a:srgbClr val="002060"/>
              </a:buClr>
              <a:buFont typeface="+mj-lt"/>
              <a:buAutoNum type="arabicPeriod"/>
            </a:pPr>
            <a:r>
              <a:rPr lang="en-US" sz="2400" dirty="0">
                <a:solidFill>
                  <a:srgbClr val="002060"/>
                </a:solidFill>
                <a:latin typeface="Times New Roman" pitchFamily="18" charset="0"/>
                <a:cs typeface="Times New Roman" pitchFamily="18" charset="0"/>
              </a:rPr>
              <a:t>A transaction will not issue a write_lock(X) operation if it already holds a read (shared) lock or a write (exclusive) lock on item X.</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228600" y="2514600"/>
            <a:ext cx="8763000" cy="2590800"/>
          </a:xfrm>
          <a:prstGeom prst="rect">
            <a:avLst/>
          </a:prstGeom>
        </p:spPr>
        <p:txBody>
          <a:bodyPr vert="horz" lIns="91440" tIns="45720" rIns="91440" bIns="45720" rtlCol="0">
            <a:noAutofit/>
          </a:bodyPr>
          <a:lstStyle/>
          <a:p>
            <a:pPr marL="457200" indent="-457200" algn="ctr">
              <a:lnSpc>
                <a:spcPct val="150000"/>
              </a:lnSpc>
              <a:buClr>
                <a:srgbClr val="002060"/>
              </a:buClr>
            </a:pPr>
            <a:r>
              <a:rPr lang="en-US" sz="4800" b="1" dirty="0">
                <a:latin typeface="Times New Roman" pitchFamily="18" charset="0"/>
                <a:cs typeface="Times New Roman" pitchFamily="18" charset="0"/>
              </a:rPr>
              <a:t>Two-Phase Locking (2PL)</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8991600" cy="58674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3"/>
            </a:pPr>
            <a:r>
              <a:rPr lang="en-US" sz="2800" b="1" dirty="0">
                <a:latin typeface="Times New Roman" pitchFamily="18" charset="0"/>
                <a:cs typeface="Times New Roman" pitchFamily="18" charset="0"/>
              </a:rPr>
              <a:t>Two-Phase Locking (2PL):</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Two-phase locking (</a:t>
            </a:r>
            <a:r>
              <a:rPr lang="en-US" sz="2400" b="1" dirty="0">
                <a:solidFill>
                  <a:srgbClr val="FF0000"/>
                </a:solidFill>
                <a:latin typeface="Times New Roman" pitchFamily="18" charset="0"/>
                <a:cs typeface="Times New Roman" pitchFamily="18" charset="0"/>
              </a:rPr>
              <a:t>2PL</a:t>
            </a:r>
            <a:r>
              <a:rPr lang="en-US" sz="2400" dirty="0">
                <a:solidFill>
                  <a:srgbClr val="002060"/>
                </a:solidFill>
                <a:latin typeface="Times New Roman" pitchFamily="18" charset="0"/>
                <a:cs typeface="Times New Roman" pitchFamily="18" charset="0"/>
              </a:rPr>
              <a:t>) is a method of controlling concurrent processing in which all locking operations precede the first unlocking operation.</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Thus, a transaction is said to follow the two-phase locking protocol if all locking operations (read_Lock, write_Lock) precede the first unlock operation in the transaction.</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Two-phase locking is the standard protocol used to defines how transactions </a:t>
            </a:r>
            <a:r>
              <a:rPr lang="en-US" sz="2400" dirty="0">
                <a:solidFill>
                  <a:srgbClr val="FF0000"/>
                </a:solidFill>
                <a:latin typeface="Times New Roman" pitchFamily="18" charset="0"/>
                <a:cs typeface="Times New Roman" pitchFamily="18" charset="0"/>
              </a:rPr>
              <a:t>acquire </a:t>
            </a:r>
            <a:r>
              <a:rPr lang="en-US" sz="2400" dirty="0">
                <a:solidFill>
                  <a:srgbClr val="002060"/>
                </a:solidFill>
                <a:latin typeface="Times New Roman" pitchFamily="18" charset="0"/>
                <a:cs typeface="Times New Roman" pitchFamily="18" charset="0"/>
              </a:rPr>
              <a:t>and </a:t>
            </a:r>
            <a:r>
              <a:rPr lang="en-US" sz="2400" dirty="0">
                <a:solidFill>
                  <a:srgbClr val="FF0000"/>
                </a:solidFill>
                <a:latin typeface="Times New Roman" pitchFamily="18" charset="0"/>
                <a:cs typeface="Times New Roman" pitchFamily="18" charset="0"/>
              </a:rPr>
              <a:t>hand over locks</a:t>
            </a:r>
            <a:r>
              <a:rPr lang="en-US" sz="2400" dirty="0">
                <a:solidFill>
                  <a:srgbClr val="002060"/>
                </a:solidFill>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3"/>
            </a:pPr>
            <a:r>
              <a:rPr lang="en-US" sz="2800" b="1" dirty="0">
                <a:latin typeface="Times New Roman" pitchFamily="18" charset="0"/>
                <a:cs typeface="Times New Roman" pitchFamily="18" charset="0"/>
              </a:rPr>
              <a:t>Two-Phase Locking (2PL)</a:t>
            </a:r>
            <a:r>
              <a:rPr lang="en-US" sz="2400" b="1" dirty="0">
                <a:latin typeface="Times New Roman" pitchFamily="18" charset="0"/>
                <a:cs typeface="Times New Roman" pitchFamily="18" charset="0"/>
              </a:rPr>
              <a:t>: (Cont…)</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This protocol requires that each transaction </a:t>
            </a:r>
            <a:r>
              <a:rPr lang="en-US" sz="2400" dirty="0">
                <a:solidFill>
                  <a:srgbClr val="FF0000"/>
                </a:solidFill>
                <a:latin typeface="Times New Roman" pitchFamily="18" charset="0"/>
                <a:cs typeface="Times New Roman" pitchFamily="18" charset="0"/>
              </a:rPr>
              <a:t>issue lock </a:t>
            </a:r>
            <a:r>
              <a:rPr lang="en-US" sz="2400" dirty="0">
                <a:solidFill>
                  <a:srgbClr val="002060"/>
                </a:solidFill>
                <a:latin typeface="Times New Roman" pitchFamily="18" charset="0"/>
                <a:cs typeface="Times New Roman" pitchFamily="18" charset="0"/>
              </a:rPr>
              <a:t>and </a:t>
            </a:r>
            <a:r>
              <a:rPr lang="en-US" sz="2400" dirty="0">
                <a:solidFill>
                  <a:srgbClr val="FF0000"/>
                </a:solidFill>
                <a:latin typeface="Times New Roman" pitchFamily="18" charset="0"/>
                <a:cs typeface="Times New Roman" pitchFamily="18" charset="0"/>
              </a:rPr>
              <a:t>unlock</a:t>
            </a:r>
            <a:r>
              <a:rPr lang="en-US" sz="2400" dirty="0">
                <a:solidFill>
                  <a:srgbClr val="002060"/>
                </a:solidFill>
                <a:latin typeface="Times New Roman" pitchFamily="18" charset="0"/>
                <a:cs typeface="Times New Roman" pitchFamily="18" charset="0"/>
              </a:rPr>
              <a:t> requests in two phases.</a:t>
            </a:r>
          </a:p>
          <a:p>
            <a:pPr marL="920750" indent="-457200" algn="just">
              <a:lnSpc>
                <a:spcPct val="150000"/>
              </a:lnSpc>
              <a:buClr>
                <a:srgbClr val="002060"/>
              </a:buClr>
              <a:buAutoNum type="arabicPeriod"/>
            </a:pPr>
            <a:r>
              <a:rPr lang="en-US" sz="2400" b="1" dirty="0">
                <a:solidFill>
                  <a:srgbClr val="FF0000"/>
                </a:solidFill>
                <a:latin typeface="Times New Roman" pitchFamily="18" charset="0"/>
                <a:cs typeface="Times New Roman" pitchFamily="18" charset="0"/>
              </a:rPr>
              <a:t>Growing Phase</a:t>
            </a:r>
            <a:r>
              <a:rPr lang="en-US" sz="2400" dirty="0">
                <a:solidFill>
                  <a:srgbClr val="002060"/>
                </a:solidFill>
                <a:latin typeface="Times New Roman" pitchFamily="18" charset="0"/>
                <a:cs typeface="Times New Roman" pitchFamily="18" charset="0"/>
              </a:rPr>
              <a:t>: In this phase, a transaction may obtain locks, but may not release any lock.</a:t>
            </a:r>
          </a:p>
          <a:p>
            <a:pPr marL="920750" indent="-457200" algn="just">
              <a:lnSpc>
                <a:spcPct val="150000"/>
              </a:lnSpc>
              <a:buClr>
                <a:srgbClr val="002060"/>
              </a:buClr>
              <a:buAutoNum type="arabicPeriod"/>
            </a:pPr>
            <a:r>
              <a:rPr lang="en-US" sz="2400" b="1" dirty="0">
                <a:solidFill>
                  <a:srgbClr val="FF0000"/>
                </a:solidFill>
                <a:latin typeface="Times New Roman" pitchFamily="18" charset="0"/>
                <a:cs typeface="Times New Roman" pitchFamily="18" charset="0"/>
              </a:rPr>
              <a:t>Shrinking Phase</a:t>
            </a:r>
            <a:r>
              <a:rPr lang="en-US" sz="2400" dirty="0">
                <a:solidFill>
                  <a:srgbClr val="002060"/>
                </a:solidFill>
                <a:latin typeface="Times New Roman" pitchFamily="18" charset="0"/>
                <a:cs typeface="Times New Roman" pitchFamily="18" charset="0"/>
              </a:rPr>
              <a:t>: In this phase, a transaction may release locks, but may not obtain any new locks.</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Initially, a transaction is in the </a:t>
            </a:r>
            <a:r>
              <a:rPr lang="en-US" sz="2400" b="1" dirty="0">
                <a:solidFill>
                  <a:srgbClr val="002060"/>
                </a:solidFill>
                <a:latin typeface="Times New Roman" pitchFamily="18" charset="0"/>
                <a:cs typeface="Times New Roman" pitchFamily="18" charset="0"/>
              </a:rPr>
              <a:t>growing phase</a:t>
            </a:r>
            <a:r>
              <a:rPr lang="en-US" sz="2400" dirty="0">
                <a:solidFill>
                  <a:srgbClr val="002060"/>
                </a:solidFill>
                <a:latin typeface="Times New Roman" pitchFamily="18" charset="0"/>
                <a:cs typeface="Times New Roman" pitchFamily="18" charset="0"/>
              </a:rPr>
              <a:t>. The transaction acquires locks as needed. </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Once the transaction releases a lock, it enters in the shrinking phase, and it cannot  issue more lock request.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 calcmode="lin" valueType="num">
                                      <p:cBhvr additive="base">
                                        <p:cTn id="2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 calcmode="lin" valueType="num">
                                      <p:cBhvr additive="base">
                                        <p:cTn id="3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3"/>
            </a:pPr>
            <a:r>
              <a:rPr lang="en-US" sz="2800" b="1" dirty="0">
                <a:latin typeface="Times New Roman" pitchFamily="18" charset="0"/>
                <a:cs typeface="Times New Roman" pitchFamily="18" charset="0"/>
              </a:rPr>
              <a:t>Two-Phase Locking (2PL)</a:t>
            </a:r>
            <a:r>
              <a:rPr lang="en-US" sz="2400" b="1" dirty="0">
                <a:latin typeface="Times New Roman" pitchFamily="18" charset="0"/>
                <a:cs typeface="Times New Roman" pitchFamily="18" charset="0"/>
              </a:rPr>
              <a:t>: (Cont…)</a:t>
            </a:r>
          </a:p>
        </p:txBody>
      </p:sp>
      <p:graphicFrame>
        <p:nvGraphicFramePr>
          <p:cNvPr id="4" name="Table 3"/>
          <p:cNvGraphicFramePr>
            <a:graphicFrameLocks noGrp="1"/>
          </p:cNvGraphicFramePr>
          <p:nvPr/>
        </p:nvGraphicFramePr>
        <p:xfrm>
          <a:off x="838200" y="1600200"/>
          <a:ext cx="4038600" cy="4267200"/>
        </p:xfrm>
        <a:graphic>
          <a:graphicData uri="http://schemas.openxmlformats.org/drawingml/2006/table">
            <a:tbl>
              <a:tblPr firstRow="1" bandRow="1">
                <a:tableStyleId>{5C22544A-7EE6-4342-B048-85BDC9FD1C3A}</a:tableStyleId>
              </a:tblPr>
              <a:tblGrid>
                <a:gridCol w="1327759">
                  <a:extLst>
                    <a:ext uri="{9D8B030D-6E8A-4147-A177-3AD203B41FA5}">
                      <a16:colId xmlns:a16="http://schemas.microsoft.com/office/drawing/2014/main" val="20000"/>
                    </a:ext>
                  </a:extLst>
                </a:gridCol>
                <a:gridCol w="2710841">
                  <a:extLst>
                    <a:ext uri="{9D8B030D-6E8A-4147-A177-3AD203B41FA5}">
                      <a16:colId xmlns:a16="http://schemas.microsoft.com/office/drawing/2014/main" val="20001"/>
                    </a:ext>
                  </a:extLst>
                </a:gridCol>
              </a:tblGrid>
              <a:tr h="370840">
                <a:tc>
                  <a:txBody>
                    <a:bodyPr/>
                    <a:lstStyle/>
                    <a:p>
                      <a:pPr algn="ctr"/>
                      <a:r>
                        <a:rPr lang="en-US" sz="2200" b="1" dirty="0">
                          <a:solidFill>
                            <a:srgbClr val="FF0000"/>
                          </a:solidFill>
                          <a:latin typeface="Times New Roman" pitchFamily="18" charset="0"/>
                          <a:cs typeface="Times New Roman" pitchFamily="18" charset="0"/>
                        </a:rPr>
                        <a:t>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Lock-X(B)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Read(B)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B:=B-50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Write(B)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Lock-X(A)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Read(A)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A:=A+50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Write(A)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Unlock(B)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ctr"/>
                      <a:endParaRPr lang="en-US" sz="2200" b="1" dirty="0">
                        <a:solidFill>
                          <a:srgbClr val="002060"/>
                        </a:solidFill>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Unlock(A)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457200"/>
            <a:ext cx="9144000" cy="58674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3"/>
            </a:pPr>
            <a:r>
              <a:rPr lang="en-US" sz="2800" b="1" dirty="0"/>
              <a:t>Two-Phase Locking (2PL)</a:t>
            </a:r>
            <a:r>
              <a:rPr lang="en-US" sz="2400" b="1" dirty="0"/>
              <a:t>: (Cont…)</a:t>
            </a:r>
          </a:p>
          <a:p>
            <a:pPr marL="457200" indent="-457200" algn="just">
              <a:lnSpc>
                <a:spcPct val="150000"/>
              </a:lnSpc>
              <a:buClr>
                <a:srgbClr val="002060"/>
              </a:buClr>
            </a:pPr>
            <a:endParaRPr lang="en-US" sz="2400" b="1" dirty="0"/>
          </a:p>
        </p:txBody>
      </p:sp>
      <p:graphicFrame>
        <p:nvGraphicFramePr>
          <p:cNvPr id="4" name="Table 3"/>
          <p:cNvGraphicFramePr>
            <a:graphicFrameLocks noGrp="1"/>
          </p:cNvGraphicFramePr>
          <p:nvPr/>
        </p:nvGraphicFramePr>
        <p:xfrm>
          <a:off x="304800" y="1752600"/>
          <a:ext cx="6096000" cy="4780408"/>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sz="2200" b="1" dirty="0">
                          <a:solidFill>
                            <a:schemeClr val="tx1"/>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200" b="1" dirty="0">
                          <a:solidFill>
                            <a:schemeClr val="tx1"/>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l">
                        <a:lnSpc>
                          <a:spcPct val="150000"/>
                        </a:lnSpc>
                      </a:pPr>
                      <a:r>
                        <a:rPr lang="en-US" sz="2200" b="0" dirty="0" err="1">
                          <a:solidFill>
                            <a:schemeClr val="tx1"/>
                          </a:solidFill>
                          <a:latin typeface="Times New Roman" pitchFamily="18" charset="0"/>
                          <a:cs typeface="Times New Roman" pitchFamily="18" charset="0"/>
                        </a:rPr>
                        <a:t>Raed_lock</a:t>
                      </a:r>
                      <a:r>
                        <a:rPr lang="en-US" sz="2200" b="0" dirty="0">
                          <a:solidFill>
                            <a:schemeClr val="tx1"/>
                          </a:solidFill>
                          <a:latin typeface="Times New Roman" pitchFamily="18" charset="0"/>
                          <a:cs typeface="Times New Roman"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pPr>
                      <a:r>
                        <a:rPr lang="en-US" sz="2200" b="0" dirty="0" err="1">
                          <a:solidFill>
                            <a:schemeClr val="tx1"/>
                          </a:solidFill>
                          <a:latin typeface="Times New Roman" pitchFamily="18" charset="0"/>
                          <a:cs typeface="Times New Roman" pitchFamily="18" charset="0"/>
                        </a:rPr>
                        <a:t>Read_lock</a:t>
                      </a:r>
                      <a:r>
                        <a:rPr lang="en-US" sz="2200" b="0" dirty="0">
                          <a:solidFill>
                            <a:schemeClr val="tx1"/>
                          </a:solidFill>
                          <a:latin typeface="Times New Roman" pitchFamily="18" charset="0"/>
                          <a:cs typeface="Times New Roman"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lnSpc>
                          <a:spcPct val="150000"/>
                        </a:lnSpc>
                      </a:pPr>
                      <a:r>
                        <a:rPr lang="en-US" sz="2200" b="0" dirty="0" err="1">
                          <a:solidFill>
                            <a:schemeClr val="tx1"/>
                          </a:solidFill>
                          <a:latin typeface="Times New Roman" pitchFamily="18" charset="0"/>
                          <a:cs typeface="Times New Roman" pitchFamily="18" charset="0"/>
                        </a:rPr>
                        <a:t>Read_item</a:t>
                      </a:r>
                      <a:r>
                        <a:rPr lang="en-US" sz="2200" b="0" dirty="0">
                          <a:solidFill>
                            <a:schemeClr val="tx1"/>
                          </a:solidFill>
                          <a:latin typeface="Times New Roman" pitchFamily="18" charset="0"/>
                          <a:cs typeface="Times New Roman"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pPr>
                      <a:r>
                        <a:rPr lang="en-US" sz="2200" b="0" dirty="0" err="1">
                          <a:solidFill>
                            <a:schemeClr val="tx1"/>
                          </a:solidFill>
                          <a:latin typeface="Times New Roman" pitchFamily="18" charset="0"/>
                          <a:cs typeface="Times New Roman" pitchFamily="18" charset="0"/>
                        </a:rPr>
                        <a:t>Read_item</a:t>
                      </a:r>
                      <a:r>
                        <a:rPr lang="en-US" sz="2200" b="0" dirty="0">
                          <a:solidFill>
                            <a:schemeClr val="tx1"/>
                          </a:solidFill>
                          <a:latin typeface="Times New Roman" pitchFamily="18" charset="0"/>
                          <a:cs typeface="Times New Roman"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l">
                        <a:lnSpc>
                          <a:spcPct val="150000"/>
                        </a:lnSpc>
                      </a:pPr>
                      <a:r>
                        <a:rPr lang="en-US" sz="2400" b="1" dirty="0">
                          <a:solidFill>
                            <a:schemeClr val="tx1"/>
                          </a:solidFill>
                          <a:latin typeface="Times New Roman" pitchFamily="18" charset="0"/>
                          <a:cs typeface="Times New Roman" pitchFamily="18" charset="0"/>
                        </a:rPr>
                        <a:t>Unlock(Y)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pPr>
                      <a:r>
                        <a:rPr lang="en-US" sz="2400" b="1" dirty="0">
                          <a:solidFill>
                            <a:schemeClr val="tx1"/>
                          </a:solidFill>
                          <a:latin typeface="Times New Roman" pitchFamily="18" charset="0"/>
                          <a:cs typeface="Times New Roman" pitchFamily="18" charset="0"/>
                        </a:rPr>
                        <a:t>Unlock(X)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l">
                        <a:lnSpc>
                          <a:spcPct val="150000"/>
                        </a:lnSpc>
                      </a:pPr>
                      <a:r>
                        <a:rPr lang="en-US" sz="2400" b="1" dirty="0" err="1">
                          <a:solidFill>
                            <a:schemeClr val="tx1"/>
                          </a:solidFill>
                          <a:latin typeface="Times New Roman" pitchFamily="18" charset="0"/>
                          <a:cs typeface="Times New Roman" pitchFamily="18" charset="0"/>
                        </a:rPr>
                        <a:t>Write_lock</a:t>
                      </a:r>
                      <a:r>
                        <a:rPr lang="en-US" sz="2400" b="1" dirty="0">
                          <a:solidFill>
                            <a:schemeClr val="tx1"/>
                          </a:solidFill>
                          <a:latin typeface="Times New Roman" pitchFamily="18" charset="0"/>
                          <a:cs typeface="Times New Roman"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pPr>
                      <a:r>
                        <a:rPr lang="en-US" sz="2400" b="1" dirty="0" err="1">
                          <a:solidFill>
                            <a:schemeClr val="tx1"/>
                          </a:solidFill>
                          <a:latin typeface="Times New Roman" pitchFamily="18" charset="0"/>
                          <a:cs typeface="Times New Roman" pitchFamily="18" charset="0"/>
                        </a:rPr>
                        <a:t>Write_lock</a:t>
                      </a:r>
                      <a:r>
                        <a:rPr lang="en-US" sz="2400" b="1" dirty="0">
                          <a:solidFill>
                            <a:schemeClr val="tx1"/>
                          </a:solidFill>
                          <a:latin typeface="Times New Roman" pitchFamily="18" charset="0"/>
                          <a:cs typeface="Times New Roman"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l">
                        <a:lnSpc>
                          <a:spcPct val="150000"/>
                        </a:lnSpc>
                      </a:pPr>
                      <a:r>
                        <a:rPr lang="en-US" sz="2200" b="0" dirty="0" err="1">
                          <a:solidFill>
                            <a:schemeClr val="tx1"/>
                          </a:solidFill>
                          <a:latin typeface="Times New Roman" pitchFamily="18" charset="0"/>
                          <a:cs typeface="Times New Roman" pitchFamily="18" charset="0"/>
                        </a:rPr>
                        <a:t>Read_item</a:t>
                      </a:r>
                      <a:r>
                        <a:rPr lang="en-US" sz="2200" b="0" dirty="0">
                          <a:solidFill>
                            <a:schemeClr val="tx1"/>
                          </a:solidFill>
                          <a:latin typeface="Times New Roman" pitchFamily="18" charset="0"/>
                          <a:cs typeface="Times New Roman"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pPr>
                      <a:r>
                        <a:rPr lang="en-US" sz="2200" b="0" dirty="0" err="1">
                          <a:solidFill>
                            <a:schemeClr val="tx1"/>
                          </a:solidFill>
                          <a:latin typeface="Times New Roman" pitchFamily="18" charset="0"/>
                          <a:cs typeface="Times New Roman" pitchFamily="18" charset="0"/>
                        </a:rPr>
                        <a:t>Read_item</a:t>
                      </a:r>
                      <a:r>
                        <a:rPr lang="en-US" sz="2200" b="0" dirty="0">
                          <a:solidFill>
                            <a:schemeClr val="tx1"/>
                          </a:solidFill>
                          <a:latin typeface="Times New Roman" pitchFamily="18" charset="0"/>
                          <a:cs typeface="Times New Roman"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l">
                        <a:lnSpc>
                          <a:spcPct val="150000"/>
                        </a:lnSpc>
                      </a:pPr>
                      <a:r>
                        <a:rPr lang="en-US" sz="2200" b="0" dirty="0">
                          <a:solidFill>
                            <a:schemeClr val="tx1"/>
                          </a:solidFill>
                          <a:latin typeface="Times New Roman" pitchFamily="18" charset="0"/>
                          <a:cs typeface="Times New Roman" pitchFamily="18" charset="0"/>
                        </a:rPr>
                        <a:t>X:X+Y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pPr>
                      <a:r>
                        <a:rPr lang="en-US" sz="2200" b="0" dirty="0">
                          <a:solidFill>
                            <a:schemeClr val="tx1"/>
                          </a:solidFill>
                          <a:latin typeface="Times New Roman" pitchFamily="18" charset="0"/>
                          <a:cs typeface="Times New Roman" pitchFamily="18" charset="0"/>
                        </a:rPr>
                        <a:t>Y:=X+Y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lnSpc>
                          <a:spcPct val="150000"/>
                        </a:lnSpc>
                      </a:pPr>
                      <a:r>
                        <a:rPr lang="en-US" sz="2200" b="0" dirty="0" err="1">
                          <a:solidFill>
                            <a:schemeClr val="tx1"/>
                          </a:solidFill>
                          <a:latin typeface="Times New Roman" pitchFamily="18" charset="0"/>
                          <a:cs typeface="Times New Roman" pitchFamily="18" charset="0"/>
                        </a:rPr>
                        <a:t>Write_item</a:t>
                      </a:r>
                      <a:r>
                        <a:rPr lang="en-US" sz="2200" b="0" dirty="0">
                          <a:solidFill>
                            <a:schemeClr val="tx1"/>
                          </a:solidFill>
                          <a:latin typeface="Times New Roman" pitchFamily="18" charset="0"/>
                          <a:cs typeface="Times New Roman"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pPr>
                      <a:r>
                        <a:rPr lang="en-US" sz="2200" b="0" dirty="0" err="1">
                          <a:solidFill>
                            <a:schemeClr val="tx1"/>
                          </a:solidFill>
                          <a:latin typeface="Times New Roman" pitchFamily="18" charset="0"/>
                          <a:cs typeface="Times New Roman" pitchFamily="18" charset="0"/>
                        </a:rPr>
                        <a:t>Write_item</a:t>
                      </a:r>
                      <a:r>
                        <a:rPr lang="en-US" sz="2200" b="0" dirty="0">
                          <a:solidFill>
                            <a:schemeClr val="tx1"/>
                          </a:solidFill>
                          <a:latin typeface="Times New Roman" pitchFamily="18" charset="0"/>
                          <a:cs typeface="Times New Roman"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lnSpc>
                          <a:spcPct val="150000"/>
                        </a:lnSpc>
                      </a:pPr>
                      <a:r>
                        <a:rPr lang="en-US" sz="2200" b="0" dirty="0">
                          <a:solidFill>
                            <a:schemeClr val="tx1"/>
                          </a:solidFill>
                          <a:latin typeface="Times New Roman" pitchFamily="18" charset="0"/>
                          <a:cs typeface="Times New Roman" pitchFamily="18" charset="0"/>
                        </a:rPr>
                        <a:t>Unlock(X)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pPr>
                      <a:r>
                        <a:rPr lang="en-US" sz="2200" b="0" dirty="0">
                          <a:solidFill>
                            <a:schemeClr val="tx1"/>
                          </a:solidFill>
                          <a:latin typeface="Times New Roman" pitchFamily="18" charset="0"/>
                          <a:cs typeface="Times New Roman" pitchFamily="18" charset="0"/>
                        </a:rPr>
                        <a:t>Unlock(Y)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5" name="Rectangle 4"/>
          <p:cNvSpPr/>
          <p:nvPr/>
        </p:nvSpPr>
        <p:spPr>
          <a:xfrm>
            <a:off x="6629400" y="1981200"/>
            <a:ext cx="2286000" cy="1600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dirty="0">
                <a:latin typeface="Times New Roman" pitchFamily="18" charset="0"/>
                <a:cs typeface="Times New Roman" pitchFamily="18" charset="0"/>
              </a:rPr>
              <a:t>Not obey two phase locking</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457200"/>
            <a:ext cx="9144000" cy="58674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3"/>
            </a:pPr>
            <a:r>
              <a:rPr lang="en-US" sz="2800" b="1" dirty="0"/>
              <a:t>Two-Phase Locking (2PL)</a:t>
            </a:r>
            <a:r>
              <a:rPr lang="en-US" sz="2400" b="1" dirty="0"/>
              <a:t>: (Cont…)</a:t>
            </a:r>
          </a:p>
          <a:p>
            <a:pPr marL="457200" indent="-457200" algn="just">
              <a:lnSpc>
                <a:spcPct val="150000"/>
              </a:lnSpc>
              <a:buClr>
                <a:srgbClr val="002060"/>
              </a:buClr>
            </a:pPr>
            <a:endParaRPr lang="en-US" sz="2400" b="1" dirty="0"/>
          </a:p>
        </p:txBody>
      </p:sp>
      <p:graphicFrame>
        <p:nvGraphicFramePr>
          <p:cNvPr id="4" name="Table 3"/>
          <p:cNvGraphicFramePr>
            <a:graphicFrameLocks noGrp="1"/>
          </p:cNvGraphicFramePr>
          <p:nvPr/>
        </p:nvGraphicFramePr>
        <p:xfrm>
          <a:off x="381000" y="1524000"/>
          <a:ext cx="6096000" cy="5052064"/>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sz="2400" b="1" dirty="0">
                          <a:solidFill>
                            <a:schemeClr val="tx1"/>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l">
                        <a:lnSpc>
                          <a:spcPct val="150000"/>
                        </a:lnSpc>
                      </a:pPr>
                      <a:r>
                        <a:rPr lang="en-US" sz="2400" b="0" dirty="0" err="1">
                          <a:solidFill>
                            <a:schemeClr val="tx1"/>
                          </a:solidFill>
                          <a:latin typeface="Times New Roman" pitchFamily="18" charset="0"/>
                          <a:cs typeface="Times New Roman" pitchFamily="18" charset="0"/>
                        </a:rPr>
                        <a:t>Raed_lock</a:t>
                      </a:r>
                      <a:r>
                        <a:rPr lang="en-US" sz="2400" b="0" dirty="0">
                          <a:solidFill>
                            <a:schemeClr val="tx1"/>
                          </a:solidFill>
                          <a:latin typeface="Times New Roman" pitchFamily="18" charset="0"/>
                          <a:cs typeface="Times New Roman"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pPr>
                      <a:r>
                        <a:rPr lang="en-US" sz="2400" b="0" dirty="0" err="1">
                          <a:solidFill>
                            <a:schemeClr val="tx1"/>
                          </a:solidFill>
                          <a:latin typeface="Times New Roman" pitchFamily="18" charset="0"/>
                          <a:cs typeface="Times New Roman" pitchFamily="18" charset="0"/>
                        </a:rPr>
                        <a:t>Read_lock</a:t>
                      </a:r>
                      <a:r>
                        <a:rPr lang="en-US" sz="2400" b="0" dirty="0">
                          <a:solidFill>
                            <a:schemeClr val="tx1"/>
                          </a:solidFill>
                          <a:latin typeface="Times New Roman" pitchFamily="18" charset="0"/>
                          <a:cs typeface="Times New Roman"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lnSpc>
                          <a:spcPct val="150000"/>
                        </a:lnSpc>
                      </a:pPr>
                      <a:r>
                        <a:rPr lang="en-US" sz="2400" b="0" dirty="0" err="1">
                          <a:solidFill>
                            <a:schemeClr val="tx1"/>
                          </a:solidFill>
                          <a:latin typeface="Times New Roman" pitchFamily="18" charset="0"/>
                          <a:cs typeface="Times New Roman" pitchFamily="18" charset="0"/>
                        </a:rPr>
                        <a:t>Read_item</a:t>
                      </a:r>
                      <a:r>
                        <a:rPr lang="en-US" sz="2400" b="0" dirty="0">
                          <a:solidFill>
                            <a:schemeClr val="tx1"/>
                          </a:solidFill>
                          <a:latin typeface="Times New Roman" pitchFamily="18" charset="0"/>
                          <a:cs typeface="Times New Roman"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pPr>
                      <a:r>
                        <a:rPr lang="en-US" sz="2400" b="0" dirty="0" err="1">
                          <a:solidFill>
                            <a:schemeClr val="tx1"/>
                          </a:solidFill>
                          <a:latin typeface="Times New Roman" pitchFamily="18" charset="0"/>
                          <a:cs typeface="Times New Roman" pitchFamily="18" charset="0"/>
                        </a:rPr>
                        <a:t>Read_item</a:t>
                      </a:r>
                      <a:r>
                        <a:rPr lang="en-US" sz="2400" b="0" dirty="0">
                          <a:solidFill>
                            <a:schemeClr val="tx1"/>
                          </a:solidFill>
                          <a:latin typeface="Times New Roman" pitchFamily="18" charset="0"/>
                          <a:cs typeface="Times New Roman"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2400" b="1" dirty="0" err="1">
                          <a:solidFill>
                            <a:schemeClr val="tx1"/>
                          </a:solidFill>
                          <a:latin typeface="Times New Roman" pitchFamily="18" charset="0"/>
                          <a:cs typeface="Times New Roman" pitchFamily="18" charset="0"/>
                        </a:rPr>
                        <a:t>Write_lock</a:t>
                      </a:r>
                      <a:r>
                        <a:rPr lang="en-US" sz="2400" b="1" dirty="0">
                          <a:solidFill>
                            <a:schemeClr val="tx1"/>
                          </a:solidFill>
                          <a:latin typeface="Times New Roman" pitchFamily="18" charset="0"/>
                          <a:cs typeface="Times New Roman"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2400" b="1" dirty="0" err="1">
                          <a:solidFill>
                            <a:schemeClr val="tx1"/>
                          </a:solidFill>
                          <a:latin typeface="Times New Roman" pitchFamily="18" charset="0"/>
                          <a:cs typeface="Times New Roman" pitchFamily="18" charset="0"/>
                        </a:rPr>
                        <a:t>Write_lock</a:t>
                      </a:r>
                      <a:r>
                        <a:rPr lang="en-US" sz="2400" b="1" dirty="0">
                          <a:solidFill>
                            <a:schemeClr val="tx1"/>
                          </a:solidFill>
                          <a:latin typeface="Times New Roman" pitchFamily="18" charset="0"/>
                          <a:cs typeface="Times New Roman"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l">
                        <a:lnSpc>
                          <a:spcPct val="150000"/>
                        </a:lnSpc>
                      </a:pPr>
                      <a:r>
                        <a:rPr lang="en-US" sz="2400" b="1" dirty="0">
                          <a:solidFill>
                            <a:schemeClr val="tx1"/>
                          </a:solidFill>
                          <a:latin typeface="Times New Roman" pitchFamily="18" charset="0"/>
                          <a:cs typeface="Times New Roman" pitchFamily="18" charset="0"/>
                        </a:rPr>
                        <a:t>Unlock(Y)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pPr>
                      <a:r>
                        <a:rPr lang="en-US" sz="2400" b="1" dirty="0">
                          <a:solidFill>
                            <a:schemeClr val="tx1"/>
                          </a:solidFill>
                          <a:latin typeface="Times New Roman" pitchFamily="18" charset="0"/>
                          <a:cs typeface="Times New Roman" pitchFamily="18" charset="0"/>
                        </a:rPr>
                        <a:t>Unlock(X)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l">
                        <a:lnSpc>
                          <a:spcPct val="150000"/>
                        </a:lnSpc>
                      </a:pPr>
                      <a:r>
                        <a:rPr lang="en-US" sz="2400" b="0" dirty="0" err="1">
                          <a:solidFill>
                            <a:schemeClr val="tx1"/>
                          </a:solidFill>
                          <a:latin typeface="Times New Roman" pitchFamily="18" charset="0"/>
                          <a:cs typeface="Times New Roman" pitchFamily="18" charset="0"/>
                        </a:rPr>
                        <a:t>Read_item</a:t>
                      </a:r>
                      <a:r>
                        <a:rPr lang="en-US" sz="2400" b="0" dirty="0">
                          <a:solidFill>
                            <a:schemeClr val="tx1"/>
                          </a:solidFill>
                          <a:latin typeface="Times New Roman" pitchFamily="18" charset="0"/>
                          <a:cs typeface="Times New Roman"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pPr>
                      <a:r>
                        <a:rPr lang="en-US" sz="2400" b="0" dirty="0" err="1">
                          <a:solidFill>
                            <a:schemeClr val="tx1"/>
                          </a:solidFill>
                          <a:latin typeface="Times New Roman" pitchFamily="18" charset="0"/>
                          <a:cs typeface="Times New Roman" pitchFamily="18" charset="0"/>
                        </a:rPr>
                        <a:t>Read_item</a:t>
                      </a:r>
                      <a:r>
                        <a:rPr lang="en-US" sz="2400" b="0" dirty="0">
                          <a:solidFill>
                            <a:schemeClr val="tx1"/>
                          </a:solidFill>
                          <a:latin typeface="Times New Roman" pitchFamily="18" charset="0"/>
                          <a:cs typeface="Times New Roman"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l">
                        <a:lnSpc>
                          <a:spcPct val="150000"/>
                        </a:lnSpc>
                      </a:pPr>
                      <a:r>
                        <a:rPr lang="en-US" sz="2400" b="0" dirty="0">
                          <a:solidFill>
                            <a:schemeClr val="tx1"/>
                          </a:solidFill>
                          <a:latin typeface="Times New Roman" pitchFamily="18" charset="0"/>
                          <a:cs typeface="Times New Roman" pitchFamily="18" charset="0"/>
                        </a:rPr>
                        <a:t>X:X+Y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pPr>
                      <a:r>
                        <a:rPr lang="en-US" sz="2400" b="0" dirty="0">
                          <a:solidFill>
                            <a:schemeClr val="tx1"/>
                          </a:solidFill>
                          <a:latin typeface="Times New Roman" pitchFamily="18" charset="0"/>
                          <a:cs typeface="Times New Roman" pitchFamily="18" charset="0"/>
                        </a:rPr>
                        <a:t>Y:=X+Y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lnSpc>
                          <a:spcPct val="150000"/>
                        </a:lnSpc>
                      </a:pPr>
                      <a:r>
                        <a:rPr lang="en-US" sz="2400" b="0" dirty="0" err="1">
                          <a:solidFill>
                            <a:schemeClr val="tx1"/>
                          </a:solidFill>
                          <a:latin typeface="Times New Roman" pitchFamily="18" charset="0"/>
                          <a:cs typeface="Times New Roman" pitchFamily="18" charset="0"/>
                        </a:rPr>
                        <a:t>Write_item</a:t>
                      </a:r>
                      <a:r>
                        <a:rPr lang="en-US" sz="2400" b="0" dirty="0">
                          <a:solidFill>
                            <a:schemeClr val="tx1"/>
                          </a:solidFill>
                          <a:latin typeface="Times New Roman" pitchFamily="18" charset="0"/>
                          <a:cs typeface="Times New Roman"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pPr>
                      <a:r>
                        <a:rPr lang="en-US" sz="2400" b="0" dirty="0" err="1">
                          <a:solidFill>
                            <a:schemeClr val="tx1"/>
                          </a:solidFill>
                          <a:latin typeface="Times New Roman" pitchFamily="18" charset="0"/>
                          <a:cs typeface="Times New Roman" pitchFamily="18" charset="0"/>
                        </a:rPr>
                        <a:t>Write_item</a:t>
                      </a:r>
                      <a:r>
                        <a:rPr lang="en-US" sz="2400" b="0" dirty="0">
                          <a:solidFill>
                            <a:schemeClr val="tx1"/>
                          </a:solidFill>
                          <a:latin typeface="Times New Roman" pitchFamily="18" charset="0"/>
                          <a:cs typeface="Times New Roman"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lnSpc>
                          <a:spcPct val="150000"/>
                        </a:lnSpc>
                      </a:pPr>
                      <a:r>
                        <a:rPr lang="en-US" sz="2400" b="0" dirty="0">
                          <a:solidFill>
                            <a:schemeClr val="tx1"/>
                          </a:solidFill>
                          <a:latin typeface="Times New Roman" pitchFamily="18" charset="0"/>
                          <a:cs typeface="Times New Roman" pitchFamily="18" charset="0"/>
                        </a:rPr>
                        <a:t>Unlock(X)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pPr>
                      <a:r>
                        <a:rPr lang="en-US" sz="2400" b="0" dirty="0">
                          <a:solidFill>
                            <a:schemeClr val="tx1"/>
                          </a:solidFill>
                          <a:latin typeface="Times New Roman" pitchFamily="18" charset="0"/>
                          <a:cs typeface="Times New Roman" pitchFamily="18" charset="0"/>
                        </a:rPr>
                        <a:t>Unlock(Y)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5" name="Rectangle 4"/>
          <p:cNvSpPr/>
          <p:nvPr/>
        </p:nvSpPr>
        <p:spPr>
          <a:xfrm>
            <a:off x="6705600" y="1981200"/>
            <a:ext cx="2209800" cy="1143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dirty="0">
                <a:latin typeface="Times New Roman" pitchFamily="18" charset="0"/>
                <a:cs typeface="Times New Roman" pitchFamily="18" charset="0"/>
              </a:rPr>
              <a:t>Obey two phase locking</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3"/>
            </a:pPr>
            <a:r>
              <a:rPr lang="en-US" sz="2800" b="1" dirty="0"/>
              <a:t>Two-Phase Locking (2PL): </a:t>
            </a:r>
            <a:r>
              <a:rPr lang="en-US" sz="2400" b="1" dirty="0"/>
              <a:t>(Cont…)</a:t>
            </a:r>
          </a:p>
          <a:p>
            <a:pPr marL="457200" indent="-457200" algn="just">
              <a:lnSpc>
                <a:spcPct val="150000"/>
              </a:lnSpc>
              <a:buClr>
                <a:srgbClr val="002060"/>
              </a:buClr>
            </a:pPr>
            <a:endParaRPr lang="en-US" sz="2400" b="1" dirty="0"/>
          </a:p>
        </p:txBody>
      </p:sp>
      <p:graphicFrame>
        <p:nvGraphicFramePr>
          <p:cNvPr id="4" name="Table 3"/>
          <p:cNvGraphicFramePr>
            <a:graphicFrameLocks noGrp="1"/>
          </p:cNvGraphicFramePr>
          <p:nvPr/>
        </p:nvGraphicFramePr>
        <p:xfrm>
          <a:off x="304800" y="1143000"/>
          <a:ext cx="8534400" cy="5364480"/>
        </p:xfrm>
        <a:graphic>
          <a:graphicData uri="http://schemas.openxmlformats.org/drawingml/2006/table">
            <a:tbl>
              <a:tblPr firstRow="1" bandRow="1">
                <a:tableStyleId>{5C22544A-7EE6-4342-B048-85BDC9FD1C3A}</a:tableStyleId>
              </a:tblPr>
              <a:tblGrid>
                <a:gridCol w="1410031">
                  <a:extLst>
                    <a:ext uri="{9D8B030D-6E8A-4147-A177-3AD203B41FA5}">
                      <a16:colId xmlns:a16="http://schemas.microsoft.com/office/drawing/2014/main" val="20000"/>
                    </a:ext>
                  </a:extLst>
                </a:gridCol>
                <a:gridCol w="2753091">
                  <a:extLst>
                    <a:ext uri="{9D8B030D-6E8A-4147-A177-3AD203B41FA5}">
                      <a16:colId xmlns:a16="http://schemas.microsoft.com/office/drawing/2014/main" val="20001"/>
                    </a:ext>
                  </a:extLst>
                </a:gridCol>
                <a:gridCol w="4371278">
                  <a:extLst>
                    <a:ext uri="{9D8B030D-6E8A-4147-A177-3AD203B41FA5}">
                      <a16:colId xmlns:a16="http://schemas.microsoft.com/office/drawing/2014/main" val="20002"/>
                    </a:ext>
                  </a:extLst>
                </a:gridCol>
              </a:tblGrid>
              <a:tr h="370840">
                <a:tc>
                  <a:txBody>
                    <a:bodyPr/>
                    <a:lstStyle/>
                    <a:p>
                      <a:pPr algn="ctr" fontAlgn="t"/>
                      <a:r>
                        <a:rPr lang="en-US" sz="2200" b="1" dirty="0">
                          <a:solidFill>
                            <a:srgbClr val="FF0000"/>
                          </a:solidFill>
                          <a:latin typeface="Times New Roman" pitchFamily="18" charset="0"/>
                          <a:cs typeface="Times New Roman" pitchFamily="18" charset="0"/>
                        </a:rPr>
                        <a:t>Time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t"/>
                      <a:r>
                        <a:rPr lang="en-US" sz="2200" b="1" dirty="0">
                          <a:solidFill>
                            <a:srgbClr val="FF0000"/>
                          </a:solidFill>
                          <a:latin typeface="Times New Roman" pitchFamily="18" charset="0"/>
                          <a:cs typeface="Times New Roman" pitchFamily="18" charset="0"/>
                        </a:rPr>
                        <a:t>Transaction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fontAlgn="t"/>
                      <a:r>
                        <a:rPr lang="en-US" sz="2200" b="1" dirty="0">
                          <a:solidFill>
                            <a:srgbClr val="FF0000"/>
                          </a:solidFill>
                          <a:latin typeface="Times New Roman" pitchFamily="18" charset="0"/>
                          <a:cs typeface="Times New Roman" pitchFamily="18" charset="0"/>
                        </a:rPr>
                        <a:t>Remarks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0"/>
                  </a:ext>
                </a:extLst>
              </a:tr>
              <a:tr h="457200">
                <a:tc>
                  <a:txBody>
                    <a:bodyPr/>
                    <a:lstStyle/>
                    <a:p>
                      <a:pPr algn="ctr" fontAlgn="t"/>
                      <a:r>
                        <a:rPr lang="en-US" sz="2200" b="1" dirty="0">
                          <a:solidFill>
                            <a:srgbClr val="002060"/>
                          </a:solidFill>
                          <a:latin typeface="Times New Roman" pitchFamily="18" charset="0"/>
                          <a:cs typeface="Times New Roman" pitchFamily="18" charset="0"/>
                        </a:rPr>
                        <a:t>t0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002060"/>
                          </a:solidFill>
                          <a:latin typeface="Times New Roman" pitchFamily="18" charset="0"/>
                          <a:cs typeface="Times New Roman" pitchFamily="18" charset="0"/>
                        </a:rPr>
                        <a:t>Lock - X (</a:t>
                      </a:r>
                      <a:r>
                        <a:rPr lang="en-US" sz="2200" b="1" dirty="0">
                          <a:solidFill>
                            <a:srgbClr val="FF0000"/>
                          </a:solidFill>
                          <a:latin typeface="Times New Roman" pitchFamily="18" charset="0"/>
                          <a:cs typeface="Times New Roman" pitchFamily="18" charset="0"/>
                        </a:rPr>
                        <a:t>A</a:t>
                      </a:r>
                      <a:r>
                        <a:rPr lang="en-US" sz="2200" b="1" dirty="0">
                          <a:solidFill>
                            <a:srgbClr val="002060"/>
                          </a:solidFill>
                          <a:latin typeface="Times New Roman" pitchFamily="18" charset="0"/>
                          <a:cs typeface="Times New Roman" pitchFamily="18" charset="0"/>
                        </a:rPr>
                        <a:t>)</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fr-FR" sz="2200" b="1" dirty="0">
                          <a:solidFill>
                            <a:srgbClr val="002060"/>
                          </a:solidFill>
                          <a:latin typeface="Times New Roman" pitchFamily="18" charset="0"/>
                          <a:cs typeface="Times New Roman" pitchFamily="18" charset="0"/>
                        </a:rPr>
                        <a:t>Acquière Exclusive lock on A.</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fontAlgn="t"/>
                      <a:r>
                        <a:rPr lang="en-US" sz="2200" b="1" dirty="0">
                          <a:solidFill>
                            <a:srgbClr val="002060"/>
                          </a:solidFill>
                          <a:latin typeface="Times New Roman" pitchFamily="18" charset="0"/>
                          <a:cs typeface="Times New Roman" pitchFamily="18" charset="0"/>
                        </a:rPr>
                        <a:t>t1</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002060"/>
                          </a:solidFill>
                          <a:latin typeface="Times New Roman" pitchFamily="18" charset="0"/>
                          <a:cs typeface="Times New Roman" pitchFamily="18" charset="0"/>
                        </a:rPr>
                        <a:t>Read </a:t>
                      </a:r>
                      <a:r>
                        <a:rPr lang="en-US" sz="2200" b="1" dirty="0">
                          <a:solidFill>
                            <a:srgbClr val="FF0000"/>
                          </a:solidFill>
                          <a:latin typeface="Times New Roman" pitchFamily="18" charset="0"/>
                          <a:cs typeface="Times New Roman" pitchFamily="18" charset="0"/>
                        </a:rPr>
                        <a:t>A</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a:solidFill>
                            <a:srgbClr val="002060"/>
                          </a:solidFill>
                          <a:latin typeface="Times New Roman" pitchFamily="18" charset="0"/>
                          <a:cs typeface="Times New Roman" pitchFamily="18" charset="0"/>
                        </a:rPr>
                        <a:t>read original value of A</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fontAlgn="t"/>
                      <a:r>
                        <a:rPr lang="en-US" sz="2200" b="1" dirty="0">
                          <a:solidFill>
                            <a:srgbClr val="002060"/>
                          </a:solidFill>
                          <a:latin typeface="Times New Roman" pitchFamily="18" charset="0"/>
                          <a:cs typeface="Times New Roman" pitchFamily="18" charset="0"/>
                        </a:rPr>
                        <a:t>t2</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FF0000"/>
                          </a:solidFill>
                          <a:latin typeface="Times New Roman" pitchFamily="18" charset="0"/>
                          <a:cs typeface="Times New Roman" pitchFamily="18" charset="0"/>
                        </a:rPr>
                        <a:t>A</a:t>
                      </a:r>
                      <a:r>
                        <a:rPr lang="en-US" sz="2200" b="1" dirty="0">
                          <a:solidFill>
                            <a:srgbClr val="002060"/>
                          </a:solidFill>
                          <a:latin typeface="Times New Roman" pitchFamily="18" charset="0"/>
                          <a:cs typeface="Times New Roman" pitchFamily="18" charset="0"/>
                        </a:rPr>
                        <a:t> = </a:t>
                      </a:r>
                      <a:r>
                        <a:rPr lang="en-US" sz="2200" b="1" dirty="0">
                          <a:solidFill>
                            <a:srgbClr val="FF0000"/>
                          </a:solidFill>
                          <a:latin typeface="Times New Roman" pitchFamily="18" charset="0"/>
                          <a:cs typeface="Times New Roman" pitchFamily="18" charset="0"/>
                        </a:rPr>
                        <a:t>A</a:t>
                      </a:r>
                      <a:r>
                        <a:rPr lang="en-US" sz="2200" b="1" dirty="0">
                          <a:solidFill>
                            <a:srgbClr val="002060"/>
                          </a:solidFill>
                          <a:latin typeface="Times New Roman" pitchFamily="18" charset="0"/>
                          <a:cs typeface="Times New Roman" pitchFamily="18" charset="0"/>
                        </a:rPr>
                        <a:t> - 100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002060"/>
                          </a:solidFill>
                          <a:latin typeface="Times New Roman" pitchFamily="18" charset="0"/>
                          <a:cs typeface="Times New Roman" pitchFamily="18" charset="0"/>
                        </a:rPr>
                        <a:t>subtract 100 from A</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fontAlgn="t"/>
                      <a:r>
                        <a:rPr lang="en-US" sz="2200" b="1" dirty="0">
                          <a:solidFill>
                            <a:srgbClr val="002060"/>
                          </a:solidFill>
                          <a:latin typeface="Times New Roman" pitchFamily="18" charset="0"/>
                          <a:cs typeface="Times New Roman" pitchFamily="18" charset="0"/>
                        </a:rPr>
                        <a:t>t3</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002060"/>
                          </a:solidFill>
                          <a:latin typeface="Times New Roman" pitchFamily="18" charset="0"/>
                          <a:cs typeface="Times New Roman" pitchFamily="18" charset="0"/>
                        </a:rPr>
                        <a:t>Write A</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002060"/>
                          </a:solidFill>
                          <a:latin typeface="Times New Roman" pitchFamily="18" charset="0"/>
                          <a:cs typeface="Times New Roman" pitchFamily="18" charset="0"/>
                        </a:rPr>
                        <a:t>write new value of A</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fontAlgn="t"/>
                      <a:r>
                        <a:rPr lang="en-US" sz="2200" b="1" dirty="0">
                          <a:solidFill>
                            <a:srgbClr val="002060"/>
                          </a:solidFill>
                          <a:latin typeface="Times New Roman" pitchFamily="18" charset="0"/>
                          <a:cs typeface="Times New Roman" pitchFamily="18" charset="0"/>
                        </a:rPr>
                        <a:t>t4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002060"/>
                          </a:solidFill>
                          <a:latin typeface="Times New Roman" pitchFamily="18" charset="0"/>
                          <a:cs typeface="Times New Roman" pitchFamily="18" charset="0"/>
                        </a:rPr>
                        <a:t>Lock - X (</a:t>
                      </a:r>
                      <a:r>
                        <a:rPr lang="en-US" sz="2200" b="1" dirty="0">
                          <a:solidFill>
                            <a:srgbClr val="FF0000"/>
                          </a:solidFill>
                          <a:latin typeface="Times New Roman" pitchFamily="18" charset="0"/>
                          <a:cs typeface="Times New Roman" pitchFamily="18" charset="0"/>
                        </a:rPr>
                        <a:t>B</a:t>
                      </a:r>
                      <a:r>
                        <a:rPr lang="en-US" sz="2200" b="1" dirty="0">
                          <a:solidFill>
                            <a:srgbClr val="002060"/>
                          </a:solidFill>
                          <a:latin typeface="Times New Roman" pitchFamily="18" charset="0"/>
                          <a:cs typeface="Times New Roman" pitchFamily="18" charset="0"/>
                        </a:rPr>
                        <a:t>)</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fr-FR" sz="2200" b="1" dirty="0">
                          <a:solidFill>
                            <a:srgbClr val="002060"/>
                          </a:solidFill>
                          <a:latin typeface="Times New Roman" pitchFamily="18" charset="0"/>
                          <a:cs typeface="Times New Roman" pitchFamily="18" charset="0"/>
                        </a:rPr>
                        <a:t>Acquière Exclusive lock on B.</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ctr" fontAlgn="t"/>
                      <a:r>
                        <a:rPr lang="en-US" sz="2200" b="1" dirty="0">
                          <a:solidFill>
                            <a:srgbClr val="002060"/>
                          </a:solidFill>
                          <a:latin typeface="Times New Roman" pitchFamily="18" charset="0"/>
                          <a:cs typeface="Times New Roman" pitchFamily="18" charset="0"/>
                        </a:rPr>
                        <a:t>t5</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002060"/>
                          </a:solidFill>
                          <a:latin typeface="Times New Roman" pitchFamily="18" charset="0"/>
                          <a:cs typeface="Times New Roman" pitchFamily="18" charset="0"/>
                        </a:rPr>
                        <a:t>Read </a:t>
                      </a:r>
                      <a:r>
                        <a:rPr lang="en-US" sz="2200" b="1" dirty="0">
                          <a:solidFill>
                            <a:srgbClr val="FF0000"/>
                          </a:solidFill>
                          <a:latin typeface="Times New Roman" pitchFamily="18" charset="0"/>
                          <a:cs typeface="Times New Roman" pitchFamily="18" charset="0"/>
                        </a:rPr>
                        <a:t>B</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002060"/>
                          </a:solidFill>
                          <a:latin typeface="Times New Roman" pitchFamily="18" charset="0"/>
                          <a:cs typeface="Times New Roman" pitchFamily="18" charset="0"/>
                        </a:rPr>
                        <a:t>read original value of B</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ctr" fontAlgn="t"/>
                      <a:r>
                        <a:rPr lang="en-US" sz="2200" b="1" dirty="0">
                          <a:solidFill>
                            <a:srgbClr val="002060"/>
                          </a:solidFill>
                          <a:latin typeface="Times New Roman" pitchFamily="18" charset="0"/>
                          <a:cs typeface="Times New Roman" pitchFamily="18" charset="0"/>
                        </a:rPr>
                        <a:t>t6</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FF0000"/>
                          </a:solidFill>
                          <a:latin typeface="Times New Roman" pitchFamily="18" charset="0"/>
                          <a:cs typeface="Times New Roman" pitchFamily="18" charset="0"/>
                        </a:rPr>
                        <a:t>B</a:t>
                      </a:r>
                      <a:r>
                        <a:rPr lang="en-US" sz="2200" b="1" dirty="0">
                          <a:solidFill>
                            <a:srgbClr val="002060"/>
                          </a:solidFill>
                          <a:latin typeface="Times New Roman" pitchFamily="18" charset="0"/>
                          <a:cs typeface="Times New Roman" pitchFamily="18" charset="0"/>
                        </a:rPr>
                        <a:t> = </a:t>
                      </a:r>
                      <a:r>
                        <a:rPr lang="en-US" sz="2200" b="1" dirty="0">
                          <a:solidFill>
                            <a:srgbClr val="FF0000"/>
                          </a:solidFill>
                          <a:latin typeface="Times New Roman" pitchFamily="18" charset="0"/>
                          <a:cs typeface="Times New Roman" pitchFamily="18" charset="0"/>
                        </a:rPr>
                        <a:t>B</a:t>
                      </a:r>
                      <a:r>
                        <a:rPr lang="en-US" sz="2200" b="1" dirty="0">
                          <a:solidFill>
                            <a:srgbClr val="002060"/>
                          </a:solidFill>
                          <a:latin typeface="Times New Roman" pitchFamily="18" charset="0"/>
                          <a:cs typeface="Times New Roman" pitchFamily="18" charset="0"/>
                        </a:rPr>
                        <a:t> + 100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002060"/>
                          </a:solidFill>
                          <a:latin typeface="Times New Roman" pitchFamily="18" charset="0"/>
                          <a:cs typeface="Times New Roman" pitchFamily="18" charset="0"/>
                        </a:rPr>
                        <a:t>add 100 to B</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ctr" fontAlgn="t"/>
                      <a:r>
                        <a:rPr lang="en-US" sz="2200" b="1" dirty="0">
                          <a:solidFill>
                            <a:srgbClr val="002060"/>
                          </a:solidFill>
                          <a:latin typeface="Times New Roman" pitchFamily="18" charset="0"/>
                          <a:cs typeface="Times New Roman" pitchFamily="18" charset="0"/>
                        </a:rPr>
                        <a:t>t7</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002060"/>
                          </a:solidFill>
                          <a:latin typeface="Times New Roman" pitchFamily="18" charset="0"/>
                          <a:cs typeface="Times New Roman" pitchFamily="18" charset="0"/>
                        </a:rPr>
                        <a:t>Write </a:t>
                      </a:r>
                      <a:r>
                        <a:rPr lang="en-US" sz="2200" b="1" dirty="0">
                          <a:solidFill>
                            <a:srgbClr val="FF0000"/>
                          </a:solidFill>
                          <a:latin typeface="Times New Roman" pitchFamily="18" charset="0"/>
                          <a:cs typeface="Times New Roman" pitchFamily="18" charset="0"/>
                        </a:rPr>
                        <a:t>B</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002060"/>
                          </a:solidFill>
                          <a:latin typeface="Times New Roman" pitchFamily="18" charset="0"/>
                          <a:cs typeface="Times New Roman" pitchFamily="18" charset="0"/>
                        </a:rPr>
                        <a:t>write new value of B</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ctr" fontAlgn="t"/>
                      <a:r>
                        <a:rPr lang="en-US" sz="2200" b="1" dirty="0">
                          <a:solidFill>
                            <a:srgbClr val="002060"/>
                          </a:solidFill>
                          <a:latin typeface="Times New Roman" pitchFamily="18" charset="0"/>
                          <a:cs typeface="Times New Roman" pitchFamily="18" charset="0"/>
                        </a:rPr>
                        <a:t>t8</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002060"/>
                          </a:solidFill>
                          <a:latin typeface="Times New Roman" pitchFamily="18" charset="0"/>
                          <a:cs typeface="Times New Roman" pitchFamily="18" charset="0"/>
                        </a:rPr>
                        <a:t>Unlock (</a:t>
                      </a:r>
                      <a:r>
                        <a:rPr lang="en-US" sz="2200" b="1" dirty="0">
                          <a:solidFill>
                            <a:srgbClr val="FF0000"/>
                          </a:solidFill>
                          <a:latin typeface="Times New Roman" pitchFamily="18" charset="0"/>
                          <a:cs typeface="Times New Roman" pitchFamily="18" charset="0"/>
                        </a:rPr>
                        <a:t>A</a:t>
                      </a:r>
                      <a:r>
                        <a:rPr lang="en-US" sz="2200" b="1" dirty="0">
                          <a:solidFill>
                            <a:srgbClr val="002060"/>
                          </a:solidFill>
                          <a:latin typeface="Times New Roman" pitchFamily="18" charset="0"/>
                          <a:cs typeface="Times New Roman" pitchFamily="18" charset="0"/>
                        </a:rPr>
                        <a:t>)</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002060"/>
                          </a:solidFill>
                          <a:latin typeface="Times New Roman" pitchFamily="18" charset="0"/>
                          <a:cs typeface="Times New Roman" pitchFamily="18" charset="0"/>
                        </a:rPr>
                        <a:t>release lock on A</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70840">
                <a:tc>
                  <a:txBody>
                    <a:bodyPr/>
                    <a:lstStyle/>
                    <a:p>
                      <a:pPr algn="ctr" fontAlgn="t"/>
                      <a:r>
                        <a:rPr lang="en-US" sz="2200" b="1" dirty="0">
                          <a:solidFill>
                            <a:srgbClr val="002060"/>
                          </a:solidFill>
                          <a:latin typeface="Times New Roman" pitchFamily="18" charset="0"/>
                          <a:cs typeface="Times New Roman" pitchFamily="18" charset="0"/>
                        </a:rPr>
                        <a:t>t9</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err="1">
                          <a:solidFill>
                            <a:srgbClr val="002060"/>
                          </a:solidFill>
                          <a:latin typeface="Times New Roman" pitchFamily="18" charset="0"/>
                          <a:cs typeface="Times New Roman" pitchFamily="18" charset="0"/>
                        </a:rPr>
                        <a:t>Unock</a:t>
                      </a:r>
                      <a:r>
                        <a:rPr lang="en-US" sz="2200" b="1" dirty="0">
                          <a:solidFill>
                            <a:srgbClr val="002060"/>
                          </a:solidFill>
                          <a:latin typeface="Times New Roman" pitchFamily="18" charset="0"/>
                          <a:cs typeface="Times New Roman" pitchFamily="18" charset="0"/>
                        </a:rPr>
                        <a:t> (</a:t>
                      </a:r>
                      <a:r>
                        <a:rPr lang="en-US" sz="2200" b="1" dirty="0">
                          <a:solidFill>
                            <a:srgbClr val="FF0000"/>
                          </a:solidFill>
                          <a:latin typeface="Times New Roman" pitchFamily="18" charset="0"/>
                          <a:cs typeface="Times New Roman" pitchFamily="18" charset="0"/>
                        </a:rPr>
                        <a:t>B</a:t>
                      </a:r>
                      <a:r>
                        <a:rPr lang="en-US" sz="2200" b="1" dirty="0">
                          <a:solidFill>
                            <a:srgbClr val="002060"/>
                          </a:solidFill>
                          <a:latin typeface="Times New Roman" pitchFamily="18" charset="0"/>
                          <a:cs typeface="Times New Roman" pitchFamily="18" charset="0"/>
                        </a:rPr>
                        <a:t>)</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t"/>
                      <a:r>
                        <a:rPr lang="en-US" sz="2200" b="1" dirty="0">
                          <a:solidFill>
                            <a:srgbClr val="002060"/>
                          </a:solidFill>
                          <a:latin typeface="Times New Roman" pitchFamily="18" charset="0"/>
                          <a:cs typeface="Times New Roman" pitchFamily="18" charset="0"/>
                        </a:rPr>
                        <a:t>release lock on B</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4572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lphaLcParenR" startAt="3"/>
            </a:pPr>
            <a:r>
              <a:rPr lang="en-US" sz="2800" b="1" dirty="0">
                <a:latin typeface="Times New Roman" pitchFamily="18" charset="0"/>
                <a:cs typeface="Times New Roman" pitchFamily="18" charset="0"/>
              </a:rPr>
              <a:t>Two-Phase Locking (2PL)</a:t>
            </a:r>
            <a:r>
              <a:rPr lang="en-US" sz="2400" b="1" dirty="0">
                <a:latin typeface="Times New Roman" pitchFamily="18" charset="0"/>
                <a:cs typeface="Times New Roman" pitchFamily="18" charset="0"/>
              </a:rPr>
              <a:t>: (Cont…)</a:t>
            </a:r>
          </a:p>
          <a:p>
            <a:pPr marL="457200" indent="-457200" algn="just">
              <a:lnSpc>
                <a:spcPct val="150000"/>
              </a:lnSpc>
              <a:buClr>
                <a:srgbClr val="002060"/>
              </a:buClr>
            </a:pPr>
            <a:r>
              <a:rPr lang="en-US" sz="2400" b="1" dirty="0">
                <a:solidFill>
                  <a:srgbClr val="FF0000"/>
                </a:solidFill>
                <a:latin typeface="Times New Roman" pitchFamily="18" charset="0"/>
                <a:cs typeface="Times New Roman" pitchFamily="18" charset="0"/>
              </a:rPr>
              <a:t>Advantages</a:t>
            </a:r>
            <a:r>
              <a:rPr lang="en-US" sz="2400" dirty="0">
                <a:latin typeface="Times New Roman" pitchFamily="18" charset="0"/>
                <a:cs typeface="Times New Roman" pitchFamily="18" charset="0"/>
              </a:rPr>
              <a:t>:</a:t>
            </a:r>
          </a:p>
          <a:p>
            <a:pPr marL="457200" indent="-457200" algn="just">
              <a:lnSpc>
                <a:spcPct val="150000"/>
              </a:lnSpc>
              <a:buClr>
                <a:srgbClr val="002060"/>
              </a:buClr>
              <a:buAutoNum type="arabicPeriod"/>
            </a:pPr>
            <a:r>
              <a:rPr lang="en-US" sz="2400" dirty="0">
                <a:latin typeface="Times New Roman" pitchFamily="18" charset="0"/>
                <a:cs typeface="Times New Roman" pitchFamily="18" charset="0"/>
              </a:rPr>
              <a:t>The two-phase locking ensures conflict serializability.</a:t>
            </a:r>
          </a:p>
          <a:p>
            <a:pPr marL="457200" indent="-457200" algn="just">
              <a:lnSpc>
                <a:spcPct val="150000"/>
              </a:lnSpc>
              <a:buClr>
                <a:srgbClr val="002060"/>
              </a:buClr>
            </a:pPr>
            <a:endParaRPr lang="en-US" sz="2400" b="1" dirty="0">
              <a:latin typeface="Times New Roman" pitchFamily="18" charset="0"/>
              <a:cs typeface="Times New Roman" pitchFamily="18" charset="0"/>
            </a:endParaRPr>
          </a:p>
          <a:p>
            <a:pPr marL="457200" indent="-457200" algn="just">
              <a:lnSpc>
                <a:spcPct val="150000"/>
              </a:lnSpc>
              <a:buClr>
                <a:srgbClr val="002060"/>
              </a:buClr>
            </a:pPr>
            <a:r>
              <a:rPr lang="en-US" sz="2400" b="1" dirty="0">
                <a:solidFill>
                  <a:srgbClr val="FF0000"/>
                </a:solidFill>
                <a:latin typeface="Times New Roman" pitchFamily="18" charset="0"/>
                <a:cs typeface="Times New Roman" pitchFamily="18" charset="0"/>
              </a:rPr>
              <a:t>Disadvantages</a:t>
            </a:r>
            <a:r>
              <a:rPr lang="en-US" sz="2400" b="1" dirty="0">
                <a:latin typeface="Times New Roman" pitchFamily="18" charset="0"/>
                <a:cs typeface="Times New Roman" pitchFamily="18" charset="0"/>
              </a:rPr>
              <a:t>:</a:t>
            </a:r>
          </a:p>
          <a:p>
            <a:pPr marL="457200" indent="-457200" algn="just">
              <a:lnSpc>
                <a:spcPct val="150000"/>
              </a:lnSpc>
              <a:buClr>
                <a:srgbClr val="002060"/>
              </a:buClr>
              <a:buAutoNum type="arabicPeriod"/>
            </a:pPr>
            <a:r>
              <a:rPr lang="en-US" sz="2400" dirty="0">
                <a:latin typeface="Times New Roman" pitchFamily="18" charset="0"/>
                <a:cs typeface="Times New Roman" pitchFamily="18" charset="0"/>
              </a:rPr>
              <a:t>Two-phase locking does not ensure freedom from deadlock.</a:t>
            </a:r>
          </a:p>
          <a:p>
            <a:pPr marL="457200" indent="-457200" algn="just">
              <a:lnSpc>
                <a:spcPct val="150000"/>
              </a:lnSpc>
              <a:buClr>
                <a:srgbClr val="002060"/>
              </a:buClr>
              <a:buAutoNum type="arabicPeriod"/>
            </a:pPr>
            <a:r>
              <a:rPr lang="en-US" sz="2400" dirty="0">
                <a:latin typeface="Times New Roman" pitchFamily="18" charset="0"/>
                <a:cs typeface="Times New Roman" pitchFamily="18" charset="0"/>
              </a:rPr>
              <a:t>Cascading Roll-backing may occur under two-phase locking.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anim calcmode="lin" valueType="num">
                                      <p:cBhvr additive="base">
                                        <p:cTn id="11"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 calcmode="lin" valueType="num">
                                      <p:cBhvr additive="base">
                                        <p:cTn id="1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anim calcmode="lin" valueType="num">
                                      <p:cBhvr additive="base">
                                        <p:cTn id="2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anim calcmode="lin" valueType="num">
                                      <p:cBhvr additive="base">
                                        <p:cTn id="25"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4572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pPr>
            <a:r>
              <a:rPr lang="en-US" sz="2800" b="1" dirty="0">
                <a:latin typeface="Times New Roman" pitchFamily="18" charset="0"/>
                <a:cs typeface="Times New Roman" pitchFamily="18" charset="0"/>
              </a:rPr>
              <a:t>Strict Two-Phase Locking (2PL)</a:t>
            </a:r>
            <a:r>
              <a:rPr lang="en-US" sz="2400" b="1" dirty="0">
                <a:latin typeface="Times New Roman" pitchFamily="18" charset="0"/>
                <a:cs typeface="Times New Roman" pitchFamily="18" charset="0"/>
              </a:rPr>
              <a:t>: </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Strict two-phase locking method used in concurrent systems.</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Strict Two-Phase is most used in real-world implementation.</a:t>
            </a:r>
          </a:p>
          <a:p>
            <a:pPr marL="457200" indent="-457200" algn="just">
              <a:lnSpc>
                <a:spcPct val="150000"/>
              </a:lnSpc>
              <a:buClr>
                <a:srgbClr val="FF0000"/>
              </a:buClr>
              <a:buFont typeface="Wingdings" pitchFamily="2" charset="2"/>
              <a:buChar char="v"/>
            </a:pPr>
            <a:r>
              <a:rPr lang="en-US" sz="2400" b="1" dirty="0">
                <a:solidFill>
                  <a:srgbClr val="FF0000"/>
                </a:solidFill>
                <a:latin typeface="Times New Roman" pitchFamily="18" charset="0"/>
                <a:cs typeface="Times New Roman" pitchFamily="18" charset="0"/>
              </a:rPr>
              <a:t>Rules of Strict 2PL</a:t>
            </a:r>
            <a:r>
              <a:rPr lang="en-US" sz="2400" dirty="0">
                <a:solidFill>
                  <a:srgbClr val="002060"/>
                </a:solidFill>
                <a:latin typeface="Times New Roman" pitchFamily="18" charset="0"/>
                <a:cs typeface="Times New Roman" pitchFamily="18" charset="0"/>
              </a:rPr>
              <a:t>:</a:t>
            </a:r>
          </a:p>
          <a:p>
            <a:pPr marL="914400" indent="-449263" algn="just">
              <a:lnSpc>
                <a:spcPct val="150000"/>
              </a:lnSpc>
              <a:buClr>
                <a:srgbClr val="FF0000"/>
              </a:buClr>
              <a:buAutoNum type="arabicPeriod"/>
            </a:pPr>
            <a:r>
              <a:rPr lang="en-US" sz="2400" dirty="0">
                <a:solidFill>
                  <a:srgbClr val="002060"/>
                </a:solidFill>
                <a:latin typeface="Times New Roman" pitchFamily="18" charset="0"/>
                <a:cs typeface="Times New Roman" pitchFamily="18" charset="0"/>
              </a:rPr>
              <a:t>If a transaction T wants to read/write an object, it must request a shared/exclusive lock on the object.</a:t>
            </a:r>
          </a:p>
          <a:p>
            <a:pPr marL="914400" indent="-449263" algn="just">
              <a:lnSpc>
                <a:spcPct val="150000"/>
              </a:lnSpc>
              <a:buClr>
                <a:srgbClr val="FF0000"/>
              </a:buClr>
              <a:buAutoNum type="arabicPeriod"/>
            </a:pPr>
            <a:r>
              <a:rPr lang="en-US" sz="2400" dirty="0">
                <a:solidFill>
                  <a:srgbClr val="002060"/>
                </a:solidFill>
                <a:latin typeface="Times New Roman" pitchFamily="18" charset="0"/>
                <a:cs typeface="Times New Roman" pitchFamily="18" charset="0"/>
              </a:rPr>
              <a:t>All exclusive locks held by transaction T are released when T commits.</a:t>
            </a:r>
          </a:p>
          <a:p>
            <a:pPr marL="457200" indent="-457200" algn="just">
              <a:lnSpc>
                <a:spcPct val="150000"/>
              </a:lnSpc>
              <a:buClr>
                <a:srgbClr val="FF0000"/>
              </a:buClr>
              <a:buAutoNum type="arabicPeriod"/>
            </a:pPr>
            <a:endParaRPr lang="en-US" sz="2400" dirty="0">
              <a:solidFill>
                <a:srgbClr val="002060"/>
              </a:solidFill>
              <a:latin typeface="Times New Roman" pitchFamily="18" charset="0"/>
              <a:cs typeface="Times New Roman" pitchFamily="18" charset="0"/>
            </a:endParaRPr>
          </a:p>
          <a:p>
            <a:pPr marL="457200" indent="-457200" algn="just">
              <a:lnSpc>
                <a:spcPct val="150000"/>
              </a:lnSpc>
              <a:buClr>
                <a:srgbClr val="002060"/>
              </a:buClr>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 calcmode="lin" valueType="num">
                                      <p:cBhvr additive="base">
                                        <p:cTn id="2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 calcmode="lin" valueType="num">
                                      <p:cBhvr additive="base">
                                        <p:cTn id="3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4572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pPr>
            <a:r>
              <a:rPr lang="en-US" sz="2800" b="1" dirty="0">
                <a:latin typeface="Times New Roman" pitchFamily="18" charset="0"/>
                <a:cs typeface="Times New Roman" pitchFamily="18" charset="0"/>
              </a:rPr>
              <a:t>Strict Two-Phase Locking (2PL)</a:t>
            </a:r>
            <a:r>
              <a:rPr lang="en-US" sz="2400" b="1" dirty="0">
                <a:latin typeface="Times New Roman" pitchFamily="18" charset="0"/>
                <a:cs typeface="Times New Roman" pitchFamily="18" charset="0"/>
              </a:rPr>
              <a:t>: </a:t>
            </a:r>
          </a:p>
          <a:p>
            <a:pPr marL="457200" indent="-457200" algn="just">
              <a:lnSpc>
                <a:spcPct val="150000"/>
              </a:lnSpc>
              <a:buClr>
                <a:srgbClr val="FF0000"/>
              </a:buClr>
              <a:buAutoNum type="arabicPeriod"/>
            </a:pPr>
            <a:r>
              <a:rPr lang="en-US" sz="2800" dirty="0">
                <a:solidFill>
                  <a:srgbClr val="002060"/>
                </a:solidFill>
                <a:latin typeface="Times New Roman" pitchFamily="18" charset="0"/>
                <a:cs typeface="Times New Roman" pitchFamily="18" charset="0"/>
              </a:rPr>
              <a:t>A Transaction T </a:t>
            </a:r>
            <a:r>
              <a:rPr lang="en-US" sz="2800" dirty="0">
                <a:solidFill>
                  <a:srgbClr val="FF0000"/>
                </a:solidFill>
                <a:latin typeface="Times New Roman" pitchFamily="18" charset="0"/>
                <a:cs typeface="Times New Roman" pitchFamily="18" charset="0"/>
              </a:rPr>
              <a:t>does not release</a:t>
            </a:r>
            <a:r>
              <a:rPr lang="en-US" sz="2800" dirty="0">
                <a:solidFill>
                  <a:srgbClr val="002060"/>
                </a:solidFill>
                <a:latin typeface="Times New Roman" pitchFamily="18" charset="0"/>
                <a:cs typeface="Times New Roman" pitchFamily="18" charset="0"/>
              </a:rPr>
              <a:t> any of its Exclusive Lock until it Commits or Aborts.</a:t>
            </a:r>
          </a:p>
          <a:p>
            <a:pPr marL="457200" indent="-457200" algn="just">
              <a:lnSpc>
                <a:spcPct val="150000"/>
              </a:lnSpc>
              <a:buClr>
                <a:srgbClr val="FF0000"/>
              </a:buClr>
              <a:buAutoNum type="arabicPeriod"/>
            </a:pPr>
            <a:r>
              <a:rPr lang="en-US" sz="2800" dirty="0">
                <a:solidFill>
                  <a:srgbClr val="002060"/>
                </a:solidFill>
                <a:latin typeface="Times New Roman" pitchFamily="18" charset="0"/>
                <a:cs typeface="Times New Roman" pitchFamily="18" charset="0"/>
              </a:rPr>
              <a:t>Hence, no other transaction can read or write an item that is written by T </a:t>
            </a:r>
            <a:r>
              <a:rPr lang="en-US" sz="2800" dirty="0">
                <a:solidFill>
                  <a:srgbClr val="FF0000"/>
                </a:solidFill>
                <a:latin typeface="Times New Roman" pitchFamily="18" charset="0"/>
                <a:cs typeface="Times New Roman" pitchFamily="18" charset="0"/>
              </a:rPr>
              <a:t>unless T has committed</a:t>
            </a:r>
            <a:r>
              <a:rPr lang="en-US" sz="2800" dirty="0">
                <a:solidFill>
                  <a:srgbClr val="002060"/>
                </a:solidFill>
                <a:latin typeface="Times New Roman" pitchFamily="18" charset="0"/>
                <a:cs typeface="Times New Roman" pitchFamily="18" charset="0"/>
              </a:rPr>
              <a:t>.</a:t>
            </a:r>
          </a:p>
          <a:p>
            <a:pPr marL="457200" indent="-457200" algn="just">
              <a:lnSpc>
                <a:spcPct val="150000"/>
              </a:lnSpc>
              <a:buClr>
                <a:srgbClr val="FF0000"/>
              </a:buClr>
              <a:buAutoNum type="arabicPeriod"/>
            </a:pPr>
            <a:endParaRPr lang="en-US" sz="2400" dirty="0">
              <a:solidFill>
                <a:srgbClr val="002060"/>
              </a:solidFill>
              <a:latin typeface="Times New Roman" pitchFamily="18" charset="0"/>
              <a:cs typeface="Times New Roman" pitchFamily="18" charset="0"/>
            </a:endParaRPr>
          </a:p>
          <a:p>
            <a:pPr marL="457200" indent="-457200" algn="just">
              <a:lnSpc>
                <a:spcPct val="150000"/>
              </a:lnSpc>
              <a:buClr>
                <a:srgbClr val="FF0000"/>
              </a:buClr>
              <a:buAutoNum type="arabicPeriod"/>
            </a:pPr>
            <a:endParaRPr lang="en-US" sz="2400" dirty="0">
              <a:solidFill>
                <a:srgbClr val="002060"/>
              </a:solidFill>
              <a:latin typeface="Times New Roman" pitchFamily="18" charset="0"/>
              <a:cs typeface="Times New Roman" pitchFamily="18" charset="0"/>
            </a:endParaRPr>
          </a:p>
          <a:p>
            <a:pPr marL="457200" indent="-457200" algn="just">
              <a:lnSpc>
                <a:spcPct val="150000"/>
              </a:lnSpc>
              <a:buClr>
                <a:srgbClr val="002060"/>
              </a:buClr>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4572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pPr>
            <a:r>
              <a:rPr lang="en-US" sz="2800" b="1" dirty="0">
                <a:latin typeface="Times New Roman" pitchFamily="18" charset="0"/>
                <a:cs typeface="Times New Roman" pitchFamily="18" charset="0"/>
              </a:rPr>
              <a:t>Strict Two-Phase Locking (2PL)</a:t>
            </a:r>
            <a:r>
              <a:rPr lang="en-US" sz="2400" b="1" dirty="0">
                <a:latin typeface="Times New Roman" pitchFamily="18" charset="0"/>
                <a:cs typeface="Times New Roman" pitchFamily="18" charset="0"/>
              </a:rPr>
              <a:t>: </a:t>
            </a:r>
          </a:p>
          <a:p>
            <a:pPr marL="457200" indent="-457200" algn="just">
              <a:lnSpc>
                <a:spcPct val="150000"/>
              </a:lnSpc>
              <a:buClr>
                <a:srgbClr val="FF0000"/>
              </a:buClr>
              <a:buAutoNum type="arabicPeriod"/>
            </a:pPr>
            <a:endParaRPr lang="en-US" sz="2400" dirty="0">
              <a:solidFill>
                <a:srgbClr val="002060"/>
              </a:solidFill>
              <a:latin typeface="Times New Roman" pitchFamily="18" charset="0"/>
              <a:cs typeface="Times New Roman" pitchFamily="18" charset="0"/>
            </a:endParaRPr>
          </a:p>
          <a:p>
            <a:pPr marL="457200" indent="-457200" algn="just">
              <a:lnSpc>
                <a:spcPct val="150000"/>
              </a:lnSpc>
              <a:buClr>
                <a:srgbClr val="FF0000"/>
              </a:buClr>
              <a:buAutoNum type="arabicPeriod"/>
            </a:pPr>
            <a:endParaRPr lang="en-US" sz="2400" dirty="0">
              <a:solidFill>
                <a:srgbClr val="002060"/>
              </a:solidFill>
              <a:latin typeface="Times New Roman" pitchFamily="18" charset="0"/>
              <a:cs typeface="Times New Roman" pitchFamily="18" charset="0"/>
            </a:endParaRPr>
          </a:p>
          <a:p>
            <a:pPr marL="457200" indent="-457200" algn="just">
              <a:lnSpc>
                <a:spcPct val="150000"/>
              </a:lnSpc>
              <a:buClr>
                <a:srgbClr val="002060"/>
              </a:buClr>
            </a:pPr>
            <a:endParaRPr lang="en-US" sz="2400" dirty="0">
              <a:latin typeface="Times New Roman" pitchFamily="18" charset="0"/>
              <a:cs typeface="Times New Roman" pitchFamily="18" charset="0"/>
            </a:endParaRPr>
          </a:p>
        </p:txBody>
      </p:sp>
      <p:graphicFrame>
        <p:nvGraphicFramePr>
          <p:cNvPr id="5" name="Table 4"/>
          <p:cNvGraphicFramePr>
            <a:graphicFrameLocks noGrp="1"/>
          </p:cNvGraphicFramePr>
          <p:nvPr/>
        </p:nvGraphicFramePr>
        <p:xfrm>
          <a:off x="304800" y="1219200"/>
          <a:ext cx="3429000" cy="482092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tblGrid>
              <a:tr h="370840">
                <a:tc>
                  <a:txBody>
                    <a:bodyPr/>
                    <a:lstStyle/>
                    <a:p>
                      <a:pPr algn="ctr"/>
                      <a:r>
                        <a:rPr lang="en-US" b="1" dirty="0">
                          <a:solidFill>
                            <a:srgbClr val="FF000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lang="en-US" b="1" dirty="0">
                          <a:solidFill>
                            <a:srgbClr val="FF000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l"/>
                      <a:r>
                        <a:rPr lang="en-US" b="1" dirty="0">
                          <a:solidFill>
                            <a:srgbClr val="002060"/>
                          </a:solidFill>
                          <a:latin typeface="Times New Roman" pitchFamily="18" charset="0"/>
                          <a:cs typeface="Times New Roman" pitchFamily="18" charset="0"/>
                        </a:rPr>
                        <a:t>Lock-S(A)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r>
                        <a:rPr lang="en-US" b="1" dirty="0">
                          <a:solidFill>
                            <a:srgbClr val="002060"/>
                          </a:solidFill>
                          <a:latin typeface="Times New Roman" pitchFamily="18" charset="0"/>
                          <a:cs typeface="Times New Roman" pitchFamily="18" charset="0"/>
                        </a:rPr>
                        <a:t>Read(A)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Lock-S(A)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Read(A)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Loc-X(B)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Read(B)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Write(B)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b="1" dirty="0">
                          <a:solidFill>
                            <a:srgbClr val="002060"/>
                          </a:solidFill>
                          <a:latin typeface="Times New Roman" pitchFamily="18" charset="0"/>
                          <a:cs typeface="Times New Roman" pitchFamily="18" charset="0"/>
                        </a:rPr>
                        <a:t>Commit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70840">
                <a:tc>
                  <a:txBody>
                    <a:bodyPr/>
                    <a:lstStyle/>
                    <a:p>
                      <a:pPr algn="l"/>
                      <a:r>
                        <a:rPr lang="en-US" b="1" dirty="0">
                          <a:solidFill>
                            <a:srgbClr val="002060"/>
                          </a:solidFill>
                          <a:latin typeface="Times New Roman" pitchFamily="18" charset="0"/>
                          <a:cs typeface="Times New Roman" pitchFamily="18" charset="0"/>
                        </a:rPr>
                        <a:t>Lock-X(C)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70840">
                <a:tc>
                  <a:txBody>
                    <a:bodyPr/>
                    <a:lstStyle/>
                    <a:p>
                      <a:pPr algn="l"/>
                      <a:r>
                        <a:rPr lang="en-US" b="1" dirty="0">
                          <a:solidFill>
                            <a:srgbClr val="002060"/>
                          </a:solidFill>
                          <a:latin typeface="Times New Roman" pitchFamily="18" charset="0"/>
                          <a:cs typeface="Times New Roman" pitchFamily="18" charset="0"/>
                        </a:rPr>
                        <a:t>Read(C)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370840">
                <a:tc>
                  <a:txBody>
                    <a:bodyPr/>
                    <a:lstStyle/>
                    <a:p>
                      <a:pPr algn="l"/>
                      <a:r>
                        <a:rPr lang="en-US" b="1" dirty="0">
                          <a:solidFill>
                            <a:srgbClr val="002060"/>
                          </a:solidFill>
                          <a:latin typeface="Times New Roman" pitchFamily="18" charset="0"/>
                          <a:cs typeface="Times New Roman" pitchFamily="18" charset="0"/>
                        </a:rPr>
                        <a:t>Write(C)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370840">
                <a:tc>
                  <a:txBody>
                    <a:bodyPr/>
                    <a:lstStyle/>
                    <a:p>
                      <a:pPr algn="l"/>
                      <a:r>
                        <a:rPr lang="en-US" b="1" dirty="0">
                          <a:solidFill>
                            <a:srgbClr val="002060"/>
                          </a:solidFill>
                          <a:latin typeface="Times New Roman" pitchFamily="18" charset="0"/>
                          <a:cs typeface="Times New Roman" pitchFamily="18" charset="0"/>
                        </a:rPr>
                        <a:t>Commit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bl>
          </a:graphicData>
        </a:graphic>
      </p:graphicFrame>
      <p:sp>
        <p:nvSpPr>
          <p:cNvPr id="7" name="Rectangle 6"/>
          <p:cNvSpPr/>
          <p:nvPr/>
        </p:nvSpPr>
        <p:spPr>
          <a:xfrm>
            <a:off x="3886200" y="1219200"/>
            <a:ext cx="5029200" cy="5181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Strict Two-phase locking prevents transaction from reading </a:t>
            </a:r>
            <a:r>
              <a:rPr lang="en-US" sz="2400" b="1" u="sng" dirty="0">
                <a:solidFill>
                  <a:srgbClr val="002060"/>
                </a:solidFill>
                <a:latin typeface="Times New Roman" pitchFamily="18" charset="0"/>
                <a:cs typeface="Times New Roman" pitchFamily="18" charset="0"/>
              </a:rPr>
              <a:t>uncommitted data</a:t>
            </a:r>
            <a:r>
              <a:rPr lang="en-US" sz="2400" dirty="0">
                <a:solidFill>
                  <a:srgbClr val="FF0000"/>
                </a:solidFill>
                <a:latin typeface="Times New Roman" pitchFamily="18" charset="0"/>
                <a:cs typeface="Times New Roman" pitchFamily="18" charset="0"/>
              </a:rPr>
              <a:t>, </a:t>
            </a:r>
            <a:r>
              <a:rPr lang="en-US" sz="2400" b="1" u="sng" dirty="0">
                <a:solidFill>
                  <a:srgbClr val="002060"/>
                </a:solidFill>
                <a:latin typeface="Times New Roman" pitchFamily="18" charset="0"/>
                <a:cs typeface="Times New Roman" pitchFamily="18" charset="0"/>
              </a:rPr>
              <a:t>overwriting uncommitted</a:t>
            </a:r>
            <a:r>
              <a:rPr lang="en-US" sz="2400" b="1" dirty="0">
                <a:solidFill>
                  <a:srgbClr val="002060"/>
                </a:solidFill>
                <a:latin typeface="Times New Roman" pitchFamily="18" charset="0"/>
                <a:cs typeface="Times New Roman" pitchFamily="18" charset="0"/>
              </a:rPr>
              <a:t> </a:t>
            </a:r>
            <a:r>
              <a:rPr lang="en-US" sz="2400" b="1" u="sng" dirty="0">
                <a:solidFill>
                  <a:srgbClr val="002060"/>
                </a:solidFill>
                <a:latin typeface="Times New Roman" pitchFamily="18" charset="0"/>
                <a:cs typeface="Times New Roman" pitchFamily="18" charset="0"/>
              </a:rPr>
              <a:t>data</a:t>
            </a:r>
            <a:r>
              <a:rPr lang="en-US" sz="2400" b="1" dirty="0">
                <a:solidFill>
                  <a:srgbClr val="002060"/>
                </a:solidFill>
                <a:latin typeface="Times New Roman" pitchFamily="18" charset="0"/>
                <a:cs typeface="Times New Roman" pitchFamily="18" charset="0"/>
              </a:rPr>
              <a:t> </a:t>
            </a:r>
            <a:r>
              <a:rPr lang="en-US" sz="2400" dirty="0">
                <a:solidFill>
                  <a:srgbClr val="002060"/>
                </a:solidFill>
                <a:latin typeface="Times New Roman" pitchFamily="18" charset="0"/>
                <a:cs typeface="Times New Roman" pitchFamily="18" charset="0"/>
              </a:rPr>
              <a:t>and </a:t>
            </a:r>
            <a:r>
              <a:rPr lang="en-US" sz="2400" b="1" u="sng" dirty="0">
                <a:solidFill>
                  <a:srgbClr val="002060"/>
                </a:solidFill>
                <a:latin typeface="Times New Roman" pitchFamily="18" charset="0"/>
                <a:cs typeface="Times New Roman" pitchFamily="18" charset="0"/>
              </a:rPr>
              <a:t>unrepeatable reads</a:t>
            </a:r>
            <a:r>
              <a:rPr lang="en-US" sz="2400" dirty="0">
                <a:solidFill>
                  <a:srgbClr val="002060"/>
                </a:solidFill>
                <a:latin typeface="Times New Roman" pitchFamily="18" charset="0"/>
                <a:cs typeface="Times New Roman" pitchFamily="18" charset="0"/>
              </a:rPr>
              <a:t>.</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Strict 2PL prevents Cascading Rollbacks.</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Strict 2PL does not guarantee a Deadlock Free Schedule.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4572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pPr>
            <a:endParaRPr lang="en-US" sz="2800" b="1" dirty="0">
              <a:latin typeface="Times New Roman" pitchFamily="18" charset="0"/>
              <a:cs typeface="Times New Roman" pitchFamily="18" charset="0"/>
            </a:endParaRPr>
          </a:p>
          <a:p>
            <a:pPr marL="457200" indent="-457200" algn="just">
              <a:lnSpc>
                <a:spcPct val="150000"/>
              </a:lnSpc>
              <a:buClr>
                <a:srgbClr val="002060"/>
              </a:buClr>
            </a:pPr>
            <a:r>
              <a:rPr lang="en-US" sz="2800" b="1" dirty="0">
                <a:latin typeface="Times New Roman" pitchFamily="18" charset="0"/>
                <a:cs typeface="Times New Roman" pitchFamily="18" charset="0"/>
              </a:rPr>
              <a:t>Rigorous Two-Phase Locking (2PL)</a:t>
            </a:r>
            <a:r>
              <a:rPr lang="en-US" sz="2400" b="1" dirty="0">
                <a:latin typeface="Times New Roman" pitchFamily="18" charset="0"/>
                <a:cs typeface="Times New Roman" pitchFamily="18" charset="0"/>
              </a:rPr>
              <a:t>:</a:t>
            </a:r>
          </a:p>
          <a:p>
            <a:pPr marL="457200" indent="-457200" algn="just">
              <a:lnSpc>
                <a:spcPct val="150000"/>
              </a:lnSpc>
              <a:buClr>
                <a:srgbClr val="FF0000"/>
              </a:buClr>
              <a:buFont typeface="Wingdings" pitchFamily="2" charset="2"/>
              <a:buChar char="v"/>
            </a:pPr>
            <a:r>
              <a:rPr lang="en-US" sz="2800" dirty="0">
                <a:solidFill>
                  <a:srgbClr val="002060"/>
                </a:solidFill>
                <a:latin typeface="Times New Roman" pitchFamily="18" charset="0"/>
                <a:cs typeface="Times New Roman" pitchFamily="18" charset="0"/>
              </a:rPr>
              <a:t>This protocol that all locks be held until the transactions commits.</a:t>
            </a:r>
          </a:p>
          <a:p>
            <a:pPr marL="457200" indent="-457200" algn="just">
              <a:lnSpc>
                <a:spcPct val="150000"/>
              </a:lnSpc>
              <a:buClr>
                <a:srgbClr val="FF0000"/>
              </a:buClr>
              <a:buAutoNum type="arabicPeriod"/>
            </a:pPr>
            <a:endParaRPr lang="en-US" sz="2400" dirty="0">
              <a:solidFill>
                <a:srgbClr val="002060"/>
              </a:solidFill>
              <a:latin typeface="Times New Roman" pitchFamily="18" charset="0"/>
              <a:cs typeface="Times New Roman" pitchFamily="18" charset="0"/>
            </a:endParaRPr>
          </a:p>
          <a:p>
            <a:pPr marL="457200" indent="-457200" algn="just">
              <a:lnSpc>
                <a:spcPct val="150000"/>
              </a:lnSpc>
              <a:buClr>
                <a:srgbClr val="002060"/>
              </a:buClr>
            </a:pPr>
            <a:endParaRPr lang="en-US" sz="2400" dirty="0">
              <a:latin typeface="Times New Roman" pitchFamily="18" charset="0"/>
              <a:cs typeface="Times New Roman" pitchFamily="18" charset="0"/>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5867400"/>
          </a:xfrm>
          <a:prstGeom prst="rect">
            <a:avLst/>
          </a:prstGeom>
        </p:spPr>
        <p:txBody>
          <a:bodyPr vert="horz" lIns="91440" tIns="45720" rIns="91440" bIns="45720" rtlCol="0">
            <a:noAutofit/>
          </a:bodyPr>
          <a:lstStyle/>
          <a:p>
            <a:pPr marL="514350" indent="-514350" algn="just">
              <a:lnSpc>
                <a:spcPct val="150000"/>
              </a:lnSpc>
              <a:buClr>
                <a:srgbClr val="FF0000"/>
              </a:buClr>
              <a:buFont typeface="+mj-lt"/>
              <a:buAutoNum type="arabicPeriod" startAt="3"/>
            </a:pPr>
            <a:r>
              <a:rPr lang="en-US" sz="2800" b="1" u="sng" dirty="0">
                <a:latin typeface="Times New Roman" pitchFamily="18" charset="0"/>
                <a:cs typeface="Times New Roman" pitchFamily="18" charset="0"/>
              </a:rPr>
              <a:t>DEADLOCKS</a:t>
            </a:r>
            <a:r>
              <a:rPr lang="en-US" sz="2800" b="1" dirty="0">
                <a:latin typeface="Times New Roman" pitchFamily="18" charset="0"/>
                <a:cs typeface="Times New Roman" pitchFamily="18" charset="0"/>
              </a:rPr>
              <a:t> </a:t>
            </a:r>
            <a:r>
              <a:rPr lang="en-US" sz="2400" b="1" dirty="0"/>
              <a:t>:</a:t>
            </a:r>
          </a:p>
          <a:p>
            <a:pPr algn="just">
              <a:lnSpc>
                <a:spcPct val="150000"/>
              </a:lnSpc>
              <a:buClr>
                <a:srgbClr val="FF0000"/>
              </a:buClr>
            </a:pPr>
            <a:r>
              <a:rPr lang="en-US" sz="2400" b="1" dirty="0">
                <a:solidFill>
                  <a:srgbClr val="FF0000"/>
                </a:solidFill>
                <a:latin typeface="Times New Roman" pitchFamily="18" charset="0"/>
                <a:cs typeface="Times New Roman" pitchFamily="18" charset="0"/>
              </a:rPr>
              <a:t>Definition</a:t>
            </a:r>
            <a:r>
              <a:rPr lang="en-US" sz="2400" b="1" dirty="0">
                <a:solidFill>
                  <a:srgbClr val="002060"/>
                </a:solidFill>
                <a:latin typeface="Times New Roman" pitchFamily="18" charset="0"/>
                <a:cs typeface="Times New Roman" pitchFamily="18" charset="0"/>
              </a:rPr>
              <a:t>:</a:t>
            </a:r>
          </a:p>
          <a:p>
            <a:pPr algn="just">
              <a:lnSpc>
                <a:spcPct val="150000"/>
              </a:lnSpc>
              <a:buClr>
                <a:srgbClr val="FF0000"/>
              </a:buClr>
            </a:pPr>
            <a:r>
              <a:rPr lang="en-US" sz="2400" b="1" dirty="0">
                <a:solidFill>
                  <a:srgbClr val="002060"/>
                </a:solidFill>
                <a:latin typeface="Times New Roman" pitchFamily="18" charset="0"/>
                <a:cs typeface="Times New Roman" pitchFamily="18" charset="0"/>
              </a:rPr>
              <a:t>	“</a:t>
            </a:r>
            <a:r>
              <a:rPr lang="en-US" sz="2400" dirty="0">
                <a:solidFill>
                  <a:srgbClr val="002060"/>
                </a:solidFill>
                <a:latin typeface="Times New Roman" pitchFamily="18" charset="0"/>
                <a:cs typeface="Times New Roman" pitchFamily="18" charset="0"/>
              </a:rPr>
              <a:t>A System is in deadlock state if there exists a set of transactions such that every transaction in the set is waiting for another transaction in the set.”</a:t>
            </a:r>
          </a:p>
          <a:p>
            <a:pPr algn="just">
              <a:lnSpc>
                <a:spcPct val="150000"/>
              </a:lnSpc>
              <a:buClr>
                <a:srgbClr val="FF0000"/>
              </a:buClr>
            </a:pPr>
            <a:r>
              <a:rPr lang="en-US" sz="2400" dirty="0">
                <a:solidFill>
                  <a:srgbClr val="002060"/>
                </a:solidFill>
                <a:latin typeface="Times New Roman" pitchFamily="18" charset="0"/>
                <a:cs typeface="Times New Roman" pitchFamily="18" charset="0"/>
              </a:rPr>
              <a:t>	“There exists a set of transactions {T0, T1, T2,….</a:t>
            </a:r>
            <a:r>
              <a:rPr lang="en-US" sz="2400" dirty="0" err="1">
                <a:solidFill>
                  <a:srgbClr val="002060"/>
                </a:solidFill>
                <a:latin typeface="Times New Roman" pitchFamily="18" charset="0"/>
                <a:cs typeface="Times New Roman" pitchFamily="18" charset="0"/>
              </a:rPr>
              <a:t>Tn</a:t>
            </a:r>
            <a:r>
              <a:rPr lang="en-US" sz="2400" dirty="0">
                <a:solidFill>
                  <a:srgbClr val="002060"/>
                </a:solidFill>
                <a:latin typeface="Times New Roman" pitchFamily="18" charset="0"/>
                <a:cs typeface="Times New Roman" pitchFamily="18" charset="0"/>
              </a:rPr>
              <a:t>} such that T0 is waiting for a data item that T2 holds and T2 waiting for a data item that T3 holds…. </a:t>
            </a:r>
            <a:r>
              <a:rPr lang="en-US" sz="2400" dirty="0" err="1">
                <a:solidFill>
                  <a:srgbClr val="002060"/>
                </a:solidFill>
                <a:latin typeface="Times New Roman" pitchFamily="18" charset="0"/>
                <a:cs typeface="Times New Roman" pitchFamily="18" charset="0"/>
              </a:rPr>
              <a:t>Tn</a:t>
            </a:r>
            <a:r>
              <a:rPr lang="en-US" sz="2400" dirty="0">
                <a:solidFill>
                  <a:srgbClr val="002060"/>
                </a:solidFill>
                <a:latin typeface="Times New Roman" pitchFamily="18" charset="0"/>
                <a:cs typeface="Times New Roman" pitchFamily="18" charset="0"/>
              </a:rPr>
              <a:t> is waiting for data item that T0 holds. In such situation, none of the transaction can make progress”</a:t>
            </a:r>
          </a:p>
          <a:p>
            <a:pPr algn="just">
              <a:lnSpc>
                <a:spcPct val="150000"/>
              </a:lnSpc>
              <a:buClr>
                <a:srgbClr val="FF0000"/>
              </a:buClr>
            </a:pPr>
            <a:endParaRPr lang="en-US" sz="2400" dirty="0">
              <a:solidFill>
                <a:srgbClr val="002060"/>
              </a:solidFill>
              <a:latin typeface="Times New Roman" pitchFamily="18" charset="0"/>
              <a:cs typeface="Times New Roman" pitchFamily="18" charset="0"/>
            </a:endParaRPr>
          </a:p>
          <a:p>
            <a:pPr algn="just">
              <a:lnSpc>
                <a:spcPct val="150000"/>
              </a:lnSpc>
              <a:buClr>
                <a:srgbClr val="FF0000"/>
              </a:buClr>
            </a:pPr>
            <a:endParaRPr lang="en-US" sz="2400" b="1" dirty="0">
              <a:solidFill>
                <a:srgbClr val="002060"/>
              </a:solidFill>
              <a:latin typeface="Times New Roman" pitchFamily="18" charset="0"/>
              <a:cs typeface="Times New Roman" pitchFamily="18" charset="0"/>
            </a:endParaRPr>
          </a:p>
          <a:p>
            <a:pPr marL="514350" indent="-514350" algn="just">
              <a:lnSpc>
                <a:spcPct val="150000"/>
              </a:lnSpc>
              <a:buClr>
                <a:srgbClr val="FF0000"/>
              </a:buClr>
            </a:pP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 calcmode="lin" valueType="num">
                                      <p:cBhvr additive="base">
                                        <p:cTn id="1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5867400"/>
          </a:xfrm>
          <a:prstGeom prst="rect">
            <a:avLst/>
          </a:prstGeom>
        </p:spPr>
        <p:txBody>
          <a:bodyPr vert="horz" lIns="91440" tIns="45720" rIns="91440" bIns="45720" rtlCol="0">
            <a:noAutofit/>
          </a:bodyPr>
          <a:lstStyle/>
          <a:p>
            <a:pPr marL="514350" indent="-514350" algn="just">
              <a:lnSpc>
                <a:spcPct val="150000"/>
              </a:lnSpc>
              <a:buClr>
                <a:srgbClr val="FF0000"/>
              </a:buClr>
              <a:buFont typeface="+mj-lt"/>
              <a:buAutoNum type="arabicPeriod" startAt="3"/>
            </a:pPr>
            <a:r>
              <a:rPr lang="en-US" sz="2800" b="1" u="sng" dirty="0">
                <a:latin typeface="Times New Roman" pitchFamily="18" charset="0"/>
                <a:cs typeface="Times New Roman" pitchFamily="18" charset="0"/>
              </a:rPr>
              <a:t>DEADLOCKS</a:t>
            </a:r>
            <a:r>
              <a:rPr lang="en-US" sz="2800" b="1" dirty="0">
                <a:latin typeface="Times New Roman" pitchFamily="18" charset="0"/>
                <a:cs typeface="Times New Roman" pitchFamily="18" charset="0"/>
              </a:rPr>
              <a:t> </a:t>
            </a:r>
            <a:r>
              <a:rPr lang="en-US" sz="2400" b="1" dirty="0"/>
              <a:t>:</a:t>
            </a:r>
          </a:p>
          <a:p>
            <a:pPr marL="514350" indent="-514350" algn="just">
              <a:lnSpc>
                <a:spcPct val="150000"/>
              </a:lnSpc>
              <a:buClr>
                <a:srgbClr val="FF0000"/>
              </a:buClr>
            </a:pPr>
            <a:endParaRPr lang="en-US" sz="2400" b="1" dirty="0"/>
          </a:p>
        </p:txBody>
      </p:sp>
      <p:graphicFrame>
        <p:nvGraphicFramePr>
          <p:cNvPr id="4" name="Table 3"/>
          <p:cNvGraphicFramePr>
            <a:graphicFrameLocks noGrp="1"/>
          </p:cNvGraphicFramePr>
          <p:nvPr/>
        </p:nvGraphicFramePr>
        <p:xfrm>
          <a:off x="152400" y="1447800"/>
          <a:ext cx="3200400" cy="384048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tblGrid>
              <a:tr h="370840">
                <a:tc>
                  <a:txBody>
                    <a:bodyPr/>
                    <a:lstStyle/>
                    <a:p>
                      <a:pPr algn="ctr"/>
                      <a:r>
                        <a:rPr lang="en-US" sz="2200" b="1" dirty="0">
                          <a:solidFill>
                            <a:srgbClr val="FF0000"/>
                          </a:solidFill>
                          <a:latin typeface="Times New Roman" pitchFamily="18" charset="0"/>
                          <a:cs typeface="Times New Roman" pitchFamily="18" charset="0"/>
                        </a:rPr>
                        <a:t>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lang="en-US" sz="2200" b="1" dirty="0">
                          <a:solidFill>
                            <a:srgbClr val="FF0000"/>
                          </a:solidFill>
                          <a:latin typeface="Times New Roman" pitchFamily="18" charset="0"/>
                          <a:cs typeface="Times New Roman" pitchFamily="18" charset="0"/>
                        </a:rPr>
                        <a:t>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l"/>
                      <a:r>
                        <a:rPr lang="en-US" sz="2200" b="1" dirty="0">
                          <a:solidFill>
                            <a:srgbClr val="002060"/>
                          </a:solidFill>
                          <a:latin typeface="Times New Roman" pitchFamily="18" charset="0"/>
                          <a:cs typeface="Times New Roman" pitchFamily="18" charset="0"/>
                        </a:rPr>
                        <a:t>Lock-X(B)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2200"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l"/>
                      <a:r>
                        <a:rPr lang="en-US" sz="2200" b="1" dirty="0">
                          <a:solidFill>
                            <a:srgbClr val="002060"/>
                          </a:solidFill>
                          <a:latin typeface="Times New Roman" pitchFamily="18" charset="0"/>
                          <a:cs typeface="Times New Roman" pitchFamily="18" charset="0"/>
                        </a:rPr>
                        <a:t>Read(B)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2200"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l"/>
                      <a:r>
                        <a:rPr lang="en-US" sz="2200" b="1" dirty="0">
                          <a:solidFill>
                            <a:srgbClr val="002060"/>
                          </a:solidFill>
                          <a:latin typeface="Times New Roman" pitchFamily="18" charset="0"/>
                          <a:cs typeface="Times New Roman" pitchFamily="18" charset="0"/>
                        </a:rPr>
                        <a:t>B:=B-50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2200"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l"/>
                      <a:r>
                        <a:rPr lang="en-US" sz="2200" b="1" dirty="0">
                          <a:solidFill>
                            <a:srgbClr val="002060"/>
                          </a:solidFill>
                          <a:latin typeface="Times New Roman" pitchFamily="18" charset="0"/>
                          <a:cs typeface="Times New Roman" pitchFamily="18" charset="0"/>
                        </a:rPr>
                        <a:t>Write(B)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2200"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l"/>
                      <a:endParaRPr lang="en-US" sz="2200"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2200" b="1">
                          <a:solidFill>
                            <a:srgbClr val="FF0000"/>
                          </a:solidFill>
                          <a:latin typeface="Times New Roman" pitchFamily="18" charset="0"/>
                          <a:cs typeface="Times New Roman" pitchFamily="18" charset="0"/>
                        </a:rPr>
                        <a:t>Lock-X(A</a:t>
                      </a:r>
                      <a:r>
                        <a:rPr lang="en-US" sz="2200" b="1" dirty="0">
                          <a:solidFill>
                            <a:srgbClr val="FF0000"/>
                          </a:solidFill>
                          <a:latin typeface="Times New Roman" pitchFamily="18" charset="0"/>
                          <a:cs typeface="Times New Roman"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840">
                <a:tc>
                  <a:txBody>
                    <a:bodyPr/>
                    <a:lstStyle/>
                    <a:p>
                      <a:pPr algn="l"/>
                      <a:endParaRPr lang="en-US" sz="2200"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Read(A)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840">
                <a:tc>
                  <a:txBody>
                    <a:bodyPr/>
                    <a:lstStyle/>
                    <a:p>
                      <a:pPr algn="l"/>
                      <a:endParaRPr lang="en-US" sz="2200" b="1">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2200" b="1" dirty="0">
                          <a:solidFill>
                            <a:srgbClr val="002060"/>
                          </a:solidFill>
                          <a:latin typeface="Times New Roman" pitchFamily="18" charset="0"/>
                          <a:cs typeface="Times New Roman" pitchFamily="18" charset="0"/>
                        </a:rPr>
                        <a:t>Lock-S(B)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840">
                <a:tc>
                  <a:txBody>
                    <a:bodyPr/>
                    <a:lstStyle/>
                    <a:p>
                      <a:pPr algn="l"/>
                      <a:r>
                        <a:rPr lang="en-US" sz="2200" b="1" dirty="0">
                          <a:solidFill>
                            <a:srgbClr val="FF0000"/>
                          </a:solidFill>
                          <a:latin typeface="Times New Roman" pitchFamily="18" charset="0"/>
                          <a:cs typeface="Times New Roman" pitchFamily="18" charset="0"/>
                        </a:rPr>
                        <a:t>Lock-X(A)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2200" b="1" dirty="0">
                        <a:solidFill>
                          <a:srgbClr val="00206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5" name="Rectangle 4"/>
          <p:cNvSpPr/>
          <p:nvPr/>
        </p:nvSpPr>
        <p:spPr>
          <a:xfrm>
            <a:off x="3505200" y="685800"/>
            <a:ext cx="5638800" cy="5638800"/>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marL="465138" indent="-465138" algn="just">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Here T1 is holding an Exclusive lock on B and t2 is requesting a Shared lock on B, T2 is waiting for T1 to unlock B.</a:t>
            </a:r>
          </a:p>
          <a:p>
            <a:pPr marL="465138" indent="-465138" algn="just">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Similarly, T2 is holding Shared lock on A, T1 is requesting an Exclusive lock on A, T1 is waiting for T2 to unlock A.</a:t>
            </a:r>
          </a:p>
          <a:p>
            <a:pPr marL="465138" indent="-465138" algn="just">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In this situation neither of transaction can proceed with normal execution.</a:t>
            </a:r>
          </a:p>
          <a:p>
            <a:pPr marL="465138" indent="-465138" algn="just">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This situation is called DEADLOCK.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5867400"/>
          </a:xfrm>
          <a:prstGeom prst="rect">
            <a:avLst/>
          </a:prstGeom>
        </p:spPr>
        <p:txBody>
          <a:bodyPr vert="horz" lIns="91440" tIns="45720" rIns="91440" bIns="45720" rtlCol="0">
            <a:noAutofit/>
          </a:bodyPr>
          <a:lstStyle/>
          <a:p>
            <a:pPr marL="514350" indent="-514350" algn="just">
              <a:lnSpc>
                <a:spcPct val="150000"/>
              </a:lnSpc>
              <a:buClr>
                <a:srgbClr val="FF0000"/>
              </a:buClr>
              <a:buFont typeface="+mj-lt"/>
              <a:buAutoNum type="arabicPeriod" startAt="3"/>
            </a:pPr>
            <a:r>
              <a:rPr lang="en-US" sz="2800" b="1" u="sng" dirty="0">
                <a:latin typeface="Times New Roman" pitchFamily="18" charset="0"/>
                <a:cs typeface="Times New Roman" pitchFamily="18" charset="0"/>
              </a:rPr>
              <a:t>DEADLOCKS</a:t>
            </a:r>
            <a:r>
              <a:rPr lang="en-US" sz="2800" b="1" dirty="0">
                <a:latin typeface="Times New Roman" pitchFamily="18" charset="0"/>
                <a:cs typeface="Times New Roman" pitchFamily="18" charset="0"/>
              </a:rPr>
              <a:t> </a:t>
            </a:r>
            <a:r>
              <a:rPr lang="en-US" sz="2400" b="1" dirty="0"/>
              <a:t>:</a:t>
            </a:r>
          </a:p>
          <a:p>
            <a:pPr algn="just">
              <a:lnSpc>
                <a:spcPct val="200000"/>
              </a:lnSpc>
              <a:buClr>
                <a:srgbClr val="FF0000"/>
              </a:buClr>
            </a:pPr>
            <a:r>
              <a:rPr lang="en-US" sz="2400" dirty="0">
                <a:solidFill>
                  <a:srgbClr val="002060"/>
                </a:solidFill>
                <a:latin typeface="Times New Roman" pitchFamily="18" charset="0"/>
                <a:cs typeface="Times New Roman" pitchFamily="18" charset="0"/>
              </a:rPr>
              <a:t>There are two principle methods for dealing with deadlock problem</a:t>
            </a:r>
          </a:p>
          <a:p>
            <a:pPr marL="457200" indent="-457200" algn="just">
              <a:lnSpc>
                <a:spcPct val="200000"/>
              </a:lnSpc>
              <a:buClr>
                <a:srgbClr val="FF0000"/>
              </a:buClr>
              <a:buAutoNum type="arabicPeriod"/>
            </a:pPr>
            <a:r>
              <a:rPr lang="en-US" sz="2400" b="1" dirty="0">
                <a:solidFill>
                  <a:srgbClr val="FF0000"/>
                </a:solidFill>
                <a:latin typeface="Times New Roman" pitchFamily="18" charset="0"/>
                <a:cs typeface="Times New Roman" pitchFamily="18" charset="0"/>
              </a:rPr>
              <a:t>Deadlock Prevention</a:t>
            </a:r>
            <a:r>
              <a:rPr lang="en-US" sz="2400" dirty="0">
                <a:solidFill>
                  <a:srgbClr val="002060"/>
                </a:solidFill>
                <a:latin typeface="Times New Roman" pitchFamily="18" charset="0"/>
                <a:cs typeface="Times New Roman" pitchFamily="18" charset="0"/>
              </a:rPr>
              <a:t>: This approach ensures that the system will never enter in deadlock state.</a:t>
            </a:r>
          </a:p>
          <a:p>
            <a:pPr marL="457200" indent="-457200" algn="just">
              <a:lnSpc>
                <a:spcPct val="200000"/>
              </a:lnSpc>
              <a:buClr>
                <a:srgbClr val="FF0000"/>
              </a:buClr>
              <a:buAutoNum type="arabicPeriod"/>
            </a:pPr>
            <a:r>
              <a:rPr lang="en-US" sz="2400" b="1" dirty="0">
                <a:solidFill>
                  <a:srgbClr val="FF0000"/>
                </a:solidFill>
                <a:latin typeface="Times New Roman" pitchFamily="18" charset="0"/>
                <a:cs typeface="Times New Roman" pitchFamily="18" charset="0"/>
              </a:rPr>
              <a:t>Deadlock Detection and Recovery</a:t>
            </a:r>
            <a:r>
              <a:rPr lang="en-US" sz="2400" dirty="0">
                <a:solidFill>
                  <a:srgbClr val="002060"/>
                </a:solidFill>
                <a:latin typeface="Times New Roman" pitchFamily="18" charset="0"/>
                <a:cs typeface="Times New Roman" pitchFamily="18" charset="0"/>
              </a:rPr>
              <a:t>: This approach tries to recover from Deadlock if system enters in deadlock state.</a:t>
            </a:r>
          </a:p>
          <a:p>
            <a:pPr algn="just">
              <a:lnSpc>
                <a:spcPct val="150000"/>
              </a:lnSpc>
              <a:buClr>
                <a:srgbClr val="FF0000"/>
              </a:buClr>
            </a:pPr>
            <a:endParaRPr lang="en-US" sz="2400" dirty="0">
              <a:solidFill>
                <a:srgbClr val="002060"/>
              </a:solidFill>
              <a:latin typeface="Times New Roman" pitchFamily="18" charset="0"/>
              <a:cs typeface="Times New Roman" pitchFamily="18" charset="0"/>
            </a:endParaRPr>
          </a:p>
          <a:p>
            <a:pPr algn="just">
              <a:lnSpc>
                <a:spcPct val="150000"/>
              </a:lnSpc>
              <a:buClr>
                <a:srgbClr val="FF0000"/>
              </a:buClr>
            </a:pPr>
            <a:endParaRPr lang="en-US" sz="2400" b="1" dirty="0">
              <a:solidFill>
                <a:srgbClr val="002060"/>
              </a:solidFill>
              <a:latin typeface="Times New Roman" pitchFamily="18" charset="0"/>
              <a:cs typeface="Times New Roman" pitchFamily="18" charset="0"/>
            </a:endParaRPr>
          </a:p>
          <a:p>
            <a:pPr marL="514350" indent="-514350" algn="just">
              <a:lnSpc>
                <a:spcPct val="150000"/>
              </a:lnSpc>
              <a:buClr>
                <a:srgbClr val="FF0000"/>
              </a:buClr>
            </a:pP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algn="just">
              <a:lnSpc>
                <a:spcPct val="150000"/>
              </a:lnSpc>
            </a:pPr>
            <a:r>
              <a:rPr lang="en-US" sz="2400" b="1" dirty="0">
                <a:solidFill>
                  <a:srgbClr val="002060"/>
                </a:solidFill>
                <a:latin typeface="Times New Roman" pitchFamily="18" charset="0"/>
                <a:cs typeface="Times New Roman" pitchFamily="18" charset="0"/>
              </a:rPr>
              <a:t>DEADLOCK DETECTION &amp; PREVENTION:</a:t>
            </a:r>
            <a:endParaRPr lang="en-US" sz="2400" dirty="0">
              <a:solidFill>
                <a:srgbClr val="002060"/>
              </a:solidFill>
              <a:latin typeface="Times New Roman" pitchFamily="18" charset="0"/>
              <a:cs typeface="Times New Roman" pitchFamily="18" charset="0"/>
            </a:endParaRPr>
          </a:p>
          <a:p>
            <a:pPr algn="just">
              <a:lnSpc>
                <a:spcPct val="150000"/>
              </a:lnSpc>
            </a:pPr>
            <a:r>
              <a:rPr lang="en-US" sz="2400" b="1" u="sng" dirty="0">
                <a:solidFill>
                  <a:srgbClr val="FF0000"/>
                </a:solidFill>
                <a:latin typeface="Times New Roman" pitchFamily="18" charset="0"/>
                <a:cs typeface="Times New Roman" pitchFamily="18" charset="0"/>
              </a:rPr>
              <a:t>Deadlock Prevention</a:t>
            </a:r>
            <a:r>
              <a:rPr lang="en-US" sz="2400" dirty="0">
                <a:solidFill>
                  <a:srgbClr val="002060"/>
                </a:solidFill>
                <a:latin typeface="Times New Roman" pitchFamily="18" charset="0"/>
                <a:cs typeface="Times New Roman" pitchFamily="18" charset="0"/>
              </a:rPr>
              <a:t>:</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Deadlock prevention technique avoids the conditions that lead to deadlocking.  </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It requires that every transaction lock all data items it needs in advance.  </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In other words, a transaction requesting a new lock is aborted if there is the possibility  that a deadlock can occur.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 calcmode="lin" valueType="num">
                                      <p:cBhvr additive="base">
                                        <p:cTn id="1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 calcmode="lin" valueType="num">
                                      <p:cBhvr additive="base">
                                        <p:cTn id="19"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algn="just">
              <a:lnSpc>
                <a:spcPct val="150000"/>
              </a:lnSpc>
            </a:pPr>
            <a:r>
              <a:rPr lang="en-US" sz="2400" b="1" u="sng" dirty="0">
                <a:solidFill>
                  <a:srgbClr val="FF0000"/>
                </a:solidFill>
                <a:latin typeface="Times New Roman" pitchFamily="18" charset="0"/>
                <a:cs typeface="Times New Roman" pitchFamily="18" charset="0"/>
              </a:rPr>
              <a:t>Deadlock Prevention</a:t>
            </a:r>
            <a:r>
              <a:rPr lang="en-US" sz="2400" dirty="0">
                <a:solidFill>
                  <a:srgbClr val="002060"/>
                </a:solidFill>
                <a:latin typeface="Times New Roman" pitchFamily="18" charset="0"/>
                <a:cs typeface="Times New Roman" pitchFamily="18" charset="0"/>
              </a:rPr>
              <a:t>:</a:t>
            </a:r>
          </a:p>
          <a:p>
            <a:pPr algn="just">
              <a:lnSpc>
                <a:spcPct val="150000"/>
              </a:lnSpc>
            </a:pPr>
            <a:r>
              <a:rPr lang="en-US" sz="2400" dirty="0">
                <a:solidFill>
                  <a:srgbClr val="002060"/>
                </a:solidFill>
                <a:latin typeface="Times New Roman" pitchFamily="18" charset="0"/>
                <a:cs typeface="Times New Roman" pitchFamily="18" charset="0"/>
              </a:rPr>
              <a:t>There are two approaches for deadlock prevention:</a:t>
            </a:r>
          </a:p>
          <a:p>
            <a:pPr algn="just">
              <a:lnSpc>
                <a:spcPct val="150000"/>
              </a:lnSpc>
            </a:pPr>
            <a:r>
              <a:rPr lang="en-US" sz="2400" b="1" u="sng" dirty="0">
                <a:solidFill>
                  <a:srgbClr val="FF0000"/>
                </a:solidFill>
                <a:latin typeface="Times New Roman" pitchFamily="18" charset="0"/>
                <a:cs typeface="Times New Roman" pitchFamily="18" charset="0"/>
              </a:rPr>
              <a:t>Approach:1</a:t>
            </a:r>
          </a:p>
          <a:p>
            <a:pPr marL="465138" indent="-465138" algn="just">
              <a:lnSpc>
                <a:spcPct val="150000"/>
              </a:lnSpc>
              <a:buClr>
                <a:srgbClr val="FF0000"/>
              </a:buClr>
              <a:buFont typeface="Wingdings" pitchFamily="2" charset="2"/>
              <a:buChar char="v"/>
            </a:pPr>
            <a:r>
              <a:rPr lang="en-US" sz="2000" dirty="0">
                <a:solidFill>
                  <a:srgbClr val="002060"/>
                </a:solidFill>
                <a:latin typeface="Times New Roman" pitchFamily="18" charset="0"/>
                <a:cs typeface="Times New Roman" pitchFamily="18" charset="0"/>
              </a:rPr>
              <a:t>This ensures that no cyclic wait can occur by ordering the request for locks. </a:t>
            </a:r>
          </a:p>
          <a:p>
            <a:pPr marL="465138" indent="-465138" algn="just">
              <a:lnSpc>
                <a:spcPct val="150000"/>
              </a:lnSpc>
              <a:buClr>
                <a:srgbClr val="FF0000"/>
              </a:buClr>
              <a:buFont typeface="Wingdings" pitchFamily="2" charset="2"/>
              <a:buChar char="v"/>
            </a:pPr>
            <a:r>
              <a:rPr lang="en-US" sz="2000" dirty="0">
                <a:solidFill>
                  <a:srgbClr val="002060"/>
                </a:solidFill>
                <a:latin typeface="Times New Roman" pitchFamily="18" charset="0"/>
                <a:cs typeface="Times New Roman" pitchFamily="18" charset="0"/>
              </a:rPr>
              <a:t>It requires that every transaction lock all data items it needs in advance. </a:t>
            </a:r>
          </a:p>
          <a:p>
            <a:pPr marL="465138" indent="-465138" algn="just">
              <a:lnSpc>
                <a:spcPct val="150000"/>
              </a:lnSpc>
              <a:buClr>
                <a:srgbClr val="FF0000"/>
              </a:buClr>
              <a:buFont typeface="Wingdings" pitchFamily="2" charset="2"/>
              <a:buChar char="v"/>
            </a:pPr>
            <a:r>
              <a:rPr lang="en-US" sz="2000" dirty="0">
                <a:solidFill>
                  <a:srgbClr val="002060"/>
                </a:solidFill>
                <a:latin typeface="Times New Roman" pitchFamily="18" charset="0"/>
                <a:cs typeface="Times New Roman" pitchFamily="18" charset="0"/>
              </a:rPr>
              <a:t>It is required that, either </a:t>
            </a:r>
            <a:r>
              <a:rPr lang="en-US" sz="2000" b="1" dirty="0">
                <a:solidFill>
                  <a:srgbClr val="002060"/>
                </a:solidFill>
                <a:latin typeface="Times New Roman" pitchFamily="18" charset="0"/>
                <a:cs typeface="Times New Roman" pitchFamily="18" charset="0"/>
              </a:rPr>
              <a:t>all data items should be locked </a:t>
            </a:r>
            <a:r>
              <a:rPr lang="en-US" sz="2000" dirty="0">
                <a:solidFill>
                  <a:srgbClr val="002060"/>
                </a:solidFill>
                <a:latin typeface="Times New Roman" pitchFamily="18" charset="0"/>
                <a:cs typeface="Times New Roman" pitchFamily="18" charset="0"/>
              </a:rPr>
              <a:t>in one step, or </a:t>
            </a:r>
            <a:r>
              <a:rPr lang="en-US" sz="2000" b="1" dirty="0">
                <a:solidFill>
                  <a:srgbClr val="002060"/>
                </a:solidFill>
                <a:latin typeface="Times New Roman" pitchFamily="18" charset="0"/>
                <a:cs typeface="Times New Roman" pitchFamily="18" charset="0"/>
              </a:rPr>
              <a:t>none should be locked.</a:t>
            </a:r>
          </a:p>
          <a:p>
            <a:pPr marL="465138" indent="-465138" algn="just">
              <a:lnSpc>
                <a:spcPct val="150000"/>
              </a:lnSpc>
              <a:buClr>
                <a:srgbClr val="FF0000"/>
              </a:buClr>
              <a:buFont typeface="Wingdings" pitchFamily="2" charset="2"/>
              <a:buChar char="v"/>
            </a:pPr>
            <a:r>
              <a:rPr lang="en-US" sz="2000" b="1" dirty="0">
                <a:solidFill>
                  <a:srgbClr val="FF0000"/>
                </a:solidFill>
                <a:latin typeface="Times New Roman" pitchFamily="18" charset="0"/>
                <a:cs typeface="Times New Roman" pitchFamily="18" charset="0"/>
              </a:rPr>
              <a:t>Disadvantages of this approach</a:t>
            </a:r>
            <a:r>
              <a:rPr lang="en-US" sz="2000" dirty="0">
                <a:solidFill>
                  <a:srgbClr val="002060"/>
                </a:solidFill>
                <a:latin typeface="Times New Roman" pitchFamily="18" charset="0"/>
                <a:cs typeface="Times New Roman" pitchFamily="18" charset="0"/>
              </a:rPr>
              <a:t>:</a:t>
            </a:r>
          </a:p>
          <a:p>
            <a:pPr marL="465138" indent="-465138" algn="just">
              <a:lnSpc>
                <a:spcPct val="150000"/>
              </a:lnSpc>
              <a:buClr>
                <a:srgbClr val="FF0000"/>
              </a:buClr>
              <a:buAutoNum type="arabicPeriod"/>
            </a:pPr>
            <a:r>
              <a:rPr lang="en-US" sz="2000" dirty="0">
                <a:solidFill>
                  <a:srgbClr val="002060"/>
                </a:solidFill>
                <a:latin typeface="Times New Roman" pitchFamily="18" charset="0"/>
                <a:cs typeface="Times New Roman" pitchFamily="18" charset="0"/>
              </a:rPr>
              <a:t>It is </a:t>
            </a:r>
            <a:r>
              <a:rPr lang="en-US" sz="2000" b="1" dirty="0">
                <a:solidFill>
                  <a:srgbClr val="002060"/>
                </a:solidFill>
                <a:latin typeface="Times New Roman" pitchFamily="18" charset="0"/>
                <a:cs typeface="Times New Roman" pitchFamily="18" charset="0"/>
              </a:rPr>
              <a:t>hard to predict </a:t>
            </a:r>
            <a:r>
              <a:rPr lang="en-US" sz="2000" dirty="0">
                <a:solidFill>
                  <a:srgbClr val="002060"/>
                </a:solidFill>
                <a:latin typeface="Times New Roman" pitchFamily="18" charset="0"/>
                <a:cs typeface="Times New Roman" pitchFamily="18" charset="0"/>
              </a:rPr>
              <a:t>before the transaction begins, What data items need to be locked.</a:t>
            </a:r>
          </a:p>
          <a:p>
            <a:pPr marL="465138" indent="-465138" algn="just">
              <a:lnSpc>
                <a:spcPct val="150000"/>
              </a:lnSpc>
              <a:buClr>
                <a:srgbClr val="FF0000"/>
              </a:buClr>
              <a:buAutoNum type="arabicPeriod"/>
            </a:pPr>
            <a:r>
              <a:rPr lang="en-US" sz="2000" dirty="0">
                <a:solidFill>
                  <a:srgbClr val="002060"/>
                </a:solidFill>
                <a:latin typeface="Times New Roman" pitchFamily="18" charset="0"/>
                <a:cs typeface="Times New Roman" pitchFamily="18" charset="0"/>
              </a:rPr>
              <a:t>Data item </a:t>
            </a:r>
            <a:r>
              <a:rPr lang="en-US" sz="2000" b="1" dirty="0">
                <a:solidFill>
                  <a:srgbClr val="002060"/>
                </a:solidFill>
                <a:latin typeface="Times New Roman" pitchFamily="18" charset="0"/>
                <a:cs typeface="Times New Roman" pitchFamily="18" charset="0"/>
              </a:rPr>
              <a:t>utilization may be very low</a:t>
            </a:r>
            <a:r>
              <a:rPr lang="en-US" sz="2000" dirty="0">
                <a:solidFill>
                  <a:srgbClr val="002060"/>
                </a:solidFill>
                <a:latin typeface="Times New Roman" pitchFamily="18" charset="0"/>
                <a:cs typeface="Times New Roman" pitchFamily="18" charset="0"/>
              </a:rPr>
              <a:t>, because many of the data items may be locked but unused for a long time.</a:t>
            </a:r>
          </a:p>
          <a:p>
            <a:pPr algn="just">
              <a:lnSpc>
                <a:spcPct val="150000"/>
              </a:lnSpc>
            </a:pP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 calcmode="lin" valueType="num">
                                      <p:cBhvr additive="base">
                                        <p:cTn id="7"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anim calcmode="lin" valueType="num">
                                      <p:cBhvr additive="base">
                                        <p:cTn id="13"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anim calcmode="lin" valueType="num">
                                      <p:cBhvr additive="base">
                                        <p:cTn id="19"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anim calcmode="lin" valueType="num">
                                      <p:cBhvr additive="base">
                                        <p:cTn id="25"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anim calcmode="lin" valueType="num">
                                      <p:cBhvr additive="base">
                                        <p:cTn id="31"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xEl>
                                              <p:pRg st="8" end="8"/>
                                            </p:txEl>
                                          </p:spTgt>
                                        </p:tgtEl>
                                        <p:attrNameLst>
                                          <p:attrName>style.visibility</p:attrName>
                                        </p:attrNameLst>
                                      </p:cBhvr>
                                      <p:to>
                                        <p:strVal val="visible"/>
                                      </p:to>
                                    </p:set>
                                    <p:anim calcmode="lin" valueType="num">
                                      <p:cBhvr additive="base">
                                        <p:cTn id="37"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algn="just">
              <a:lnSpc>
                <a:spcPct val="150000"/>
              </a:lnSpc>
            </a:pPr>
            <a:r>
              <a:rPr lang="en-US" sz="2400" b="1" u="sng" dirty="0">
                <a:solidFill>
                  <a:srgbClr val="FF0000"/>
                </a:solidFill>
                <a:latin typeface="Times New Roman" pitchFamily="18" charset="0"/>
                <a:cs typeface="Times New Roman" pitchFamily="18" charset="0"/>
              </a:rPr>
              <a:t>Deadlock Prevention</a:t>
            </a:r>
            <a:r>
              <a:rPr lang="en-US" sz="2400" dirty="0">
                <a:solidFill>
                  <a:srgbClr val="002060"/>
                </a:solidFill>
                <a:latin typeface="Times New Roman" pitchFamily="18" charset="0"/>
                <a:cs typeface="Times New Roman" pitchFamily="18" charset="0"/>
              </a:rPr>
              <a:t>:</a:t>
            </a:r>
          </a:p>
          <a:p>
            <a:pPr algn="just">
              <a:lnSpc>
                <a:spcPct val="150000"/>
              </a:lnSpc>
            </a:pPr>
            <a:r>
              <a:rPr lang="en-US" sz="2400" b="1" u="sng" dirty="0">
                <a:solidFill>
                  <a:srgbClr val="FF0000"/>
                </a:solidFill>
                <a:latin typeface="Times New Roman" pitchFamily="18" charset="0"/>
                <a:cs typeface="Times New Roman" pitchFamily="18" charset="0"/>
              </a:rPr>
              <a:t>Approach:2</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Deadlock prevention is to use </a:t>
            </a:r>
            <a:r>
              <a:rPr lang="en-US" sz="2400" b="1" dirty="0">
                <a:solidFill>
                  <a:srgbClr val="FF0000"/>
                </a:solidFill>
                <a:latin typeface="Times New Roman" pitchFamily="18" charset="0"/>
                <a:cs typeface="Times New Roman" pitchFamily="18" charset="0"/>
              </a:rPr>
              <a:t>preemption</a:t>
            </a:r>
            <a:r>
              <a:rPr lang="en-US" sz="2400" dirty="0">
                <a:solidFill>
                  <a:srgbClr val="002060"/>
                </a:solidFill>
                <a:latin typeface="Times New Roman" pitchFamily="18" charset="0"/>
                <a:cs typeface="Times New Roman" pitchFamily="18" charset="0"/>
              </a:rPr>
              <a:t> and </a:t>
            </a:r>
            <a:r>
              <a:rPr lang="en-US" sz="2200" b="1" dirty="0">
                <a:solidFill>
                  <a:srgbClr val="FF0000"/>
                </a:solidFill>
                <a:latin typeface="Times New Roman" pitchFamily="18" charset="0"/>
                <a:cs typeface="Times New Roman" pitchFamily="18" charset="0"/>
              </a:rPr>
              <a:t>transaction rollbacks</a:t>
            </a:r>
            <a:r>
              <a:rPr lang="en-US" sz="2400" dirty="0">
                <a:solidFill>
                  <a:srgbClr val="002060"/>
                </a:solidFill>
                <a:latin typeface="Times New Roman" pitchFamily="18" charset="0"/>
                <a:cs typeface="Times New Roman" pitchFamily="18" charset="0"/>
              </a:rPr>
              <a:t>.</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In preemption when a transaction </a:t>
            </a:r>
            <a:r>
              <a:rPr lang="en-US" sz="2400" dirty="0">
                <a:solidFill>
                  <a:srgbClr val="FF0000"/>
                </a:solidFill>
                <a:latin typeface="Times New Roman" pitchFamily="18" charset="0"/>
                <a:cs typeface="Times New Roman" pitchFamily="18" charset="0"/>
              </a:rPr>
              <a:t>T2 request a lock </a:t>
            </a:r>
            <a:r>
              <a:rPr lang="en-US" sz="2400" dirty="0">
                <a:solidFill>
                  <a:srgbClr val="002060"/>
                </a:solidFill>
                <a:latin typeface="Times New Roman" pitchFamily="18" charset="0"/>
                <a:cs typeface="Times New Roman" pitchFamily="18" charset="0"/>
              </a:rPr>
              <a:t>that transaction </a:t>
            </a:r>
            <a:r>
              <a:rPr lang="en-US" sz="2400" dirty="0">
                <a:solidFill>
                  <a:srgbClr val="FF0000"/>
                </a:solidFill>
                <a:latin typeface="Times New Roman" pitchFamily="18" charset="0"/>
                <a:cs typeface="Times New Roman" pitchFamily="18" charset="0"/>
              </a:rPr>
              <a:t>T1 holds</a:t>
            </a:r>
            <a:r>
              <a:rPr lang="en-US" sz="2400" dirty="0">
                <a:solidFill>
                  <a:srgbClr val="002060"/>
                </a:solidFill>
                <a:latin typeface="Times New Roman" pitchFamily="18" charset="0"/>
                <a:cs typeface="Times New Roman" pitchFamily="18" charset="0"/>
              </a:rPr>
              <a:t>.</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The lock granted to T1 may be preempted by </a:t>
            </a:r>
            <a:r>
              <a:rPr lang="en-US" sz="2400" dirty="0">
                <a:solidFill>
                  <a:srgbClr val="FF0000"/>
                </a:solidFill>
                <a:latin typeface="Times New Roman" pitchFamily="18" charset="0"/>
                <a:cs typeface="Times New Roman" pitchFamily="18" charset="0"/>
              </a:rPr>
              <a:t>rolling back T1</a:t>
            </a:r>
            <a:r>
              <a:rPr lang="en-US" sz="2400" dirty="0">
                <a:solidFill>
                  <a:srgbClr val="002060"/>
                </a:solidFill>
                <a:latin typeface="Times New Roman" pitchFamily="18" charset="0"/>
                <a:cs typeface="Times New Roman" pitchFamily="18" charset="0"/>
              </a:rPr>
              <a:t>, and </a:t>
            </a:r>
            <a:r>
              <a:rPr lang="en-US" sz="2400" dirty="0">
                <a:solidFill>
                  <a:srgbClr val="FF0000"/>
                </a:solidFill>
                <a:latin typeface="Times New Roman" pitchFamily="18" charset="0"/>
                <a:cs typeface="Times New Roman" pitchFamily="18" charset="0"/>
              </a:rPr>
              <a:t>granting of lock to T2</a:t>
            </a:r>
            <a:r>
              <a:rPr lang="en-US" sz="2400" dirty="0">
                <a:solidFill>
                  <a:srgbClr val="002060"/>
                </a:solidFill>
                <a:latin typeface="Times New Roman" pitchFamily="18" charset="0"/>
                <a:cs typeface="Times New Roman" pitchFamily="18" charset="0"/>
              </a:rPr>
              <a:t>.</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To </a:t>
            </a:r>
            <a:r>
              <a:rPr lang="en-US" sz="2400" dirty="0">
                <a:solidFill>
                  <a:srgbClr val="FF0000"/>
                </a:solidFill>
                <a:latin typeface="Times New Roman" pitchFamily="18" charset="0"/>
                <a:cs typeface="Times New Roman" pitchFamily="18" charset="0"/>
              </a:rPr>
              <a:t>control preemption</a:t>
            </a:r>
            <a:r>
              <a:rPr lang="en-US" sz="2400" dirty="0">
                <a:solidFill>
                  <a:srgbClr val="002060"/>
                </a:solidFill>
                <a:latin typeface="Times New Roman" pitchFamily="18" charset="0"/>
                <a:cs typeface="Times New Roman" pitchFamily="18" charset="0"/>
              </a:rPr>
              <a:t>, a unique </a:t>
            </a:r>
            <a:r>
              <a:rPr lang="en-US" sz="2400" dirty="0">
                <a:solidFill>
                  <a:srgbClr val="FF0000"/>
                </a:solidFill>
                <a:latin typeface="Times New Roman" pitchFamily="18" charset="0"/>
                <a:cs typeface="Times New Roman" pitchFamily="18" charset="0"/>
              </a:rPr>
              <a:t>timestamp</a:t>
            </a:r>
            <a:r>
              <a:rPr lang="en-US" sz="2400" dirty="0">
                <a:solidFill>
                  <a:srgbClr val="002060"/>
                </a:solidFill>
                <a:latin typeface="Times New Roman" pitchFamily="18" charset="0"/>
                <a:cs typeface="Times New Roman" pitchFamily="18" charset="0"/>
              </a:rPr>
              <a:t> is assigned to each transaction.</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The system uses timestamp to decide whether a transaction </a:t>
            </a:r>
            <a:r>
              <a:rPr lang="en-US" sz="2400" dirty="0">
                <a:solidFill>
                  <a:srgbClr val="FF0000"/>
                </a:solidFill>
                <a:latin typeface="Times New Roman" pitchFamily="18" charset="0"/>
                <a:cs typeface="Times New Roman" pitchFamily="18" charset="0"/>
              </a:rPr>
              <a:t>wait or roll back.</a:t>
            </a:r>
          </a:p>
          <a:p>
            <a:pPr algn="just">
              <a:lnSpc>
                <a:spcPct val="150000"/>
              </a:lnSpc>
            </a:pPr>
            <a:endParaRPr lang="en-US" sz="2400" dirty="0">
              <a:solidFill>
                <a:srgbClr val="002060"/>
              </a:solidFill>
              <a:latin typeface="Times New Roman" pitchFamily="18" charset="0"/>
              <a:cs typeface="Times New Roman" pitchFamily="18" charset="0"/>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algn="just">
              <a:lnSpc>
                <a:spcPct val="150000"/>
              </a:lnSpc>
            </a:pPr>
            <a:r>
              <a:rPr lang="en-US" sz="2800" b="1" u="sng" dirty="0">
                <a:solidFill>
                  <a:srgbClr val="FF0000"/>
                </a:solidFill>
                <a:latin typeface="Times New Roman" pitchFamily="18" charset="0"/>
                <a:cs typeface="Times New Roman" pitchFamily="18" charset="0"/>
              </a:rPr>
              <a:t>Deadlock Prevention</a:t>
            </a:r>
            <a:r>
              <a:rPr lang="en-US" sz="2800" dirty="0">
                <a:solidFill>
                  <a:srgbClr val="002060"/>
                </a:solidFill>
                <a:latin typeface="Times New Roman" pitchFamily="18" charset="0"/>
                <a:cs typeface="Times New Roman" pitchFamily="18" charset="0"/>
              </a:rPr>
              <a:t>:</a:t>
            </a:r>
          </a:p>
          <a:p>
            <a:pPr algn="just">
              <a:lnSpc>
                <a:spcPct val="150000"/>
              </a:lnSpc>
            </a:pPr>
            <a:r>
              <a:rPr lang="en-US" sz="2800" dirty="0">
                <a:solidFill>
                  <a:srgbClr val="002060"/>
                </a:solidFill>
                <a:latin typeface="Times New Roman" pitchFamily="18" charset="0"/>
                <a:cs typeface="Times New Roman" pitchFamily="18" charset="0"/>
              </a:rPr>
              <a:t>Two different deadlock prevention schemes using timestamp are:</a:t>
            </a:r>
          </a:p>
          <a:p>
            <a:pPr marL="457200" indent="-457200" algn="just">
              <a:lnSpc>
                <a:spcPct val="150000"/>
              </a:lnSpc>
              <a:buAutoNum type="arabicPeriod"/>
            </a:pPr>
            <a:r>
              <a:rPr lang="en-US" sz="2800" dirty="0">
                <a:solidFill>
                  <a:srgbClr val="002060"/>
                </a:solidFill>
                <a:latin typeface="Times New Roman" pitchFamily="18" charset="0"/>
                <a:cs typeface="Times New Roman" pitchFamily="18" charset="0"/>
              </a:rPr>
              <a:t>Wait Die.</a:t>
            </a:r>
          </a:p>
          <a:p>
            <a:pPr marL="457200" indent="-457200" algn="just">
              <a:lnSpc>
                <a:spcPct val="150000"/>
              </a:lnSpc>
              <a:buAutoNum type="arabicPeriod"/>
            </a:pPr>
            <a:r>
              <a:rPr lang="en-US" sz="2800" dirty="0">
                <a:solidFill>
                  <a:srgbClr val="002060"/>
                </a:solidFill>
                <a:latin typeface="Times New Roman" pitchFamily="18" charset="0"/>
                <a:cs typeface="Times New Roman" pitchFamily="18" charset="0"/>
              </a:rPr>
              <a:t>Wound Wait.</a:t>
            </a:r>
          </a:p>
          <a:p>
            <a:pPr algn="just">
              <a:lnSpc>
                <a:spcPct val="150000"/>
              </a:lnSpc>
            </a:pPr>
            <a:endParaRPr lang="en-US" sz="2400" dirty="0">
              <a:solidFill>
                <a:srgbClr val="002060"/>
              </a:solidFill>
              <a:latin typeface="Times New Roman" pitchFamily="18" charset="0"/>
              <a:cs typeface="Times New Roman" pitchFamily="18"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algn="just">
              <a:lnSpc>
                <a:spcPct val="150000"/>
              </a:lnSpc>
            </a:pPr>
            <a:r>
              <a:rPr lang="en-US" sz="2800" b="1" u="sng" dirty="0">
                <a:solidFill>
                  <a:srgbClr val="FF0000"/>
                </a:solidFill>
                <a:latin typeface="Times New Roman" pitchFamily="18" charset="0"/>
                <a:cs typeface="Times New Roman" pitchFamily="18" charset="0"/>
              </a:rPr>
              <a:t>Deadlock Prevention</a:t>
            </a:r>
            <a:r>
              <a:rPr lang="en-US" sz="2800" dirty="0">
                <a:solidFill>
                  <a:srgbClr val="002060"/>
                </a:solidFill>
                <a:latin typeface="Times New Roman" pitchFamily="18" charset="0"/>
                <a:cs typeface="Times New Roman" pitchFamily="18" charset="0"/>
              </a:rPr>
              <a:t>:</a:t>
            </a:r>
          </a:p>
          <a:p>
            <a:pPr marL="457200" indent="-457200" algn="just">
              <a:lnSpc>
                <a:spcPct val="150000"/>
              </a:lnSpc>
              <a:buAutoNum type="arabicPeriod"/>
            </a:pPr>
            <a:r>
              <a:rPr lang="en-US" sz="2800" b="1" u="sng" dirty="0">
                <a:solidFill>
                  <a:srgbClr val="FF0000"/>
                </a:solidFill>
                <a:latin typeface="Times New Roman" pitchFamily="18" charset="0"/>
                <a:cs typeface="Times New Roman" pitchFamily="18" charset="0"/>
              </a:rPr>
              <a:t>Wait Die</a:t>
            </a:r>
            <a:r>
              <a:rPr lang="en-US" sz="2800" dirty="0">
                <a:solidFill>
                  <a:srgbClr val="002060"/>
                </a:solidFill>
                <a:latin typeface="Times New Roman" pitchFamily="18" charset="0"/>
                <a:cs typeface="Times New Roman" pitchFamily="18" charset="0"/>
              </a:rPr>
              <a:t>:</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The Wait-Die scheme is </a:t>
            </a:r>
            <a:r>
              <a:rPr lang="en-US" sz="2400" dirty="0">
                <a:solidFill>
                  <a:srgbClr val="FF0000"/>
                </a:solidFill>
                <a:latin typeface="Times New Roman" pitchFamily="18" charset="0"/>
                <a:cs typeface="Times New Roman" pitchFamily="18" charset="0"/>
              </a:rPr>
              <a:t>non-preemption</a:t>
            </a:r>
            <a:r>
              <a:rPr lang="en-US" sz="2400" dirty="0">
                <a:solidFill>
                  <a:srgbClr val="002060"/>
                </a:solidFill>
                <a:latin typeface="Times New Roman" pitchFamily="18" charset="0"/>
                <a:cs typeface="Times New Roman" pitchFamily="18" charset="0"/>
              </a:rPr>
              <a:t> technique.</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When Transaction T</a:t>
            </a:r>
            <a:r>
              <a:rPr lang="en-US" sz="2400" baseline="-25000" dirty="0">
                <a:solidFill>
                  <a:srgbClr val="002060"/>
                </a:solidFill>
                <a:latin typeface="Times New Roman" pitchFamily="18" charset="0"/>
                <a:cs typeface="Times New Roman" pitchFamily="18" charset="0"/>
              </a:rPr>
              <a:t>i</a:t>
            </a:r>
            <a:r>
              <a:rPr lang="en-US" sz="2400" dirty="0">
                <a:solidFill>
                  <a:srgbClr val="002060"/>
                </a:solidFill>
                <a:latin typeface="Times New Roman" pitchFamily="18" charset="0"/>
                <a:cs typeface="Times New Roman" pitchFamily="18" charset="0"/>
              </a:rPr>
              <a:t> request a data item held by </a:t>
            </a:r>
            <a:r>
              <a:rPr lang="en-US" sz="2400" dirty="0" err="1">
                <a:solidFill>
                  <a:srgbClr val="002060"/>
                </a:solidFill>
                <a:latin typeface="Times New Roman" pitchFamily="18" charset="0"/>
                <a:cs typeface="Times New Roman" pitchFamily="18" charset="0"/>
              </a:rPr>
              <a:t>T</a:t>
            </a:r>
            <a:r>
              <a:rPr lang="en-US" sz="2400" baseline="-25000" dirty="0" err="1">
                <a:solidFill>
                  <a:srgbClr val="002060"/>
                </a:solidFill>
                <a:latin typeface="Times New Roman" pitchFamily="18" charset="0"/>
                <a:cs typeface="Times New Roman" pitchFamily="18" charset="0"/>
              </a:rPr>
              <a:t>j</a:t>
            </a:r>
            <a:r>
              <a:rPr lang="en-US" sz="2400" dirty="0">
                <a:solidFill>
                  <a:srgbClr val="002060"/>
                </a:solidFill>
                <a:latin typeface="Times New Roman" pitchFamily="18" charset="0"/>
                <a:cs typeface="Times New Roman" pitchFamily="18" charset="0"/>
              </a:rPr>
              <a:t>, T</a:t>
            </a:r>
            <a:r>
              <a:rPr lang="en-US" sz="2400" baseline="-25000" dirty="0">
                <a:solidFill>
                  <a:srgbClr val="002060"/>
                </a:solidFill>
                <a:latin typeface="Times New Roman" pitchFamily="18" charset="0"/>
                <a:cs typeface="Times New Roman" pitchFamily="18" charset="0"/>
              </a:rPr>
              <a:t>i</a:t>
            </a:r>
            <a:r>
              <a:rPr lang="en-US" sz="2400" dirty="0">
                <a:solidFill>
                  <a:srgbClr val="002060"/>
                </a:solidFill>
                <a:latin typeface="Times New Roman" pitchFamily="18" charset="0"/>
                <a:cs typeface="Times New Roman" pitchFamily="18" charset="0"/>
              </a:rPr>
              <a:t> is allowed to wait only if it has a timestamp smaller than </a:t>
            </a:r>
            <a:r>
              <a:rPr lang="en-US" sz="2400" dirty="0" err="1">
                <a:solidFill>
                  <a:srgbClr val="002060"/>
                </a:solidFill>
                <a:latin typeface="Times New Roman" pitchFamily="18" charset="0"/>
                <a:cs typeface="Times New Roman" pitchFamily="18" charset="0"/>
              </a:rPr>
              <a:t>T</a:t>
            </a:r>
            <a:r>
              <a:rPr lang="en-US" sz="2400" baseline="-25000" dirty="0" err="1">
                <a:solidFill>
                  <a:srgbClr val="002060"/>
                </a:solidFill>
                <a:latin typeface="Times New Roman" pitchFamily="18" charset="0"/>
                <a:cs typeface="Times New Roman" pitchFamily="18" charset="0"/>
              </a:rPr>
              <a:t>j</a:t>
            </a:r>
            <a:r>
              <a:rPr lang="en-US" sz="2400" dirty="0">
                <a:solidFill>
                  <a:srgbClr val="002060"/>
                </a:solidFill>
                <a:latin typeface="Times New Roman" pitchFamily="18" charset="0"/>
                <a:cs typeface="Times New Roman" pitchFamily="18" charset="0"/>
              </a:rPr>
              <a:t>.</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Otherwise, T</a:t>
            </a:r>
            <a:r>
              <a:rPr lang="en-US" sz="2400" baseline="-25000" dirty="0">
                <a:solidFill>
                  <a:srgbClr val="002060"/>
                </a:solidFill>
                <a:latin typeface="Times New Roman" pitchFamily="18" charset="0"/>
                <a:cs typeface="Times New Roman" pitchFamily="18" charset="0"/>
              </a:rPr>
              <a:t>i</a:t>
            </a:r>
            <a:r>
              <a:rPr lang="en-US" sz="2400" dirty="0">
                <a:solidFill>
                  <a:srgbClr val="002060"/>
                </a:solidFill>
                <a:latin typeface="Times New Roman" pitchFamily="18" charset="0"/>
                <a:cs typeface="Times New Roman" pitchFamily="18" charset="0"/>
              </a:rPr>
              <a:t> is rolled back (Die)</a:t>
            </a:r>
          </a:p>
          <a:p>
            <a:pPr marL="457200" indent="-457200" algn="just">
              <a:lnSpc>
                <a:spcPct val="150000"/>
              </a:lnSpc>
              <a:buClr>
                <a:srgbClr val="FF0000"/>
              </a:buClr>
            </a:pPr>
            <a:r>
              <a:rPr lang="en-US" sz="2400" b="1" dirty="0">
                <a:solidFill>
                  <a:srgbClr val="FF0000"/>
                </a:solidFill>
                <a:latin typeface="Times New Roman" pitchFamily="18" charset="0"/>
                <a:cs typeface="Times New Roman" pitchFamily="18" charset="0"/>
              </a:rPr>
              <a:t>EXAMPLE</a:t>
            </a:r>
            <a:r>
              <a:rPr lang="en-US" sz="2400" dirty="0">
                <a:solidFill>
                  <a:srgbClr val="002060"/>
                </a:solidFill>
                <a:latin typeface="Times New Roman" pitchFamily="18" charset="0"/>
                <a:cs typeface="Times New Roman" pitchFamily="18" charset="0"/>
              </a:rPr>
              <a:t>:</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Consider three transactions T1, T2, T3 with timestamps 5, 10, 15 respectively.</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If T1 request a data item held by T2, Then T1 will wait.</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If T3 request data item held by T2, then T2 will be Rolled Back.</a:t>
            </a:r>
          </a:p>
          <a:p>
            <a:pPr marL="457200" indent="-457200" algn="just">
              <a:lnSpc>
                <a:spcPct val="150000"/>
              </a:lnSpc>
            </a:pPr>
            <a:endParaRPr lang="en-US" sz="2400" dirty="0">
              <a:solidFill>
                <a:srgbClr val="002060"/>
              </a:solidFill>
              <a:latin typeface="Times New Roman" pitchFamily="18" charset="0"/>
              <a:cs typeface="Times New Roman" pitchFamily="18" charset="0"/>
            </a:endParaRPr>
          </a:p>
          <a:p>
            <a:pPr algn="just">
              <a:lnSpc>
                <a:spcPct val="150000"/>
              </a:lnSpc>
            </a:pP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 calcmode="lin" valueType="num">
                                      <p:cBhvr additive="base">
                                        <p:cTn id="1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 calcmode="lin" valueType="num">
                                      <p:cBhvr additive="base">
                                        <p:cTn id="19"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anim calcmode="lin" valueType="num">
                                      <p:cBhvr additive="base">
                                        <p:cTn id="25"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anim calcmode="lin" valueType="num">
                                      <p:cBhvr additive="base">
                                        <p:cTn id="31"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xEl>
                                              <p:pRg st="8" end="8"/>
                                            </p:txEl>
                                          </p:spTgt>
                                        </p:tgtEl>
                                        <p:attrNameLst>
                                          <p:attrName>style.visibility</p:attrName>
                                        </p:attrNameLst>
                                      </p:cBhvr>
                                      <p:to>
                                        <p:strVal val="visible"/>
                                      </p:to>
                                    </p:set>
                                    <p:anim calcmode="lin" valueType="num">
                                      <p:cBhvr additive="base">
                                        <p:cTn id="37"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algn="just">
              <a:lnSpc>
                <a:spcPct val="150000"/>
              </a:lnSpc>
            </a:pPr>
            <a:r>
              <a:rPr lang="en-US" sz="2800" b="1" u="sng" dirty="0">
                <a:solidFill>
                  <a:srgbClr val="FF0000"/>
                </a:solidFill>
                <a:latin typeface="Times New Roman" pitchFamily="18" charset="0"/>
                <a:cs typeface="Times New Roman" pitchFamily="18" charset="0"/>
              </a:rPr>
              <a:t>Deadlock Prevention</a:t>
            </a:r>
            <a:r>
              <a:rPr lang="en-US" sz="2800" dirty="0">
                <a:solidFill>
                  <a:srgbClr val="002060"/>
                </a:solidFill>
                <a:latin typeface="Times New Roman" pitchFamily="18" charset="0"/>
                <a:cs typeface="Times New Roman" pitchFamily="18" charset="0"/>
              </a:rPr>
              <a:t>:</a:t>
            </a:r>
          </a:p>
          <a:p>
            <a:pPr marL="514350" indent="-514350" algn="just">
              <a:lnSpc>
                <a:spcPct val="150000"/>
              </a:lnSpc>
              <a:buFont typeface="+mj-lt"/>
              <a:buAutoNum type="arabicPeriod" startAt="2"/>
            </a:pPr>
            <a:r>
              <a:rPr lang="en-US" sz="2800" b="1" u="sng" dirty="0">
                <a:solidFill>
                  <a:srgbClr val="FF0000"/>
                </a:solidFill>
                <a:latin typeface="Times New Roman" pitchFamily="18" charset="0"/>
                <a:cs typeface="Times New Roman" pitchFamily="18" charset="0"/>
              </a:rPr>
              <a:t>Wound Wait</a:t>
            </a:r>
            <a:r>
              <a:rPr lang="en-US" sz="2800" dirty="0">
                <a:solidFill>
                  <a:srgbClr val="002060"/>
                </a:solidFill>
                <a:latin typeface="Times New Roman" pitchFamily="18" charset="0"/>
                <a:cs typeface="Times New Roman" pitchFamily="18" charset="0"/>
              </a:rPr>
              <a:t>:</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The Wound Wait scheme is </a:t>
            </a:r>
            <a:r>
              <a:rPr lang="en-US" sz="2400" dirty="0">
                <a:solidFill>
                  <a:srgbClr val="FF0000"/>
                </a:solidFill>
                <a:latin typeface="Times New Roman" pitchFamily="18" charset="0"/>
                <a:cs typeface="Times New Roman" pitchFamily="18" charset="0"/>
              </a:rPr>
              <a:t>preemption</a:t>
            </a:r>
            <a:r>
              <a:rPr lang="en-US" sz="2400" dirty="0">
                <a:solidFill>
                  <a:srgbClr val="002060"/>
                </a:solidFill>
                <a:latin typeface="Times New Roman" pitchFamily="18" charset="0"/>
                <a:cs typeface="Times New Roman" pitchFamily="18" charset="0"/>
              </a:rPr>
              <a:t> technique.</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When Transaction T</a:t>
            </a:r>
            <a:r>
              <a:rPr lang="en-US" sz="2400" baseline="-25000" dirty="0">
                <a:solidFill>
                  <a:srgbClr val="002060"/>
                </a:solidFill>
                <a:latin typeface="Times New Roman" pitchFamily="18" charset="0"/>
                <a:cs typeface="Times New Roman" pitchFamily="18" charset="0"/>
              </a:rPr>
              <a:t>i</a:t>
            </a:r>
            <a:r>
              <a:rPr lang="en-US" sz="2400" dirty="0">
                <a:solidFill>
                  <a:srgbClr val="002060"/>
                </a:solidFill>
                <a:latin typeface="Times New Roman" pitchFamily="18" charset="0"/>
                <a:cs typeface="Times New Roman" pitchFamily="18" charset="0"/>
              </a:rPr>
              <a:t> request a data item held by </a:t>
            </a:r>
            <a:r>
              <a:rPr lang="en-US" sz="2400" dirty="0" err="1">
                <a:solidFill>
                  <a:srgbClr val="002060"/>
                </a:solidFill>
                <a:latin typeface="Times New Roman" pitchFamily="18" charset="0"/>
                <a:cs typeface="Times New Roman" pitchFamily="18" charset="0"/>
              </a:rPr>
              <a:t>T</a:t>
            </a:r>
            <a:r>
              <a:rPr lang="en-US" sz="2400" baseline="-25000" dirty="0" err="1">
                <a:solidFill>
                  <a:srgbClr val="002060"/>
                </a:solidFill>
                <a:latin typeface="Times New Roman" pitchFamily="18" charset="0"/>
                <a:cs typeface="Times New Roman" pitchFamily="18" charset="0"/>
              </a:rPr>
              <a:t>j</a:t>
            </a:r>
            <a:r>
              <a:rPr lang="en-US" sz="2400" dirty="0">
                <a:solidFill>
                  <a:srgbClr val="002060"/>
                </a:solidFill>
                <a:latin typeface="Times New Roman" pitchFamily="18" charset="0"/>
                <a:cs typeface="Times New Roman" pitchFamily="18" charset="0"/>
              </a:rPr>
              <a:t>, T</a:t>
            </a:r>
            <a:r>
              <a:rPr lang="en-US" sz="2400" baseline="-25000" dirty="0">
                <a:solidFill>
                  <a:srgbClr val="002060"/>
                </a:solidFill>
                <a:latin typeface="Times New Roman" pitchFamily="18" charset="0"/>
                <a:cs typeface="Times New Roman" pitchFamily="18" charset="0"/>
              </a:rPr>
              <a:t>i</a:t>
            </a:r>
            <a:r>
              <a:rPr lang="en-US" sz="2400" dirty="0">
                <a:solidFill>
                  <a:srgbClr val="002060"/>
                </a:solidFill>
                <a:latin typeface="Times New Roman" pitchFamily="18" charset="0"/>
                <a:cs typeface="Times New Roman" pitchFamily="18" charset="0"/>
              </a:rPr>
              <a:t> is allowed to wait only if it has a timestamp greater than </a:t>
            </a:r>
            <a:r>
              <a:rPr lang="en-US" sz="2400" dirty="0" err="1">
                <a:solidFill>
                  <a:srgbClr val="002060"/>
                </a:solidFill>
                <a:latin typeface="Times New Roman" pitchFamily="18" charset="0"/>
                <a:cs typeface="Times New Roman" pitchFamily="18" charset="0"/>
              </a:rPr>
              <a:t>T</a:t>
            </a:r>
            <a:r>
              <a:rPr lang="en-US" sz="2400" baseline="-25000" dirty="0" err="1">
                <a:solidFill>
                  <a:srgbClr val="002060"/>
                </a:solidFill>
                <a:latin typeface="Times New Roman" pitchFamily="18" charset="0"/>
                <a:cs typeface="Times New Roman" pitchFamily="18" charset="0"/>
              </a:rPr>
              <a:t>j</a:t>
            </a:r>
            <a:r>
              <a:rPr lang="en-US" sz="2400" dirty="0">
                <a:solidFill>
                  <a:srgbClr val="002060"/>
                </a:solidFill>
                <a:latin typeface="Times New Roman" pitchFamily="18" charset="0"/>
                <a:cs typeface="Times New Roman" pitchFamily="18" charset="0"/>
              </a:rPr>
              <a:t>.</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Otherwise, T</a:t>
            </a:r>
            <a:r>
              <a:rPr lang="en-US" sz="2400" baseline="-25000" dirty="0">
                <a:solidFill>
                  <a:srgbClr val="002060"/>
                </a:solidFill>
                <a:latin typeface="Times New Roman" pitchFamily="18" charset="0"/>
                <a:cs typeface="Times New Roman" pitchFamily="18" charset="0"/>
              </a:rPr>
              <a:t>i</a:t>
            </a:r>
            <a:r>
              <a:rPr lang="en-US" sz="2400" dirty="0">
                <a:solidFill>
                  <a:srgbClr val="002060"/>
                </a:solidFill>
                <a:latin typeface="Times New Roman" pitchFamily="18" charset="0"/>
                <a:cs typeface="Times New Roman" pitchFamily="18" charset="0"/>
              </a:rPr>
              <a:t> is rolled back (Die)</a:t>
            </a:r>
          </a:p>
          <a:p>
            <a:pPr marL="457200" indent="-457200" algn="just">
              <a:lnSpc>
                <a:spcPct val="150000"/>
              </a:lnSpc>
              <a:buClr>
                <a:srgbClr val="FF0000"/>
              </a:buClr>
            </a:pPr>
            <a:r>
              <a:rPr lang="en-US" sz="2400" b="1" dirty="0">
                <a:solidFill>
                  <a:srgbClr val="FF0000"/>
                </a:solidFill>
                <a:latin typeface="Times New Roman" pitchFamily="18" charset="0"/>
                <a:cs typeface="Times New Roman" pitchFamily="18" charset="0"/>
              </a:rPr>
              <a:t>EXAMPLE</a:t>
            </a:r>
            <a:r>
              <a:rPr lang="en-US" sz="2400" dirty="0">
                <a:solidFill>
                  <a:srgbClr val="002060"/>
                </a:solidFill>
                <a:latin typeface="Times New Roman" pitchFamily="18" charset="0"/>
                <a:cs typeface="Times New Roman" pitchFamily="18" charset="0"/>
              </a:rPr>
              <a:t>:</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Consider three transactions T1, T2, T3 with timestamps 5, 10, 15 respectively.</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If T1 request a data item held by T2, Then T2 will be Rolled Back.</a:t>
            </a:r>
          </a:p>
          <a:p>
            <a:pPr marL="45720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If T3 request data item held by T2, then T3 will wait.</a:t>
            </a:r>
          </a:p>
          <a:p>
            <a:pPr marL="457200" indent="-457200" algn="just">
              <a:lnSpc>
                <a:spcPct val="150000"/>
              </a:lnSpc>
            </a:pPr>
            <a:endParaRPr lang="en-US" sz="2400" dirty="0">
              <a:solidFill>
                <a:srgbClr val="002060"/>
              </a:solidFill>
              <a:latin typeface="Times New Roman" pitchFamily="18" charset="0"/>
              <a:cs typeface="Times New Roman" pitchFamily="18" charset="0"/>
            </a:endParaRPr>
          </a:p>
          <a:p>
            <a:pPr algn="just">
              <a:lnSpc>
                <a:spcPct val="150000"/>
              </a:lnSpc>
            </a:pPr>
            <a:endParaRPr lang="en-US" sz="2400" dirty="0">
              <a:solidFill>
                <a:srgbClr val="002060"/>
              </a:solidFill>
              <a:latin typeface="Times New Roman" pitchFamily="18" charset="0"/>
              <a:cs typeface="Times New Roman" pitchFamily="18" charset="0"/>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r>
              <a:rPr lang="en-US" sz="3600" b="1" dirty="0">
                <a:solidFill>
                  <a:srgbClr val="FF0000"/>
                </a:solidFill>
                <a:latin typeface="Times New Roman" pitchFamily="18" charset="0"/>
                <a:cs typeface="Times New Roman" pitchFamily="18" charset="0"/>
              </a:rPr>
              <a:t>CONCURRENCY CONTROL</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algn="just">
              <a:lnSpc>
                <a:spcPct val="150000"/>
              </a:lnSpc>
            </a:pPr>
            <a:r>
              <a:rPr lang="en-US" sz="2400" b="1" dirty="0">
                <a:solidFill>
                  <a:srgbClr val="002060"/>
                </a:solidFill>
                <a:latin typeface="Times New Roman" pitchFamily="18" charset="0"/>
                <a:cs typeface="Times New Roman" pitchFamily="18" charset="0"/>
              </a:rPr>
              <a:t>DEADLOCK DETECTION &amp; PREVENTION:</a:t>
            </a:r>
            <a:endParaRPr lang="en-US" sz="2400" dirty="0">
              <a:solidFill>
                <a:srgbClr val="002060"/>
              </a:solidFill>
              <a:latin typeface="Times New Roman" pitchFamily="18" charset="0"/>
              <a:cs typeface="Times New Roman" pitchFamily="18" charset="0"/>
            </a:endParaRPr>
          </a:p>
          <a:p>
            <a:pPr algn="just">
              <a:lnSpc>
                <a:spcPct val="150000"/>
              </a:lnSpc>
            </a:pPr>
            <a:r>
              <a:rPr lang="en-US" sz="2400" b="1" u="sng" dirty="0">
                <a:solidFill>
                  <a:srgbClr val="FF0000"/>
                </a:solidFill>
                <a:latin typeface="Times New Roman" pitchFamily="18" charset="0"/>
                <a:cs typeface="Times New Roman" pitchFamily="18" charset="0"/>
              </a:rPr>
              <a:t>Deadlock detection</a:t>
            </a:r>
            <a:r>
              <a:rPr lang="en-US" sz="2400" dirty="0">
                <a:solidFill>
                  <a:srgbClr val="002060"/>
                </a:solidFill>
                <a:latin typeface="Times New Roman" pitchFamily="18" charset="0"/>
                <a:cs typeface="Times New Roman" pitchFamily="18" charset="0"/>
              </a:rPr>
              <a:t>:</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This technique allows deadlock to occur, but then, it detects it and solves it. </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Here, a database is periodically checked for deadlocks. </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If a deadlock is detected, one of the transactions, involved in deadlock cycle, is aborted. other transaction continue their execution.</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 An aborted transaction is rolled back and restarted.</a:t>
            </a:r>
            <a:br>
              <a:rPr lang="en-US" sz="2400" dirty="0">
                <a:solidFill>
                  <a:srgbClr val="002060"/>
                </a:solidFill>
                <a:latin typeface="Times New Roman" pitchFamily="18" charset="0"/>
                <a:cs typeface="Times New Roman" pitchFamily="18" charset="0"/>
              </a:rPr>
            </a:br>
            <a:br>
              <a:rPr lang="en-US" sz="2400" dirty="0">
                <a:solidFill>
                  <a:srgbClr val="002060"/>
                </a:solidFill>
                <a:latin typeface="Times New Roman" pitchFamily="18" charset="0"/>
                <a:cs typeface="Times New Roman" pitchFamily="18" charset="0"/>
              </a:rPr>
            </a:br>
            <a:endParaRPr lang="en-US" sz="2400" dirty="0">
              <a:solidFill>
                <a:srgbClr val="002060"/>
              </a:solidFill>
              <a:latin typeface="Times New Roman" pitchFamily="18" charset="0"/>
              <a:cs typeface="Times New Roman" pitchFamily="18" charset="0"/>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0" y="0"/>
            <a:ext cx="9144000" cy="6858000"/>
          </a:xfrm>
          <a:prstGeom prst="rect">
            <a:avLst/>
          </a:prstGeom>
        </p:spPr>
        <p:txBody>
          <a:bodyPr vert="horz" lIns="91440" tIns="45720" rIns="91440" bIns="45720" rtlCol="0">
            <a:noAutofit/>
          </a:bodyPr>
          <a:lstStyle/>
          <a:p>
            <a:pPr algn="ctr">
              <a:lnSpc>
                <a:spcPct val="150000"/>
              </a:lnSpc>
            </a:pPr>
            <a:br>
              <a:rPr lang="en-US" sz="2400" dirty="0">
                <a:solidFill>
                  <a:srgbClr val="002060"/>
                </a:solidFill>
                <a:latin typeface="Times New Roman" pitchFamily="18" charset="0"/>
                <a:cs typeface="Times New Roman" pitchFamily="18" charset="0"/>
              </a:rPr>
            </a:br>
            <a:endParaRPr lang="en-US" sz="2400" dirty="0">
              <a:solidFill>
                <a:srgbClr val="002060"/>
              </a:solidFill>
              <a:latin typeface="Times New Roman" pitchFamily="18" charset="0"/>
              <a:cs typeface="Times New Roman" pitchFamily="18" charset="0"/>
            </a:endParaRPr>
          </a:p>
          <a:p>
            <a:pPr algn="ctr">
              <a:lnSpc>
                <a:spcPct val="150000"/>
              </a:lnSpc>
            </a:pPr>
            <a:r>
              <a:rPr lang="en-US" sz="4800" b="1" dirty="0">
                <a:solidFill>
                  <a:srgbClr val="002060"/>
                </a:solidFill>
                <a:latin typeface="Times New Roman" pitchFamily="18" charset="0"/>
                <a:cs typeface="Times New Roman" pitchFamily="18" charset="0"/>
              </a:rPr>
              <a:t>DATABASE RECOVERY TECHNIQUES</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pPr>
              <a:lnSpc>
                <a:spcPct val="150000"/>
              </a:lnSpc>
            </a:pPr>
            <a:r>
              <a:rPr lang="en-US" sz="3600" b="1" dirty="0">
                <a:solidFill>
                  <a:srgbClr val="002060"/>
                </a:solidFill>
                <a:latin typeface="Times New Roman" pitchFamily="18" charset="0"/>
                <a:cs typeface="Times New Roman" pitchFamily="18" charset="0"/>
              </a:rPr>
              <a:t>DATABASE RECOVERY TECHNIQUES</a:t>
            </a: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algn="just">
              <a:lnSpc>
                <a:spcPct val="150000"/>
              </a:lnSpc>
            </a:pPr>
            <a:r>
              <a:rPr lang="en-US" sz="2800" b="1" u="sng" dirty="0">
                <a:solidFill>
                  <a:srgbClr val="FF0000"/>
                </a:solidFill>
                <a:latin typeface="Times New Roman" pitchFamily="18" charset="0"/>
                <a:cs typeface="Times New Roman" pitchFamily="18" charset="0"/>
              </a:rPr>
              <a:t>Database Failure</a:t>
            </a:r>
            <a:r>
              <a:rPr lang="en-US" sz="2400" dirty="0">
                <a:solidFill>
                  <a:srgbClr val="002060"/>
                </a:solidFill>
                <a:latin typeface="Times New Roman" pitchFamily="18" charset="0"/>
                <a:cs typeface="Times New Roman" pitchFamily="18" charset="0"/>
              </a:rPr>
              <a:t>:</a:t>
            </a:r>
          </a:p>
          <a:p>
            <a:pPr marL="465138" indent="-465138" algn="just" fontAlgn="base">
              <a:lnSpc>
                <a:spcPct val="20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We </a:t>
            </a:r>
            <a:r>
              <a:rPr lang="en-US" sz="2400" dirty="0">
                <a:solidFill>
                  <a:srgbClr val="FF0000"/>
                </a:solidFill>
                <a:latin typeface="Times New Roman" pitchFamily="18" charset="0"/>
                <a:cs typeface="Times New Roman" pitchFamily="18" charset="0"/>
              </a:rPr>
              <a:t>cannot guarantee </a:t>
            </a:r>
            <a:r>
              <a:rPr lang="en-US" sz="2400" dirty="0">
                <a:solidFill>
                  <a:srgbClr val="002060"/>
                </a:solidFill>
                <a:latin typeface="Times New Roman" pitchFamily="18" charset="0"/>
                <a:cs typeface="Times New Roman" pitchFamily="18" charset="0"/>
              </a:rPr>
              <a:t>a failure-free transaction every time. There are several types of failures that affect database processing. </a:t>
            </a:r>
          </a:p>
          <a:p>
            <a:pPr marL="465138" indent="-465138" algn="just" fontAlgn="base">
              <a:lnSpc>
                <a:spcPct val="20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Some failures may </a:t>
            </a:r>
            <a:r>
              <a:rPr lang="en-US" sz="2400" dirty="0">
                <a:solidFill>
                  <a:srgbClr val="FF0000"/>
                </a:solidFill>
                <a:latin typeface="Times New Roman" pitchFamily="18" charset="0"/>
                <a:cs typeface="Times New Roman" pitchFamily="18" charset="0"/>
              </a:rPr>
              <a:t>affect the disk storage</a:t>
            </a:r>
            <a:r>
              <a:rPr lang="en-US" sz="2400" dirty="0">
                <a:solidFill>
                  <a:srgbClr val="002060"/>
                </a:solidFill>
                <a:latin typeface="Times New Roman" pitchFamily="18" charset="0"/>
                <a:cs typeface="Times New Roman" pitchFamily="18" charset="0"/>
              </a:rPr>
              <a:t>, while some may only affect the data items of the database residing in the </a:t>
            </a:r>
            <a:r>
              <a:rPr lang="en-US" sz="2400" dirty="0">
                <a:solidFill>
                  <a:srgbClr val="FF0000"/>
                </a:solidFill>
                <a:latin typeface="Times New Roman" pitchFamily="18" charset="0"/>
                <a:cs typeface="Times New Roman" pitchFamily="18" charset="0"/>
              </a:rPr>
              <a:t>main memory</a:t>
            </a:r>
            <a:r>
              <a:rPr lang="en-US" sz="2400" dirty="0">
                <a:solidFill>
                  <a:srgbClr val="002060"/>
                </a:solidFill>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algn="ctr">
              <a:lnSpc>
                <a:spcPct val="150000"/>
              </a:lnSpc>
            </a:pPr>
            <a:endParaRPr lang="en-US" sz="2800" b="1" dirty="0">
              <a:solidFill>
                <a:srgbClr val="002060"/>
              </a:solidFill>
              <a:latin typeface="Times New Roman" pitchFamily="18" charset="0"/>
              <a:cs typeface="Times New Roman" pitchFamily="18" charset="0"/>
            </a:endParaRPr>
          </a:p>
          <a:p>
            <a:pPr algn="ctr">
              <a:lnSpc>
                <a:spcPct val="150000"/>
              </a:lnSpc>
            </a:pPr>
            <a:endParaRPr lang="en-US" sz="2800" b="1" dirty="0">
              <a:solidFill>
                <a:srgbClr val="002060"/>
              </a:solidFill>
              <a:latin typeface="Times New Roman" pitchFamily="18" charset="0"/>
              <a:cs typeface="Times New Roman" pitchFamily="18" charset="0"/>
            </a:endParaRPr>
          </a:p>
          <a:p>
            <a:pPr algn="ctr">
              <a:lnSpc>
                <a:spcPct val="150000"/>
              </a:lnSpc>
            </a:pPr>
            <a:r>
              <a:rPr lang="en-US" sz="4800" b="1" dirty="0">
                <a:solidFill>
                  <a:srgbClr val="002060"/>
                </a:solidFill>
                <a:latin typeface="Times New Roman" pitchFamily="18" charset="0"/>
                <a:cs typeface="Times New Roman" pitchFamily="18" charset="0"/>
              </a:rPr>
              <a:t>TYPES FAILURE</a:t>
            </a:r>
            <a:endParaRPr lang="en-US" sz="4800" dirty="0">
              <a:solidFill>
                <a:srgbClr val="002060"/>
              </a:solidFill>
              <a:latin typeface="Times New Roman" pitchFamily="18" charset="0"/>
              <a:cs typeface="Times New Roman" pitchFamily="18" charset="0"/>
            </a:endParaRPr>
          </a:p>
          <a:p>
            <a:pPr algn="just">
              <a:lnSpc>
                <a:spcPct val="150000"/>
              </a:lnSpc>
            </a:pPr>
            <a:r>
              <a:rPr lang="en-US" sz="2400" dirty="0">
                <a:solidFill>
                  <a:srgbClr val="002060"/>
                </a:solidFill>
                <a:latin typeface="Times New Roman" pitchFamily="18" charset="0"/>
                <a:cs typeface="Times New Roman" pitchFamily="18" charset="0"/>
              </a:rPr>
              <a:t> </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Failures are generally classified as </a:t>
            </a:r>
            <a:r>
              <a:rPr lang="en-US" sz="2400" dirty="0">
                <a:solidFill>
                  <a:srgbClr val="FF0000"/>
                </a:solidFill>
                <a:latin typeface="Times New Roman" pitchFamily="18" charset="0"/>
                <a:cs typeface="Times New Roman" pitchFamily="18" charset="0"/>
              </a:rPr>
              <a:t>Transaction</a:t>
            </a:r>
            <a:r>
              <a:rPr lang="en-US" sz="2400" dirty="0">
                <a:solidFill>
                  <a:srgbClr val="002060"/>
                </a:solidFill>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System</a:t>
            </a:r>
            <a:r>
              <a:rPr lang="en-US" sz="2400" dirty="0">
                <a:solidFill>
                  <a:srgbClr val="002060"/>
                </a:solidFill>
                <a:latin typeface="Times New Roman" pitchFamily="18" charset="0"/>
                <a:cs typeface="Times New Roman" pitchFamily="18" charset="0"/>
              </a:rPr>
              <a:t>, and </a:t>
            </a:r>
            <a:r>
              <a:rPr lang="en-US" sz="2400" dirty="0">
                <a:solidFill>
                  <a:srgbClr val="FF0000"/>
                </a:solidFill>
                <a:latin typeface="Times New Roman" pitchFamily="18" charset="0"/>
                <a:cs typeface="Times New Roman" pitchFamily="18" charset="0"/>
              </a:rPr>
              <a:t>Media Failures.</a:t>
            </a:r>
          </a:p>
          <a:p>
            <a:pPr marL="465138"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There are several possible reasons for a transaction to fail in the middle of execution.</a:t>
            </a:r>
          </a:p>
          <a:p>
            <a:pPr marL="457200" indent="-457200" algn="just">
              <a:lnSpc>
                <a:spcPct val="150000"/>
              </a:lnSpc>
              <a:buAutoNum type="arabicPeriod"/>
            </a:pPr>
            <a:r>
              <a:rPr lang="en-US" sz="2400" b="1" dirty="0">
                <a:solidFill>
                  <a:srgbClr val="FF0000"/>
                </a:solidFill>
                <a:latin typeface="Times New Roman" pitchFamily="18" charset="0"/>
                <a:cs typeface="Times New Roman" pitchFamily="18" charset="0"/>
              </a:rPr>
              <a:t>A Computer Failure </a:t>
            </a:r>
            <a:r>
              <a:rPr lang="en-US" sz="2400" dirty="0">
                <a:solidFill>
                  <a:srgbClr val="002060"/>
                </a:solidFill>
                <a:latin typeface="Times New Roman" pitchFamily="18" charset="0"/>
                <a:cs typeface="Times New Roman" pitchFamily="18" charset="0"/>
              </a:rPr>
              <a:t>(System Crash): </a:t>
            </a:r>
          </a:p>
          <a:p>
            <a:pPr marL="914400" indent="-449263"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A hardware, software, or network error occurs in the computer system during transaction execution.</a:t>
            </a:r>
          </a:p>
          <a:p>
            <a:pPr marL="914400" indent="-449263"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Hardware crashes are usually Media Failure</a:t>
            </a:r>
          </a:p>
          <a:p>
            <a:pPr marL="914400" indent="-449263" algn="just">
              <a:lnSpc>
                <a:spcPct val="150000"/>
              </a:lnSpc>
              <a:buClr>
                <a:srgbClr val="FF0000"/>
              </a:buClr>
              <a:buFont typeface="Wingdings" pitchFamily="2" charset="2"/>
              <a:buChar char="v"/>
            </a:pPr>
            <a:r>
              <a:rPr lang="en-US" sz="2400" dirty="0">
                <a:solidFill>
                  <a:srgbClr val="FF0000"/>
                </a:solidFill>
                <a:latin typeface="Times New Roman" pitchFamily="18" charset="0"/>
                <a:cs typeface="Times New Roman" pitchFamily="18" charset="0"/>
              </a:rPr>
              <a:t>Example</a:t>
            </a:r>
            <a:r>
              <a:rPr lang="en-US" sz="2400" dirty="0">
                <a:solidFill>
                  <a:srgbClr val="002060"/>
                </a:solidFill>
                <a:latin typeface="Times New Roman" pitchFamily="18" charset="0"/>
                <a:cs typeface="Times New Roman" pitchFamily="18" charset="0"/>
              </a:rPr>
              <a:t>: Main Memory Failure.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anim calcmode="lin" valueType="num">
                                      <p:cBhvr additive="base">
                                        <p:cTn id="35"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pPr>
            <a:r>
              <a:rPr lang="en-US" sz="2400" b="1" dirty="0">
                <a:solidFill>
                  <a:srgbClr val="002060"/>
                </a:solidFill>
                <a:latin typeface="Times New Roman" pitchFamily="18" charset="0"/>
                <a:cs typeface="Times New Roman" pitchFamily="18" charset="0"/>
              </a:rPr>
              <a:t>2. 	</a:t>
            </a:r>
            <a:r>
              <a:rPr lang="en-US" sz="2400" b="1" dirty="0">
                <a:solidFill>
                  <a:srgbClr val="FF0000"/>
                </a:solidFill>
                <a:latin typeface="Times New Roman" pitchFamily="18" charset="0"/>
                <a:cs typeface="Times New Roman" pitchFamily="18" charset="0"/>
              </a:rPr>
              <a:t>A Transaction or System error</a:t>
            </a:r>
            <a:r>
              <a:rPr lang="en-US" sz="2400" dirty="0">
                <a:solidFill>
                  <a:srgbClr val="002060"/>
                </a:solidFill>
                <a:latin typeface="Times New Roman" pitchFamily="18" charset="0"/>
                <a:cs typeface="Times New Roman" pitchFamily="18" charset="0"/>
              </a:rPr>
              <a:t>: </a:t>
            </a:r>
          </a:p>
          <a:p>
            <a:pPr marL="914400" indent="-449263"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Some operation in the transaction may cause it to fail, such as </a:t>
            </a:r>
            <a:r>
              <a:rPr lang="en-US" sz="2400" b="1" dirty="0">
                <a:solidFill>
                  <a:srgbClr val="002060"/>
                </a:solidFill>
                <a:latin typeface="Times New Roman" pitchFamily="18" charset="0"/>
                <a:cs typeface="Times New Roman" pitchFamily="18" charset="0"/>
              </a:rPr>
              <a:t>integer overflow </a:t>
            </a:r>
            <a:r>
              <a:rPr lang="en-US" sz="2400" dirty="0">
                <a:solidFill>
                  <a:srgbClr val="002060"/>
                </a:solidFill>
                <a:latin typeface="Times New Roman" pitchFamily="18" charset="0"/>
                <a:cs typeface="Times New Roman" pitchFamily="18" charset="0"/>
              </a:rPr>
              <a:t>or </a:t>
            </a:r>
            <a:r>
              <a:rPr lang="en-US" sz="2400" b="1" dirty="0">
                <a:solidFill>
                  <a:srgbClr val="002060"/>
                </a:solidFill>
                <a:latin typeface="Times New Roman" pitchFamily="18" charset="0"/>
                <a:cs typeface="Times New Roman" pitchFamily="18" charset="0"/>
              </a:rPr>
              <a:t>divide by zero</a:t>
            </a:r>
            <a:r>
              <a:rPr lang="en-US" sz="2400" dirty="0">
                <a:solidFill>
                  <a:srgbClr val="002060"/>
                </a:solidFill>
                <a:latin typeface="Times New Roman" pitchFamily="18" charset="0"/>
                <a:cs typeface="Times New Roman" pitchFamily="18" charset="0"/>
              </a:rPr>
              <a:t>.</a:t>
            </a:r>
          </a:p>
          <a:p>
            <a:pPr marL="914400" indent="-449263"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Transaction Failure may also occur because of </a:t>
            </a:r>
            <a:r>
              <a:rPr lang="en-US" sz="2400" b="1" dirty="0">
                <a:solidFill>
                  <a:srgbClr val="002060"/>
                </a:solidFill>
                <a:latin typeface="Times New Roman" pitchFamily="18" charset="0"/>
                <a:cs typeface="Times New Roman" pitchFamily="18" charset="0"/>
              </a:rPr>
              <a:t>erroneous parameter values</a:t>
            </a:r>
            <a:r>
              <a:rPr lang="en-US" sz="2400" dirty="0">
                <a:solidFill>
                  <a:srgbClr val="002060"/>
                </a:solidFill>
                <a:latin typeface="Times New Roman" pitchFamily="18" charset="0"/>
                <a:cs typeface="Times New Roman" pitchFamily="18" charset="0"/>
              </a:rPr>
              <a:t> or because of a </a:t>
            </a:r>
            <a:r>
              <a:rPr lang="en-US" sz="2400" b="1" dirty="0">
                <a:solidFill>
                  <a:srgbClr val="002060"/>
                </a:solidFill>
                <a:latin typeface="Times New Roman" pitchFamily="18" charset="0"/>
                <a:cs typeface="Times New Roman" pitchFamily="18" charset="0"/>
              </a:rPr>
              <a:t>logical programming error</a:t>
            </a:r>
            <a:r>
              <a:rPr lang="en-US" sz="2400" dirty="0">
                <a:solidFill>
                  <a:srgbClr val="002060"/>
                </a:solidFill>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rabicPeriod" startAt="3"/>
            </a:pPr>
            <a:r>
              <a:rPr lang="en-US" sz="2400" b="1" dirty="0">
                <a:solidFill>
                  <a:srgbClr val="FF0000"/>
                </a:solidFill>
                <a:latin typeface="Times New Roman" pitchFamily="18" charset="0"/>
                <a:cs typeface="Times New Roman" pitchFamily="18" charset="0"/>
              </a:rPr>
              <a:t>Disk Failure</a:t>
            </a:r>
            <a:r>
              <a:rPr lang="en-US" sz="2400" dirty="0">
                <a:solidFill>
                  <a:srgbClr val="002060"/>
                </a:solidFill>
                <a:latin typeface="Times New Roman" pitchFamily="18" charset="0"/>
                <a:cs typeface="Times New Roman" pitchFamily="18" charset="0"/>
              </a:rPr>
              <a:t>: </a:t>
            </a:r>
          </a:p>
          <a:p>
            <a:pPr marL="914400" indent="-449263"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Some disk blocks may lose their data because of a </a:t>
            </a:r>
            <a:r>
              <a:rPr lang="en-US" sz="2400" dirty="0">
                <a:solidFill>
                  <a:srgbClr val="FF0000"/>
                </a:solidFill>
                <a:latin typeface="Times New Roman" pitchFamily="18" charset="0"/>
                <a:cs typeface="Times New Roman" pitchFamily="18" charset="0"/>
              </a:rPr>
              <a:t>read or write malfunction</a:t>
            </a:r>
            <a:r>
              <a:rPr lang="en-US" sz="2400" dirty="0">
                <a:solidFill>
                  <a:srgbClr val="002060"/>
                </a:solidFill>
                <a:latin typeface="Times New Roman" pitchFamily="18" charset="0"/>
                <a:cs typeface="Times New Roman" pitchFamily="18" charset="0"/>
              </a:rPr>
              <a:t> or because of a </a:t>
            </a:r>
            <a:r>
              <a:rPr lang="en-US" sz="2400" dirty="0">
                <a:solidFill>
                  <a:srgbClr val="FF0000"/>
                </a:solidFill>
                <a:latin typeface="Times New Roman" pitchFamily="18" charset="0"/>
                <a:cs typeface="Times New Roman" pitchFamily="18" charset="0"/>
              </a:rPr>
              <a:t>read/write head crash</a:t>
            </a:r>
            <a:r>
              <a:rPr lang="en-US" sz="2400" dirty="0">
                <a:solidFill>
                  <a:srgbClr val="002060"/>
                </a:solidFill>
                <a:latin typeface="Times New Roman" pitchFamily="18" charset="0"/>
                <a:cs typeface="Times New Roman" pitchFamily="18" charset="0"/>
              </a:rPr>
              <a:t>.</a:t>
            </a:r>
          </a:p>
          <a:p>
            <a:pPr marL="914400" indent="-449263"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This may happen during a </a:t>
            </a:r>
            <a:r>
              <a:rPr lang="en-US" sz="2400" dirty="0">
                <a:solidFill>
                  <a:srgbClr val="FF0000"/>
                </a:solidFill>
                <a:latin typeface="Times New Roman" pitchFamily="18" charset="0"/>
                <a:cs typeface="Times New Roman" pitchFamily="18" charset="0"/>
              </a:rPr>
              <a:t>read or a write operation </a:t>
            </a:r>
            <a:r>
              <a:rPr lang="en-US" sz="2400" dirty="0">
                <a:solidFill>
                  <a:srgbClr val="002060"/>
                </a:solidFill>
                <a:latin typeface="Times New Roman" pitchFamily="18" charset="0"/>
                <a:cs typeface="Times New Roman" pitchFamily="18" charset="0"/>
              </a:rPr>
              <a:t>of the transaction.</a:t>
            </a:r>
          </a:p>
          <a:p>
            <a:pPr marL="914400" indent="-449263" algn="just">
              <a:lnSpc>
                <a:spcPct val="150000"/>
              </a:lnSpc>
              <a:buClr>
                <a:srgbClr val="FF0000"/>
              </a:buClr>
            </a:pPr>
            <a:endParaRPr lang="en-US" sz="2400" dirty="0">
              <a:solidFill>
                <a:srgbClr val="002060"/>
              </a:solidFill>
              <a:latin typeface="Times New Roman" pitchFamily="18" charset="0"/>
              <a:cs typeface="Times New Roman" pitchFamily="18" charset="0"/>
            </a:endParaRPr>
          </a:p>
          <a:p>
            <a:pPr marL="914400" indent="-449263" algn="just">
              <a:lnSpc>
                <a:spcPct val="150000"/>
              </a:lnSpc>
              <a:buClr>
                <a:srgbClr val="FF0000"/>
              </a:buClr>
              <a:buFont typeface="Wingdings" pitchFamily="2" charset="2"/>
              <a:buChar char="v"/>
            </a:pP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Clr>
                <a:srgbClr val="002060"/>
              </a:buClr>
              <a:buFont typeface="+mj-lt"/>
              <a:buAutoNum type="arabicPeriod" startAt="4"/>
            </a:pPr>
            <a:r>
              <a:rPr lang="en-US" sz="2400" b="1" dirty="0">
                <a:solidFill>
                  <a:srgbClr val="FF0000"/>
                </a:solidFill>
                <a:latin typeface="Times New Roman" pitchFamily="18" charset="0"/>
                <a:cs typeface="Times New Roman" pitchFamily="18" charset="0"/>
              </a:rPr>
              <a:t>Physical Problem and Catastrophes</a:t>
            </a:r>
            <a:r>
              <a:rPr lang="en-US" sz="2400" dirty="0">
                <a:solidFill>
                  <a:srgbClr val="002060"/>
                </a:solidFill>
                <a:latin typeface="Times New Roman" pitchFamily="18" charset="0"/>
                <a:cs typeface="Times New Roman" pitchFamily="18" charset="0"/>
              </a:rPr>
              <a:t>: </a:t>
            </a:r>
          </a:p>
          <a:p>
            <a:pPr marL="914400" indent="-449263"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This refers to an endless list of problems that includes </a:t>
            </a:r>
            <a:r>
              <a:rPr lang="en-US" sz="2400" dirty="0">
                <a:solidFill>
                  <a:srgbClr val="FF0000"/>
                </a:solidFill>
                <a:latin typeface="Times New Roman" pitchFamily="18" charset="0"/>
                <a:cs typeface="Times New Roman" pitchFamily="18" charset="0"/>
              </a:rPr>
              <a:t>power</a:t>
            </a:r>
            <a:r>
              <a:rPr lang="en-US" sz="2400" dirty="0">
                <a:solidFill>
                  <a:srgbClr val="002060"/>
                </a:solidFill>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failure</a:t>
            </a:r>
            <a:r>
              <a:rPr lang="en-US" sz="2400" dirty="0">
                <a:solidFill>
                  <a:srgbClr val="002060"/>
                </a:solidFill>
                <a:latin typeface="Times New Roman" pitchFamily="18" charset="0"/>
                <a:cs typeface="Times New Roman" pitchFamily="18" charset="0"/>
              </a:rPr>
              <a:t> or </a:t>
            </a:r>
            <a:r>
              <a:rPr lang="en-US" sz="2400" dirty="0">
                <a:solidFill>
                  <a:srgbClr val="FF0000"/>
                </a:solidFill>
                <a:latin typeface="Times New Roman" pitchFamily="18" charset="0"/>
                <a:cs typeface="Times New Roman" pitchFamily="18" charset="0"/>
              </a:rPr>
              <a:t>air-conditioning failure</a:t>
            </a:r>
            <a:r>
              <a:rPr lang="en-US" sz="2400" dirty="0">
                <a:solidFill>
                  <a:srgbClr val="002060"/>
                </a:solidFill>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fire</a:t>
            </a:r>
            <a:r>
              <a:rPr lang="en-US" sz="2400" dirty="0">
                <a:solidFill>
                  <a:srgbClr val="002060"/>
                </a:solidFill>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theft</a:t>
            </a:r>
            <a:r>
              <a:rPr lang="en-US" sz="2400" dirty="0">
                <a:solidFill>
                  <a:srgbClr val="002060"/>
                </a:solidFill>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sabotage</a:t>
            </a:r>
            <a:r>
              <a:rPr lang="en-US" sz="2400" dirty="0">
                <a:solidFill>
                  <a:srgbClr val="002060"/>
                </a:solidFill>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overwriting disks or tapes </a:t>
            </a:r>
            <a:r>
              <a:rPr lang="en-US" sz="2400" dirty="0">
                <a:solidFill>
                  <a:srgbClr val="002060"/>
                </a:solidFill>
                <a:latin typeface="Times New Roman" pitchFamily="18" charset="0"/>
                <a:cs typeface="Times New Roman" pitchFamily="18" charset="0"/>
              </a:rPr>
              <a:t>by mistake, and </a:t>
            </a:r>
            <a:r>
              <a:rPr lang="en-US" sz="2400" dirty="0">
                <a:solidFill>
                  <a:srgbClr val="FF0000"/>
                </a:solidFill>
                <a:latin typeface="Times New Roman" pitchFamily="18" charset="0"/>
                <a:cs typeface="Times New Roman" pitchFamily="18" charset="0"/>
              </a:rPr>
              <a:t>mounting of a wrong tape</a:t>
            </a:r>
            <a:r>
              <a:rPr lang="en-US" sz="2400" dirty="0">
                <a:solidFill>
                  <a:srgbClr val="002060"/>
                </a:solidFill>
                <a:latin typeface="Times New Roman" pitchFamily="18" charset="0"/>
                <a:cs typeface="Times New Roman" pitchFamily="18" charset="0"/>
              </a:rPr>
              <a:t> by the operator.</a:t>
            </a:r>
          </a:p>
          <a:p>
            <a:pPr marL="914400" indent="-449263" algn="just">
              <a:lnSpc>
                <a:spcPct val="150000"/>
              </a:lnSpc>
              <a:buClr>
                <a:srgbClr val="FF0000"/>
              </a:buClr>
              <a:buFont typeface="Wingdings" pitchFamily="2" charset="2"/>
              <a:buChar char="v"/>
            </a:pPr>
            <a:endParaRPr lang="en-US" sz="2400" dirty="0">
              <a:solidFill>
                <a:srgbClr val="002060"/>
              </a:solidFill>
              <a:latin typeface="Times New Roman" pitchFamily="18" charset="0"/>
              <a:cs typeface="Times New Roman" pitchFamily="18" charset="0"/>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65138" indent="-465138" algn="just">
              <a:lnSpc>
                <a:spcPct val="20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Failure of types 1 and 2 are more common.</a:t>
            </a:r>
          </a:p>
          <a:p>
            <a:pPr marL="465138" indent="-465138" algn="just">
              <a:lnSpc>
                <a:spcPct val="20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Whenever a failure of type 1 and 2 occurs, the system must keep sufficient information to recover from the failure.</a:t>
            </a:r>
          </a:p>
          <a:p>
            <a:pPr marL="465138" indent="-465138" algn="just">
              <a:lnSpc>
                <a:spcPct val="20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Disk Failure and Catastrophic Failure are do not happen frequently.</a:t>
            </a:r>
          </a:p>
          <a:p>
            <a:pPr marL="465138" indent="-465138" algn="just">
              <a:lnSpc>
                <a:spcPct val="20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If they occur, recovery is a major task.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65138" indent="-465138" algn="just">
              <a:lnSpc>
                <a:spcPct val="200000"/>
              </a:lnSpc>
              <a:buClr>
                <a:srgbClr val="FF0000"/>
              </a:buClr>
            </a:pPr>
            <a:endParaRPr lang="en-US" sz="3600" b="1" dirty="0">
              <a:solidFill>
                <a:srgbClr val="002060"/>
              </a:solidFill>
              <a:latin typeface="Times New Roman" pitchFamily="18" charset="0"/>
              <a:cs typeface="Times New Roman" pitchFamily="18" charset="0"/>
            </a:endParaRPr>
          </a:p>
          <a:p>
            <a:pPr marL="465138" indent="-465138" algn="just">
              <a:lnSpc>
                <a:spcPct val="200000"/>
              </a:lnSpc>
              <a:buClr>
                <a:srgbClr val="FF0000"/>
              </a:buClr>
            </a:pPr>
            <a:r>
              <a:rPr lang="en-US" sz="3600" b="1" dirty="0">
                <a:solidFill>
                  <a:srgbClr val="002060"/>
                </a:solidFill>
                <a:latin typeface="Times New Roman" pitchFamily="18" charset="0"/>
                <a:cs typeface="Times New Roman" pitchFamily="18" charset="0"/>
              </a:rPr>
              <a:t>  DATABASE RECOVERY TECHNIQUES</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65138" indent="-465138" algn="just">
              <a:lnSpc>
                <a:spcPct val="20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Recovery from transaction failure means that the database is </a:t>
            </a:r>
            <a:r>
              <a:rPr lang="en-US" sz="2400" dirty="0">
                <a:solidFill>
                  <a:srgbClr val="FF0000"/>
                </a:solidFill>
                <a:latin typeface="Times New Roman" pitchFamily="18" charset="0"/>
                <a:cs typeface="Times New Roman" pitchFamily="18" charset="0"/>
              </a:rPr>
              <a:t>restored </a:t>
            </a:r>
            <a:r>
              <a:rPr lang="en-US" sz="2400" dirty="0">
                <a:solidFill>
                  <a:srgbClr val="002060"/>
                </a:solidFill>
                <a:latin typeface="Times New Roman" pitchFamily="18" charset="0"/>
                <a:cs typeface="Times New Roman" pitchFamily="18" charset="0"/>
              </a:rPr>
              <a:t>to the most recent consistent state </a:t>
            </a:r>
            <a:r>
              <a:rPr lang="en-US" sz="2400" dirty="0">
                <a:solidFill>
                  <a:srgbClr val="FF0000"/>
                </a:solidFill>
                <a:latin typeface="Times New Roman" pitchFamily="18" charset="0"/>
                <a:cs typeface="Times New Roman" pitchFamily="18" charset="0"/>
              </a:rPr>
              <a:t>just before the time of failure</a:t>
            </a:r>
            <a:r>
              <a:rPr lang="en-US" sz="2400" dirty="0">
                <a:solidFill>
                  <a:srgbClr val="002060"/>
                </a:solidFill>
                <a:latin typeface="Times New Roman" pitchFamily="18" charset="0"/>
                <a:cs typeface="Times New Roman" pitchFamily="18" charset="0"/>
              </a:rPr>
              <a:t>.</a:t>
            </a:r>
          </a:p>
          <a:p>
            <a:pPr marL="465138" indent="-465138" algn="just">
              <a:lnSpc>
                <a:spcPct val="200000"/>
              </a:lnSpc>
              <a:buClr>
                <a:srgbClr val="FF0000"/>
              </a:buClr>
              <a:buFont typeface="Wingdings" pitchFamily="2" charset="2"/>
              <a:buChar char="v"/>
            </a:pPr>
            <a:r>
              <a:rPr lang="en-US" sz="2400" dirty="0">
                <a:solidFill>
                  <a:srgbClr val="FF0000"/>
                </a:solidFill>
                <a:latin typeface="Times New Roman" pitchFamily="18" charset="0"/>
                <a:cs typeface="Times New Roman" pitchFamily="18" charset="0"/>
              </a:rPr>
              <a:t>Wide portion </a:t>
            </a:r>
            <a:r>
              <a:rPr lang="en-US" sz="2400" dirty="0">
                <a:solidFill>
                  <a:srgbClr val="002060"/>
                </a:solidFill>
                <a:latin typeface="Times New Roman" pitchFamily="18" charset="0"/>
                <a:cs typeface="Times New Roman" pitchFamily="18" charset="0"/>
              </a:rPr>
              <a:t>of the database due to </a:t>
            </a:r>
            <a:r>
              <a:rPr lang="en-US" sz="2400" dirty="0">
                <a:solidFill>
                  <a:srgbClr val="FF0000"/>
                </a:solidFill>
                <a:latin typeface="Times New Roman" pitchFamily="18" charset="0"/>
                <a:cs typeface="Times New Roman" pitchFamily="18" charset="0"/>
              </a:rPr>
              <a:t>catastrophic failure</a:t>
            </a:r>
            <a:r>
              <a:rPr lang="en-US" sz="2400" dirty="0">
                <a:solidFill>
                  <a:srgbClr val="002060"/>
                </a:solidFill>
                <a:latin typeface="Times New Roman" pitchFamily="18" charset="0"/>
                <a:cs typeface="Times New Roman" pitchFamily="18" charset="0"/>
              </a:rPr>
              <a:t>, the recovery method </a:t>
            </a:r>
            <a:r>
              <a:rPr lang="en-US" sz="2400" b="1" dirty="0">
                <a:solidFill>
                  <a:srgbClr val="002060"/>
                </a:solidFill>
                <a:latin typeface="Times New Roman" pitchFamily="18" charset="0"/>
                <a:cs typeface="Times New Roman" pitchFamily="18" charset="0"/>
              </a:rPr>
              <a:t>restores past copy </a:t>
            </a:r>
            <a:r>
              <a:rPr lang="en-US" sz="2400" dirty="0">
                <a:solidFill>
                  <a:srgbClr val="002060"/>
                </a:solidFill>
                <a:latin typeface="Times New Roman" pitchFamily="18" charset="0"/>
                <a:cs typeface="Times New Roman" pitchFamily="18" charset="0"/>
              </a:rPr>
              <a:t>of the database and </a:t>
            </a:r>
            <a:r>
              <a:rPr lang="en-US" sz="2400" b="1" dirty="0">
                <a:solidFill>
                  <a:srgbClr val="002060"/>
                </a:solidFill>
                <a:latin typeface="Times New Roman" pitchFamily="18" charset="0"/>
                <a:cs typeface="Times New Roman" pitchFamily="18" charset="0"/>
              </a:rPr>
              <a:t>reconstructs</a:t>
            </a:r>
            <a:r>
              <a:rPr lang="en-US" sz="2400" dirty="0">
                <a:solidFill>
                  <a:srgbClr val="002060"/>
                </a:solidFill>
                <a:latin typeface="Times New Roman" pitchFamily="18" charset="0"/>
                <a:cs typeface="Times New Roman" pitchFamily="18" charset="0"/>
              </a:rPr>
              <a:t> a more current state by </a:t>
            </a:r>
            <a:r>
              <a:rPr lang="en-US" sz="2400" b="1" dirty="0">
                <a:solidFill>
                  <a:srgbClr val="002060"/>
                </a:solidFill>
                <a:latin typeface="Times New Roman" pitchFamily="18" charset="0"/>
                <a:cs typeface="Times New Roman" pitchFamily="18" charset="0"/>
              </a:rPr>
              <a:t>redoing</a:t>
            </a:r>
            <a:r>
              <a:rPr lang="en-US" sz="2400" dirty="0">
                <a:solidFill>
                  <a:srgbClr val="002060"/>
                </a:solidFill>
                <a:latin typeface="Times New Roman" pitchFamily="18" charset="0"/>
                <a:cs typeface="Times New Roman" pitchFamily="18" charset="0"/>
              </a:rPr>
              <a:t> the operations </a:t>
            </a:r>
            <a:r>
              <a:rPr lang="en-US" sz="2400" b="1" dirty="0">
                <a:solidFill>
                  <a:srgbClr val="002060"/>
                </a:solidFill>
                <a:latin typeface="Times New Roman" pitchFamily="18" charset="0"/>
                <a:cs typeface="Times New Roman" pitchFamily="18" charset="0"/>
              </a:rPr>
              <a:t>up to the time of failure</a:t>
            </a:r>
            <a:r>
              <a:rPr lang="en-US" sz="2400" dirty="0">
                <a:solidFill>
                  <a:srgbClr val="002060"/>
                </a:solidFill>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65138" indent="-465138" algn="just">
              <a:lnSpc>
                <a:spcPct val="20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When the database is </a:t>
            </a:r>
            <a:r>
              <a:rPr lang="en-US" sz="2400" dirty="0">
                <a:solidFill>
                  <a:srgbClr val="FF0000"/>
                </a:solidFill>
                <a:latin typeface="Times New Roman" pitchFamily="18" charset="0"/>
                <a:cs typeface="Times New Roman" pitchFamily="18" charset="0"/>
              </a:rPr>
              <a:t>not physically damaged</a:t>
            </a:r>
            <a:r>
              <a:rPr lang="en-US" sz="2400" dirty="0">
                <a:solidFill>
                  <a:srgbClr val="002060"/>
                </a:solidFill>
                <a:latin typeface="Times New Roman" pitchFamily="18" charset="0"/>
                <a:cs typeface="Times New Roman" pitchFamily="18" charset="0"/>
              </a:rPr>
              <a:t>, the recovery system is to </a:t>
            </a:r>
            <a:r>
              <a:rPr lang="en-US" sz="2400" dirty="0">
                <a:solidFill>
                  <a:srgbClr val="FF0000"/>
                </a:solidFill>
                <a:latin typeface="Times New Roman" pitchFamily="18" charset="0"/>
                <a:cs typeface="Times New Roman" pitchFamily="18" charset="0"/>
              </a:rPr>
              <a:t>reverse any changes </a:t>
            </a:r>
            <a:r>
              <a:rPr lang="en-US" sz="2400" dirty="0">
                <a:solidFill>
                  <a:srgbClr val="002060"/>
                </a:solidFill>
                <a:latin typeface="Times New Roman" pitchFamily="18" charset="0"/>
                <a:cs typeface="Times New Roman" pitchFamily="18" charset="0"/>
              </a:rPr>
              <a:t>that caused the inconsistency by </a:t>
            </a:r>
            <a:r>
              <a:rPr lang="en-US" sz="2400" dirty="0">
                <a:solidFill>
                  <a:srgbClr val="FF0000"/>
                </a:solidFill>
                <a:latin typeface="Times New Roman" pitchFamily="18" charset="0"/>
                <a:cs typeface="Times New Roman" pitchFamily="18" charset="0"/>
              </a:rPr>
              <a:t>undoing </a:t>
            </a:r>
            <a:r>
              <a:rPr lang="en-US" sz="2400" dirty="0">
                <a:solidFill>
                  <a:srgbClr val="002060"/>
                </a:solidFill>
                <a:latin typeface="Times New Roman" pitchFamily="18" charset="0"/>
                <a:cs typeface="Times New Roman" pitchFamily="18" charset="0"/>
              </a:rPr>
              <a:t>some operations.</a:t>
            </a:r>
          </a:p>
          <a:p>
            <a:pPr marL="465138" indent="-465138" algn="just">
              <a:lnSpc>
                <a:spcPct val="20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It may also </a:t>
            </a:r>
            <a:r>
              <a:rPr lang="en-US" sz="2400" dirty="0">
                <a:solidFill>
                  <a:srgbClr val="FF0000"/>
                </a:solidFill>
                <a:latin typeface="Times New Roman" pitchFamily="18" charset="0"/>
                <a:cs typeface="Times New Roman" pitchFamily="18" charset="0"/>
              </a:rPr>
              <a:t>redo some operation </a:t>
            </a:r>
            <a:r>
              <a:rPr lang="en-US" sz="2400" dirty="0">
                <a:solidFill>
                  <a:srgbClr val="002060"/>
                </a:solidFill>
                <a:latin typeface="Times New Roman" pitchFamily="18" charset="0"/>
                <a:cs typeface="Times New Roman" pitchFamily="18" charset="0"/>
              </a:rPr>
              <a:t>in order to restore a consistent state of the database.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lvl="0" algn="just">
              <a:lnSpc>
                <a:spcPct val="150000"/>
              </a:lnSpc>
            </a:pPr>
            <a:r>
              <a:rPr lang="en-US" sz="2400" dirty="0">
                <a:solidFill>
                  <a:srgbClr val="002060"/>
                </a:solidFill>
                <a:latin typeface="Times New Roman" pitchFamily="18" charset="0"/>
                <a:cs typeface="Times New Roman" pitchFamily="18" charset="0"/>
              </a:rPr>
              <a:t>There are many different approaches to recover a database: </a:t>
            </a:r>
            <a:r>
              <a:rPr lang="en-US" sz="2400" dirty="0">
                <a:solidFill>
                  <a:srgbClr val="FF0000"/>
                </a:solidFill>
                <a:latin typeface="Times New Roman" pitchFamily="18" charset="0"/>
                <a:cs typeface="Times New Roman" pitchFamily="18" charset="0"/>
              </a:rPr>
              <a:t>Manual reprocessing</a:t>
            </a:r>
            <a:r>
              <a:rPr lang="en-US" sz="2400" dirty="0">
                <a:solidFill>
                  <a:srgbClr val="002060"/>
                </a:solidFill>
                <a:latin typeface="Times New Roman" pitchFamily="18" charset="0"/>
                <a:cs typeface="Times New Roman" pitchFamily="18" charset="0"/>
              </a:rPr>
              <a:t>, a variety of </a:t>
            </a:r>
            <a:r>
              <a:rPr lang="en-US" sz="2400" dirty="0">
                <a:solidFill>
                  <a:srgbClr val="FF0000"/>
                </a:solidFill>
                <a:latin typeface="Times New Roman" pitchFamily="18" charset="0"/>
                <a:cs typeface="Times New Roman" pitchFamily="18" charset="0"/>
              </a:rPr>
              <a:t>automated recovery </a:t>
            </a:r>
            <a:r>
              <a:rPr lang="en-US" sz="2400" dirty="0">
                <a:solidFill>
                  <a:srgbClr val="002060"/>
                </a:solidFill>
                <a:latin typeface="Times New Roman" pitchFamily="18" charset="0"/>
                <a:cs typeface="Times New Roman" pitchFamily="18" charset="0"/>
              </a:rPr>
              <a:t>techniques. </a:t>
            </a:r>
          </a:p>
          <a:p>
            <a:pPr algn="just">
              <a:lnSpc>
                <a:spcPct val="150000"/>
              </a:lnSpc>
            </a:pPr>
            <a:r>
              <a:rPr lang="en-US" sz="2400" b="1" dirty="0">
                <a:solidFill>
                  <a:srgbClr val="002060"/>
                </a:solidFill>
                <a:latin typeface="Times New Roman" pitchFamily="18" charset="0"/>
                <a:cs typeface="Times New Roman" pitchFamily="18" charset="0"/>
              </a:rPr>
              <a:t>1. </a:t>
            </a:r>
            <a:r>
              <a:rPr lang="en-US" sz="2400" b="1" dirty="0">
                <a:solidFill>
                  <a:srgbClr val="FF0000"/>
                </a:solidFill>
                <a:latin typeface="Times New Roman" pitchFamily="18" charset="0"/>
                <a:cs typeface="Times New Roman" pitchFamily="18" charset="0"/>
              </a:rPr>
              <a:t>Manual Reprocessing</a:t>
            </a:r>
          </a:p>
          <a:p>
            <a:pPr marL="465138" lvl="0"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The database is periodically </a:t>
            </a:r>
            <a:r>
              <a:rPr lang="en-US" sz="2400" dirty="0">
                <a:solidFill>
                  <a:srgbClr val="FF0000"/>
                </a:solidFill>
                <a:latin typeface="Times New Roman" pitchFamily="18" charset="0"/>
                <a:cs typeface="Times New Roman" pitchFamily="18" charset="0"/>
              </a:rPr>
              <a:t>backed up </a:t>
            </a:r>
            <a:r>
              <a:rPr lang="en-US" sz="2400" dirty="0">
                <a:solidFill>
                  <a:srgbClr val="002060"/>
                </a:solidFill>
                <a:latin typeface="Times New Roman" pitchFamily="18" charset="0"/>
                <a:cs typeface="Times New Roman" pitchFamily="18" charset="0"/>
              </a:rPr>
              <a:t>and all transactions applied since the last save are recorded.</a:t>
            </a:r>
          </a:p>
          <a:p>
            <a:pPr marL="465138" lvl="0"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If the system crashes, the </a:t>
            </a:r>
            <a:r>
              <a:rPr lang="en-US" sz="2400" dirty="0">
                <a:solidFill>
                  <a:srgbClr val="FF0000"/>
                </a:solidFill>
                <a:latin typeface="Times New Roman" pitchFamily="18" charset="0"/>
                <a:cs typeface="Times New Roman" pitchFamily="18" charset="0"/>
              </a:rPr>
              <a:t>latest database save is restored </a:t>
            </a:r>
            <a:r>
              <a:rPr lang="en-US" sz="2400" dirty="0">
                <a:solidFill>
                  <a:srgbClr val="002060"/>
                </a:solidFill>
                <a:latin typeface="Times New Roman" pitchFamily="18" charset="0"/>
                <a:cs typeface="Times New Roman" pitchFamily="18" charset="0"/>
              </a:rPr>
              <a:t>and all of the transactions are re-applied (by users) to bring the database back up to the point just before the crash. </a:t>
            </a:r>
          </a:p>
          <a:p>
            <a:pPr lvl="0" algn="just">
              <a:lnSpc>
                <a:spcPct val="150000"/>
              </a:lnSpc>
            </a:pPr>
            <a:r>
              <a:rPr lang="en-US" sz="2400" dirty="0">
                <a:solidFill>
                  <a:srgbClr val="FF0000"/>
                </a:solidFill>
                <a:latin typeface="Times New Roman" pitchFamily="18" charset="0"/>
                <a:cs typeface="Times New Roman" pitchFamily="18" charset="0"/>
              </a:rPr>
              <a:t>Limitations</a:t>
            </a:r>
            <a:r>
              <a:rPr lang="en-US" sz="2400" dirty="0">
                <a:solidFill>
                  <a:srgbClr val="002060"/>
                </a:solidFill>
                <a:latin typeface="Times New Roman" pitchFamily="18" charset="0"/>
                <a:cs typeface="Times New Roman" pitchFamily="18" charset="0"/>
              </a:rPr>
              <a:t>: 1) </a:t>
            </a:r>
            <a:r>
              <a:rPr lang="en-US" sz="2200" b="1" dirty="0">
                <a:solidFill>
                  <a:schemeClr val="bg2">
                    <a:lumMod val="10000"/>
                  </a:schemeClr>
                </a:solidFill>
                <a:latin typeface="Times New Roman" pitchFamily="18" charset="0"/>
                <a:cs typeface="Times New Roman" pitchFamily="18" charset="0"/>
              </a:rPr>
              <a:t>Time required </a:t>
            </a:r>
            <a:r>
              <a:rPr lang="en-US" sz="2200" dirty="0">
                <a:solidFill>
                  <a:schemeClr val="bg2">
                    <a:lumMod val="10000"/>
                  </a:schemeClr>
                </a:solidFill>
                <a:latin typeface="Times New Roman" pitchFamily="18" charset="0"/>
                <a:cs typeface="Times New Roman" pitchFamily="18" charset="0"/>
              </a:rPr>
              <a:t>to reapply transactions.</a:t>
            </a:r>
          </a:p>
          <a:p>
            <a:pPr lvl="0" algn="just">
              <a:lnSpc>
                <a:spcPct val="150000"/>
              </a:lnSpc>
            </a:pPr>
            <a:r>
              <a:rPr lang="en-US" sz="2200" dirty="0">
                <a:solidFill>
                  <a:srgbClr val="002060"/>
                </a:solidFill>
                <a:latin typeface="Times New Roman" pitchFamily="18" charset="0"/>
                <a:cs typeface="Times New Roman" pitchFamily="18" charset="0"/>
              </a:rPr>
              <a:t>	          </a:t>
            </a:r>
            <a:r>
              <a:rPr lang="en-US" sz="2200" dirty="0">
                <a:solidFill>
                  <a:schemeClr val="bg2">
                    <a:lumMod val="10000"/>
                  </a:schemeClr>
                </a:solidFill>
                <a:latin typeface="Times New Roman" pitchFamily="18" charset="0"/>
                <a:cs typeface="Times New Roman" pitchFamily="18" charset="0"/>
              </a:rPr>
              <a:t>2)Transactions </a:t>
            </a:r>
            <a:r>
              <a:rPr lang="en-US" sz="2200" b="1" dirty="0">
                <a:solidFill>
                  <a:schemeClr val="bg2">
                    <a:lumMod val="10000"/>
                  </a:schemeClr>
                </a:solidFill>
                <a:latin typeface="Times New Roman" pitchFamily="18" charset="0"/>
                <a:cs typeface="Times New Roman" pitchFamily="18" charset="0"/>
              </a:rPr>
              <a:t>might have other</a:t>
            </a:r>
            <a:r>
              <a:rPr lang="en-US" sz="2200" dirty="0">
                <a:solidFill>
                  <a:schemeClr val="bg2">
                    <a:lumMod val="10000"/>
                  </a:schemeClr>
                </a:solidFill>
                <a:latin typeface="Times New Roman" pitchFamily="18" charset="0"/>
                <a:cs typeface="Times New Roman" pitchFamily="18" charset="0"/>
              </a:rPr>
              <a:t> (physical) potential </a:t>
            </a:r>
            <a:r>
              <a:rPr lang="en-US" sz="2200" b="1" dirty="0">
                <a:solidFill>
                  <a:schemeClr val="bg2">
                    <a:lumMod val="10000"/>
                  </a:schemeClr>
                </a:solidFill>
                <a:latin typeface="Times New Roman" pitchFamily="18" charset="0"/>
                <a:cs typeface="Times New Roman" pitchFamily="18" charset="0"/>
              </a:rPr>
              <a:t>failures</a:t>
            </a:r>
            <a:r>
              <a:rPr lang="en-US" sz="2200" dirty="0">
                <a:solidFill>
                  <a:schemeClr val="bg2">
                    <a:lumMod val="10000"/>
                  </a:schemeClr>
                </a:solidFill>
                <a:latin typeface="Times New Roman" pitchFamily="18" charset="0"/>
                <a:cs typeface="Times New Roman" pitchFamily="18" charset="0"/>
              </a:rPr>
              <a:t>.</a:t>
            </a:r>
          </a:p>
          <a:p>
            <a:pPr lvl="0" algn="just">
              <a:lnSpc>
                <a:spcPct val="150000"/>
              </a:lnSpc>
            </a:pPr>
            <a:r>
              <a:rPr lang="en-US" sz="2200" dirty="0">
                <a:solidFill>
                  <a:schemeClr val="bg2">
                    <a:lumMod val="10000"/>
                  </a:schemeClr>
                </a:solidFill>
                <a:latin typeface="Times New Roman" pitchFamily="18" charset="0"/>
                <a:cs typeface="Times New Roman" pitchFamily="18" charset="0"/>
              </a:rPr>
              <a:t>                       3) Reapplying concurrent transactions is </a:t>
            </a:r>
            <a:r>
              <a:rPr lang="en-US" sz="2200" b="1" dirty="0">
                <a:solidFill>
                  <a:schemeClr val="bg2">
                    <a:lumMod val="10000"/>
                  </a:schemeClr>
                </a:solidFill>
                <a:latin typeface="Times New Roman" pitchFamily="18" charset="0"/>
                <a:cs typeface="Times New Roman" pitchFamily="18" charset="0"/>
              </a:rPr>
              <a:t>not straight forward</a:t>
            </a:r>
            <a:r>
              <a:rPr lang="en-US" sz="2200" dirty="0">
                <a:solidFill>
                  <a:schemeClr val="bg2">
                    <a:lumMod val="10000"/>
                  </a:schemeClr>
                </a:solidFill>
                <a:latin typeface="Times New Roman" pitchFamily="18" charset="0"/>
                <a:cs typeface="Times New Roman" pitchFamily="18" charset="0"/>
              </a:rPr>
              <a:t>. </a:t>
            </a:r>
          </a:p>
          <a:p>
            <a:pPr lvl="0" algn="just">
              <a:lnSpc>
                <a:spcPct val="150000"/>
              </a:lnSpc>
            </a:pPr>
            <a:endParaRPr lang="en-US" sz="2400" dirty="0">
              <a:solidFill>
                <a:srgbClr val="002060"/>
              </a:solidFill>
              <a:latin typeface="Times New Roman" pitchFamily="18" charset="0"/>
              <a:cs typeface="Times New Roman" pitchFamily="18" charset="0"/>
            </a:endParaRPr>
          </a:p>
          <a:p>
            <a:pPr marL="465138" indent="-465138" algn="just">
              <a:lnSpc>
                <a:spcPct val="200000"/>
              </a:lnSpc>
              <a:buClr>
                <a:srgbClr val="FF0000"/>
              </a:buClr>
            </a:pP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 calcmode="lin" valueType="num">
                                      <p:cBhvr additive="base">
                                        <p:cTn id="37"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
                                            <p:txEl>
                                              <p:pRg st="6" end="6"/>
                                            </p:txEl>
                                          </p:spTgt>
                                        </p:tgtEl>
                                        <p:attrNameLst>
                                          <p:attrName>style.visibility</p:attrName>
                                        </p:attrNameLst>
                                      </p:cBhvr>
                                      <p:to>
                                        <p:strVal val="visible"/>
                                      </p:to>
                                    </p:set>
                                    <p:anim calcmode="lin" valueType="num">
                                      <p:cBhvr additive="base">
                                        <p:cTn id="43"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
                                            <p:txEl>
                                              <p:pRg st="5" end="5"/>
                                            </p:txEl>
                                          </p:spTgt>
                                        </p:tgtEl>
                                        <p:attrNameLst>
                                          <p:attrName>style.visibility</p:attrName>
                                        </p:attrNameLst>
                                      </p:cBhvr>
                                      <p:to>
                                        <p:strVal val="visible"/>
                                      </p:to>
                                    </p:set>
                                    <p:anim calcmode="lin" valueType="num">
                                      <p:cBhvr additive="base">
                                        <p:cTn id="49"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8">
                                            <p:txEl>
                                              <p:pRg st="6" end="6"/>
                                            </p:txEl>
                                          </p:spTgt>
                                        </p:tgtEl>
                                        <p:attrNameLst>
                                          <p:attrName>style.visibility</p:attrName>
                                        </p:attrNameLst>
                                      </p:cBhvr>
                                      <p:to>
                                        <p:strVal val="visible"/>
                                      </p:to>
                                    </p:set>
                                    <p:anim calcmode="lin" valueType="num">
                                      <p:cBhvr additive="base">
                                        <p:cTn id="55"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txEl>
                                              <p:pRg st="6" end="6"/>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8">
                                            <p:txEl>
                                              <p:pRg st="5" end="5"/>
                                            </p:txEl>
                                          </p:spTgt>
                                        </p:tgtEl>
                                        <p:attrNameLst>
                                          <p:attrName>style.visibility</p:attrName>
                                        </p:attrNameLst>
                                      </p:cBhvr>
                                      <p:to>
                                        <p:strVal val="visible"/>
                                      </p:to>
                                    </p:set>
                                    <p:anim calcmode="lin" valueType="num">
                                      <p:cBhvr additive="base">
                                        <p:cTn id="59"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8">
                                            <p:txEl>
                                              <p:pRg st="5" end="5"/>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8">
                                            <p:txEl>
                                              <p:pRg st="6" end="6"/>
                                            </p:txEl>
                                          </p:spTgt>
                                        </p:tgtEl>
                                        <p:attrNameLst>
                                          <p:attrName>style.visibility</p:attrName>
                                        </p:attrNameLst>
                                      </p:cBhvr>
                                      <p:to>
                                        <p:strVal val="visible"/>
                                      </p:to>
                                    </p:set>
                                    <p:anim calcmode="lin" valueType="num">
                                      <p:cBhvr additive="base">
                                        <p:cTn id="63"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Font typeface="+mj-lt"/>
              <a:buAutoNum type="arabicPeriod" startAt="2"/>
            </a:pPr>
            <a:r>
              <a:rPr lang="en-US" sz="2400" b="1" dirty="0">
                <a:solidFill>
                  <a:srgbClr val="FF0000"/>
                </a:solidFill>
                <a:latin typeface="Times New Roman" pitchFamily="18" charset="0"/>
                <a:cs typeface="Times New Roman" pitchFamily="18" charset="0"/>
              </a:rPr>
              <a:t>Automated Recovery:</a:t>
            </a:r>
          </a:p>
          <a:p>
            <a:pPr lvl="0" algn="just">
              <a:lnSpc>
                <a:spcPct val="150000"/>
              </a:lnSpc>
            </a:pPr>
            <a:r>
              <a:rPr lang="en-US" sz="2400" dirty="0">
                <a:solidFill>
                  <a:srgbClr val="002060"/>
                </a:solidFill>
                <a:latin typeface="Times New Roman" pitchFamily="18" charset="0"/>
                <a:cs typeface="Times New Roman" pitchFamily="18" charset="0"/>
              </a:rPr>
              <a:t>	There are several types of automated recovery techniques including: </a:t>
            </a:r>
            <a:r>
              <a:rPr lang="en-US" sz="2400" dirty="0">
                <a:solidFill>
                  <a:srgbClr val="FF0000"/>
                </a:solidFill>
                <a:latin typeface="Times New Roman" pitchFamily="18" charset="0"/>
                <a:cs typeface="Times New Roman" pitchFamily="18" charset="0"/>
              </a:rPr>
              <a:t>deferred update </a:t>
            </a:r>
            <a:r>
              <a:rPr lang="en-US" sz="2400" dirty="0">
                <a:solidFill>
                  <a:srgbClr val="002060"/>
                </a:solidFill>
                <a:latin typeface="Times New Roman" pitchFamily="18" charset="0"/>
                <a:cs typeface="Times New Roman" pitchFamily="18" charset="0"/>
              </a:rPr>
              <a:t>and </a:t>
            </a:r>
            <a:r>
              <a:rPr lang="en-US" sz="2400" dirty="0">
                <a:solidFill>
                  <a:srgbClr val="FF0000"/>
                </a:solidFill>
                <a:latin typeface="Times New Roman" pitchFamily="18" charset="0"/>
                <a:cs typeface="Times New Roman" pitchFamily="18" charset="0"/>
              </a:rPr>
              <a:t>immediate update</a:t>
            </a:r>
            <a:r>
              <a:rPr lang="en-US" sz="2400" dirty="0">
                <a:solidFill>
                  <a:srgbClr val="002060"/>
                </a:solidFill>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shadow paging</a:t>
            </a:r>
            <a:r>
              <a:rPr lang="en-US" sz="2400" dirty="0">
                <a:solidFill>
                  <a:srgbClr val="002060"/>
                </a:solidFill>
                <a:latin typeface="Times New Roman" pitchFamily="18" charset="0"/>
                <a:cs typeface="Times New Roman" pitchFamily="18" charset="0"/>
              </a:rPr>
              <a:t>, etc. </a:t>
            </a:r>
          </a:p>
          <a:p>
            <a:pPr lvl="0" algn="just">
              <a:lnSpc>
                <a:spcPct val="150000"/>
              </a:lnSpc>
            </a:pPr>
            <a:r>
              <a:rPr lang="en-US" sz="2400" dirty="0">
                <a:solidFill>
                  <a:srgbClr val="002060"/>
                </a:solidFill>
                <a:latin typeface="Times New Roman" pitchFamily="18" charset="0"/>
                <a:cs typeface="Times New Roman" pitchFamily="18" charset="0"/>
              </a:rPr>
              <a:t>A transaction can be in one of the following states: </a:t>
            </a:r>
          </a:p>
          <a:p>
            <a:pPr marL="517525" lvl="1" indent="-457200" algn="just">
              <a:lnSpc>
                <a:spcPct val="150000"/>
              </a:lnSpc>
              <a:buClr>
                <a:srgbClr val="FF0000"/>
              </a:buClr>
              <a:buFont typeface="+mj-lt"/>
              <a:buAutoNum type="arabicPeriod"/>
            </a:pPr>
            <a:r>
              <a:rPr lang="en-US" sz="2200" b="1" dirty="0">
                <a:solidFill>
                  <a:srgbClr val="002060"/>
                </a:solidFill>
                <a:latin typeface="Times New Roman" pitchFamily="18" charset="0"/>
                <a:cs typeface="Times New Roman" pitchFamily="18" charset="0"/>
              </a:rPr>
              <a:t>Active</a:t>
            </a:r>
            <a:r>
              <a:rPr lang="en-US" sz="2200" dirty="0">
                <a:solidFill>
                  <a:srgbClr val="002060"/>
                </a:solidFill>
                <a:latin typeface="Times New Roman" pitchFamily="18" charset="0"/>
                <a:cs typeface="Times New Roman" pitchFamily="18" charset="0"/>
              </a:rPr>
              <a:t> - When the transaction just begins </a:t>
            </a:r>
          </a:p>
          <a:p>
            <a:pPr marL="517525" lvl="1" indent="-457200" algn="just">
              <a:lnSpc>
                <a:spcPct val="150000"/>
              </a:lnSpc>
              <a:buClr>
                <a:srgbClr val="FF0000"/>
              </a:buClr>
              <a:buFont typeface="+mj-lt"/>
              <a:buAutoNum type="arabicPeriod"/>
            </a:pPr>
            <a:r>
              <a:rPr lang="en-US" sz="2200" b="1" dirty="0">
                <a:solidFill>
                  <a:srgbClr val="002060"/>
                </a:solidFill>
                <a:latin typeface="Times New Roman" pitchFamily="18" charset="0"/>
                <a:cs typeface="Times New Roman" pitchFamily="18" charset="0"/>
              </a:rPr>
              <a:t>Partially Committed</a:t>
            </a:r>
            <a:r>
              <a:rPr lang="en-US" sz="2200" dirty="0">
                <a:solidFill>
                  <a:srgbClr val="002060"/>
                </a:solidFill>
                <a:latin typeface="Times New Roman" pitchFamily="18" charset="0"/>
                <a:cs typeface="Times New Roman" pitchFamily="18" charset="0"/>
              </a:rPr>
              <a:t> - After the last operation has completed (but before the commit point is reached) </a:t>
            </a:r>
          </a:p>
          <a:p>
            <a:pPr marL="517525" lvl="1" indent="-457200" algn="just">
              <a:lnSpc>
                <a:spcPct val="150000"/>
              </a:lnSpc>
              <a:buClr>
                <a:srgbClr val="FF0000"/>
              </a:buClr>
              <a:buFont typeface="+mj-lt"/>
              <a:buAutoNum type="arabicPeriod"/>
            </a:pPr>
            <a:r>
              <a:rPr lang="en-US" sz="2200" b="1" dirty="0">
                <a:solidFill>
                  <a:srgbClr val="002060"/>
                </a:solidFill>
                <a:latin typeface="Times New Roman" pitchFamily="18" charset="0"/>
                <a:cs typeface="Times New Roman" pitchFamily="18" charset="0"/>
              </a:rPr>
              <a:t>Failed</a:t>
            </a:r>
            <a:r>
              <a:rPr lang="en-US" sz="2200" dirty="0">
                <a:solidFill>
                  <a:srgbClr val="002060"/>
                </a:solidFill>
                <a:latin typeface="Times New Roman" pitchFamily="18" charset="0"/>
                <a:cs typeface="Times New Roman" pitchFamily="18" charset="0"/>
              </a:rPr>
              <a:t> - Normal operation is prevented. </a:t>
            </a:r>
          </a:p>
          <a:p>
            <a:pPr marL="517525" lvl="1" indent="-457200" algn="just">
              <a:lnSpc>
                <a:spcPct val="150000"/>
              </a:lnSpc>
              <a:buClr>
                <a:srgbClr val="FF0000"/>
              </a:buClr>
              <a:buFont typeface="+mj-lt"/>
              <a:buAutoNum type="arabicPeriod"/>
            </a:pPr>
            <a:r>
              <a:rPr lang="en-US" sz="2200" b="1" dirty="0">
                <a:solidFill>
                  <a:srgbClr val="002060"/>
                </a:solidFill>
                <a:latin typeface="Times New Roman" pitchFamily="18" charset="0"/>
                <a:cs typeface="Times New Roman" pitchFamily="18" charset="0"/>
              </a:rPr>
              <a:t>Aborted</a:t>
            </a:r>
            <a:r>
              <a:rPr lang="en-US" sz="2200" dirty="0">
                <a:solidFill>
                  <a:srgbClr val="002060"/>
                </a:solidFill>
                <a:latin typeface="Times New Roman" pitchFamily="18" charset="0"/>
                <a:cs typeface="Times New Roman" pitchFamily="18" charset="0"/>
              </a:rPr>
              <a:t> - Transaction is rolled back. </a:t>
            </a:r>
          </a:p>
          <a:p>
            <a:pPr marL="517525" lvl="1" indent="-457200" algn="just">
              <a:lnSpc>
                <a:spcPct val="150000"/>
              </a:lnSpc>
              <a:buClr>
                <a:srgbClr val="FF0000"/>
              </a:buClr>
              <a:buFont typeface="+mj-lt"/>
              <a:buAutoNum type="arabicPeriod"/>
            </a:pPr>
            <a:r>
              <a:rPr lang="en-US" sz="2200" b="1" dirty="0">
                <a:solidFill>
                  <a:srgbClr val="002060"/>
                </a:solidFill>
                <a:latin typeface="Times New Roman" pitchFamily="18" charset="0"/>
                <a:cs typeface="Times New Roman" pitchFamily="18" charset="0"/>
              </a:rPr>
              <a:t>Committed</a:t>
            </a:r>
            <a:r>
              <a:rPr lang="en-US" sz="2200" dirty="0">
                <a:solidFill>
                  <a:srgbClr val="002060"/>
                </a:solidFill>
                <a:latin typeface="Times New Roman" pitchFamily="18" charset="0"/>
                <a:cs typeface="Times New Roman" pitchFamily="18" charset="0"/>
              </a:rPr>
              <a:t> - Transaction completes all operations and moved the database to the next consistent state </a:t>
            </a: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Font typeface="+mj-lt"/>
              <a:buAutoNum type="arabicPeriod" startAt="2"/>
            </a:pPr>
            <a:r>
              <a:rPr lang="en-US" sz="2400" b="1" dirty="0">
                <a:solidFill>
                  <a:srgbClr val="FF0000"/>
                </a:solidFill>
                <a:latin typeface="Times New Roman" pitchFamily="18" charset="0"/>
                <a:cs typeface="Times New Roman" pitchFamily="18" charset="0"/>
              </a:rPr>
              <a:t>Automated Recovery: (Cont…)</a:t>
            </a:r>
          </a:p>
          <a:p>
            <a:pPr marL="465138" lvl="0"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Each transaction writes the following information to the </a:t>
            </a:r>
            <a:r>
              <a:rPr lang="en-US" sz="2400" dirty="0">
                <a:solidFill>
                  <a:srgbClr val="FF0000"/>
                </a:solidFill>
                <a:latin typeface="Times New Roman" pitchFamily="18" charset="0"/>
                <a:cs typeface="Times New Roman" pitchFamily="18" charset="0"/>
              </a:rPr>
              <a:t>log</a:t>
            </a:r>
            <a:r>
              <a:rPr lang="en-US" sz="2400" dirty="0">
                <a:solidFill>
                  <a:srgbClr val="002060"/>
                </a:solidFill>
                <a:latin typeface="Times New Roman" pitchFamily="18" charset="0"/>
                <a:cs typeface="Times New Roman" pitchFamily="18" charset="0"/>
              </a:rPr>
              <a:t>: </a:t>
            </a:r>
          </a:p>
          <a:p>
            <a:pPr marL="465138" lvl="1" indent="-465138" algn="just">
              <a:lnSpc>
                <a:spcPct val="150000"/>
              </a:lnSpc>
              <a:buFont typeface="Wingdings" pitchFamily="2" charset="2"/>
              <a:buChar char="q"/>
            </a:pPr>
            <a:r>
              <a:rPr lang="en-US" sz="2400" dirty="0">
                <a:solidFill>
                  <a:srgbClr val="FF0000"/>
                </a:solidFill>
                <a:latin typeface="Times New Roman" pitchFamily="18" charset="0"/>
                <a:cs typeface="Times New Roman" pitchFamily="18" charset="0"/>
              </a:rPr>
              <a:t>Start</a:t>
            </a:r>
            <a:r>
              <a:rPr lang="en-US" sz="2400" dirty="0">
                <a:solidFill>
                  <a:srgbClr val="002060"/>
                </a:solidFill>
                <a:latin typeface="Times New Roman" pitchFamily="18" charset="0"/>
                <a:cs typeface="Times New Roman" pitchFamily="18" charset="0"/>
              </a:rPr>
              <a:t>(T) - the fact that transaction T has started.</a:t>
            </a:r>
          </a:p>
          <a:p>
            <a:pPr marL="465138" lvl="1" indent="-465138" algn="just">
              <a:lnSpc>
                <a:spcPct val="150000"/>
              </a:lnSpc>
              <a:buFont typeface="Wingdings" pitchFamily="2" charset="2"/>
              <a:buChar char="q"/>
            </a:pPr>
            <a:r>
              <a:rPr lang="en-US" sz="2400" dirty="0">
                <a:solidFill>
                  <a:srgbClr val="FF0000"/>
                </a:solidFill>
                <a:latin typeface="Times New Roman" pitchFamily="18" charset="0"/>
                <a:cs typeface="Times New Roman" pitchFamily="18" charset="0"/>
              </a:rPr>
              <a:t>Write</a:t>
            </a:r>
            <a:r>
              <a:rPr lang="en-US" sz="2400" dirty="0">
                <a:solidFill>
                  <a:srgbClr val="002060"/>
                </a:solidFill>
                <a:latin typeface="Times New Roman" pitchFamily="18" charset="0"/>
                <a:cs typeface="Times New Roman" pitchFamily="18" charset="0"/>
              </a:rPr>
              <a:t>(T, X, old_value, new_value) - The Transaction T has written to item X with the </a:t>
            </a:r>
            <a:r>
              <a:rPr lang="en-US" sz="2400" dirty="0">
                <a:solidFill>
                  <a:srgbClr val="FF0000"/>
                </a:solidFill>
                <a:latin typeface="Times New Roman" pitchFamily="18" charset="0"/>
                <a:cs typeface="Times New Roman" pitchFamily="18" charset="0"/>
              </a:rPr>
              <a:t>new_value</a:t>
            </a:r>
            <a:r>
              <a:rPr lang="en-US" sz="2400" dirty="0">
                <a:solidFill>
                  <a:srgbClr val="002060"/>
                </a:solidFill>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old_value</a:t>
            </a:r>
            <a:r>
              <a:rPr lang="en-US" sz="2400" dirty="0">
                <a:solidFill>
                  <a:srgbClr val="002060"/>
                </a:solidFill>
                <a:latin typeface="Times New Roman" pitchFamily="18" charset="0"/>
                <a:cs typeface="Times New Roman" pitchFamily="18" charset="0"/>
              </a:rPr>
              <a:t> is also maintained. </a:t>
            </a:r>
          </a:p>
          <a:p>
            <a:pPr marL="465138" lvl="1" indent="-465138" algn="just">
              <a:lnSpc>
                <a:spcPct val="150000"/>
              </a:lnSpc>
              <a:buFont typeface="Wingdings" pitchFamily="2" charset="2"/>
              <a:buChar char="q"/>
            </a:pPr>
            <a:r>
              <a:rPr lang="en-US" sz="2400" dirty="0">
                <a:solidFill>
                  <a:srgbClr val="FF0000"/>
                </a:solidFill>
                <a:latin typeface="Times New Roman" pitchFamily="18" charset="0"/>
                <a:cs typeface="Times New Roman" pitchFamily="18" charset="0"/>
              </a:rPr>
              <a:t>Read</a:t>
            </a:r>
            <a:r>
              <a:rPr lang="en-US" sz="2400" dirty="0">
                <a:solidFill>
                  <a:srgbClr val="002060"/>
                </a:solidFill>
                <a:latin typeface="Times New Roman" pitchFamily="18" charset="0"/>
                <a:cs typeface="Times New Roman" pitchFamily="18" charset="0"/>
              </a:rPr>
              <a:t>(T, X) - The Transaction T has read data item X</a:t>
            </a:r>
          </a:p>
          <a:p>
            <a:pPr marL="465138" lvl="1" indent="-465138" algn="just">
              <a:lnSpc>
                <a:spcPct val="150000"/>
              </a:lnSpc>
              <a:buFont typeface="Wingdings" pitchFamily="2" charset="2"/>
              <a:buChar char="q"/>
            </a:pPr>
            <a:r>
              <a:rPr lang="en-US" sz="2400" dirty="0">
                <a:solidFill>
                  <a:srgbClr val="FF0000"/>
                </a:solidFill>
                <a:latin typeface="Times New Roman" pitchFamily="18" charset="0"/>
                <a:cs typeface="Times New Roman" pitchFamily="18" charset="0"/>
              </a:rPr>
              <a:t>Either</a:t>
            </a:r>
          </a:p>
          <a:p>
            <a:pPr marL="1379538" lvl="1" indent="-465138" algn="just">
              <a:lnSpc>
                <a:spcPct val="150000"/>
              </a:lnSpc>
              <a:buFont typeface="Wingdings" pitchFamily="2" charset="2"/>
              <a:buChar char="Ø"/>
            </a:pPr>
            <a:r>
              <a:rPr lang="en-US" sz="2400" dirty="0">
                <a:solidFill>
                  <a:srgbClr val="FF0000"/>
                </a:solidFill>
                <a:latin typeface="Times New Roman" pitchFamily="18" charset="0"/>
                <a:cs typeface="Times New Roman" pitchFamily="18" charset="0"/>
              </a:rPr>
              <a:t>Commit</a:t>
            </a:r>
            <a:r>
              <a:rPr lang="en-US" sz="2400" dirty="0">
                <a:solidFill>
                  <a:srgbClr val="002060"/>
                </a:solidFill>
                <a:latin typeface="Times New Roman" pitchFamily="18" charset="0"/>
                <a:cs typeface="Times New Roman" pitchFamily="18" charset="0"/>
              </a:rPr>
              <a:t>(T) - Transaction T committed, or </a:t>
            </a:r>
          </a:p>
          <a:p>
            <a:pPr marL="1379538" lvl="1" indent="-465138" algn="just">
              <a:lnSpc>
                <a:spcPct val="150000"/>
              </a:lnSpc>
              <a:buFont typeface="Wingdings" pitchFamily="2" charset="2"/>
              <a:buChar char="Ø"/>
            </a:pPr>
            <a:r>
              <a:rPr lang="en-US" sz="2400" dirty="0">
                <a:solidFill>
                  <a:srgbClr val="FF0000"/>
                </a:solidFill>
                <a:latin typeface="Times New Roman" pitchFamily="18" charset="0"/>
                <a:cs typeface="Times New Roman" pitchFamily="18" charset="0"/>
              </a:rPr>
              <a:t>Abort</a:t>
            </a:r>
            <a:r>
              <a:rPr lang="en-US" sz="2400" dirty="0">
                <a:solidFill>
                  <a:srgbClr val="002060"/>
                </a:solidFill>
                <a:latin typeface="Times New Roman" pitchFamily="18" charset="0"/>
                <a:cs typeface="Times New Roman" pitchFamily="18" charset="0"/>
              </a:rPr>
              <a:t>(T) - transaction T was aborted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 calcmode="lin" valueType="num">
                                      <p:cBhvr additive="base">
                                        <p:cTn id="2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 calcmode="lin" valueType="num">
                                      <p:cBhvr additive="base">
                                        <p:cTn id="3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 calcmode="lin" valueType="num">
                                      <p:cBhvr additive="base">
                                        <p:cTn id="35"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8">
                                            <p:txEl>
                                              <p:pRg st="7" end="7"/>
                                            </p:txEl>
                                          </p:spTgt>
                                        </p:tgtEl>
                                        <p:attrNameLst>
                                          <p:attrName>style.visibility</p:attrName>
                                        </p:attrNameLst>
                                      </p:cBhvr>
                                      <p:to>
                                        <p:strVal val="visible"/>
                                      </p:to>
                                    </p:set>
                                    <p:anim calcmode="lin" valueType="num">
                                      <p:cBhvr additive="base">
                                        <p:cTn id="39"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685800"/>
            <a:ext cx="9144000" cy="6172200"/>
          </a:xfrm>
          <a:prstGeom prst="rect">
            <a:avLst/>
          </a:prstGeom>
        </p:spPr>
        <p:txBody>
          <a:bodyPr vert="horz" lIns="91440" tIns="45720" rIns="91440" bIns="45720" rtlCol="0">
            <a:noAutofit/>
          </a:bodyPr>
          <a:lstStyle/>
          <a:p>
            <a:pPr marL="457200" indent="-457200" algn="just">
              <a:lnSpc>
                <a:spcPct val="150000"/>
              </a:lnSpc>
              <a:buFont typeface="+mj-lt"/>
              <a:buAutoNum type="arabicPeriod" startAt="2"/>
            </a:pPr>
            <a:r>
              <a:rPr lang="en-US" sz="2400" b="1" dirty="0">
                <a:solidFill>
                  <a:srgbClr val="FF0000"/>
                </a:solidFill>
                <a:latin typeface="Times New Roman" pitchFamily="18" charset="0"/>
                <a:cs typeface="Times New Roman" pitchFamily="18" charset="0"/>
              </a:rPr>
              <a:t>Automated Recovery: (Cont…)</a:t>
            </a:r>
          </a:p>
          <a:p>
            <a:pPr lvl="0">
              <a:lnSpc>
                <a:spcPct val="150000"/>
              </a:lnSpc>
            </a:pPr>
            <a:r>
              <a:rPr lang="en-US" sz="2400" b="1" dirty="0">
                <a:solidFill>
                  <a:srgbClr val="FF0000"/>
                </a:solidFill>
                <a:latin typeface="Times New Roman" pitchFamily="18" charset="0"/>
                <a:cs typeface="Times New Roman" pitchFamily="18" charset="0"/>
              </a:rPr>
              <a:t>Checkpoint</a:t>
            </a:r>
            <a:r>
              <a:rPr lang="en-US" sz="2400" dirty="0">
                <a:solidFill>
                  <a:srgbClr val="002060"/>
                </a:solidFill>
                <a:latin typeface="Times New Roman" pitchFamily="18" charset="0"/>
                <a:cs typeface="Times New Roman" pitchFamily="18" charset="0"/>
              </a:rPr>
              <a:t>: </a:t>
            </a:r>
          </a:p>
          <a:p>
            <a:pPr marL="465138" lvl="0" indent="-465138">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A recovery point in the logs where all current transactions have terminated and all updates have been written to disk. </a:t>
            </a:r>
            <a:r>
              <a:rPr lang="en-US" sz="2200" i="1" u="sng" dirty="0">
                <a:solidFill>
                  <a:srgbClr val="002060"/>
                </a:solidFill>
                <a:latin typeface="Times New Roman" pitchFamily="18" charset="0"/>
                <a:cs typeface="Times New Roman" pitchFamily="18" charset="0"/>
              </a:rPr>
              <a:t>Consists of 4 steps</a:t>
            </a:r>
            <a:r>
              <a:rPr lang="en-US" sz="2200" dirty="0">
                <a:solidFill>
                  <a:srgbClr val="002060"/>
                </a:solidFill>
                <a:latin typeface="Times New Roman" pitchFamily="18" charset="0"/>
                <a:cs typeface="Times New Roman" pitchFamily="18" charset="0"/>
              </a:rPr>
              <a:t>: </a:t>
            </a:r>
          </a:p>
          <a:p>
            <a:pPr marL="914400" lvl="1" indent="-457200">
              <a:lnSpc>
                <a:spcPct val="150000"/>
              </a:lnSpc>
              <a:buFont typeface="+mj-lt"/>
              <a:buAutoNum type="arabicPeriod"/>
            </a:pPr>
            <a:r>
              <a:rPr lang="en-US" sz="2400" dirty="0">
                <a:solidFill>
                  <a:srgbClr val="002060"/>
                </a:solidFill>
                <a:latin typeface="Times New Roman" pitchFamily="18" charset="0"/>
                <a:cs typeface="Times New Roman" pitchFamily="18" charset="0"/>
              </a:rPr>
              <a:t>Cease accepting new transactions </a:t>
            </a:r>
          </a:p>
          <a:p>
            <a:pPr marL="914400" lvl="1" indent="-457200">
              <a:lnSpc>
                <a:spcPct val="150000"/>
              </a:lnSpc>
              <a:buFont typeface="+mj-lt"/>
              <a:buAutoNum type="arabicPeriod"/>
            </a:pPr>
            <a:r>
              <a:rPr lang="en-US" sz="2400" dirty="0">
                <a:solidFill>
                  <a:srgbClr val="002060"/>
                </a:solidFill>
                <a:latin typeface="Times New Roman" pitchFamily="18" charset="0"/>
                <a:cs typeface="Times New Roman" pitchFamily="18" charset="0"/>
              </a:rPr>
              <a:t>Allow all unfinished transactions to complete (commit or abort) </a:t>
            </a:r>
          </a:p>
          <a:p>
            <a:pPr marL="914400" lvl="1" indent="-457200">
              <a:lnSpc>
                <a:spcPct val="150000"/>
              </a:lnSpc>
              <a:buFont typeface="+mj-lt"/>
              <a:buAutoNum type="arabicPeriod"/>
            </a:pPr>
            <a:r>
              <a:rPr lang="en-US" sz="2400" dirty="0">
                <a:solidFill>
                  <a:srgbClr val="002060"/>
                </a:solidFill>
                <a:latin typeface="Times New Roman" pitchFamily="18" charset="0"/>
                <a:cs typeface="Times New Roman" pitchFamily="18" charset="0"/>
              </a:rPr>
              <a:t>Write all pending changes to disk and to logs </a:t>
            </a:r>
          </a:p>
          <a:p>
            <a:pPr marL="914400" lvl="1" indent="-457200">
              <a:lnSpc>
                <a:spcPct val="150000"/>
              </a:lnSpc>
              <a:buFont typeface="+mj-lt"/>
              <a:buAutoNum type="arabicPeriod"/>
            </a:pPr>
            <a:r>
              <a:rPr lang="en-US" sz="2400" dirty="0">
                <a:solidFill>
                  <a:srgbClr val="002060"/>
                </a:solidFill>
                <a:latin typeface="Times New Roman" pitchFamily="18" charset="0"/>
                <a:cs typeface="Times New Roman" pitchFamily="18" charset="0"/>
              </a:rPr>
              <a:t>Resume accepting new transactions </a:t>
            </a:r>
          </a:p>
          <a:p>
            <a:pPr marL="465138" lvl="0" indent="-465138">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In many environments, it is possible to take checkpoints each 15 minutes or half hour, etc.</a:t>
            </a:r>
          </a:p>
          <a:p>
            <a:pPr marL="465138" lvl="0" indent="-465138">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Recovery must then only be done from the time of the last checkpoint. </a:t>
            </a: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 calcmode="lin" valueType="num">
                                      <p:cBhvr additive="base">
                                        <p:cTn id="1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 calcmode="lin" valueType="num">
                                      <p:cBhvr additive="base">
                                        <p:cTn id="19"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anim calcmode="lin" valueType="num">
                                      <p:cBhvr additive="base">
                                        <p:cTn id="25"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anim calcmode="lin" valueType="num">
                                      <p:cBhvr additive="base">
                                        <p:cTn id="31"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algn="just">
              <a:lnSpc>
                <a:spcPct val="150000"/>
              </a:lnSpc>
            </a:pPr>
            <a:r>
              <a:rPr lang="en-US" sz="2400" b="1" dirty="0">
                <a:solidFill>
                  <a:srgbClr val="FF0000"/>
                </a:solidFill>
                <a:latin typeface="Times New Roman" pitchFamily="18" charset="0"/>
                <a:cs typeface="Times New Roman" pitchFamily="18" charset="0"/>
              </a:rPr>
              <a:t>1. DEFERRED UPDATE RECOVERY:</a:t>
            </a:r>
          </a:p>
          <a:p>
            <a:pPr marL="465138" lvl="0"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Also called </a:t>
            </a:r>
            <a:r>
              <a:rPr lang="en-US" sz="2400" b="1" dirty="0">
                <a:solidFill>
                  <a:srgbClr val="FF0000"/>
                </a:solidFill>
                <a:latin typeface="Times New Roman" pitchFamily="18" charset="0"/>
                <a:cs typeface="Times New Roman" pitchFamily="18" charset="0"/>
              </a:rPr>
              <a:t>NO-UNDO/REDO</a:t>
            </a:r>
            <a:r>
              <a:rPr lang="en-US" sz="2400" dirty="0">
                <a:solidFill>
                  <a:srgbClr val="002060"/>
                </a:solidFill>
                <a:latin typeface="Times New Roman" pitchFamily="18" charset="0"/>
                <a:cs typeface="Times New Roman" pitchFamily="18" charset="0"/>
              </a:rPr>
              <a:t> </a:t>
            </a:r>
          </a:p>
          <a:p>
            <a:pPr marL="465138" lvl="0"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During a transaction, only </a:t>
            </a:r>
            <a:r>
              <a:rPr lang="en-US" sz="2400" dirty="0">
                <a:solidFill>
                  <a:srgbClr val="FF0000"/>
                </a:solidFill>
                <a:latin typeface="Times New Roman" pitchFamily="18" charset="0"/>
                <a:cs typeface="Times New Roman" pitchFamily="18" charset="0"/>
              </a:rPr>
              <a:t>record the changes </a:t>
            </a:r>
            <a:r>
              <a:rPr lang="en-US" sz="2400" dirty="0">
                <a:solidFill>
                  <a:srgbClr val="002060"/>
                </a:solidFill>
                <a:latin typeface="Times New Roman" pitchFamily="18" charset="0"/>
                <a:cs typeface="Times New Roman" pitchFamily="18" charset="0"/>
              </a:rPr>
              <a:t>to data items in the log. </a:t>
            </a:r>
          </a:p>
          <a:p>
            <a:pPr marL="465138" lvl="0"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When the transaction commits, </a:t>
            </a:r>
            <a:r>
              <a:rPr lang="en-US" sz="2400" dirty="0">
                <a:solidFill>
                  <a:srgbClr val="FF0000"/>
                </a:solidFill>
                <a:latin typeface="Times New Roman" pitchFamily="18" charset="0"/>
                <a:cs typeface="Times New Roman" pitchFamily="18" charset="0"/>
              </a:rPr>
              <a:t>update the data </a:t>
            </a:r>
            <a:r>
              <a:rPr lang="en-US" sz="2400" dirty="0">
                <a:solidFill>
                  <a:srgbClr val="002060"/>
                </a:solidFill>
                <a:latin typeface="Times New Roman" pitchFamily="18" charset="0"/>
                <a:cs typeface="Times New Roman" pitchFamily="18" charset="0"/>
              </a:rPr>
              <a:t>items on disk. </a:t>
            </a:r>
          </a:p>
          <a:p>
            <a:pPr marL="465138" lvl="0" indent="-465138" algn="just">
              <a:lnSpc>
                <a:spcPct val="150000"/>
              </a:lnSpc>
              <a:buClr>
                <a:srgbClr val="FF0000"/>
              </a:buClr>
              <a:buFont typeface="Wingdings" pitchFamily="2" charset="2"/>
              <a:buChar char="v"/>
            </a:pPr>
            <a:r>
              <a:rPr lang="en-US" sz="2400" dirty="0">
                <a:solidFill>
                  <a:srgbClr val="FF0000"/>
                </a:solidFill>
                <a:latin typeface="Times New Roman" pitchFamily="18" charset="0"/>
                <a:cs typeface="Times New Roman" pitchFamily="18" charset="0"/>
              </a:rPr>
              <a:t>Two main rules</a:t>
            </a:r>
            <a:r>
              <a:rPr lang="en-US" sz="2400" dirty="0">
                <a:solidFill>
                  <a:srgbClr val="002060"/>
                </a:solidFill>
                <a:latin typeface="Times New Roman" pitchFamily="18" charset="0"/>
                <a:cs typeface="Times New Roman" pitchFamily="18" charset="0"/>
              </a:rPr>
              <a:t>: </a:t>
            </a:r>
          </a:p>
          <a:p>
            <a:pPr marL="914400" lvl="1" indent="-457200" algn="just">
              <a:lnSpc>
                <a:spcPct val="150000"/>
              </a:lnSpc>
              <a:buClr>
                <a:srgbClr val="FF0000"/>
              </a:buClr>
              <a:buFont typeface="+mj-lt"/>
              <a:buAutoNum type="arabicPeriod"/>
            </a:pPr>
            <a:r>
              <a:rPr lang="en-US" sz="2400" dirty="0">
                <a:solidFill>
                  <a:srgbClr val="002060"/>
                </a:solidFill>
                <a:latin typeface="Times New Roman" pitchFamily="18" charset="0"/>
                <a:cs typeface="Times New Roman" pitchFamily="18" charset="0"/>
              </a:rPr>
              <a:t>A transaction cannot change any items in the </a:t>
            </a:r>
            <a:r>
              <a:rPr lang="en-US" sz="2400" u="sng" dirty="0">
                <a:solidFill>
                  <a:srgbClr val="002060"/>
                </a:solidFill>
                <a:latin typeface="Times New Roman" pitchFamily="18" charset="0"/>
                <a:cs typeface="Times New Roman" pitchFamily="18" charset="0"/>
              </a:rPr>
              <a:t>database</a:t>
            </a:r>
            <a:r>
              <a:rPr lang="en-US" sz="2400" dirty="0">
                <a:solidFill>
                  <a:srgbClr val="002060"/>
                </a:solidFill>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until it commits. </a:t>
            </a:r>
          </a:p>
          <a:p>
            <a:pPr marL="914400" lvl="1" indent="-457200" algn="just">
              <a:lnSpc>
                <a:spcPct val="150000"/>
              </a:lnSpc>
              <a:buClr>
                <a:srgbClr val="FF0000"/>
              </a:buClr>
              <a:buFont typeface="+mj-lt"/>
              <a:buAutoNum type="arabicPeriod"/>
            </a:pPr>
            <a:r>
              <a:rPr lang="en-US" sz="2400" dirty="0">
                <a:solidFill>
                  <a:srgbClr val="002060"/>
                </a:solidFill>
                <a:latin typeface="Times New Roman" pitchFamily="18" charset="0"/>
                <a:cs typeface="Times New Roman" pitchFamily="18" charset="0"/>
              </a:rPr>
              <a:t>A transaction may not commit until the entire write operations are successfully recorded in the log. </a:t>
            </a:r>
          </a:p>
          <a:p>
            <a:pPr marL="914400" lvl="1" indent="-457200" algn="just">
              <a:lnSpc>
                <a:spcPct val="150000"/>
              </a:lnSpc>
              <a:buClr>
                <a:srgbClr val="FF0000"/>
              </a:buClr>
            </a:pPr>
            <a:r>
              <a:rPr lang="en-US" sz="2400" dirty="0">
                <a:solidFill>
                  <a:srgbClr val="002060"/>
                </a:solidFill>
                <a:latin typeface="Times New Roman" pitchFamily="18" charset="0"/>
                <a:cs typeface="Times New Roman" pitchFamily="18" charset="0"/>
              </a:rPr>
              <a:t>	This means that we must check the log is actually written to disk.</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marL="457200" indent="-457200" algn="just">
              <a:lnSpc>
                <a:spcPct val="150000"/>
              </a:lnSpc>
              <a:buAutoNum type="arabicPeriod"/>
            </a:pPr>
            <a:r>
              <a:rPr lang="en-US" sz="2400" b="1" dirty="0">
                <a:solidFill>
                  <a:srgbClr val="FF0000"/>
                </a:solidFill>
                <a:latin typeface="Times New Roman" pitchFamily="18" charset="0"/>
                <a:cs typeface="Times New Roman" pitchFamily="18" charset="0"/>
              </a:rPr>
              <a:t>DEFERRED UPDATE RECOVERY: (Cont…)</a:t>
            </a:r>
          </a:p>
          <a:p>
            <a:pPr marL="457200" lvl="0" indent="-457200" algn="just">
              <a:lnSpc>
                <a:spcPct val="150000"/>
              </a:lnSpc>
            </a:pPr>
            <a:r>
              <a:rPr lang="en-US" sz="2400" dirty="0">
                <a:solidFill>
                  <a:srgbClr val="002060"/>
                </a:solidFill>
                <a:latin typeface="Times New Roman" pitchFamily="18" charset="0"/>
                <a:cs typeface="Times New Roman" pitchFamily="18" charset="0"/>
              </a:rPr>
              <a:t>	</a:t>
            </a:r>
            <a:endParaRPr lang="en-US" sz="2400" b="1" dirty="0">
              <a:solidFill>
                <a:srgbClr val="FF0000"/>
              </a:solidFill>
              <a:latin typeface="Times New Roman" pitchFamily="18" charset="0"/>
              <a:cs typeface="Times New Roman" pitchFamily="18" charset="0"/>
            </a:endParaRPr>
          </a:p>
          <a:p>
            <a:pPr marL="457200" lvl="0" indent="-457200" algn="just">
              <a:lnSpc>
                <a:spcPct val="150000"/>
              </a:lnSpc>
              <a:buAutoNum type="arabicPeriod"/>
            </a:pPr>
            <a:endParaRPr lang="en-US" sz="2400" dirty="0">
              <a:solidFill>
                <a:srgbClr val="002060"/>
              </a:solidFill>
              <a:latin typeface="Times New Roman" pitchFamily="18" charset="0"/>
              <a:cs typeface="Times New Roman" pitchFamily="18" charset="0"/>
            </a:endParaRPr>
          </a:p>
          <a:p>
            <a:pPr marL="465138" indent="-465138" algn="just">
              <a:lnSpc>
                <a:spcPct val="200000"/>
              </a:lnSpc>
              <a:buClr>
                <a:srgbClr val="FF0000"/>
              </a:buClr>
            </a:pPr>
            <a:endParaRPr lang="en-US" sz="2400" dirty="0">
              <a:solidFill>
                <a:srgbClr val="002060"/>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228600" y="1066800"/>
            <a:ext cx="4038600" cy="5486400"/>
          </a:xfrm>
          <a:prstGeom prst="rect">
            <a:avLst/>
          </a:prstGeom>
          <a:noFill/>
          <a:ln w="9525">
            <a:noFill/>
            <a:miter lim="800000"/>
            <a:headEnd/>
            <a:tailEnd/>
          </a:ln>
          <a:effectLst/>
        </p:spPr>
      </p:pic>
      <p:sp>
        <p:nvSpPr>
          <p:cNvPr id="5" name="Rectangle 4"/>
          <p:cNvSpPr/>
          <p:nvPr/>
        </p:nvSpPr>
        <p:spPr>
          <a:xfrm>
            <a:off x="4191000" y="1066800"/>
            <a:ext cx="4724400" cy="5791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465138" lvl="0" indent="-465138" algn="just">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Since T1 and T4 committed, their changes were written to disk. </a:t>
            </a:r>
          </a:p>
          <a:p>
            <a:pPr marL="465138" lvl="0" indent="-465138" algn="just">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However, T2 and T3 did not commit, hence their changes were not written to disk. </a:t>
            </a:r>
          </a:p>
          <a:p>
            <a:pPr marL="465138" lvl="0" indent="-465138" algn="just">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T2 and T3 are ignored because they did not reach their commit points.</a:t>
            </a:r>
          </a:p>
          <a:p>
            <a:pPr marL="465138" lvl="0" indent="-465138" algn="just">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T4 is redone because its commit point is after the last system checkpoint.</a:t>
            </a: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 calcmode="lin" valueType="num">
                                      <p:cBhvr additive="base">
                                        <p:cTn id="2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 calcmode="lin" valueType="num">
                                      <p:cBhvr additive="base">
                                        <p:cTn id="3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algn="just">
              <a:lnSpc>
                <a:spcPct val="150000"/>
              </a:lnSpc>
            </a:pPr>
            <a:r>
              <a:rPr lang="en-US" sz="2400" b="1" dirty="0">
                <a:solidFill>
                  <a:srgbClr val="FF0000"/>
                </a:solidFill>
                <a:latin typeface="Times New Roman" pitchFamily="18" charset="0"/>
                <a:cs typeface="Times New Roman" pitchFamily="18" charset="0"/>
              </a:rPr>
              <a:t>1. DEFERRED UPDATE RECOVERY: (Cont…)</a:t>
            </a:r>
          </a:p>
          <a:p>
            <a:pPr lvl="0" algn="just">
              <a:lnSpc>
                <a:spcPct val="150000"/>
              </a:lnSpc>
            </a:pPr>
            <a:r>
              <a:rPr lang="en-US" sz="2400" dirty="0">
                <a:solidFill>
                  <a:srgbClr val="FF0000"/>
                </a:solidFill>
                <a:latin typeface="Times New Roman" pitchFamily="18" charset="0"/>
                <a:cs typeface="Times New Roman" pitchFamily="18" charset="0"/>
              </a:rPr>
              <a:t>Advantages: </a:t>
            </a:r>
          </a:p>
          <a:p>
            <a:pPr marL="914400" lvl="1" indent="-457200" algn="just">
              <a:lnSpc>
                <a:spcPct val="150000"/>
              </a:lnSpc>
              <a:buFont typeface="+mj-lt"/>
              <a:buAutoNum type="arabicPeriod"/>
            </a:pPr>
            <a:r>
              <a:rPr lang="en-US" sz="2400" b="1" dirty="0">
                <a:solidFill>
                  <a:srgbClr val="002060"/>
                </a:solidFill>
                <a:latin typeface="Times New Roman" pitchFamily="18" charset="0"/>
                <a:cs typeface="Times New Roman" pitchFamily="18" charset="0"/>
              </a:rPr>
              <a:t>Recovery is made easier</a:t>
            </a:r>
            <a:r>
              <a:rPr lang="en-US" sz="2400" dirty="0">
                <a:solidFill>
                  <a:srgbClr val="002060"/>
                </a:solidFill>
                <a:latin typeface="Times New Roman" pitchFamily="18" charset="0"/>
                <a:cs typeface="Times New Roman" pitchFamily="18" charset="0"/>
              </a:rPr>
              <a:t>: </a:t>
            </a:r>
          </a:p>
          <a:p>
            <a:pPr marL="914400" lvl="1" indent="-457200" algn="just">
              <a:lnSpc>
                <a:spcPct val="150000"/>
              </a:lnSpc>
            </a:pPr>
            <a:r>
              <a:rPr lang="en-US" sz="2400" dirty="0">
                <a:solidFill>
                  <a:srgbClr val="002060"/>
                </a:solidFill>
                <a:latin typeface="Times New Roman" pitchFamily="18" charset="0"/>
                <a:cs typeface="Times New Roman" pitchFamily="18" charset="0"/>
              </a:rPr>
              <a:t>	Any transaction that reached the commit point (from the log) has its writes applied to the database. All other transactions are ignored. </a:t>
            </a:r>
          </a:p>
          <a:p>
            <a:pPr marL="914400" lvl="1" indent="-457200" algn="just">
              <a:lnSpc>
                <a:spcPct val="150000"/>
              </a:lnSpc>
              <a:buFont typeface="+mj-lt"/>
              <a:buAutoNum type="arabicPeriod"/>
            </a:pPr>
            <a:r>
              <a:rPr lang="en-US" sz="2400" b="1" dirty="0">
                <a:solidFill>
                  <a:srgbClr val="002060"/>
                </a:solidFill>
                <a:latin typeface="Times New Roman" pitchFamily="18" charset="0"/>
                <a:cs typeface="Times New Roman" pitchFamily="18" charset="0"/>
              </a:rPr>
              <a:t>Cascading rollback does not occur </a:t>
            </a:r>
            <a:r>
              <a:rPr lang="en-US" sz="2400" dirty="0">
                <a:solidFill>
                  <a:srgbClr val="002060"/>
                </a:solidFill>
                <a:latin typeface="Times New Roman" pitchFamily="18" charset="0"/>
                <a:cs typeface="Times New Roman" pitchFamily="18" charset="0"/>
              </a:rPr>
              <a:t>because no other transaction sees the work of another until it is committed. </a:t>
            </a:r>
          </a:p>
          <a:p>
            <a:pPr lvl="0" algn="just">
              <a:lnSpc>
                <a:spcPct val="150000"/>
              </a:lnSpc>
            </a:pPr>
            <a:r>
              <a:rPr lang="en-US" sz="2400" dirty="0">
                <a:solidFill>
                  <a:srgbClr val="FF0000"/>
                </a:solidFill>
                <a:latin typeface="Times New Roman" pitchFamily="18" charset="0"/>
                <a:cs typeface="Times New Roman" pitchFamily="18" charset="0"/>
              </a:rPr>
              <a:t>Disadvantages: </a:t>
            </a:r>
          </a:p>
          <a:p>
            <a:pPr marL="914400" lvl="1" indent="-457200" algn="just">
              <a:lnSpc>
                <a:spcPct val="150000"/>
              </a:lnSpc>
              <a:buFont typeface="+mj-lt"/>
              <a:buAutoNum type="arabicPeriod"/>
            </a:pPr>
            <a:r>
              <a:rPr lang="en-US" sz="2400" b="1" dirty="0">
                <a:solidFill>
                  <a:srgbClr val="002060"/>
                </a:solidFill>
                <a:latin typeface="Times New Roman" pitchFamily="18" charset="0"/>
                <a:cs typeface="Times New Roman" pitchFamily="18" charset="0"/>
              </a:rPr>
              <a:t>Concurrency is limited: </a:t>
            </a:r>
            <a:r>
              <a:rPr lang="en-US" sz="2400" dirty="0">
                <a:solidFill>
                  <a:srgbClr val="002060"/>
                </a:solidFill>
                <a:latin typeface="Times New Roman" pitchFamily="18" charset="0"/>
                <a:cs typeface="Times New Roman" pitchFamily="18" charset="0"/>
              </a:rPr>
              <a:t>Must employ Strict 2PL which limits concurrency. </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marL="457200" indent="-457200" algn="just">
              <a:lnSpc>
                <a:spcPct val="150000"/>
              </a:lnSpc>
              <a:buFont typeface="+mj-lt"/>
              <a:buAutoNum type="arabicPeriod" startAt="2"/>
            </a:pPr>
            <a:r>
              <a:rPr lang="en-US" sz="2400" b="1" dirty="0">
                <a:solidFill>
                  <a:srgbClr val="FF0000"/>
                </a:solidFill>
                <a:latin typeface="Times New Roman" pitchFamily="18" charset="0"/>
                <a:cs typeface="Times New Roman" pitchFamily="18" charset="0"/>
              </a:rPr>
              <a:t>IMMEDIATE UPDATE RECOVERY</a:t>
            </a:r>
          </a:p>
          <a:p>
            <a:pPr marL="465138" lvl="0"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A Transaction issues an </a:t>
            </a:r>
            <a:r>
              <a:rPr lang="en-US" sz="2400" dirty="0">
                <a:solidFill>
                  <a:srgbClr val="FF0000"/>
                </a:solidFill>
                <a:latin typeface="Times New Roman" pitchFamily="18" charset="0"/>
                <a:cs typeface="Times New Roman" pitchFamily="18" charset="0"/>
              </a:rPr>
              <a:t>update command</a:t>
            </a:r>
            <a:r>
              <a:rPr lang="en-US" sz="2400" dirty="0">
                <a:solidFill>
                  <a:srgbClr val="002060"/>
                </a:solidFill>
                <a:latin typeface="Times New Roman" pitchFamily="18" charset="0"/>
                <a:cs typeface="Times New Roman" pitchFamily="18" charset="0"/>
              </a:rPr>
              <a:t>, the database can be updated immediately, without any need to wait for the transaction to reach its commit point.</a:t>
            </a:r>
          </a:p>
          <a:p>
            <a:pPr marL="465138" lvl="0"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An update operation must still be </a:t>
            </a:r>
            <a:r>
              <a:rPr lang="en-US" sz="2400" i="1" dirty="0">
                <a:solidFill>
                  <a:srgbClr val="FF0000"/>
                </a:solidFill>
                <a:latin typeface="Times New Roman" pitchFamily="18" charset="0"/>
                <a:cs typeface="Times New Roman" pitchFamily="18" charset="0"/>
              </a:rPr>
              <a:t>recorded in the log </a:t>
            </a:r>
            <a:r>
              <a:rPr lang="en-US" sz="2400" i="1" dirty="0">
                <a:solidFill>
                  <a:srgbClr val="002060"/>
                </a:solidFill>
                <a:latin typeface="Times New Roman" pitchFamily="18" charset="0"/>
                <a:cs typeface="Times New Roman" pitchFamily="18" charset="0"/>
              </a:rPr>
              <a:t>(on disk</a:t>
            </a:r>
            <a:r>
              <a:rPr lang="en-US" sz="2400" dirty="0">
                <a:solidFill>
                  <a:srgbClr val="002060"/>
                </a:solidFill>
                <a:latin typeface="Times New Roman" pitchFamily="18" charset="0"/>
                <a:cs typeface="Times New Roman" pitchFamily="18" charset="0"/>
              </a:rPr>
              <a:t>)</a:t>
            </a:r>
            <a:r>
              <a:rPr lang="en-US" sz="3600" dirty="0">
                <a:solidFill>
                  <a:srgbClr val="002060"/>
                </a:solidFill>
                <a:latin typeface="Times New Roman" pitchFamily="18" charset="0"/>
                <a:cs typeface="Times New Roman" pitchFamily="18" charset="0"/>
              </a:rPr>
              <a:t> </a:t>
            </a:r>
            <a:r>
              <a:rPr lang="en-US" sz="2400" dirty="0">
                <a:solidFill>
                  <a:srgbClr val="002060"/>
                </a:solidFill>
                <a:latin typeface="Times New Roman" pitchFamily="18" charset="0"/>
                <a:cs typeface="Times New Roman" pitchFamily="18" charset="0"/>
              </a:rPr>
              <a:t>before it is applied to the database – using the </a:t>
            </a:r>
            <a:r>
              <a:rPr lang="en-US" sz="2400" b="1" i="1" dirty="0">
                <a:solidFill>
                  <a:srgbClr val="FF0000"/>
                </a:solidFill>
                <a:latin typeface="Times New Roman" pitchFamily="18" charset="0"/>
                <a:cs typeface="Times New Roman" pitchFamily="18" charset="0"/>
              </a:rPr>
              <a:t>write ahead logging protocol</a:t>
            </a:r>
            <a:r>
              <a:rPr lang="en-US" sz="2400" dirty="0">
                <a:solidFill>
                  <a:srgbClr val="002060"/>
                </a:solidFill>
                <a:latin typeface="Times New Roman" pitchFamily="18" charset="0"/>
                <a:cs typeface="Times New Roman" pitchFamily="18" charset="0"/>
              </a:rPr>
              <a:t>.</a:t>
            </a:r>
          </a:p>
          <a:p>
            <a:pPr marL="465138" lvl="0"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So that we can recover in case of failure. </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marL="457200" indent="-457200" algn="just">
              <a:lnSpc>
                <a:spcPct val="150000"/>
              </a:lnSpc>
              <a:buFont typeface="+mj-lt"/>
              <a:buAutoNum type="arabicPeriod" startAt="2"/>
            </a:pPr>
            <a:r>
              <a:rPr lang="en-US" sz="2400" b="1" dirty="0">
                <a:solidFill>
                  <a:srgbClr val="FF0000"/>
                </a:solidFill>
                <a:latin typeface="Times New Roman" pitchFamily="18" charset="0"/>
                <a:cs typeface="Times New Roman" pitchFamily="18" charset="0"/>
              </a:rPr>
              <a:t>IMMEDIATE UPDATE RECOVERY</a:t>
            </a:r>
          </a:p>
          <a:p>
            <a:pPr marL="465138" lvl="0"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Immediate Update allows the write operations to the database as the transaction is executing. </a:t>
            </a:r>
          </a:p>
          <a:p>
            <a:pPr marL="465138" lvl="0"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Writes are still saved in the log before being applied to the database - a </a:t>
            </a:r>
            <a:r>
              <a:rPr lang="en-US" sz="2400" b="1" i="1" dirty="0">
                <a:solidFill>
                  <a:srgbClr val="FF0000"/>
                </a:solidFill>
                <a:latin typeface="Times New Roman" pitchFamily="18" charset="0"/>
                <a:cs typeface="Times New Roman" pitchFamily="18" charset="0"/>
              </a:rPr>
              <a:t>Write-Ahead Log </a:t>
            </a:r>
            <a:r>
              <a:rPr lang="en-US" sz="2400" dirty="0">
                <a:solidFill>
                  <a:srgbClr val="002060"/>
                </a:solidFill>
                <a:latin typeface="Times New Roman" pitchFamily="18" charset="0"/>
                <a:cs typeface="Times New Roman" pitchFamily="18" charset="0"/>
              </a:rPr>
              <a:t>(WAL) </a:t>
            </a:r>
          </a:p>
          <a:p>
            <a:pPr marL="465138" lvl="0" indent="-465138"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Maintain two logs: </a:t>
            </a:r>
          </a:p>
          <a:p>
            <a:pPr marL="914400" lvl="1" indent="-457200" algn="just">
              <a:lnSpc>
                <a:spcPct val="150000"/>
              </a:lnSpc>
              <a:buFont typeface="Wingdings" pitchFamily="2" charset="2"/>
              <a:buChar char="q"/>
            </a:pPr>
            <a:r>
              <a:rPr lang="en-US" sz="2400" b="1" dirty="0">
                <a:solidFill>
                  <a:srgbClr val="FF0000"/>
                </a:solidFill>
                <a:latin typeface="Times New Roman" pitchFamily="18" charset="0"/>
                <a:cs typeface="Times New Roman" pitchFamily="18" charset="0"/>
              </a:rPr>
              <a:t>REDO log</a:t>
            </a:r>
            <a:r>
              <a:rPr lang="en-US" sz="2400" dirty="0">
                <a:solidFill>
                  <a:srgbClr val="002060"/>
                </a:solidFill>
                <a:latin typeface="Times New Roman" pitchFamily="18" charset="0"/>
                <a:cs typeface="Times New Roman" pitchFamily="18" charset="0"/>
              </a:rPr>
              <a:t>: A record of each new data item in the database. </a:t>
            </a:r>
          </a:p>
          <a:p>
            <a:pPr marL="914400" indent="-457200" algn="just">
              <a:lnSpc>
                <a:spcPct val="150000"/>
              </a:lnSpc>
              <a:buFont typeface="Wingdings" pitchFamily="2" charset="2"/>
              <a:buChar char="q"/>
            </a:pPr>
            <a:r>
              <a:rPr lang="en-US" sz="2400" b="1" dirty="0">
                <a:solidFill>
                  <a:srgbClr val="FF0000"/>
                </a:solidFill>
                <a:latin typeface="Times New Roman" pitchFamily="18" charset="0"/>
                <a:cs typeface="Times New Roman" pitchFamily="18" charset="0"/>
              </a:rPr>
              <a:t>UNDO</a:t>
            </a:r>
            <a:r>
              <a:rPr lang="en-US" sz="2400" dirty="0">
                <a:solidFill>
                  <a:srgbClr val="FF0000"/>
                </a:solidFill>
                <a:latin typeface="Times New Roman" pitchFamily="18" charset="0"/>
                <a:cs typeface="Times New Roman" pitchFamily="18" charset="0"/>
              </a:rPr>
              <a:t> log: </a:t>
            </a:r>
            <a:r>
              <a:rPr lang="en-US" sz="2400" dirty="0">
                <a:solidFill>
                  <a:srgbClr val="002060"/>
                </a:solidFill>
                <a:latin typeface="Times New Roman" pitchFamily="18" charset="0"/>
                <a:cs typeface="Times New Roman" pitchFamily="18" charset="0"/>
              </a:rPr>
              <a:t>A record of each updated data item (old values).</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marL="457200" indent="-457200" algn="just">
              <a:lnSpc>
                <a:spcPct val="150000"/>
              </a:lnSpc>
              <a:buFont typeface="+mj-lt"/>
              <a:buAutoNum type="arabicPeriod" startAt="2"/>
            </a:pPr>
            <a:r>
              <a:rPr lang="en-US" sz="2400" b="1" dirty="0">
                <a:solidFill>
                  <a:srgbClr val="FF0000"/>
                </a:solidFill>
                <a:latin typeface="Times New Roman" pitchFamily="18" charset="0"/>
                <a:cs typeface="Times New Roman" pitchFamily="18" charset="0"/>
              </a:rPr>
              <a:t>IMMEDIATE UPDATE RECOVERY: (Cont…)</a:t>
            </a:r>
          </a:p>
          <a:p>
            <a:pPr lvl="0" algn="just">
              <a:lnSpc>
                <a:spcPct val="150000"/>
              </a:lnSpc>
            </a:pPr>
            <a:r>
              <a:rPr lang="en-US" dirty="0"/>
              <a:t> </a:t>
            </a:r>
            <a:r>
              <a:rPr lang="en-US" sz="2400" dirty="0">
                <a:solidFill>
                  <a:srgbClr val="FF0000"/>
                </a:solidFill>
                <a:latin typeface="Times New Roman" pitchFamily="18" charset="0"/>
                <a:cs typeface="Times New Roman" pitchFamily="18" charset="0"/>
              </a:rPr>
              <a:t>Two rules: </a:t>
            </a:r>
          </a:p>
          <a:p>
            <a:pPr marL="914400" lvl="1" indent="-457200" algn="just">
              <a:lnSpc>
                <a:spcPct val="150000"/>
              </a:lnSpc>
              <a:buFont typeface="+mj-lt"/>
              <a:buAutoNum type="arabicPeriod"/>
            </a:pPr>
            <a:r>
              <a:rPr lang="en-US" sz="2400" dirty="0">
                <a:solidFill>
                  <a:srgbClr val="002060"/>
                </a:solidFill>
                <a:latin typeface="Times New Roman" pitchFamily="18" charset="0"/>
                <a:cs typeface="Times New Roman" pitchFamily="18" charset="0"/>
              </a:rPr>
              <a:t>Transaction T may not update the database until all UNDO entries have been written to the UNDO log. </a:t>
            </a:r>
          </a:p>
          <a:p>
            <a:pPr marL="914400" lvl="1" indent="-457200" algn="just">
              <a:lnSpc>
                <a:spcPct val="150000"/>
              </a:lnSpc>
              <a:buFont typeface="+mj-lt"/>
              <a:buAutoNum type="arabicPeriod"/>
            </a:pPr>
            <a:r>
              <a:rPr lang="en-US" sz="2400" dirty="0">
                <a:solidFill>
                  <a:srgbClr val="002060"/>
                </a:solidFill>
                <a:latin typeface="Times New Roman" pitchFamily="18" charset="0"/>
                <a:cs typeface="Times New Roman" pitchFamily="18" charset="0"/>
              </a:rPr>
              <a:t>Transaction T is not allowed to commit until all REDO and UNDO log entries are written (</a:t>
            </a:r>
            <a:r>
              <a:rPr lang="en-US" sz="2400" i="1" dirty="0">
                <a:solidFill>
                  <a:srgbClr val="002060"/>
                </a:solidFill>
                <a:latin typeface="Times New Roman" pitchFamily="18" charset="0"/>
                <a:cs typeface="Times New Roman" pitchFamily="18" charset="0"/>
              </a:rPr>
              <a:t>forced-written</a:t>
            </a:r>
            <a:r>
              <a:rPr lang="en-US" sz="2400" dirty="0">
                <a:solidFill>
                  <a:srgbClr val="002060"/>
                </a:solidFill>
                <a:latin typeface="Times New Roman" pitchFamily="18" charset="0"/>
                <a:cs typeface="Times New Roman" pitchFamily="18" charset="0"/>
              </a:rPr>
              <a:t> to disk). </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marL="457200" indent="-457200" algn="just">
              <a:lnSpc>
                <a:spcPct val="150000"/>
              </a:lnSpc>
              <a:buFont typeface="+mj-lt"/>
              <a:buAutoNum type="arabicPeriod" startAt="2"/>
            </a:pPr>
            <a:r>
              <a:rPr lang="en-US" sz="2400" b="1" dirty="0">
                <a:solidFill>
                  <a:srgbClr val="FF0000"/>
                </a:solidFill>
                <a:latin typeface="Times New Roman" pitchFamily="18" charset="0"/>
                <a:cs typeface="Times New Roman" pitchFamily="18" charset="0"/>
              </a:rPr>
              <a:t>IMMEDIATE UPDATE RECOVERY: (Cont…)</a:t>
            </a:r>
          </a:p>
          <a:p>
            <a:pPr lvl="0" algn="just">
              <a:lnSpc>
                <a:spcPct val="150000"/>
              </a:lnSpc>
            </a:pPr>
            <a:r>
              <a:rPr lang="en-US" sz="2400" dirty="0">
                <a:solidFill>
                  <a:srgbClr val="FF0000"/>
                </a:solidFill>
                <a:latin typeface="Times New Roman" pitchFamily="18" charset="0"/>
                <a:cs typeface="Times New Roman" pitchFamily="18" charset="0"/>
              </a:rPr>
              <a:t>To Recover: </a:t>
            </a:r>
          </a:p>
          <a:p>
            <a:pPr marL="914400" lvl="1" indent="-457200" algn="just">
              <a:lnSpc>
                <a:spcPct val="150000"/>
              </a:lnSpc>
              <a:buClr>
                <a:srgbClr val="FF0000"/>
              </a:buClr>
              <a:buFont typeface="+mj-lt"/>
              <a:buAutoNum type="arabicPeriod"/>
            </a:pPr>
            <a:r>
              <a:rPr lang="en-US" sz="2300" dirty="0">
                <a:solidFill>
                  <a:srgbClr val="002060"/>
                </a:solidFill>
                <a:latin typeface="Times New Roman" pitchFamily="18" charset="0"/>
                <a:cs typeface="Times New Roman" pitchFamily="18" charset="0"/>
              </a:rPr>
              <a:t>Begin at the end of the log and read backwards to the last</a:t>
            </a:r>
          </a:p>
          <a:p>
            <a:pPr marL="914400" lvl="1" indent="-457200" algn="just">
              <a:lnSpc>
                <a:spcPct val="150000"/>
              </a:lnSpc>
              <a:buClr>
                <a:srgbClr val="FF0000"/>
              </a:buClr>
            </a:pPr>
            <a:r>
              <a:rPr lang="en-US" sz="2300" dirty="0">
                <a:solidFill>
                  <a:srgbClr val="002060"/>
                </a:solidFill>
                <a:latin typeface="Times New Roman" pitchFamily="18" charset="0"/>
                <a:cs typeface="Times New Roman" pitchFamily="18" charset="0"/>
              </a:rPr>
              <a:t>	checkpoint Create two lists:</a:t>
            </a:r>
          </a:p>
          <a:p>
            <a:pPr marL="1379538" lvl="1" indent="-465138" algn="just">
              <a:lnSpc>
                <a:spcPct val="150000"/>
              </a:lnSpc>
              <a:buClr>
                <a:srgbClr val="FF0000"/>
              </a:buClr>
              <a:buFont typeface="Wingdings" pitchFamily="2" charset="2"/>
              <a:buChar char="q"/>
            </a:pPr>
            <a:r>
              <a:rPr lang="en-US" sz="2300" b="1" dirty="0">
                <a:solidFill>
                  <a:srgbClr val="002060"/>
                </a:solidFill>
                <a:latin typeface="Times New Roman" pitchFamily="18" charset="0"/>
                <a:cs typeface="Times New Roman" pitchFamily="18" charset="0"/>
              </a:rPr>
              <a:t>C</a:t>
            </a:r>
            <a:r>
              <a:rPr lang="en-US" sz="2300" dirty="0">
                <a:solidFill>
                  <a:srgbClr val="002060"/>
                </a:solidFill>
                <a:latin typeface="Times New Roman" pitchFamily="18" charset="0"/>
                <a:cs typeface="Times New Roman" pitchFamily="18" charset="0"/>
              </a:rPr>
              <a:t> - transactions that have committed (Committed Transaction)</a:t>
            </a:r>
          </a:p>
          <a:p>
            <a:pPr marL="1379538" lvl="1" indent="-465138" algn="just">
              <a:lnSpc>
                <a:spcPct val="150000"/>
              </a:lnSpc>
              <a:buClr>
                <a:srgbClr val="FF0000"/>
              </a:buClr>
              <a:buFont typeface="Wingdings" pitchFamily="2" charset="2"/>
              <a:buChar char="q"/>
            </a:pPr>
            <a:r>
              <a:rPr lang="en-US" sz="2300" b="1" dirty="0">
                <a:solidFill>
                  <a:srgbClr val="002060"/>
                </a:solidFill>
                <a:latin typeface="Times New Roman" pitchFamily="18" charset="0"/>
                <a:cs typeface="Times New Roman" pitchFamily="18" charset="0"/>
              </a:rPr>
              <a:t>NC</a:t>
            </a:r>
            <a:r>
              <a:rPr lang="en-US" sz="2300" dirty="0">
                <a:solidFill>
                  <a:srgbClr val="002060"/>
                </a:solidFill>
                <a:latin typeface="Times New Roman" pitchFamily="18" charset="0"/>
                <a:cs typeface="Times New Roman" pitchFamily="18" charset="0"/>
              </a:rPr>
              <a:t> - transactions that did not commit (Active Transaction)</a:t>
            </a:r>
          </a:p>
          <a:p>
            <a:pPr marL="914400" lvl="1" indent="-457200" algn="just">
              <a:lnSpc>
                <a:spcPct val="150000"/>
              </a:lnSpc>
              <a:buClr>
                <a:srgbClr val="FF0000"/>
              </a:buClr>
              <a:buFont typeface="+mj-lt"/>
              <a:buAutoNum type="arabicPeriod" startAt="2"/>
            </a:pPr>
            <a:r>
              <a:rPr lang="en-US" sz="2300" dirty="0">
                <a:solidFill>
                  <a:srgbClr val="002060"/>
                </a:solidFill>
                <a:latin typeface="Times New Roman" pitchFamily="18" charset="0"/>
                <a:cs typeface="Times New Roman" pitchFamily="18" charset="0"/>
              </a:rPr>
              <a:t>Undo all the write operations of the Active transactions from the log, using UNDO procedure.</a:t>
            </a:r>
          </a:p>
          <a:p>
            <a:pPr marL="914400" lvl="1" indent="-457200" algn="just">
              <a:lnSpc>
                <a:spcPct val="150000"/>
              </a:lnSpc>
              <a:buClr>
                <a:srgbClr val="FF0000"/>
              </a:buClr>
              <a:buFont typeface="+mj-lt"/>
              <a:buAutoNum type="arabicPeriod" startAt="2"/>
            </a:pPr>
            <a:r>
              <a:rPr lang="en-US" sz="2300" dirty="0">
                <a:solidFill>
                  <a:srgbClr val="002060"/>
                </a:solidFill>
                <a:latin typeface="Times New Roman" pitchFamily="18" charset="0"/>
                <a:cs typeface="Times New Roman" pitchFamily="18" charset="0"/>
              </a:rPr>
              <a:t>Redo the write operations of the Committed Transactions from the log using REDO procedure.</a:t>
            </a:r>
            <a:endParaRPr lang="en-US" sz="2400"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 calcmode="lin" valueType="num">
                                      <p:cBhvr additive="base">
                                        <p:cTn id="17"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anim calcmode="lin" valueType="num">
                                      <p:cBhvr additive="base">
                                        <p:cTn id="23"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anim calcmode="lin" valueType="num">
                                      <p:cBhvr additive="base">
                                        <p:cTn id="29"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 calcmode="lin" valueType="num">
                                      <p:cBhvr additive="base">
                                        <p:cTn id="35"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8">
                                            <p:txEl>
                                              <p:pRg st="7" end="7"/>
                                            </p:txEl>
                                          </p:spTgt>
                                        </p:tgtEl>
                                        <p:attrNameLst>
                                          <p:attrName>style.visibility</p:attrName>
                                        </p:attrNameLst>
                                      </p:cBhvr>
                                      <p:to>
                                        <p:strVal val="visible"/>
                                      </p:to>
                                    </p:set>
                                    <p:anim calcmode="lin" valueType="num">
                                      <p:cBhvr additive="base">
                                        <p:cTn id="41"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0" y="0"/>
            <a:ext cx="9144000" cy="6858000"/>
          </a:xfrm>
          <a:prstGeom prst="rect">
            <a:avLst/>
          </a:prstGeom>
        </p:spPr>
        <p:txBody>
          <a:bodyPr vert="horz" lIns="91440" tIns="45720" rIns="91440" bIns="45720" rtlCol="0">
            <a:noAutofit/>
          </a:bodyPr>
          <a:lstStyle/>
          <a:p>
            <a:pPr marL="457200" indent="-457200" algn="just">
              <a:lnSpc>
                <a:spcPct val="150000"/>
              </a:lnSpc>
              <a:buFont typeface="+mj-lt"/>
              <a:buAutoNum type="arabicPeriod" startAt="2"/>
            </a:pPr>
            <a:r>
              <a:rPr lang="en-US" sz="2400" b="1" dirty="0">
                <a:solidFill>
                  <a:srgbClr val="FF0000"/>
                </a:solidFill>
                <a:latin typeface="Times New Roman" pitchFamily="18" charset="0"/>
                <a:cs typeface="Times New Roman" pitchFamily="18" charset="0"/>
              </a:rPr>
              <a:t>IMMEDIATE UPDATE RECOVERY: (Cont…)</a:t>
            </a:r>
          </a:p>
          <a:p>
            <a:pPr marL="457200" lvl="0" indent="-457200" algn="just">
              <a:lnSpc>
                <a:spcPct val="150000"/>
              </a:lnSpc>
            </a:pPr>
            <a:r>
              <a:rPr lang="en-US" sz="2400" dirty="0">
                <a:solidFill>
                  <a:srgbClr val="002060"/>
                </a:solidFill>
                <a:latin typeface="Times New Roman" pitchFamily="18" charset="0"/>
                <a:cs typeface="Times New Roman" pitchFamily="18" charset="0"/>
              </a:rPr>
              <a:t>	</a:t>
            </a:r>
            <a:endParaRPr lang="en-US" sz="2400" b="1" dirty="0">
              <a:solidFill>
                <a:srgbClr val="FF0000"/>
              </a:solidFill>
              <a:latin typeface="Times New Roman" pitchFamily="18" charset="0"/>
              <a:cs typeface="Times New Roman" pitchFamily="18" charset="0"/>
            </a:endParaRPr>
          </a:p>
          <a:p>
            <a:pPr marL="457200" lvl="0" indent="-457200" algn="just">
              <a:lnSpc>
                <a:spcPct val="150000"/>
              </a:lnSpc>
              <a:buAutoNum type="arabicPeriod"/>
            </a:pPr>
            <a:endParaRPr lang="en-US" sz="2400" dirty="0">
              <a:solidFill>
                <a:srgbClr val="002060"/>
              </a:solidFill>
              <a:latin typeface="Times New Roman" pitchFamily="18" charset="0"/>
              <a:cs typeface="Times New Roman" pitchFamily="18" charset="0"/>
            </a:endParaRPr>
          </a:p>
          <a:p>
            <a:pPr marL="465138" indent="-465138" algn="just">
              <a:lnSpc>
                <a:spcPct val="200000"/>
              </a:lnSpc>
              <a:buClr>
                <a:srgbClr val="FF0000"/>
              </a:buClr>
            </a:pPr>
            <a:endParaRPr lang="en-US" sz="2400" dirty="0">
              <a:solidFill>
                <a:srgbClr val="002060"/>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228600" y="1066800"/>
            <a:ext cx="4038600" cy="5486400"/>
          </a:xfrm>
          <a:prstGeom prst="rect">
            <a:avLst/>
          </a:prstGeom>
          <a:noFill/>
          <a:ln w="9525">
            <a:noFill/>
            <a:miter lim="800000"/>
            <a:headEnd/>
            <a:tailEnd/>
          </a:ln>
          <a:effectLst/>
        </p:spPr>
      </p:pic>
      <p:sp>
        <p:nvSpPr>
          <p:cNvPr id="5" name="Rectangle 4"/>
          <p:cNvSpPr/>
          <p:nvPr/>
        </p:nvSpPr>
        <p:spPr>
          <a:xfrm>
            <a:off x="4191000" y="609600"/>
            <a:ext cx="4724400" cy="6248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465138" lvl="0" indent="-465138" algn="just">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Since T1, T2, T3 and T4 changes were written to disk. </a:t>
            </a:r>
          </a:p>
          <a:p>
            <a:pPr marL="465138" lvl="0" indent="-465138" algn="just">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However, T1 and T4 are committed. </a:t>
            </a:r>
          </a:p>
          <a:p>
            <a:pPr marL="465138" lvl="0" indent="-465138" algn="just">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T2 and T3 are not committed.</a:t>
            </a:r>
          </a:p>
          <a:p>
            <a:pPr marL="465138" lvl="0" indent="-465138" algn="just">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T2 and T3 are in Active Transaction List and T4 is in Committed Transaction.</a:t>
            </a:r>
          </a:p>
          <a:p>
            <a:pPr marL="465138" lvl="0" indent="-465138" algn="just">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T2 and T3 are Undone from the log using UNDO procedure.</a:t>
            </a:r>
          </a:p>
          <a:p>
            <a:pPr marL="465138" lvl="0" indent="-465138" algn="just">
              <a:lnSpc>
                <a:spcPct val="150000"/>
              </a:lnSpc>
              <a:buClr>
                <a:srgbClr val="FF0000"/>
              </a:buClr>
              <a:buFont typeface="Wingdings" pitchFamily="2" charset="2"/>
              <a:buChar char="v"/>
            </a:pPr>
            <a:r>
              <a:rPr lang="en-US" sz="2200" dirty="0">
                <a:solidFill>
                  <a:srgbClr val="002060"/>
                </a:solidFill>
                <a:latin typeface="Times New Roman" pitchFamily="18" charset="0"/>
                <a:cs typeface="Times New Roman" pitchFamily="18" charset="0"/>
              </a:rPr>
              <a:t>T4 is redone because its commit point is after the last system checkpoint using REDO procedure.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 calcmode="lin" valueType="num">
                                      <p:cBhvr additive="base">
                                        <p:cTn id="2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 calcmode="lin" valueType="num">
                                      <p:cBhvr additive="base">
                                        <p:cTn id="3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 calcmode="lin" valueType="num">
                                      <p:cBhvr additive="base">
                                        <p:cTn id="3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anim calcmode="lin" valueType="num">
                                      <p:cBhvr additive="base">
                                        <p:cTn id="4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marL="457200" indent="-457200" algn="just">
              <a:lnSpc>
                <a:spcPct val="150000"/>
              </a:lnSpc>
              <a:buFont typeface="+mj-lt"/>
              <a:buAutoNum type="arabicPeriod" startAt="2"/>
            </a:pPr>
            <a:r>
              <a:rPr lang="en-US" sz="2400" b="1" dirty="0">
                <a:solidFill>
                  <a:srgbClr val="FF0000"/>
                </a:solidFill>
                <a:latin typeface="Times New Roman" pitchFamily="18" charset="0"/>
                <a:cs typeface="Times New Roman" pitchFamily="18" charset="0"/>
              </a:rPr>
              <a:t>IMMEDIATE UPDATE RECOVERY: (Cont…)</a:t>
            </a:r>
          </a:p>
          <a:p>
            <a:pPr lvl="0" algn="just">
              <a:lnSpc>
                <a:spcPct val="150000"/>
              </a:lnSpc>
            </a:pPr>
            <a:r>
              <a:rPr lang="en-US" sz="2400" dirty="0">
                <a:solidFill>
                  <a:srgbClr val="FF0000"/>
                </a:solidFill>
                <a:latin typeface="Times New Roman" pitchFamily="18" charset="0"/>
                <a:cs typeface="Times New Roman" pitchFamily="18" charset="0"/>
              </a:rPr>
              <a:t>Advantages: </a:t>
            </a:r>
          </a:p>
          <a:p>
            <a:pPr lvl="1" algn="just">
              <a:lnSpc>
                <a:spcPct val="150000"/>
              </a:lnSpc>
            </a:pPr>
            <a:r>
              <a:rPr lang="en-US" sz="2400" dirty="0">
                <a:solidFill>
                  <a:srgbClr val="002060"/>
                </a:solidFill>
                <a:latin typeface="Times New Roman" pitchFamily="18" charset="0"/>
                <a:cs typeface="Times New Roman" pitchFamily="18" charset="0"/>
              </a:rPr>
              <a:t>Immediate update </a:t>
            </a:r>
            <a:r>
              <a:rPr lang="en-US" sz="2400" b="1" dirty="0">
                <a:solidFill>
                  <a:srgbClr val="002060"/>
                </a:solidFill>
                <a:latin typeface="Times New Roman" pitchFamily="18" charset="0"/>
                <a:cs typeface="Times New Roman" pitchFamily="18" charset="0"/>
              </a:rPr>
              <a:t>allows higher concurrency </a:t>
            </a:r>
            <a:r>
              <a:rPr lang="en-US" sz="2400" dirty="0">
                <a:solidFill>
                  <a:srgbClr val="002060"/>
                </a:solidFill>
                <a:latin typeface="Times New Roman" pitchFamily="18" charset="0"/>
                <a:cs typeface="Times New Roman" pitchFamily="18" charset="0"/>
              </a:rPr>
              <a:t>because transactions write continuously to the database rather than waiting until the commit point. </a:t>
            </a:r>
          </a:p>
          <a:p>
            <a:pPr lvl="0" algn="just">
              <a:lnSpc>
                <a:spcPct val="150000"/>
              </a:lnSpc>
            </a:pPr>
            <a:r>
              <a:rPr lang="en-US" sz="2400" dirty="0">
                <a:solidFill>
                  <a:srgbClr val="FF0000"/>
                </a:solidFill>
                <a:latin typeface="Times New Roman" pitchFamily="18" charset="0"/>
                <a:cs typeface="Times New Roman" pitchFamily="18" charset="0"/>
              </a:rPr>
              <a:t>Disadvantages: </a:t>
            </a:r>
          </a:p>
          <a:p>
            <a:pPr lvl="1" algn="just">
              <a:lnSpc>
                <a:spcPct val="150000"/>
              </a:lnSpc>
            </a:pPr>
            <a:r>
              <a:rPr lang="en-US" sz="2400" b="1" dirty="0">
                <a:solidFill>
                  <a:srgbClr val="002060"/>
                </a:solidFill>
                <a:latin typeface="Times New Roman" pitchFamily="18" charset="0"/>
                <a:cs typeface="Times New Roman" pitchFamily="18" charset="0"/>
              </a:rPr>
              <a:t>Can lead to cascading rollbacks </a:t>
            </a:r>
            <a:r>
              <a:rPr lang="en-US" sz="2400" dirty="0">
                <a:solidFill>
                  <a:srgbClr val="002060"/>
                </a:solidFill>
                <a:latin typeface="Times New Roman" pitchFamily="18" charset="0"/>
                <a:cs typeface="Times New Roman" pitchFamily="18" charset="0"/>
              </a:rPr>
              <a:t>- time consuming and may be problematic. </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marL="457200" indent="-457200" algn="just">
              <a:lnSpc>
                <a:spcPct val="150000"/>
              </a:lnSpc>
              <a:buFont typeface="+mj-lt"/>
              <a:buAutoNum type="arabicPeriod" startAt="3"/>
            </a:pPr>
            <a:r>
              <a:rPr lang="en-US" sz="2400" b="1" dirty="0">
                <a:solidFill>
                  <a:srgbClr val="FF0000"/>
                </a:solidFill>
                <a:latin typeface="Times New Roman" pitchFamily="18" charset="0"/>
                <a:cs typeface="Times New Roman" pitchFamily="18" charset="0"/>
              </a:rPr>
              <a:t>SHADOW PAGING:</a:t>
            </a:r>
          </a:p>
          <a:p>
            <a:pPr marL="457200" lvl="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The AFIM (</a:t>
            </a:r>
            <a:r>
              <a:rPr lang="en-US" sz="2400" dirty="0">
                <a:solidFill>
                  <a:srgbClr val="FF0000"/>
                </a:solidFill>
                <a:latin typeface="Times New Roman" pitchFamily="18" charset="0"/>
                <a:cs typeface="Times New Roman" pitchFamily="18" charset="0"/>
              </a:rPr>
              <a:t>After Image</a:t>
            </a:r>
            <a:r>
              <a:rPr lang="en-US" sz="2400" dirty="0">
                <a:solidFill>
                  <a:srgbClr val="002060"/>
                </a:solidFill>
                <a:latin typeface="Times New Roman" pitchFamily="18" charset="0"/>
                <a:cs typeface="Times New Roman" pitchFamily="18" charset="0"/>
              </a:rPr>
              <a:t>) does not overwrite its BFIM (</a:t>
            </a:r>
            <a:r>
              <a:rPr lang="en-US" sz="2400" dirty="0">
                <a:solidFill>
                  <a:srgbClr val="FF0000"/>
                </a:solidFill>
                <a:latin typeface="Times New Roman" pitchFamily="18" charset="0"/>
                <a:cs typeface="Times New Roman" pitchFamily="18" charset="0"/>
              </a:rPr>
              <a:t>Before Image</a:t>
            </a:r>
            <a:r>
              <a:rPr lang="en-US" sz="2400" dirty="0">
                <a:solidFill>
                  <a:srgbClr val="002060"/>
                </a:solidFill>
                <a:latin typeface="Times New Roman" pitchFamily="18" charset="0"/>
                <a:cs typeface="Times New Roman" pitchFamily="18" charset="0"/>
              </a:rPr>
              <a:t>) but recorded at another place on the disk.  </a:t>
            </a:r>
          </a:p>
          <a:p>
            <a:pPr marL="457200" lvl="0" indent="-457200" algn="just">
              <a:lnSpc>
                <a:spcPct val="150000"/>
              </a:lnSpc>
              <a:buClr>
                <a:srgbClr val="FF0000"/>
              </a:buClr>
              <a:buFont typeface="Wingdings" pitchFamily="2" charset="2"/>
              <a:buChar char="v"/>
            </a:pPr>
            <a:r>
              <a:rPr lang="en-US" sz="2400" dirty="0">
                <a:solidFill>
                  <a:srgbClr val="002060"/>
                </a:solidFill>
                <a:latin typeface="Times New Roman" pitchFamily="18" charset="0"/>
                <a:cs typeface="Times New Roman" pitchFamily="18" charset="0"/>
              </a:rPr>
              <a:t>Thus, at any time a data item has AFIM and BFIM (</a:t>
            </a:r>
            <a:r>
              <a:rPr lang="en-US" sz="2400" dirty="0">
                <a:solidFill>
                  <a:srgbClr val="FF0000"/>
                </a:solidFill>
                <a:latin typeface="Times New Roman" pitchFamily="18" charset="0"/>
                <a:cs typeface="Times New Roman" pitchFamily="18" charset="0"/>
              </a:rPr>
              <a:t>Shadow copy of the data item</a:t>
            </a:r>
            <a:r>
              <a:rPr lang="en-US" sz="2400" dirty="0">
                <a:solidFill>
                  <a:srgbClr val="002060"/>
                </a:solidFill>
                <a:latin typeface="Times New Roman" pitchFamily="18" charset="0"/>
                <a:cs typeface="Times New Roman" pitchFamily="18" charset="0"/>
              </a:rPr>
              <a:t>) at two different places on the disk.</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marL="457200" indent="-457200" algn="just">
              <a:lnSpc>
                <a:spcPct val="150000"/>
              </a:lnSpc>
              <a:buFont typeface="+mj-lt"/>
              <a:buAutoNum type="arabicPeriod" startAt="3"/>
            </a:pPr>
            <a:r>
              <a:rPr lang="en-US" sz="2400" b="1" dirty="0">
                <a:solidFill>
                  <a:srgbClr val="FF0000"/>
                </a:solidFill>
                <a:latin typeface="Times New Roman" pitchFamily="18" charset="0"/>
                <a:cs typeface="Times New Roman" pitchFamily="18" charset="0"/>
              </a:rPr>
              <a:t>SHADOW PAGING: (Cont…)</a:t>
            </a:r>
          </a:p>
          <a:p>
            <a:pPr marL="457200" indent="-457200" algn="just">
              <a:lnSpc>
                <a:spcPct val="150000"/>
              </a:lnSpc>
            </a:pPr>
            <a:endParaRPr lang="en-US" sz="2400" b="1" dirty="0">
              <a:solidFill>
                <a:srgbClr val="FF0000"/>
              </a:solidFill>
              <a:latin typeface="Times New Roman" pitchFamily="18" charset="0"/>
              <a:cs typeface="Times New Roman" pitchFamily="18" charset="0"/>
            </a:endParaRPr>
          </a:p>
          <a:p>
            <a:pPr marL="457200" lvl="0" indent="-457200" algn="just">
              <a:lnSpc>
                <a:spcPct val="150000"/>
              </a:lnSpc>
              <a:buClr>
                <a:srgbClr val="FF0000"/>
              </a:buClr>
            </a:pPr>
            <a:endParaRPr lang="en-US" sz="2400" dirty="0">
              <a:solidFill>
                <a:srgbClr val="002060"/>
              </a:solidFill>
              <a:latin typeface="Times New Roman" pitchFamily="18" charset="0"/>
              <a:cs typeface="Times New Roman" pitchFamily="18" charset="0"/>
            </a:endParaRPr>
          </a:p>
          <a:p>
            <a:pPr marL="457200" indent="-457200" algn="just">
              <a:lnSpc>
                <a:spcPct val="150000"/>
              </a:lnSpc>
            </a:pPr>
            <a:endParaRPr lang="en-US" sz="2400" dirty="0">
              <a:solidFill>
                <a:srgbClr val="002060"/>
              </a:solidFill>
              <a:latin typeface="Times New Roman" pitchFamily="18" charset="0"/>
              <a:cs typeface="Times New Roman" pitchFamily="18" charset="0"/>
            </a:endParaRPr>
          </a:p>
        </p:txBody>
      </p:sp>
      <p:pic>
        <p:nvPicPr>
          <p:cNvPr id="2050" name="Picture 2" descr="C:\Users\Nithiyanandam\Pictures\shadow paging2.png"/>
          <p:cNvPicPr>
            <a:picLocks noChangeAspect="1" noChangeArrowheads="1"/>
          </p:cNvPicPr>
          <p:nvPr/>
        </p:nvPicPr>
        <p:blipFill>
          <a:blip r:embed="rId2">
            <a:lum bright="-20000" contrast="30000"/>
          </a:blip>
          <a:srcRect/>
          <a:stretch>
            <a:fillRect/>
          </a:stretch>
        </p:blipFill>
        <p:spPr bwMode="auto">
          <a:xfrm>
            <a:off x="3429000" y="1524000"/>
            <a:ext cx="4419600" cy="4114800"/>
          </a:xfrm>
          <a:prstGeom prst="rect">
            <a:avLst/>
          </a:prstGeom>
          <a:noFill/>
        </p:spPr>
      </p:pic>
      <p:graphicFrame>
        <p:nvGraphicFramePr>
          <p:cNvPr id="2051" name="Object 3"/>
          <p:cNvGraphicFramePr>
            <a:graphicFrameLocks noChangeAspect="1"/>
          </p:cNvGraphicFramePr>
          <p:nvPr/>
        </p:nvGraphicFramePr>
        <p:xfrm>
          <a:off x="381000" y="2438400"/>
          <a:ext cx="2514600" cy="1028700"/>
        </p:xfrm>
        <a:graphic>
          <a:graphicData uri="http://schemas.openxmlformats.org/presentationml/2006/ole">
            <mc:AlternateContent xmlns:mc="http://schemas.openxmlformats.org/markup-compatibility/2006">
              <mc:Choice xmlns:v="urn:schemas-microsoft-com:vml" Requires="v">
                <p:oleObj r:id="rId3" imgW="2705040" imgH="1159920" progId="">
                  <p:embed/>
                </p:oleObj>
              </mc:Choice>
              <mc:Fallback>
                <p:oleObj r:id="rId3" imgW="2705040" imgH="1159920"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438400"/>
                        <a:ext cx="2514600" cy="1028700"/>
                      </a:xfrm>
                      <a:prstGeom prst="rect">
                        <a:avLst/>
                      </a:prstGeom>
                      <a:noFill/>
                      <a:effectLst/>
                      <a:extLst>
                        <a:ext uri="{909E8E84-426E-40DD-AFC4-6F175D3DCCD1}">
                          <a14:hiddenFill xmlns:a14="http://schemas.microsoft.com/office/drawing/2010/main">
                            <a:solidFill>
                              <a:srgbClr val="00E4A8"/>
                            </a:solidFill>
                          </a14:hiddenFill>
                        </a:ext>
                        <a:ext uri="{AF507438-7753-43E0-B8FC-AC1667EBCBE1}">
                          <a14:hiddenEffects xmlns:a14="http://schemas.microsoft.com/office/drawing/2010/main">
                            <a:effectLst>
                              <a:outerShdw dist="35921" dir="2700000" algn="ctr" rotWithShape="0">
                                <a:srgbClr val="1C1C1C"/>
                              </a:outerShdw>
                            </a:effectLst>
                          </a14:hiddenEffects>
                        </a:ext>
                      </a:extLst>
                    </p:spPr>
                  </p:pic>
                </p:oleObj>
              </mc:Fallback>
            </mc:AlternateContent>
          </a:graphicData>
        </a:graphic>
      </p:graphicFrame>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marL="457200" indent="-457200" algn="just">
              <a:lnSpc>
                <a:spcPct val="150000"/>
              </a:lnSpc>
              <a:buFont typeface="+mj-lt"/>
              <a:buAutoNum type="arabicPeriod" startAt="3"/>
            </a:pPr>
            <a:r>
              <a:rPr lang="en-US" sz="2400" b="1" dirty="0">
                <a:solidFill>
                  <a:srgbClr val="FF0000"/>
                </a:solidFill>
                <a:latin typeface="Times New Roman" pitchFamily="18" charset="0"/>
                <a:cs typeface="Times New Roman" pitchFamily="18" charset="0"/>
              </a:rPr>
              <a:t>SHADOW PAGING: (Cont…)</a:t>
            </a:r>
          </a:p>
          <a:p>
            <a:pPr marL="457200" indent="-457200" algn="just">
              <a:lnSpc>
                <a:spcPct val="150000"/>
              </a:lnSpc>
            </a:pPr>
            <a:endParaRPr lang="en-US" sz="2400" b="1" dirty="0">
              <a:solidFill>
                <a:srgbClr val="FF0000"/>
              </a:solidFill>
              <a:latin typeface="Times New Roman" pitchFamily="18" charset="0"/>
              <a:cs typeface="Times New Roman" pitchFamily="18" charset="0"/>
            </a:endParaRPr>
          </a:p>
          <a:p>
            <a:pPr marL="457200" lvl="0" indent="-457200" algn="just">
              <a:lnSpc>
                <a:spcPct val="150000"/>
              </a:lnSpc>
              <a:buClr>
                <a:srgbClr val="FF0000"/>
              </a:buClr>
            </a:pPr>
            <a:endParaRPr lang="en-US" sz="2400" dirty="0">
              <a:solidFill>
                <a:srgbClr val="002060"/>
              </a:solidFill>
              <a:latin typeface="Times New Roman" pitchFamily="18" charset="0"/>
              <a:cs typeface="Times New Roman" pitchFamily="18" charset="0"/>
            </a:endParaRPr>
          </a:p>
          <a:p>
            <a:pPr marL="457200" indent="-457200" algn="just">
              <a:lnSpc>
                <a:spcPct val="150000"/>
              </a:lnSpc>
            </a:pPr>
            <a:endParaRPr lang="en-US" sz="2400" dirty="0">
              <a:solidFill>
                <a:srgbClr val="002060"/>
              </a:solidFill>
              <a:latin typeface="Times New Roman" pitchFamily="18" charset="0"/>
              <a:cs typeface="Times New Roman" pitchFamily="18" charset="0"/>
            </a:endParaRPr>
          </a:p>
        </p:txBody>
      </p:sp>
      <p:graphicFrame>
        <p:nvGraphicFramePr>
          <p:cNvPr id="2051" name="Object 3"/>
          <p:cNvGraphicFramePr>
            <a:graphicFrameLocks noChangeAspect="1"/>
          </p:cNvGraphicFramePr>
          <p:nvPr/>
        </p:nvGraphicFramePr>
        <p:xfrm>
          <a:off x="4800600" y="685800"/>
          <a:ext cx="2514600" cy="1028700"/>
        </p:xfrm>
        <a:graphic>
          <a:graphicData uri="http://schemas.openxmlformats.org/presentationml/2006/ole">
            <mc:AlternateContent xmlns:mc="http://schemas.openxmlformats.org/markup-compatibility/2006">
              <mc:Choice xmlns:v="urn:schemas-microsoft-com:vml" Requires="v">
                <p:oleObj r:id="rId2" imgW="2705040" imgH="1159920" progId="">
                  <p:embed/>
                </p:oleObj>
              </mc:Choice>
              <mc:Fallback>
                <p:oleObj r:id="rId2" imgW="2705040" imgH="1159920"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685800"/>
                        <a:ext cx="2514600" cy="1028700"/>
                      </a:xfrm>
                      <a:prstGeom prst="rect">
                        <a:avLst/>
                      </a:prstGeom>
                      <a:noFill/>
                      <a:effectLst/>
                      <a:extLst>
                        <a:ext uri="{909E8E84-426E-40DD-AFC4-6F175D3DCCD1}">
                          <a14:hiddenFill xmlns:a14="http://schemas.microsoft.com/office/drawing/2010/main">
                            <a:solidFill>
                              <a:srgbClr val="00E4A8"/>
                            </a:solidFill>
                          </a14:hiddenFill>
                        </a:ext>
                        <a:ext uri="{AF507438-7753-43E0-B8FC-AC1667EBCBE1}">
                          <a14:hiddenEffects xmlns:a14="http://schemas.microsoft.com/office/drawing/2010/main">
                            <a:effectLst>
                              <a:outerShdw dist="35921" dir="2700000" algn="ctr" rotWithShape="0">
                                <a:srgbClr val="1C1C1C"/>
                              </a:outerShdw>
                            </a:effectLst>
                          </a14:hiddenEffects>
                        </a:ext>
                      </a:extLst>
                    </p:spPr>
                  </p:pic>
                </p:oleObj>
              </mc:Fallback>
            </mc:AlternateContent>
          </a:graphicData>
        </a:graphic>
      </p:graphicFrame>
      <p:sp>
        <p:nvSpPr>
          <p:cNvPr id="3077"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078" name="Picture 6"/>
          <p:cNvPicPr>
            <a:picLocks noChangeAspect="1" noChangeArrowheads="1"/>
          </p:cNvPicPr>
          <p:nvPr/>
        </p:nvPicPr>
        <p:blipFill>
          <a:blip r:embed="rId4"/>
          <a:srcRect/>
          <a:stretch>
            <a:fillRect/>
          </a:stretch>
        </p:blipFill>
        <p:spPr bwMode="auto">
          <a:xfrm>
            <a:off x="228600" y="1952624"/>
            <a:ext cx="8686800" cy="4295775"/>
          </a:xfrm>
          <a:prstGeom prst="rect">
            <a:avLst/>
          </a:prstGeom>
          <a:noFill/>
          <a:ln w="9525">
            <a:noFill/>
            <a:miter lim="800000"/>
            <a:headEnd/>
            <a:tailEnd/>
          </a:ln>
          <a:effectLst/>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marL="457200" indent="-457200" algn="just">
              <a:lnSpc>
                <a:spcPct val="150000"/>
              </a:lnSpc>
              <a:buFont typeface="+mj-lt"/>
              <a:buAutoNum type="arabicPeriod" startAt="3"/>
            </a:pPr>
            <a:r>
              <a:rPr lang="en-US" sz="2400" b="1" dirty="0">
                <a:solidFill>
                  <a:srgbClr val="FF0000"/>
                </a:solidFill>
                <a:latin typeface="Times New Roman" pitchFamily="18" charset="0"/>
                <a:cs typeface="Times New Roman" pitchFamily="18" charset="0"/>
              </a:rPr>
              <a:t>SHADOW PAGING:</a:t>
            </a:r>
          </a:p>
          <a:p>
            <a:pPr marL="465138" lvl="0" indent="-465138" algn="just">
              <a:lnSpc>
                <a:spcPct val="150000"/>
              </a:lnSpc>
              <a:buClr>
                <a:srgbClr val="FF0000"/>
              </a:buClr>
              <a:buFont typeface="Wingdings" pitchFamily="2" charset="2"/>
              <a:buChar char="v"/>
            </a:pPr>
            <a:r>
              <a:rPr lang="en-US" sz="2300" dirty="0">
                <a:solidFill>
                  <a:srgbClr val="FF0000"/>
                </a:solidFill>
                <a:latin typeface="Times New Roman" pitchFamily="18" charset="0"/>
                <a:cs typeface="Times New Roman" pitchFamily="18" charset="0"/>
              </a:rPr>
              <a:t>To recover </a:t>
            </a:r>
            <a:r>
              <a:rPr lang="en-US" sz="2300" dirty="0">
                <a:solidFill>
                  <a:srgbClr val="002060"/>
                </a:solidFill>
                <a:latin typeface="Times New Roman" pitchFamily="18" charset="0"/>
                <a:cs typeface="Times New Roman" pitchFamily="18" charset="0"/>
              </a:rPr>
              <a:t>from a failure, it is sufficient to free the modified pages and </a:t>
            </a:r>
            <a:r>
              <a:rPr lang="en-US" sz="2300" dirty="0">
                <a:solidFill>
                  <a:srgbClr val="FF0000"/>
                </a:solidFill>
                <a:latin typeface="Times New Roman" pitchFamily="18" charset="0"/>
                <a:cs typeface="Times New Roman" pitchFamily="18" charset="0"/>
              </a:rPr>
              <a:t>discard the current directory</a:t>
            </a:r>
            <a:r>
              <a:rPr lang="en-US" sz="2300" dirty="0">
                <a:solidFill>
                  <a:srgbClr val="002060"/>
                </a:solidFill>
                <a:latin typeface="Times New Roman" pitchFamily="18" charset="0"/>
                <a:cs typeface="Times New Roman" pitchFamily="18" charset="0"/>
              </a:rPr>
              <a:t>. </a:t>
            </a:r>
          </a:p>
          <a:p>
            <a:pPr marL="465138" lvl="0" indent="-465138" algn="just">
              <a:lnSpc>
                <a:spcPct val="150000"/>
              </a:lnSpc>
              <a:buClr>
                <a:srgbClr val="FF0000"/>
              </a:buClr>
              <a:buFont typeface="Wingdings" pitchFamily="2" charset="2"/>
              <a:buChar char="v"/>
            </a:pPr>
            <a:r>
              <a:rPr lang="en-US" sz="2300" dirty="0">
                <a:solidFill>
                  <a:srgbClr val="002060"/>
                </a:solidFill>
                <a:latin typeface="Times New Roman" pitchFamily="18" charset="0"/>
                <a:cs typeface="Times New Roman" pitchFamily="18" charset="0"/>
              </a:rPr>
              <a:t>The state of the database before transaction execution is available through the </a:t>
            </a:r>
            <a:r>
              <a:rPr lang="en-US" sz="2300" dirty="0">
                <a:solidFill>
                  <a:srgbClr val="FF0000"/>
                </a:solidFill>
                <a:latin typeface="Times New Roman" pitchFamily="18" charset="0"/>
                <a:cs typeface="Times New Roman" pitchFamily="18" charset="0"/>
              </a:rPr>
              <a:t>shadow directory</a:t>
            </a:r>
            <a:r>
              <a:rPr lang="en-US" sz="2300" dirty="0">
                <a:solidFill>
                  <a:srgbClr val="002060"/>
                </a:solidFill>
                <a:latin typeface="Times New Roman" pitchFamily="18" charset="0"/>
                <a:cs typeface="Times New Roman" pitchFamily="18" charset="0"/>
              </a:rPr>
              <a:t>.  </a:t>
            </a:r>
          </a:p>
          <a:p>
            <a:pPr marL="465138" lvl="0" indent="-465138" algn="just">
              <a:lnSpc>
                <a:spcPct val="150000"/>
              </a:lnSpc>
              <a:buClr>
                <a:srgbClr val="FF0000"/>
              </a:buClr>
              <a:buFont typeface="Wingdings" pitchFamily="2" charset="2"/>
              <a:buChar char="v"/>
            </a:pPr>
            <a:r>
              <a:rPr lang="en-US" sz="2300" dirty="0">
                <a:solidFill>
                  <a:srgbClr val="002060"/>
                </a:solidFill>
                <a:latin typeface="Times New Roman" pitchFamily="18" charset="0"/>
                <a:cs typeface="Times New Roman" pitchFamily="18" charset="0"/>
              </a:rPr>
              <a:t>Database can be returned to its previous state that was executing when the crash occurred.</a:t>
            </a:r>
          </a:p>
          <a:p>
            <a:pPr marL="465138" lvl="0" indent="-465138" algn="just">
              <a:lnSpc>
                <a:spcPct val="150000"/>
              </a:lnSpc>
              <a:buClr>
                <a:srgbClr val="FF0000"/>
              </a:buClr>
              <a:buFont typeface="Wingdings" pitchFamily="2" charset="2"/>
              <a:buChar char="v"/>
            </a:pPr>
            <a:r>
              <a:rPr lang="en-US" sz="2300" dirty="0">
                <a:solidFill>
                  <a:srgbClr val="002060"/>
                </a:solidFill>
                <a:latin typeface="Times New Roman" pitchFamily="18" charset="0"/>
                <a:cs typeface="Times New Roman" pitchFamily="18" charset="0"/>
              </a:rPr>
              <a:t>We can categorized as a </a:t>
            </a:r>
            <a:r>
              <a:rPr lang="en-US" sz="2300" b="1" dirty="0">
                <a:solidFill>
                  <a:srgbClr val="FF0000"/>
                </a:solidFill>
                <a:latin typeface="Times New Roman" pitchFamily="18" charset="0"/>
                <a:cs typeface="Times New Roman" pitchFamily="18" charset="0"/>
              </a:rPr>
              <a:t>NO-UNDO</a:t>
            </a:r>
            <a:r>
              <a:rPr lang="en-US" sz="2300" b="1" dirty="0">
                <a:solidFill>
                  <a:srgbClr val="002060"/>
                </a:solidFill>
                <a:latin typeface="Times New Roman" pitchFamily="18" charset="0"/>
                <a:cs typeface="Times New Roman" pitchFamily="18" charset="0"/>
              </a:rPr>
              <a:t>/</a:t>
            </a:r>
            <a:r>
              <a:rPr lang="en-US" sz="2300" b="1" dirty="0">
                <a:solidFill>
                  <a:srgbClr val="FF0000"/>
                </a:solidFill>
                <a:latin typeface="Times New Roman" pitchFamily="18" charset="0"/>
                <a:cs typeface="Times New Roman" pitchFamily="18" charset="0"/>
              </a:rPr>
              <a:t>NO-REDO</a:t>
            </a:r>
            <a:r>
              <a:rPr lang="en-US" sz="2300" dirty="0">
                <a:solidFill>
                  <a:srgbClr val="002060"/>
                </a:solidFill>
                <a:latin typeface="Times New Roman" pitchFamily="18" charset="0"/>
                <a:cs typeface="Times New Roman" pitchFamily="18" charset="0"/>
              </a:rPr>
              <a:t> technique for recovery Logs and checkpoints must be incorporated into the shadow paging technique.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 calcmode="lin" valueType="num">
                                      <p:cBhvr additive="base">
                                        <p:cTn id="2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pPr>
              <a:lnSpc>
                <a:spcPct val="150000"/>
              </a:lnSpc>
            </a:pPr>
            <a:r>
              <a:rPr lang="en-US" sz="3600" b="1" dirty="0">
                <a:solidFill>
                  <a:srgbClr val="FF0000"/>
                </a:solidFill>
                <a:latin typeface="Times New Roman" pitchFamily="18" charset="0"/>
                <a:cs typeface="Times New Roman" pitchFamily="18" charset="0"/>
              </a:rPr>
              <a:t>Types of  Failure</a:t>
            </a:r>
            <a:endParaRPr lang="en-US" sz="3200" dirty="0">
              <a:solidFill>
                <a:srgbClr val="002060"/>
              </a:solidFill>
              <a:latin typeface="Times New Roman" pitchFamily="18" charset="0"/>
              <a:cs typeface="Times New Roman" pitchFamily="18" charset="0"/>
            </a:endParaRPr>
          </a:p>
        </p:txBody>
      </p:sp>
      <p:sp>
        <p:nvSpPr>
          <p:cNvPr id="8" name="Content Placeholder 2"/>
          <p:cNvSpPr txBox="1">
            <a:spLocks/>
          </p:cNvSpPr>
          <p:nvPr/>
        </p:nvSpPr>
        <p:spPr>
          <a:xfrm>
            <a:off x="0" y="457200"/>
            <a:ext cx="9144000" cy="6400800"/>
          </a:xfrm>
          <a:prstGeom prst="rect">
            <a:avLst/>
          </a:prstGeom>
        </p:spPr>
        <p:txBody>
          <a:bodyPr vert="horz" lIns="91440" tIns="45720" rIns="91440" bIns="45720" rtlCol="0">
            <a:noAutofit/>
          </a:bodyPr>
          <a:lstStyle/>
          <a:p>
            <a:pPr marL="457200" indent="-457200" algn="just">
              <a:lnSpc>
                <a:spcPct val="150000"/>
              </a:lnSpc>
              <a:buFont typeface="+mj-lt"/>
              <a:buAutoNum type="arabicPeriod" startAt="3"/>
            </a:pPr>
            <a:r>
              <a:rPr lang="en-US" sz="2400" b="1" dirty="0">
                <a:solidFill>
                  <a:srgbClr val="FF0000"/>
                </a:solidFill>
                <a:latin typeface="Times New Roman" pitchFamily="18" charset="0"/>
                <a:cs typeface="Times New Roman" pitchFamily="18" charset="0"/>
              </a:rPr>
              <a:t>SHADOW PAGING:</a:t>
            </a:r>
          </a:p>
          <a:p>
            <a:pPr marL="465138" lvl="0" indent="-465138" algn="just">
              <a:lnSpc>
                <a:spcPct val="150000"/>
              </a:lnSpc>
              <a:buClr>
                <a:srgbClr val="FF0000"/>
              </a:buClr>
              <a:buFont typeface="Wingdings" pitchFamily="2" charset="2"/>
              <a:buChar char="v"/>
            </a:pPr>
            <a:r>
              <a:rPr lang="en-US" sz="2400" dirty="0">
                <a:solidFill>
                  <a:srgbClr val="FF0000"/>
                </a:solidFill>
                <a:latin typeface="Times New Roman" pitchFamily="18" charset="0"/>
                <a:cs typeface="Times New Roman" pitchFamily="18" charset="0"/>
              </a:rPr>
              <a:t>Disadvantages: </a:t>
            </a:r>
          </a:p>
          <a:p>
            <a:pPr marL="465138" lvl="0" indent="-465138" algn="just">
              <a:lnSpc>
                <a:spcPct val="150000"/>
              </a:lnSpc>
              <a:buClr>
                <a:srgbClr val="FF0000"/>
              </a:buClr>
            </a:pPr>
            <a:r>
              <a:rPr lang="en-US" sz="2400" dirty="0">
                <a:solidFill>
                  <a:srgbClr val="FF0000"/>
                </a:solidFill>
                <a:latin typeface="Times New Roman" pitchFamily="18" charset="0"/>
                <a:cs typeface="Times New Roman" pitchFamily="18" charset="0"/>
              </a:rPr>
              <a:t>	</a:t>
            </a:r>
            <a:r>
              <a:rPr lang="en-US" sz="2400" dirty="0">
                <a:solidFill>
                  <a:srgbClr val="002060"/>
                </a:solidFill>
                <a:latin typeface="Times New Roman" pitchFamily="18" charset="0"/>
                <a:cs typeface="Times New Roman" pitchFamily="18" charset="0"/>
              </a:rPr>
              <a:t>Complex storage management strategies, the overhead of writing shadow directories to disk, garbage collection overhead (old pages referenced by the shadow directory).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2058</TotalTime>
  <Words>10347</Words>
  <Application>Microsoft Office PowerPoint</Application>
  <PresentationFormat>On-screen Show (4:3)</PresentationFormat>
  <Paragraphs>1445</Paragraphs>
  <Slides>170</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0</vt:i4>
      </vt:variant>
      <vt:variant>
        <vt:lpstr>Slide Titles</vt:lpstr>
      </vt:variant>
      <vt:variant>
        <vt:i4>170</vt:i4>
      </vt:variant>
    </vt:vector>
  </HeadingPairs>
  <TitlesOfParts>
    <vt:vector size="176" baseType="lpstr">
      <vt:lpstr>Arial</vt:lpstr>
      <vt:lpstr>Calibri</vt:lpstr>
      <vt:lpstr>Maiandra GD</vt:lpstr>
      <vt:lpstr>Times New Roman</vt:lpstr>
      <vt:lpstr>Wingdings</vt:lpstr>
      <vt:lpstr>Office Theme</vt:lpstr>
      <vt:lpstr>UNIT VI: TRANSACTION   AND CONCURRENCY</vt:lpstr>
      <vt:lpstr>TRANSACTION</vt:lpstr>
      <vt:lpstr>TRANSACTION</vt:lpstr>
      <vt:lpstr>TRANSACTION</vt:lpstr>
      <vt:lpstr>TRANSACTION</vt:lpstr>
      <vt:lpstr>Transaction Execution and Problems </vt:lpstr>
      <vt:lpstr>TRANSACTION</vt:lpstr>
      <vt:lpstr>Transaction Execution with SQL</vt:lpstr>
      <vt:lpstr>Transaction Execution with SQL (Cont…)</vt:lpstr>
      <vt:lpstr>TRANSACTION PROPERTIES</vt:lpstr>
      <vt:lpstr>TRANSACTION PROPERTIES</vt:lpstr>
      <vt:lpstr>TRANSACTION PROPERTIES</vt:lpstr>
      <vt:lpstr>TRANSACTION PROCESSING</vt:lpstr>
      <vt:lpstr>TRANSACTION LOG (JOURNAL)</vt:lpstr>
      <vt:lpstr>TRANSACTION LOG (JOURNAL)</vt:lpstr>
      <vt:lpstr>CONCURRENCY CONTROL</vt:lpstr>
      <vt:lpstr>CONCURRENCY CONTROL</vt:lpstr>
      <vt:lpstr>CONCURRENCY CONTROL</vt:lpstr>
      <vt:lpstr>CONCURRENCY CONTROL</vt:lpstr>
      <vt:lpstr>CONCURRENCY CONTROL</vt:lpstr>
      <vt:lpstr>CONCURRENCY CONTROL</vt:lpstr>
      <vt:lpstr>CONCURRENCY CONTROL</vt:lpstr>
      <vt:lpstr>PowerPoint Presentation</vt:lpstr>
      <vt:lpstr>CONCURRENCY CONTROL</vt:lpstr>
      <vt:lpstr>CONCURRENCY CONTROL</vt:lpstr>
      <vt:lpstr>SCHEDULES</vt:lpstr>
      <vt:lpstr>SCHEDULES</vt:lpstr>
      <vt:lpstr>Types of Schedules</vt:lpstr>
      <vt:lpstr>SERIAL SCHEDULES</vt:lpstr>
      <vt:lpstr>SERIAL SCHEDULES</vt:lpstr>
      <vt:lpstr>SERIAL SCHEDULES</vt:lpstr>
      <vt:lpstr>NON SERIAL SCHEDULES</vt:lpstr>
      <vt:lpstr>NON SERIAL SCHEDULES</vt:lpstr>
      <vt:lpstr>NON SERIAL SCHEDULES</vt:lpstr>
      <vt:lpstr>SCHEDULES</vt:lpstr>
      <vt:lpstr>Serializability in DBMS</vt:lpstr>
      <vt:lpstr>Serializability</vt:lpstr>
      <vt:lpstr>Serializable Schedules</vt:lpstr>
      <vt:lpstr>Serial Schedules Vs Serializable Schedules</vt:lpstr>
      <vt:lpstr>Types Serializability</vt:lpstr>
      <vt:lpstr>Conflict Serializability</vt:lpstr>
      <vt:lpstr>Conflict Serializability</vt:lpstr>
      <vt:lpstr>Conflict Serializability</vt:lpstr>
      <vt:lpstr>Conflict Serializability</vt:lpstr>
      <vt:lpstr>TESTING FOR CONFLICT SERIALIZABILITY</vt:lpstr>
      <vt:lpstr>TESTING FOR CONFLICT SERIALIZABILITY</vt:lpstr>
      <vt:lpstr>TESTING FOR CONFLICT SERIALIZABILITY</vt:lpstr>
      <vt:lpstr>TESTING FOR CONFLICT SERIALIZABILITY</vt:lpstr>
      <vt:lpstr>TESTING FOR CONFLICT SERIALIZABILITY</vt:lpstr>
      <vt:lpstr>TESTING FOR CONFLICT SERIALIZABILITY</vt:lpstr>
      <vt:lpstr>TESTING FOR CONFLICT SERIALIZABILITY</vt:lpstr>
      <vt:lpstr>TESTING FOR CONFLICT SERIALIZABILITY</vt:lpstr>
      <vt:lpstr>TESTING FOR CONFLICT SERIALIZABILITY</vt:lpstr>
      <vt:lpstr>TESTING FOR CONFLICT SERIALIZABILITY</vt:lpstr>
      <vt:lpstr>TESTING FOR CONFLICT SERIALIZABILITY</vt:lpstr>
      <vt:lpstr>TESTING FOR CONFLICT SERIALIZABILITY</vt:lpstr>
      <vt:lpstr>TESTING FOR CONFLICT SERIALIZABILITY</vt:lpstr>
      <vt:lpstr>TESTING FOR CONFLICT SERIALIZABILITY</vt:lpstr>
      <vt:lpstr>CONFLICT SERIALIZABILITY</vt:lpstr>
      <vt:lpstr>CONFLICT SERIALIZABILITY</vt:lpstr>
      <vt:lpstr>View Serializability</vt:lpstr>
      <vt:lpstr>View Serializability</vt:lpstr>
      <vt:lpstr>View Serializability</vt:lpstr>
      <vt:lpstr>View Serializability</vt:lpstr>
      <vt:lpstr>View Serializability</vt:lpstr>
      <vt:lpstr>View Serializability</vt:lpstr>
      <vt:lpstr>View Serializability</vt:lpstr>
      <vt:lpstr>View Serializability</vt:lpstr>
      <vt:lpstr>View Serializability</vt:lpstr>
      <vt:lpstr>Recoverable Schedules</vt:lpstr>
      <vt:lpstr>Recoverability in DBMS</vt:lpstr>
      <vt:lpstr>PowerPoint Presentation</vt:lpstr>
      <vt:lpstr>Recoverable Schedule</vt:lpstr>
      <vt:lpstr>Recoverable Schedule</vt:lpstr>
      <vt:lpstr>Non -Recoverable Schedule</vt:lpstr>
      <vt:lpstr>Non -Recoverable Schedule</vt:lpstr>
      <vt:lpstr>Recoverable Vs Non-Recoverable</vt:lpstr>
      <vt:lpstr>Recoverable Problems</vt:lpstr>
      <vt:lpstr>Recoverable Problems</vt:lpstr>
      <vt:lpstr>SCHEDULES BASED ON RECOVERY</vt:lpstr>
      <vt:lpstr>SCHEDULES BASED ON RECOVERY</vt:lpstr>
      <vt:lpstr>SCHEDULES BASED ON RECOVERY</vt:lpstr>
      <vt:lpstr>RECOVERABLE SCHEDULES</vt:lpstr>
      <vt:lpstr>RECOVERABLE SCHEDULES</vt:lpstr>
      <vt:lpstr>RECOVERABLE SCHEDULES</vt:lpstr>
      <vt:lpstr>Types of Recoverable Schedules</vt:lpstr>
      <vt:lpstr>Types of Recoverable Schedules</vt:lpstr>
      <vt:lpstr>Types of Recoverable Schedules</vt:lpstr>
      <vt:lpstr>Types of Recoverable Schedules</vt:lpstr>
      <vt:lpstr>Types of Recoverable Schedules</vt:lpstr>
      <vt:lpstr>Types of Recoverable Schedules</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PowerPoint Presentation</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CONCURRENCY CONTROL</vt:lpstr>
      <vt:lpstr>PowerPoint Presentation</vt:lpstr>
      <vt:lpstr>DATABASE RECOVERY TECHNIQUES</vt:lpstr>
      <vt:lpstr>PowerPoint Presentation</vt:lpstr>
      <vt:lpstr>Types of  Failure</vt:lpstr>
      <vt:lpstr>Types of  Failure</vt:lpstr>
      <vt:lpstr>Types of  Failure</vt:lpstr>
      <vt:lpstr>Types of  Failure</vt:lpstr>
      <vt:lpstr>Types of  Failure</vt:lpstr>
      <vt:lpstr>PowerPoint Presentation</vt:lpstr>
      <vt:lpstr>Types of  Failure</vt:lpstr>
      <vt:lpstr>Types of  Failure</vt:lpstr>
      <vt:lpstr>Types of  Failure</vt:lpstr>
      <vt:lpstr>Types of  Failure</vt:lpstr>
      <vt:lpstr>Types of  Failure</vt:lpstr>
      <vt:lpstr>Types of  Failure</vt:lpstr>
      <vt:lpstr>Types of  Failure</vt:lpstr>
      <vt:lpstr>Types of  Failure</vt:lpstr>
      <vt:lpstr>Types of  Failure</vt:lpstr>
      <vt:lpstr>Types of  Failure</vt:lpstr>
      <vt:lpstr>Types of  Failure</vt:lpstr>
      <vt:lpstr>Types of  Failure</vt:lpstr>
      <vt:lpstr>Types of  Failure</vt:lpstr>
      <vt:lpstr>PowerPoint Presentation</vt:lpstr>
      <vt:lpstr>Types of  Failure</vt:lpstr>
      <vt:lpstr>Types of  Failure</vt:lpstr>
      <vt:lpstr>Types of  Failure</vt:lpstr>
      <vt:lpstr>Types of  Failure</vt:lpstr>
      <vt:lpstr>Types of  Failure</vt:lpstr>
      <vt:lpstr>Types of  Failure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SCHEDULE</dc:title>
  <dc:creator>Nithiyanandam</dc:creator>
  <cp:lastModifiedBy>Manish Kumar Giri</cp:lastModifiedBy>
  <cp:revision>374</cp:revision>
  <dcterms:created xsi:type="dcterms:W3CDTF">2006-08-16T00:00:00Z</dcterms:created>
  <dcterms:modified xsi:type="dcterms:W3CDTF">2025-12-01T12:52:48Z</dcterms:modified>
</cp:coreProperties>
</file>
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363" r:id="rId1"/>
  </p:sldMasterIdLst>
  <p:notesMasterIdLst>
    <p:notesMasterId r:id="rId45"/>
  </p:notesMasterIdLst>
  <p:sldIdLst>
    <p:sldId id="256" r:id="rId2"/>
    <p:sldId id="258" r:id="rId3"/>
    <p:sldId id="257" r:id="rId4"/>
    <p:sldId id="261" r:id="rId5"/>
    <p:sldId id="265" r:id="rId6"/>
    <p:sldId id="267" r:id="rId7"/>
    <p:sldId id="262" r:id="rId8"/>
    <p:sldId id="263" r:id="rId9"/>
    <p:sldId id="264" r:id="rId10"/>
    <p:sldId id="268" r:id="rId11"/>
    <p:sldId id="266" r:id="rId12"/>
    <p:sldId id="259" r:id="rId13"/>
    <p:sldId id="269" r:id="rId14"/>
    <p:sldId id="271" r:id="rId15"/>
    <p:sldId id="272" r:id="rId16"/>
    <p:sldId id="273" r:id="rId17"/>
    <p:sldId id="274" r:id="rId18"/>
    <p:sldId id="276" r:id="rId19"/>
    <p:sldId id="275" r:id="rId20"/>
    <p:sldId id="277" r:id="rId21"/>
    <p:sldId id="270" r:id="rId22"/>
    <p:sldId id="279" r:id="rId23"/>
    <p:sldId id="280" r:id="rId24"/>
    <p:sldId id="281" r:id="rId25"/>
    <p:sldId id="286" r:id="rId26"/>
    <p:sldId id="282" r:id="rId27"/>
    <p:sldId id="287" r:id="rId28"/>
    <p:sldId id="284" r:id="rId29"/>
    <p:sldId id="288" r:id="rId30"/>
    <p:sldId id="289" r:id="rId31"/>
    <p:sldId id="290" r:id="rId32"/>
    <p:sldId id="291" r:id="rId33"/>
    <p:sldId id="292" r:id="rId34"/>
    <p:sldId id="285" r:id="rId35"/>
    <p:sldId id="293" r:id="rId36"/>
    <p:sldId id="294" r:id="rId37"/>
    <p:sldId id="300" r:id="rId38"/>
    <p:sldId id="301" r:id="rId39"/>
    <p:sldId id="295" r:id="rId40"/>
    <p:sldId id="296" r:id="rId41"/>
    <p:sldId id="297" r:id="rId42"/>
    <p:sldId id="298" r:id="rId43"/>
    <p:sldId id="29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711"/>
    <p:restoredTop sz="50000"/>
  </p:normalViewPr>
  <p:slideViewPr>
    <p:cSldViewPr snapToGrid="0" snapToObjects="1">
      <p:cViewPr varScale="1">
        <p:scale>
          <a:sx n="34" d="100"/>
          <a:sy n="34" d="100"/>
        </p:scale>
        <p:origin x="157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F8C7C2-B410-8B4F-A83D-712F2D177F44}"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BC6573-E5E7-8640-A670-0C65467E9747}" type="slidenum">
              <a:rPr lang="en-US" smtClean="0"/>
              <a:t>‹#›</a:t>
            </a:fld>
            <a:endParaRPr lang="en-US"/>
          </a:p>
        </p:txBody>
      </p:sp>
    </p:spTree>
    <p:extLst>
      <p:ext uri="{BB962C8B-B14F-4D97-AF65-F5344CB8AC3E}">
        <p14:creationId xmlns:p14="http://schemas.microsoft.com/office/powerpoint/2010/main" val="771476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3</a:t>
            </a:fld>
            <a:endParaRPr lang="en-US"/>
          </a:p>
        </p:txBody>
      </p:sp>
    </p:spTree>
    <p:extLst>
      <p:ext uri="{BB962C8B-B14F-4D97-AF65-F5344CB8AC3E}">
        <p14:creationId xmlns:p14="http://schemas.microsoft.com/office/powerpoint/2010/main" val="942724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4</a:t>
            </a:fld>
            <a:endParaRPr lang="en-US"/>
          </a:p>
        </p:txBody>
      </p:sp>
    </p:spTree>
    <p:extLst>
      <p:ext uri="{BB962C8B-B14F-4D97-AF65-F5344CB8AC3E}">
        <p14:creationId xmlns:p14="http://schemas.microsoft.com/office/powerpoint/2010/main" val="936621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5</a:t>
            </a:fld>
            <a:endParaRPr lang="en-US"/>
          </a:p>
        </p:txBody>
      </p:sp>
    </p:spTree>
    <p:extLst>
      <p:ext uri="{BB962C8B-B14F-4D97-AF65-F5344CB8AC3E}">
        <p14:creationId xmlns:p14="http://schemas.microsoft.com/office/powerpoint/2010/main" val="138700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Advantages of Distributed Computing </a:t>
            </a:r>
          </a:p>
          <a:p>
            <a:r>
              <a:rPr lang="en-US" b="1" dirty="0"/>
              <a:t>Reliability (fault tolerance) :</a:t>
            </a:r>
            <a:br>
              <a:rPr lang="en-US" dirty="0"/>
            </a:br>
            <a:r>
              <a:rPr lang="en-US" dirty="0"/>
              <a:t>The important advantage of distributed computing system is reliability. If some of the machines within the system crash, the rest of the computers remain unaffected and work does not stop. </a:t>
            </a:r>
          </a:p>
          <a:p>
            <a:r>
              <a:rPr lang="en-US" b="1" dirty="0"/>
              <a:t>Scalability :</a:t>
            </a:r>
            <a:br>
              <a:rPr lang="en-US" dirty="0"/>
            </a:br>
            <a:r>
              <a:rPr lang="en-US" dirty="0"/>
              <a:t>In distributed computing the system can easily be expanded by adding more machines as needed.</a:t>
            </a:r>
          </a:p>
          <a:p>
            <a:r>
              <a:rPr lang="en-US" b="1" dirty="0"/>
              <a:t>Sharing of Resources :</a:t>
            </a:r>
            <a:br>
              <a:rPr lang="en-US" dirty="0"/>
            </a:br>
            <a:r>
              <a:rPr lang="en-US" dirty="0"/>
              <a:t>Shared data is essential to many applications such as banking, reservation system. As data or resources are shared in distributed system, other resources can be also shared (e.g. expensive printers).</a:t>
            </a:r>
          </a:p>
          <a:p>
            <a:r>
              <a:rPr lang="en-US" b="1" dirty="0"/>
              <a:t>Flexibility :</a:t>
            </a:r>
            <a:br>
              <a:rPr lang="en-US" dirty="0"/>
            </a:br>
            <a:r>
              <a:rPr lang="en-US" dirty="0"/>
              <a:t>As the system is very flexible, it is very easy to install, implement and debug new services.</a:t>
            </a:r>
          </a:p>
          <a:p>
            <a:r>
              <a:rPr lang="en-US" b="1" dirty="0"/>
              <a:t>Speed :</a:t>
            </a:r>
            <a:br>
              <a:rPr lang="en-US" dirty="0"/>
            </a:br>
            <a:r>
              <a:rPr lang="en-US" dirty="0"/>
              <a:t>A distributed computing system can have more computing power and it's speed makes it different than other systems.</a:t>
            </a:r>
          </a:p>
          <a:p>
            <a:r>
              <a:rPr lang="en-US" b="1" dirty="0"/>
              <a:t>Open system :</a:t>
            </a:r>
            <a:br>
              <a:rPr lang="en-US" dirty="0"/>
            </a:br>
            <a:r>
              <a:rPr lang="en-US" dirty="0"/>
              <a:t>As it is open system, every service is equally accessible to every client i.e. local or remote.</a:t>
            </a:r>
          </a:p>
          <a:p>
            <a:r>
              <a:rPr lang="en-US" b="1" dirty="0"/>
              <a:t>Performance :</a:t>
            </a:r>
            <a:br>
              <a:rPr lang="en-US" dirty="0"/>
            </a:br>
            <a:r>
              <a:rPr lang="en-US" dirty="0"/>
              <a:t>The collection of processors in the system can provide higher performance (and better price/performance ratio) than a centralized computer.</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Disadvantages of Distributed Computing </a:t>
            </a:r>
          </a:p>
          <a:p>
            <a:r>
              <a:rPr lang="en-US" b="1" dirty="0"/>
              <a:t>Troubleshooting :</a:t>
            </a:r>
            <a:br>
              <a:rPr lang="en-US" dirty="0"/>
            </a:br>
            <a:r>
              <a:rPr lang="en-US" dirty="0"/>
              <a:t>Troubleshooting and diagnosing problems</a:t>
            </a:r>
            <a:r>
              <a:rPr lang="en-US" b="1" dirty="0"/>
              <a:t>. </a:t>
            </a:r>
            <a:endParaRPr lang="en-US" dirty="0"/>
          </a:p>
          <a:p>
            <a:r>
              <a:rPr lang="en-US" b="1" dirty="0"/>
              <a:t>Software :</a:t>
            </a:r>
            <a:br>
              <a:rPr lang="en-US" dirty="0"/>
            </a:br>
            <a:r>
              <a:rPr lang="en-US" dirty="0"/>
              <a:t>Less software support is the main disadvantage of distributed computing system.</a:t>
            </a:r>
          </a:p>
          <a:p>
            <a:r>
              <a:rPr lang="en-US" b="1" dirty="0"/>
              <a:t>Networking :</a:t>
            </a:r>
            <a:br>
              <a:rPr lang="en-US" dirty="0"/>
            </a:br>
            <a:r>
              <a:rPr lang="en-US" dirty="0"/>
              <a:t>The network infrastructure can create several problems such as transmission problem, overloading, loss of messages. </a:t>
            </a:r>
          </a:p>
          <a:p>
            <a:r>
              <a:rPr lang="en-US" b="1" dirty="0"/>
              <a:t>Security :</a:t>
            </a:r>
            <a:br>
              <a:rPr lang="en-US" dirty="0"/>
            </a:br>
            <a:r>
              <a:rPr lang="en-US" dirty="0"/>
              <a:t>Easy access in distributed computing system increases the risk of security and sharing of data generates the problem of data security</a:t>
            </a:r>
          </a:p>
          <a:p>
            <a:endParaRPr lang="en-US" dirty="0"/>
          </a:p>
          <a:p>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6</a:t>
            </a:fld>
            <a:endParaRPr lang="en-US"/>
          </a:p>
        </p:txBody>
      </p:sp>
    </p:spTree>
    <p:extLst>
      <p:ext uri="{BB962C8B-B14F-4D97-AF65-F5344CB8AC3E}">
        <p14:creationId xmlns:p14="http://schemas.microsoft.com/office/powerpoint/2010/main" val="241315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7</a:t>
            </a:fld>
            <a:endParaRPr lang="en-US"/>
          </a:p>
        </p:txBody>
      </p:sp>
    </p:spTree>
    <p:extLst>
      <p:ext uri="{BB962C8B-B14F-4D97-AF65-F5344CB8AC3E}">
        <p14:creationId xmlns:p14="http://schemas.microsoft.com/office/powerpoint/2010/main" val="1803602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database systems offer the concept of </a:t>
            </a:r>
            <a:r>
              <a:rPr lang="en-US" b="1" dirty="0"/>
              <a:t>referential integrity</a:t>
            </a:r>
            <a:r>
              <a:rPr lang="en-US" dirty="0"/>
              <a:t>, mechanisms to add </a:t>
            </a:r>
            <a:r>
              <a:rPr lang="en-US" b="1" dirty="0"/>
              <a:t>semantics</a:t>
            </a:r>
            <a:r>
              <a:rPr lang="en-US" dirty="0"/>
              <a:t> to the model by using </a:t>
            </a:r>
            <a:r>
              <a:rPr lang="en-US" b="1" dirty="0"/>
              <a:t>keys</a:t>
            </a:r>
            <a:r>
              <a:rPr lang="en-US" dirty="0"/>
              <a:t> and </a:t>
            </a:r>
            <a:r>
              <a:rPr lang="en-US" b="1" dirty="0"/>
              <a:t>foreign key relationships</a:t>
            </a:r>
            <a:r>
              <a:rPr lang="en-US" dirty="0"/>
              <a:t> to ensure </a:t>
            </a:r>
            <a:r>
              <a:rPr lang="en-US" b="1" dirty="0"/>
              <a:t>data consistency</a:t>
            </a:r>
            <a:r>
              <a:rPr lang="en-US" dirty="0"/>
              <a:t>. </a:t>
            </a:r>
          </a:p>
          <a:p>
            <a:r>
              <a:rPr lang="en-US" dirty="0"/>
              <a:t>Concurrent access to a database is administered by using </a:t>
            </a:r>
            <a:r>
              <a:rPr lang="en-US" b="1" dirty="0"/>
              <a:t>transactions</a:t>
            </a:r>
            <a:r>
              <a:rPr lang="en-US" dirty="0"/>
              <a:t>. The famous </a:t>
            </a:r>
            <a:r>
              <a:rPr lang="en-US" b="1" dirty="0"/>
              <a:t>ACID paradigm</a:t>
            </a:r>
            <a:r>
              <a:rPr lang="en-US" dirty="0"/>
              <a:t> is part of (almost) all relational database systems and guarantees transaction to be</a:t>
            </a:r>
          </a:p>
        </p:txBody>
      </p:sp>
      <p:sp>
        <p:nvSpPr>
          <p:cNvPr id="4" name="Slide Number Placeholder 3"/>
          <p:cNvSpPr>
            <a:spLocks noGrp="1"/>
          </p:cNvSpPr>
          <p:nvPr>
            <p:ph type="sldNum" sz="quarter" idx="10"/>
          </p:nvPr>
        </p:nvSpPr>
        <p:spPr/>
        <p:txBody>
          <a:bodyPr/>
          <a:lstStyle/>
          <a:p>
            <a:fld id="{F3BC6573-E5E7-8640-A670-0C65467E9747}" type="slidenum">
              <a:rPr lang="en-US" smtClean="0"/>
              <a:t>8</a:t>
            </a:fld>
            <a:endParaRPr lang="en-US"/>
          </a:p>
        </p:txBody>
      </p:sp>
    </p:spTree>
    <p:extLst>
      <p:ext uri="{BB962C8B-B14F-4D97-AF65-F5344CB8AC3E}">
        <p14:creationId xmlns:p14="http://schemas.microsoft.com/office/powerpoint/2010/main" val="1691635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a:t>
            </a:r>
            <a:r>
              <a:rPr lang="en-US" dirty="0"/>
              <a:t> – data should be consistent between all nodes. As long as all nodes are online, users can read/write from any node and be sure that the data is the same on all nodes.</a:t>
            </a:r>
          </a:p>
          <a:p>
            <a:r>
              <a:rPr lang="en-US" b="1" dirty="0"/>
              <a:t>CP</a:t>
            </a:r>
            <a:r>
              <a:rPr lang="en-US" dirty="0"/>
              <a:t> – data is consistent between all nodes and maintains partition tolerance by becoming unavailable when a node goes down.</a:t>
            </a:r>
          </a:p>
          <a:p>
            <a:r>
              <a:rPr lang="en-US" b="1" dirty="0"/>
              <a:t>AP</a:t>
            </a:r>
            <a:r>
              <a:rPr lang="en-US" dirty="0"/>
              <a:t> - nodes remain online even if they can’t communicate with each other and will re-sync data once the partition is resolved, but you aren’t guaranteed that all nodes will have the same data (either during or after the partition)</a:t>
            </a:r>
          </a:p>
        </p:txBody>
      </p:sp>
      <p:sp>
        <p:nvSpPr>
          <p:cNvPr id="4" name="Slide Number Placeholder 3"/>
          <p:cNvSpPr>
            <a:spLocks noGrp="1"/>
          </p:cNvSpPr>
          <p:nvPr>
            <p:ph type="sldNum" sz="quarter" idx="10"/>
          </p:nvPr>
        </p:nvSpPr>
        <p:spPr/>
        <p:txBody>
          <a:bodyPr/>
          <a:lstStyle/>
          <a:p>
            <a:fld id="{F3BC6573-E5E7-8640-A670-0C65467E9747}" type="slidenum">
              <a:rPr lang="en-US" smtClean="0"/>
              <a:t>9</a:t>
            </a:fld>
            <a:endParaRPr lang="en-US"/>
          </a:p>
        </p:txBody>
      </p:sp>
    </p:spTree>
    <p:extLst>
      <p:ext uri="{BB962C8B-B14F-4D97-AF65-F5344CB8AC3E}">
        <p14:creationId xmlns:p14="http://schemas.microsoft.com/office/powerpoint/2010/main" val="698374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11</a:t>
            </a:fld>
            <a:endParaRPr lang="en-US"/>
          </a:p>
        </p:txBody>
      </p:sp>
    </p:spTree>
    <p:extLst>
      <p:ext uri="{BB962C8B-B14F-4D97-AF65-F5344CB8AC3E}">
        <p14:creationId xmlns:p14="http://schemas.microsoft.com/office/powerpoint/2010/main" val="1486235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12</a:t>
            </a:fld>
            <a:endParaRPr lang="en-US"/>
          </a:p>
        </p:txBody>
      </p:sp>
    </p:spTree>
    <p:extLst>
      <p:ext uri="{BB962C8B-B14F-4D97-AF65-F5344CB8AC3E}">
        <p14:creationId xmlns:p14="http://schemas.microsoft.com/office/powerpoint/2010/main" val="421825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13</a:t>
            </a:fld>
            <a:endParaRPr lang="en-US"/>
          </a:p>
        </p:txBody>
      </p:sp>
    </p:spTree>
    <p:extLst>
      <p:ext uri="{BB962C8B-B14F-4D97-AF65-F5344CB8AC3E}">
        <p14:creationId xmlns:p14="http://schemas.microsoft.com/office/powerpoint/2010/main" val="865144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14</a:t>
            </a:fld>
            <a:endParaRPr lang="en-US"/>
          </a:p>
        </p:txBody>
      </p:sp>
    </p:spTree>
    <p:extLst>
      <p:ext uri="{BB962C8B-B14F-4D97-AF65-F5344CB8AC3E}">
        <p14:creationId xmlns:p14="http://schemas.microsoft.com/office/powerpoint/2010/main" val="532844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15</a:t>
            </a:fld>
            <a:endParaRPr lang="en-US"/>
          </a:p>
        </p:txBody>
      </p:sp>
    </p:spTree>
    <p:extLst>
      <p:ext uri="{BB962C8B-B14F-4D97-AF65-F5344CB8AC3E}">
        <p14:creationId xmlns:p14="http://schemas.microsoft.com/office/powerpoint/2010/main" val="524897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Databases:</a:t>
            </a:r>
          </a:p>
          <a:p>
            <a:r>
              <a:rPr lang="en-US" dirty="0"/>
              <a:t>Every node and edge is defined by a unique identifier. </a:t>
            </a:r>
          </a:p>
          <a:p>
            <a:r>
              <a:rPr lang="en-US" dirty="0"/>
              <a:t>Each node knows its adjacent nodes.</a:t>
            </a:r>
          </a:p>
          <a:p>
            <a:r>
              <a:rPr lang="en-US" dirty="0"/>
              <a:t>As the number of nodes increases, the cost of a local step (or hop) remains the same. </a:t>
            </a:r>
          </a:p>
          <a:p>
            <a:r>
              <a:rPr lang="en-US" dirty="0"/>
              <a:t>Index for lookups.</a:t>
            </a:r>
          </a:p>
        </p:txBody>
      </p:sp>
      <p:sp>
        <p:nvSpPr>
          <p:cNvPr id="4" name="Slide Number Placeholder 3"/>
          <p:cNvSpPr>
            <a:spLocks noGrp="1"/>
          </p:cNvSpPr>
          <p:nvPr>
            <p:ph type="sldNum" sz="quarter" idx="10"/>
          </p:nvPr>
        </p:nvSpPr>
        <p:spPr/>
        <p:txBody>
          <a:bodyPr/>
          <a:lstStyle/>
          <a:p>
            <a:fld id="{F3BC6573-E5E7-8640-A670-0C65467E9747}" type="slidenum">
              <a:rPr lang="en-US" smtClean="0"/>
              <a:t>16</a:t>
            </a:fld>
            <a:endParaRPr lang="en-US"/>
          </a:p>
        </p:txBody>
      </p:sp>
    </p:spTree>
    <p:extLst>
      <p:ext uri="{BB962C8B-B14F-4D97-AF65-F5344CB8AC3E}">
        <p14:creationId xmlns:p14="http://schemas.microsoft.com/office/powerpoint/2010/main" val="854428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know two</a:t>
            </a:r>
            <a:r>
              <a:rPr lang="en-US" baseline="0" dirty="0"/>
              <a:t> items reference the same object?</a:t>
            </a:r>
          </a:p>
          <a:p>
            <a:r>
              <a:rPr lang="en-US" baseline="0" dirty="0"/>
              <a:t>- By Node identification (URI or similar structure)</a:t>
            </a:r>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17</a:t>
            </a:fld>
            <a:endParaRPr lang="en-US"/>
          </a:p>
        </p:txBody>
      </p:sp>
    </p:spTree>
    <p:extLst>
      <p:ext uri="{BB962C8B-B14F-4D97-AF65-F5344CB8AC3E}">
        <p14:creationId xmlns:p14="http://schemas.microsoft.com/office/powerpoint/2010/main" val="1009771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18</a:t>
            </a:fld>
            <a:endParaRPr lang="en-US"/>
          </a:p>
        </p:txBody>
      </p:sp>
    </p:spTree>
    <p:extLst>
      <p:ext uri="{BB962C8B-B14F-4D97-AF65-F5344CB8AC3E}">
        <p14:creationId xmlns:p14="http://schemas.microsoft.com/office/powerpoint/2010/main" val="1203013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21</a:t>
            </a:fld>
            <a:endParaRPr lang="en-US"/>
          </a:p>
        </p:txBody>
      </p:sp>
    </p:spTree>
    <p:extLst>
      <p:ext uri="{BB962C8B-B14F-4D97-AF65-F5344CB8AC3E}">
        <p14:creationId xmlns:p14="http://schemas.microsoft.com/office/powerpoint/2010/main" val="209658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22</a:t>
            </a:fld>
            <a:endParaRPr lang="en-US"/>
          </a:p>
        </p:txBody>
      </p:sp>
    </p:spTree>
    <p:extLst>
      <p:ext uri="{BB962C8B-B14F-4D97-AF65-F5344CB8AC3E}">
        <p14:creationId xmlns:p14="http://schemas.microsoft.com/office/powerpoint/2010/main" val="1276234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Fast, Iterative Development </a:t>
            </a:r>
            <a:r>
              <a:rPr lang="en-US" dirty="0"/>
              <a:t>Contrast this against static relational schemas and complex operations that have hindered you in the past. </a:t>
            </a:r>
          </a:p>
          <a:p>
            <a:r>
              <a:rPr lang="en-US" b="1" dirty="0"/>
              <a:t>Flexible Data Model: </a:t>
            </a:r>
            <a:r>
              <a:rPr lang="en-US" dirty="0"/>
              <a:t>You can dynamically modify the schema without downtime. You spend less time prepping your data for the database, and more time putting your data to work. </a:t>
            </a:r>
          </a:p>
          <a:p>
            <a:r>
              <a:rPr lang="en-US" b="1" dirty="0"/>
              <a:t>Pluggable Storage Architecture </a:t>
            </a:r>
            <a:r>
              <a:rPr lang="en-US" dirty="0"/>
              <a:t>With </a:t>
            </a:r>
            <a:r>
              <a:rPr lang="en-US" dirty="0" err="1"/>
              <a:t>MongoDB</a:t>
            </a:r>
            <a:r>
              <a:rPr lang="en-US" dirty="0"/>
              <a:t>, organizations can address diverse application needs with a single database technology. With it's pluggable storage architecture, M</a:t>
            </a:r>
          </a:p>
          <a:p>
            <a:r>
              <a:rPr lang="en-US" dirty="0" err="1"/>
              <a:t>ongoDB</a:t>
            </a:r>
            <a:r>
              <a:rPr lang="en-US" dirty="0"/>
              <a:t> can be extended with new capabilities, and configured for optimal use of specific hardware architectures.</a:t>
            </a:r>
          </a:p>
          <a:p>
            <a:r>
              <a:rPr lang="en-US" b="1" dirty="0"/>
              <a:t>Integrated Feature Set: </a:t>
            </a:r>
            <a:r>
              <a:rPr lang="en-US" dirty="0"/>
              <a:t>RDBMS systems require additional, complex technologies demanding separate integration overhead and expense to do this well. </a:t>
            </a:r>
          </a:p>
        </p:txBody>
      </p:sp>
      <p:sp>
        <p:nvSpPr>
          <p:cNvPr id="4" name="Slide Number Placeholder 3"/>
          <p:cNvSpPr>
            <a:spLocks noGrp="1"/>
          </p:cNvSpPr>
          <p:nvPr>
            <p:ph type="sldNum" sz="quarter" idx="10"/>
          </p:nvPr>
        </p:nvSpPr>
        <p:spPr/>
        <p:txBody>
          <a:bodyPr/>
          <a:lstStyle/>
          <a:p>
            <a:fld id="{F3BC6573-E5E7-8640-A670-0C65467E9747}" type="slidenum">
              <a:rPr lang="en-US" smtClean="0"/>
              <a:t>23</a:t>
            </a:fld>
            <a:endParaRPr lang="en-US"/>
          </a:p>
        </p:txBody>
      </p:sp>
    </p:spTree>
    <p:extLst>
      <p:ext uri="{BB962C8B-B14F-4D97-AF65-F5344CB8AC3E}">
        <p14:creationId xmlns:p14="http://schemas.microsoft.com/office/powerpoint/2010/main" val="356719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24</a:t>
            </a:fld>
            <a:endParaRPr lang="en-US"/>
          </a:p>
        </p:txBody>
      </p:sp>
    </p:spTree>
    <p:extLst>
      <p:ext uri="{BB962C8B-B14F-4D97-AF65-F5344CB8AC3E}">
        <p14:creationId xmlns:p14="http://schemas.microsoft.com/office/powerpoint/2010/main" val="1063102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25</a:t>
            </a:fld>
            <a:endParaRPr lang="en-US"/>
          </a:p>
        </p:txBody>
      </p:sp>
    </p:spTree>
    <p:extLst>
      <p:ext uri="{BB962C8B-B14F-4D97-AF65-F5344CB8AC3E}">
        <p14:creationId xmlns:p14="http://schemas.microsoft.com/office/powerpoint/2010/main" val="2126558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Data As Documents:  </a:t>
            </a:r>
            <a:r>
              <a:rPr lang="en-US" sz="1200" b="0" i="0" u="none" strike="noStrike" kern="1200" baseline="0" dirty="0" err="1">
                <a:solidFill>
                  <a:schemeClr val="tx1"/>
                </a:solidFill>
                <a:latin typeface="+mn-lt"/>
                <a:ea typeface="+mn-ea"/>
                <a:cs typeface="+mn-cs"/>
              </a:rPr>
              <a:t>MongoDB</a:t>
            </a:r>
            <a:r>
              <a:rPr lang="en-US" sz="1200" b="0" i="0" u="none" strike="noStrike" kern="1200" baseline="0" dirty="0">
                <a:solidFill>
                  <a:schemeClr val="tx1"/>
                </a:solidFill>
                <a:latin typeface="+mn-lt"/>
                <a:ea typeface="+mn-ea"/>
                <a:cs typeface="+mn-cs"/>
              </a:rPr>
              <a:t> stores data as documents in a binary representation called BSON (Binary JSON). The BSON encoding extends the popular JSON (JavaScript Object</a:t>
            </a:r>
          </a:p>
          <a:p>
            <a:r>
              <a:rPr lang="en-US" sz="1200" b="0" i="0" u="none" strike="noStrike" kern="1200" baseline="0" dirty="0">
                <a:solidFill>
                  <a:schemeClr val="tx1"/>
                </a:solidFill>
                <a:latin typeface="+mn-lt"/>
                <a:ea typeface="+mn-ea"/>
                <a:cs typeface="+mn-cs"/>
              </a:rPr>
              <a:t>Notation) representation to include additional types such as </a:t>
            </a:r>
            <a:r>
              <a:rPr lang="en-US" sz="1200" b="0" i="0" u="none" strike="noStrike" kern="1200" baseline="0" dirty="0" err="1">
                <a:solidFill>
                  <a:schemeClr val="tx1"/>
                </a:solidFill>
                <a:latin typeface="+mn-lt"/>
                <a:ea typeface="+mn-ea"/>
                <a:cs typeface="+mn-cs"/>
              </a:rPr>
              <a:t>int</a:t>
            </a:r>
            <a:r>
              <a:rPr lang="en-US" sz="1200" b="0" i="0" u="none" strike="noStrike" kern="1200" baseline="0" dirty="0">
                <a:solidFill>
                  <a:schemeClr val="tx1"/>
                </a:solidFill>
                <a:latin typeface="+mn-lt"/>
                <a:ea typeface="+mn-ea"/>
                <a:cs typeface="+mn-cs"/>
              </a:rPr>
              <a:t>, long, and floating point. BSON documents contain one or more fields, and each field contains a value of a specific data type, including arrays, binary data and sub-documents.</a:t>
            </a:r>
          </a:p>
          <a:p>
            <a:r>
              <a:rPr lang="en-US" sz="1200" b="1" dirty="0"/>
              <a:t>Schema Design: </a:t>
            </a:r>
            <a:r>
              <a:rPr lang="en-US" sz="1200" b="0" i="0" u="none" strike="noStrike" kern="1200" baseline="0" dirty="0">
                <a:solidFill>
                  <a:schemeClr val="tx1"/>
                </a:solidFill>
                <a:latin typeface="+mn-lt"/>
                <a:ea typeface="+mn-ea"/>
                <a:cs typeface="+mn-cs"/>
              </a:rPr>
              <a:t> Developers and DBAs should consider a number of topics, including the types of queries the application will need to perform, how objects are managed in the application code, and how documents will change over time.  </a:t>
            </a:r>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26</a:t>
            </a:fld>
            <a:endParaRPr lang="en-US"/>
          </a:p>
        </p:txBody>
      </p:sp>
    </p:spTree>
    <p:extLst>
      <p:ext uri="{BB962C8B-B14F-4D97-AF65-F5344CB8AC3E}">
        <p14:creationId xmlns:p14="http://schemas.microsoft.com/office/powerpoint/2010/main" val="1963197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 As this example illustrates, </a:t>
            </a:r>
            <a:r>
              <a:rPr lang="en-US" sz="1200" b="0" i="0" u="none" strike="noStrike" kern="1200" baseline="0" dirty="0" err="1">
                <a:solidFill>
                  <a:schemeClr val="tx1"/>
                </a:solidFill>
                <a:latin typeface="+mn-lt"/>
                <a:ea typeface="+mn-ea"/>
                <a:cs typeface="+mn-cs"/>
              </a:rPr>
              <a:t>MongoDB</a:t>
            </a:r>
            <a:r>
              <a:rPr lang="en-US" sz="1200" b="0" i="0" u="none" strike="noStrike" kern="1200" baseline="0" dirty="0">
                <a:solidFill>
                  <a:schemeClr val="tx1"/>
                </a:solidFill>
                <a:latin typeface="+mn-lt"/>
                <a:ea typeface="+mn-ea"/>
                <a:cs typeface="+mn-cs"/>
              </a:rPr>
              <a:t> documents tend to have all data for a given record in a single document, whereas in a relational database information for a given</a:t>
            </a:r>
          </a:p>
          <a:p>
            <a:r>
              <a:rPr lang="en-US" sz="1200" b="0" i="0" u="none" strike="noStrike" kern="1200" baseline="0" dirty="0">
                <a:solidFill>
                  <a:schemeClr val="tx1"/>
                </a:solidFill>
                <a:latin typeface="+mn-lt"/>
                <a:ea typeface="+mn-ea"/>
                <a:cs typeface="+mn-cs"/>
              </a:rPr>
              <a:t>record is usually spread across many tables. With the </a:t>
            </a:r>
            <a:r>
              <a:rPr lang="en-US" sz="1200" b="0" i="0" u="none" strike="noStrike" kern="1200" baseline="0" dirty="0" err="1">
                <a:solidFill>
                  <a:schemeClr val="tx1"/>
                </a:solidFill>
                <a:latin typeface="+mn-lt"/>
                <a:ea typeface="+mn-ea"/>
                <a:cs typeface="+mn-cs"/>
              </a:rPr>
              <a:t>MongoDB</a:t>
            </a:r>
            <a:r>
              <a:rPr lang="en-US" sz="1200" b="0" i="0" u="none" strike="noStrike" kern="1200" baseline="0" dirty="0">
                <a:solidFill>
                  <a:schemeClr val="tx1"/>
                </a:solidFill>
                <a:latin typeface="+mn-lt"/>
                <a:ea typeface="+mn-ea"/>
                <a:cs typeface="+mn-cs"/>
              </a:rPr>
              <a:t> document model, data is more localized, which significantly reduces the need to JOIN separate tables. The result is dramatically higher performance and scalability across commodity hardware as a single read to the database can retrieve the entire document </a:t>
            </a:r>
            <a:r>
              <a:rPr lang="en-US" sz="1200" b="0" i="0" u="none" strike="noStrike" kern="1200" baseline="0" dirty="0" err="1">
                <a:solidFill>
                  <a:schemeClr val="tx1"/>
                </a:solidFill>
                <a:latin typeface="+mn-lt"/>
                <a:ea typeface="+mn-ea"/>
                <a:cs typeface="+mn-cs"/>
              </a:rPr>
              <a:t>containingall</a:t>
            </a:r>
            <a:r>
              <a:rPr lang="en-US" sz="1200" b="0" i="0" u="none" strike="noStrike" kern="1200" baseline="0" dirty="0">
                <a:solidFill>
                  <a:schemeClr val="tx1"/>
                </a:solidFill>
                <a:latin typeface="+mn-lt"/>
                <a:ea typeface="+mn-ea"/>
                <a:cs typeface="+mn-cs"/>
              </a:rPr>
              <a:t> related data.</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In addition, </a:t>
            </a:r>
            <a:r>
              <a:rPr lang="en-US" sz="1200" b="0" i="0" u="none" strike="noStrike" kern="1200" baseline="0" dirty="0" err="1">
                <a:solidFill>
                  <a:schemeClr val="tx1"/>
                </a:solidFill>
                <a:latin typeface="+mn-lt"/>
                <a:ea typeface="+mn-ea"/>
                <a:cs typeface="+mn-cs"/>
              </a:rPr>
              <a:t>MongoDB</a:t>
            </a:r>
            <a:r>
              <a:rPr lang="en-US" sz="1200" b="0" i="0" u="none" strike="noStrike" kern="1200" baseline="0" dirty="0">
                <a:solidFill>
                  <a:schemeClr val="tx1"/>
                </a:solidFill>
                <a:latin typeface="+mn-lt"/>
                <a:ea typeface="+mn-ea"/>
                <a:cs typeface="+mn-cs"/>
              </a:rPr>
              <a:t> BSON documents are more closely aligned to the structure of objects in the programming language. This makes it simpler and faster for developers to model how data in the application will map to data stored in the database.</a:t>
            </a:r>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27</a:t>
            </a:fld>
            <a:endParaRPr lang="en-US"/>
          </a:p>
        </p:txBody>
      </p:sp>
    </p:spTree>
    <p:extLst>
      <p:ext uri="{BB962C8B-B14F-4D97-AF65-F5344CB8AC3E}">
        <p14:creationId xmlns:p14="http://schemas.microsoft.com/office/powerpoint/2010/main" val="376544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28</a:t>
            </a:fld>
            <a:endParaRPr lang="en-US"/>
          </a:p>
        </p:txBody>
      </p:sp>
    </p:spTree>
    <p:extLst>
      <p:ext uri="{BB962C8B-B14F-4D97-AF65-F5344CB8AC3E}">
        <p14:creationId xmlns:p14="http://schemas.microsoft.com/office/powerpoint/2010/main" val="9851193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29</a:t>
            </a:fld>
            <a:endParaRPr lang="en-US"/>
          </a:p>
        </p:txBody>
      </p:sp>
    </p:spTree>
    <p:extLst>
      <p:ext uri="{BB962C8B-B14F-4D97-AF65-F5344CB8AC3E}">
        <p14:creationId xmlns:p14="http://schemas.microsoft.com/office/powerpoint/2010/main" val="7198240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Key-value queries</a:t>
            </a:r>
            <a:r>
              <a:rPr lang="en-US" dirty="0"/>
              <a:t> return results based on any field in the document, often the primary key. </a:t>
            </a:r>
          </a:p>
          <a:p>
            <a:r>
              <a:rPr lang="en-US" b="1" dirty="0"/>
              <a:t>Range queries</a:t>
            </a:r>
            <a:r>
              <a:rPr lang="en-US" dirty="0"/>
              <a:t> return results based on values defined as inequalities (e.g. greater than, less than or equal to, between). </a:t>
            </a:r>
          </a:p>
          <a:p>
            <a:r>
              <a:rPr lang="en-US" b="1" dirty="0"/>
              <a:t>Geospatial queries</a:t>
            </a:r>
            <a:r>
              <a:rPr lang="en-US" dirty="0"/>
              <a:t> return results based on proximity criteria, intersection and inclusion as specified by a point, line, circle or polygon. </a:t>
            </a:r>
          </a:p>
          <a:p>
            <a:r>
              <a:rPr lang="en-US" b="1" dirty="0"/>
              <a:t>Text Search queries</a:t>
            </a:r>
            <a:r>
              <a:rPr lang="en-US" dirty="0"/>
              <a:t> return results in relevance order based on text arguments using Boolean operators (e.g., AND, OR, NOT). </a:t>
            </a:r>
          </a:p>
          <a:p>
            <a:r>
              <a:rPr lang="en-US" b="1" dirty="0"/>
              <a:t>Aggregation Framework queries</a:t>
            </a:r>
            <a:r>
              <a:rPr lang="en-US" dirty="0"/>
              <a:t> return aggregations of values returned by the query (e.g., count, min, max, average, similar to a SQL GROUP BY statement). </a:t>
            </a:r>
          </a:p>
          <a:p>
            <a:r>
              <a:rPr lang="en-US" b="1" dirty="0" err="1"/>
              <a:t>MapReduce</a:t>
            </a:r>
            <a:r>
              <a:rPr lang="en-US" b="1" dirty="0"/>
              <a:t> queries</a:t>
            </a:r>
            <a:r>
              <a:rPr lang="en-US" dirty="0"/>
              <a:t> execute complex data processing that is expressed in JavaScript and executed across data in the database. </a:t>
            </a:r>
          </a:p>
        </p:txBody>
      </p:sp>
      <p:sp>
        <p:nvSpPr>
          <p:cNvPr id="4" name="Slide Number Placeholder 3"/>
          <p:cNvSpPr>
            <a:spLocks noGrp="1"/>
          </p:cNvSpPr>
          <p:nvPr>
            <p:ph type="sldNum" sz="quarter" idx="10"/>
          </p:nvPr>
        </p:nvSpPr>
        <p:spPr/>
        <p:txBody>
          <a:bodyPr/>
          <a:lstStyle/>
          <a:p>
            <a:fld id="{F3BC6573-E5E7-8640-A670-0C65467E9747}" type="slidenum">
              <a:rPr lang="en-US" smtClean="0"/>
              <a:t>30</a:t>
            </a:fld>
            <a:endParaRPr lang="en-US"/>
          </a:p>
        </p:txBody>
      </p:sp>
    </p:spTree>
    <p:extLst>
      <p:ext uri="{BB962C8B-B14F-4D97-AF65-F5344CB8AC3E}">
        <p14:creationId xmlns:p14="http://schemas.microsoft.com/office/powerpoint/2010/main" val="1687332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31</a:t>
            </a:fld>
            <a:endParaRPr lang="en-US"/>
          </a:p>
        </p:txBody>
      </p:sp>
    </p:spTree>
    <p:extLst>
      <p:ext uri="{BB962C8B-B14F-4D97-AF65-F5344CB8AC3E}">
        <p14:creationId xmlns:p14="http://schemas.microsoft.com/office/powerpoint/2010/main" val="15192354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32</a:t>
            </a:fld>
            <a:endParaRPr lang="en-US"/>
          </a:p>
        </p:txBody>
      </p:sp>
    </p:spTree>
    <p:extLst>
      <p:ext uri="{BB962C8B-B14F-4D97-AF65-F5344CB8AC3E}">
        <p14:creationId xmlns:p14="http://schemas.microsoft.com/office/powerpoint/2010/main" val="484036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Compound Indexes: </a:t>
            </a:r>
            <a:r>
              <a:rPr lang="en-US" sz="1200" b="0" i="0" u="none" strike="noStrike" kern="1200" baseline="0" dirty="0">
                <a:solidFill>
                  <a:schemeClr val="tx1"/>
                </a:solidFill>
                <a:latin typeface="+mn-lt"/>
                <a:ea typeface="+mn-ea"/>
                <a:cs typeface="+mn-cs"/>
              </a:rPr>
              <a:t> For example, consider an application that stores data about customers. The application may need to find customers based on last name, first name, and city of residence. With a compound index on last name, first name, and city of residence, queries could efficiently locate people with all three of these values specified.</a:t>
            </a:r>
          </a:p>
          <a:p>
            <a:r>
              <a:rPr lang="en-US" b="1" dirty="0"/>
              <a:t>TTL Indexes: </a:t>
            </a:r>
            <a:r>
              <a:rPr lang="en-US" sz="1200" b="0" i="0" u="none" strike="noStrike" kern="1200" baseline="0" dirty="0">
                <a:solidFill>
                  <a:schemeClr val="tx1"/>
                </a:solidFill>
                <a:latin typeface="+mn-lt"/>
                <a:ea typeface="+mn-ea"/>
                <a:cs typeface="+mn-cs"/>
              </a:rPr>
              <a:t> A common use of TTL indexes is applications that maintain a rolling window of history (e.g., most recent 100 days) for user actions such as clickstreams.</a:t>
            </a:r>
          </a:p>
          <a:p>
            <a:r>
              <a:rPr lang="en-US" b="1" dirty="0"/>
              <a:t>Geospatial Indexes:  </a:t>
            </a:r>
            <a:r>
              <a:rPr lang="en-US" sz="1200" b="0" i="0" u="none" strike="noStrike" kern="1200" baseline="0" dirty="0">
                <a:solidFill>
                  <a:schemeClr val="tx1"/>
                </a:solidFill>
                <a:latin typeface="+mn-lt"/>
                <a:ea typeface="+mn-ea"/>
                <a:cs typeface="+mn-cs"/>
              </a:rPr>
              <a:t> These indexes allow </a:t>
            </a:r>
            <a:r>
              <a:rPr lang="en-US" sz="1200" b="0" i="0" u="none" strike="noStrike" kern="1200" baseline="0" dirty="0" err="1">
                <a:solidFill>
                  <a:schemeClr val="tx1"/>
                </a:solidFill>
                <a:latin typeface="+mn-lt"/>
                <a:ea typeface="+mn-ea"/>
                <a:cs typeface="+mn-cs"/>
              </a:rPr>
              <a:t>MongoDB</a:t>
            </a:r>
            <a:r>
              <a:rPr lang="en-US" sz="1200" b="0" i="0" u="none" strike="noStrike" kern="1200" baseline="0" dirty="0">
                <a:solidFill>
                  <a:schemeClr val="tx1"/>
                </a:solidFill>
                <a:latin typeface="+mn-lt"/>
                <a:ea typeface="+mn-ea"/>
                <a:cs typeface="+mn-cs"/>
              </a:rPr>
              <a:t> to optimize queries for documents that contain points or a polygon that are closest to a given point or line; that are within a circle, rectangle, or polygon; or that intersect with a circle, rectangle, or polygon.</a:t>
            </a:r>
          </a:p>
          <a:p>
            <a:r>
              <a:rPr lang="en-US" b="1" dirty="0"/>
              <a:t>Sparse Indexes:  </a:t>
            </a:r>
            <a:r>
              <a:rPr lang="en-US" sz="1200" b="0" i="0" u="none" strike="noStrike" kern="1200" baseline="0" dirty="0">
                <a:solidFill>
                  <a:schemeClr val="tx1"/>
                </a:solidFill>
                <a:latin typeface="+mn-lt"/>
                <a:ea typeface="+mn-ea"/>
                <a:cs typeface="+mn-cs"/>
              </a:rPr>
              <a:t> Because the document data model of </a:t>
            </a:r>
            <a:r>
              <a:rPr lang="en-US" sz="1200" b="0" i="0" u="none" strike="noStrike" kern="1200" baseline="0" dirty="0" err="1">
                <a:solidFill>
                  <a:schemeClr val="tx1"/>
                </a:solidFill>
                <a:latin typeface="+mn-lt"/>
                <a:ea typeface="+mn-ea"/>
                <a:cs typeface="+mn-cs"/>
              </a:rPr>
              <a:t>MongoDB</a:t>
            </a:r>
            <a:r>
              <a:rPr lang="en-US" sz="1200" b="0" i="0" u="none" strike="noStrike" kern="1200" baseline="0" dirty="0">
                <a:solidFill>
                  <a:schemeClr val="tx1"/>
                </a:solidFill>
                <a:latin typeface="+mn-lt"/>
                <a:ea typeface="+mn-ea"/>
                <a:cs typeface="+mn-cs"/>
              </a:rPr>
              <a:t> allows for flexibility in the data model from document to document, it is common for some fields to be present only in a subset of all documents. Sparse indexes allow for smaller, more efficient indexes when fields are not present in all documents.</a:t>
            </a:r>
          </a:p>
          <a:p>
            <a:r>
              <a:rPr lang="en-US" b="1" dirty="0"/>
              <a:t>Text Search Indexes: </a:t>
            </a:r>
            <a:r>
              <a:rPr lang="en-US" sz="1200" b="0" i="0" u="none" strike="noStrike" kern="1200" baseline="0" dirty="0">
                <a:solidFill>
                  <a:schemeClr val="tx1"/>
                </a:solidFill>
                <a:latin typeface="+mn-lt"/>
                <a:ea typeface="+mn-ea"/>
                <a:cs typeface="+mn-cs"/>
              </a:rPr>
              <a:t> Queries that use the text search index will return documents in relevance order. One or more fields can be included in the text index.</a:t>
            </a:r>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33</a:t>
            </a:fld>
            <a:endParaRPr lang="en-US"/>
          </a:p>
        </p:txBody>
      </p:sp>
    </p:spTree>
    <p:extLst>
      <p:ext uri="{BB962C8B-B14F-4D97-AF65-F5344CB8AC3E}">
        <p14:creationId xmlns:p14="http://schemas.microsoft.com/office/powerpoint/2010/main" val="1174425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34</a:t>
            </a:fld>
            <a:endParaRPr lang="en-US"/>
          </a:p>
        </p:txBody>
      </p:sp>
    </p:spTree>
    <p:extLst>
      <p:ext uri="{BB962C8B-B14F-4D97-AF65-F5344CB8AC3E}">
        <p14:creationId xmlns:p14="http://schemas.microsoft.com/office/powerpoint/2010/main" val="14762203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35</a:t>
            </a:fld>
            <a:endParaRPr lang="en-US"/>
          </a:p>
        </p:txBody>
      </p:sp>
    </p:spTree>
    <p:extLst>
      <p:ext uri="{BB962C8B-B14F-4D97-AF65-F5344CB8AC3E}">
        <p14:creationId xmlns:p14="http://schemas.microsoft.com/office/powerpoint/2010/main" val="4697781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36</a:t>
            </a:fld>
            <a:endParaRPr lang="en-US"/>
          </a:p>
        </p:txBody>
      </p:sp>
    </p:spTree>
    <p:extLst>
      <p:ext uri="{BB962C8B-B14F-4D97-AF65-F5344CB8AC3E}">
        <p14:creationId xmlns:p14="http://schemas.microsoft.com/office/powerpoint/2010/main" val="751078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MongoDB</a:t>
            </a:r>
            <a:r>
              <a:rPr lang="en-US" dirty="0"/>
              <a:t> 3.0 ships with two supported storage engines: </a:t>
            </a:r>
          </a:p>
          <a:p>
            <a:r>
              <a:rPr lang="en-US" dirty="0"/>
              <a:t>MMAPv1 (Memory Mapped Version 1) engine – an improved version of the engine used in prior </a:t>
            </a:r>
            <a:r>
              <a:rPr lang="en-US" dirty="0" err="1"/>
              <a:t>MongoDB</a:t>
            </a:r>
            <a:r>
              <a:rPr lang="en-US" dirty="0"/>
              <a:t> releases;</a:t>
            </a:r>
          </a:p>
          <a:p>
            <a:r>
              <a:rPr lang="en-US" dirty="0"/>
              <a:t> and the new </a:t>
            </a:r>
            <a:r>
              <a:rPr lang="en-US" dirty="0" err="1"/>
              <a:t>WiredTiger</a:t>
            </a:r>
            <a:r>
              <a:rPr lang="en-US" dirty="0"/>
              <a:t> storage engine bringing higher concurrency and compression.</a:t>
            </a:r>
          </a:p>
          <a:p>
            <a:r>
              <a:rPr lang="en-US" dirty="0"/>
              <a:t>The Pluggable Storage Architecture (PSA) Framework package allows partners to deliver performance-enhancing, multi-</a:t>
            </a:r>
            <a:r>
              <a:rPr lang="en-US" dirty="0" err="1"/>
              <a:t>pathing</a:t>
            </a:r>
            <a:r>
              <a:rPr lang="en-US" dirty="0"/>
              <a:t> and load-balancing behaviors optimized per array.</a:t>
            </a:r>
          </a:p>
        </p:txBody>
      </p:sp>
      <p:sp>
        <p:nvSpPr>
          <p:cNvPr id="4" name="Slide Number Placeholder 3"/>
          <p:cNvSpPr>
            <a:spLocks noGrp="1"/>
          </p:cNvSpPr>
          <p:nvPr>
            <p:ph type="sldNum" sz="quarter" idx="10"/>
          </p:nvPr>
        </p:nvSpPr>
        <p:spPr/>
        <p:txBody>
          <a:bodyPr/>
          <a:lstStyle/>
          <a:p>
            <a:fld id="{F3BC6573-E5E7-8640-A670-0C65467E9747}" type="slidenum">
              <a:rPr lang="en-US" smtClean="0"/>
              <a:t>37</a:t>
            </a:fld>
            <a:endParaRPr lang="en-US"/>
          </a:p>
        </p:txBody>
      </p:sp>
    </p:spTree>
    <p:extLst>
      <p:ext uri="{BB962C8B-B14F-4D97-AF65-F5344CB8AC3E}">
        <p14:creationId xmlns:p14="http://schemas.microsoft.com/office/powerpoint/2010/main" val="10574828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38</a:t>
            </a:fld>
            <a:endParaRPr lang="en-US"/>
          </a:p>
        </p:txBody>
      </p:sp>
    </p:spTree>
    <p:extLst>
      <p:ext uri="{BB962C8B-B14F-4D97-AF65-F5344CB8AC3E}">
        <p14:creationId xmlns:p14="http://schemas.microsoft.com/office/powerpoint/2010/main" val="16551353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Authentication.</a:t>
            </a:r>
            <a:r>
              <a:rPr lang="en-US" dirty="0"/>
              <a:t> Simplifying access control to the database, </a:t>
            </a:r>
            <a:r>
              <a:rPr lang="en-US" dirty="0" err="1"/>
              <a:t>MongoDB</a:t>
            </a:r>
            <a:r>
              <a:rPr lang="en-US" dirty="0"/>
              <a:t> offers integration with external security mechanisms including LDAP, Windows Active Directory, Kerberos and x.509 PKI certificates. </a:t>
            </a:r>
          </a:p>
          <a:p>
            <a:r>
              <a:rPr lang="en-US" b="1" dirty="0"/>
              <a:t>Authorization.</a:t>
            </a:r>
            <a:r>
              <a:rPr lang="en-US" dirty="0"/>
              <a:t> User-defined roles enable administrators to configure granular permissions for a user or application, based on the privileges they need to do their job. Additionally, field-level redaction can work with trusted middleware to manage access to individual fields within a document, allowing the co-location of data with multiple security levels for ease of development and operation. </a:t>
            </a:r>
          </a:p>
          <a:p>
            <a:r>
              <a:rPr lang="en-US" b="1" dirty="0"/>
              <a:t>Auditing.</a:t>
            </a:r>
            <a:r>
              <a:rPr lang="en-US" dirty="0"/>
              <a:t> For regulatory compliance, security administrators can use </a:t>
            </a:r>
            <a:r>
              <a:rPr lang="en-US" dirty="0" err="1"/>
              <a:t>MongoDB's</a:t>
            </a:r>
            <a:r>
              <a:rPr lang="en-US" dirty="0"/>
              <a:t> native audit log to track access and operations performed against the database. </a:t>
            </a:r>
          </a:p>
          <a:p>
            <a:r>
              <a:rPr lang="en-US" b="1" dirty="0"/>
              <a:t>Encryption.</a:t>
            </a:r>
            <a:r>
              <a:rPr lang="en-US" dirty="0"/>
              <a:t> </a:t>
            </a:r>
            <a:r>
              <a:rPr lang="en-US" dirty="0" err="1"/>
              <a:t>MongoDB</a:t>
            </a:r>
            <a:r>
              <a:rPr lang="en-US" dirty="0"/>
              <a:t> data can be encrypted on the network and on disk. Support for SSL allows clients to connect to </a:t>
            </a:r>
            <a:r>
              <a:rPr lang="en-US" dirty="0" err="1"/>
              <a:t>MongoDB</a:t>
            </a:r>
            <a:r>
              <a:rPr lang="en-US" dirty="0"/>
              <a:t> over an encrypted channel. </a:t>
            </a:r>
          </a:p>
          <a:p>
            <a:endParaRPr lang="en-US" dirty="0"/>
          </a:p>
        </p:txBody>
      </p:sp>
      <p:sp>
        <p:nvSpPr>
          <p:cNvPr id="4" name="Slide Number Placeholder 3"/>
          <p:cNvSpPr>
            <a:spLocks noGrp="1"/>
          </p:cNvSpPr>
          <p:nvPr>
            <p:ph type="sldNum" sz="quarter" idx="10"/>
          </p:nvPr>
        </p:nvSpPr>
        <p:spPr/>
        <p:txBody>
          <a:bodyPr/>
          <a:lstStyle/>
          <a:p>
            <a:fld id="{F3BC6573-E5E7-8640-A670-0C65467E9747}" type="slidenum">
              <a:rPr lang="en-US" smtClean="0"/>
              <a:t>39</a:t>
            </a:fld>
            <a:endParaRPr lang="en-US"/>
          </a:p>
        </p:txBody>
      </p:sp>
    </p:spTree>
    <p:extLst>
      <p:ext uri="{BB962C8B-B14F-4D97-AF65-F5344CB8AC3E}">
        <p14:creationId xmlns:p14="http://schemas.microsoft.com/office/powerpoint/2010/main" val="14714024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41</a:t>
            </a:fld>
            <a:endParaRPr lang="en-US"/>
          </a:p>
        </p:txBody>
      </p:sp>
    </p:spTree>
    <p:extLst>
      <p:ext uri="{BB962C8B-B14F-4D97-AF65-F5344CB8AC3E}">
        <p14:creationId xmlns:p14="http://schemas.microsoft.com/office/powerpoint/2010/main" val="5397667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42</a:t>
            </a:fld>
            <a:endParaRPr lang="en-US"/>
          </a:p>
        </p:txBody>
      </p:sp>
    </p:spTree>
    <p:extLst>
      <p:ext uri="{BB962C8B-B14F-4D97-AF65-F5344CB8AC3E}">
        <p14:creationId xmlns:p14="http://schemas.microsoft.com/office/powerpoint/2010/main" val="3060962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BC6573-E5E7-8640-A670-0C65467E9747}" type="slidenum">
              <a:rPr lang="en-US" smtClean="0"/>
              <a:t>43</a:t>
            </a:fld>
            <a:endParaRPr lang="en-US"/>
          </a:p>
        </p:txBody>
      </p:sp>
    </p:spTree>
    <p:extLst>
      <p:ext uri="{BB962C8B-B14F-4D97-AF65-F5344CB8AC3E}">
        <p14:creationId xmlns:p14="http://schemas.microsoft.com/office/powerpoint/2010/main" val="2053605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CA"/>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a:t>Click to edit Master subtitle style</a:t>
            </a:r>
            <a:endParaRPr lang="en-US" dirty="0"/>
          </a:p>
        </p:txBody>
      </p:sp>
      <p:sp>
        <p:nvSpPr>
          <p:cNvPr id="4" name="Date Placeholder 3"/>
          <p:cNvSpPr>
            <a:spLocks noGrp="1"/>
          </p:cNvSpPr>
          <p:nvPr>
            <p:ph type="dt" sz="half" idx="10"/>
          </p:nvPr>
        </p:nvSpPr>
        <p:spPr/>
        <p:txBody>
          <a:bodyPr/>
          <a:lstStyle/>
          <a:p>
            <a:fld id="{72C315F7-E6DC-D144-B15A-C8458F5B4D25}" type="datetime1">
              <a:rPr lang="en-CA" smtClean="0"/>
              <a:t>2025-12-02</a:t>
            </a:fld>
            <a:endParaRPr lang="en-US"/>
          </a:p>
        </p:txBody>
      </p:sp>
      <p:sp>
        <p:nvSpPr>
          <p:cNvPr id="5" name="Footer Placeholder 4"/>
          <p:cNvSpPr>
            <a:spLocks noGrp="1"/>
          </p:cNvSpPr>
          <p:nvPr>
            <p:ph type="ftr" sz="quarter" idx="11"/>
          </p:nvPr>
        </p:nvSpPr>
        <p:spPr/>
        <p:txBody>
          <a:bodyPr/>
          <a:lstStyle/>
          <a:p>
            <a:r>
              <a:rPr lang="en-US"/>
              <a:t>http://www.slideshare.net/Dataversity/nosql-now-nosql-architecture-patterns-23589170</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541110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CA"/>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Date Placeholder 3"/>
          <p:cNvSpPr>
            <a:spLocks noGrp="1"/>
          </p:cNvSpPr>
          <p:nvPr>
            <p:ph type="dt" sz="half" idx="10"/>
          </p:nvPr>
        </p:nvSpPr>
        <p:spPr/>
        <p:txBody>
          <a:bodyPr/>
          <a:lstStyle/>
          <a:p>
            <a:fld id="{1787389A-ACB2-4343-9BDB-3CB3ED09FB8E}" type="datetime1">
              <a:rPr lang="en-CA" smtClean="0"/>
              <a:t>2025-12-02</a:t>
            </a:fld>
            <a:endParaRPr lang="en-US"/>
          </a:p>
        </p:txBody>
      </p:sp>
      <p:sp>
        <p:nvSpPr>
          <p:cNvPr id="5" name="Footer Placeholder 4"/>
          <p:cNvSpPr>
            <a:spLocks noGrp="1"/>
          </p:cNvSpPr>
          <p:nvPr>
            <p:ph type="ftr" sz="quarter" idx="11"/>
          </p:nvPr>
        </p:nvSpPr>
        <p:spPr/>
        <p:txBody>
          <a:bodyPr/>
          <a:lstStyle/>
          <a:p>
            <a:r>
              <a:rPr lang="en-US"/>
              <a:t>http://www.slideshare.net/Dataversity/nosql-now-nosql-architecture-patterns-23589170</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2084546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CA"/>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p>
            <a:fld id="{8B7641E8-45FF-F042-8A0A-B6EB62FF9A77}" type="datetime1">
              <a:rPr lang="en-CA" smtClean="0"/>
              <a:t>2025-12-02</a:t>
            </a:fld>
            <a:endParaRPr lang="en-US"/>
          </a:p>
        </p:txBody>
      </p:sp>
      <p:sp>
        <p:nvSpPr>
          <p:cNvPr id="5" name="Footer Placeholder 4"/>
          <p:cNvSpPr>
            <a:spLocks noGrp="1"/>
          </p:cNvSpPr>
          <p:nvPr>
            <p:ph type="ftr" sz="quarter" idx="11"/>
          </p:nvPr>
        </p:nvSpPr>
        <p:spPr/>
        <p:txBody>
          <a:bodyPr/>
          <a:lstStyle/>
          <a:p>
            <a:r>
              <a:rPr lang="en-US"/>
              <a:t>http://www.slideshare.net/Dataversity/nosql-now-nosql-architecture-patterns-23589170</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1457880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CA"/>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5" name="Date Placeholder 4"/>
          <p:cNvSpPr>
            <a:spLocks noGrp="1"/>
          </p:cNvSpPr>
          <p:nvPr>
            <p:ph type="dt" sz="half" idx="10"/>
          </p:nvPr>
        </p:nvSpPr>
        <p:spPr/>
        <p:txBody>
          <a:bodyPr/>
          <a:lstStyle/>
          <a:p>
            <a:fld id="{9FFCC0F4-F04B-F048-8504-41F81AD23A6F}" type="datetime1">
              <a:rPr lang="en-CA" smtClean="0"/>
              <a:t>2025-12-02</a:t>
            </a:fld>
            <a:endParaRPr lang="en-US"/>
          </a:p>
        </p:txBody>
      </p:sp>
      <p:sp>
        <p:nvSpPr>
          <p:cNvPr id="6" name="Footer Placeholder 5"/>
          <p:cNvSpPr>
            <a:spLocks noGrp="1"/>
          </p:cNvSpPr>
          <p:nvPr>
            <p:ph type="ftr" sz="quarter" idx="11"/>
          </p:nvPr>
        </p:nvSpPr>
        <p:spPr/>
        <p:txBody>
          <a:bodyPr/>
          <a:lstStyle/>
          <a:p>
            <a:r>
              <a:rPr lang="en-US"/>
              <a:t>http://www.slideshare.net/Dataversity/nosql-now-nosql-architecture-patterns-23589170</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46185101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CA"/>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7" name="Date Placeholder 6"/>
          <p:cNvSpPr>
            <a:spLocks noGrp="1"/>
          </p:cNvSpPr>
          <p:nvPr>
            <p:ph type="dt" sz="half" idx="10"/>
          </p:nvPr>
        </p:nvSpPr>
        <p:spPr/>
        <p:txBody>
          <a:bodyPr/>
          <a:lstStyle/>
          <a:p>
            <a:fld id="{E811E325-FEE5-5E45-BED7-E8A19D840667}" type="datetime1">
              <a:rPr lang="en-CA" smtClean="0"/>
              <a:t>2025-12-02</a:t>
            </a:fld>
            <a:endParaRPr lang="en-US"/>
          </a:p>
        </p:txBody>
      </p:sp>
      <p:sp>
        <p:nvSpPr>
          <p:cNvPr id="8" name="Footer Placeholder 7"/>
          <p:cNvSpPr>
            <a:spLocks noGrp="1"/>
          </p:cNvSpPr>
          <p:nvPr>
            <p:ph type="ftr" sz="quarter" idx="11"/>
          </p:nvPr>
        </p:nvSpPr>
        <p:spPr/>
        <p:txBody>
          <a:bodyPr/>
          <a:lstStyle/>
          <a:p>
            <a:r>
              <a:rPr lang="en-US"/>
              <a:t>http://www.slideshare.net/Dataversity/nosql-now-nosql-architecture-patterns-23589170</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50518518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dirty="0"/>
          </a:p>
        </p:txBody>
      </p:sp>
      <p:sp>
        <p:nvSpPr>
          <p:cNvPr id="3" name="Date Placeholder 2"/>
          <p:cNvSpPr>
            <a:spLocks noGrp="1"/>
          </p:cNvSpPr>
          <p:nvPr>
            <p:ph type="dt" sz="half" idx="10"/>
          </p:nvPr>
        </p:nvSpPr>
        <p:spPr/>
        <p:txBody>
          <a:bodyPr/>
          <a:lstStyle/>
          <a:p>
            <a:fld id="{3D1D205B-6C05-0246-9B41-37B9083A45C2}" type="datetime1">
              <a:rPr lang="en-CA" smtClean="0"/>
              <a:t>2025-12-02</a:t>
            </a:fld>
            <a:endParaRPr lang="en-US"/>
          </a:p>
        </p:txBody>
      </p:sp>
      <p:sp>
        <p:nvSpPr>
          <p:cNvPr id="4" name="Footer Placeholder 3"/>
          <p:cNvSpPr>
            <a:spLocks noGrp="1"/>
          </p:cNvSpPr>
          <p:nvPr>
            <p:ph type="ftr" sz="quarter" idx="11"/>
          </p:nvPr>
        </p:nvSpPr>
        <p:spPr/>
        <p:txBody>
          <a:bodyPr/>
          <a:lstStyle/>
          <a:p>
            <a:r>
              <a:rPr lang="en-US"/>
              <a:t>http://www.slideshare.net/Dataversity/nosql-now-nosql-architecture-patterns-23589170</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2028720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78B6A9-D5AF-4F4B-ABBD-737DDDFF3591}" type="datetime1">
              <a:rPr lang="en-CA" smtClean="0"/>
              <a:t>2025-12-02</a:t>
            </a:fld>
            <a:endParaRPr lang="en-US"/>
          </a:p>
        </p:txBody>
      </p:sp>
      <p:sp>
        <p:nvSpPr>
          <p:cNvPr id="3" name="Footer Placeholder 2"/>
          <p:cNvSpPr>
            <a:spLocks noGrp="1"/>
          </p:cNvSpPr>
          <p:nvPr>
            <p:ph type="ftr" sz="quarter" idx="11"/>
          </p:nvPr>
        </p:nvSpPr>
        <p:spPr/>
        <p:txBody>
          <a:bodyPr/>
          <a:lstStyle/>
          <a:p>
            <a:r>
              <a:rPr lang="en-US"/>
              <a:t>http://www.slideshare.net/Dataversity/nosql-now-nosql-architecture-patterns-23589170</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202043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CA"/>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D098ACF2-C9CC-044E-8A1B-29BCF89BA5EC}" type="datetime1">
              <a:rPr lang="en-CA" smtClean="0"/>
              <a:t>2025-12-02</a:t>
            </a:fld>
            <a:endParaRPr lang="en-US"/>
          </a:p>
        </p:txBody>
      </p:sp>
      <p:sp>
        <p:nvSpPr>
          <p:cNvPr id="6" name="Footer Placeholder 5"/>
          <p:cNvSpPr>
            <a:spLocks noGrp="1"/>
          </p:cNvSpPr>
          <p:nvPr>
            <p:ph type="ftr" sz="quarter" idx="11"/>
          </p:nvPr>
        </p:nvSpPr>
        <p:spPr/>
        <p:txBody>
          <a:bodyPr/>
          <a:lstStyle/>
          <a:p>
            <a:r>
              <a:rPr lang="en-US"/>
              <a:t>http://www.slideshare.net/Dataversity/nosql-now-nosql-architecture-patterns-23589170</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177359509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CA"/>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CA"/>
              <a:t>Drag picture to placeholder or click icon to add</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105B9B05-A894-9746-97F7-5F9680855F76}" type="datetime1">
              <a:rPr lang="en-CA" smtClean="0"/>
              <a:t>2025-12-02</a:t>
            </a:fld>
            <a:endParaRPr lang="en-US"/>
          </a:p>
        </p:txBody>
      </p:sp>
      <p:sp>
        <p:nvSpPr>
          <p:cNvPr id="6" name="Footer Placeholder 5"/>
          <p:cNvSpPr>
            <a:spLocks noGrp="1"/>
          </p:cNvSpPr>
          <p:nvPr>
            <p:ph type="ftr" sz="quarter" idx="11"/>
          </p:nvPr>
        </p:nvSpPr>
        <p:spPr/>
        <p:txBody>
          <a:bodyPr/>
          <a:lstStyle/>
          <a:p>
            <a:r>
              <a:rPr lang="en-US"/>
              <a:t>http://www.slideshare.net/Dataversity/nosql-now-nosql-architecture-patterns-23589170</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554602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CA"/>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p>
            <a:fld id="{082982FE-0864-4D47-AB71-CB882EE0FF7F}" type="datetime1">
              <a:rPr lang="en-CA" smtClean="0"/>
              <a:t>2025-12-02</a:t>
            </a:fld>
            <a:endParaRPr lang="en-US"/>
          </a:p>
        </p:txBody>
      </p:sp>
      <p:sp>
        <p:nvSpPr>
          <p:cNvPr id="5" name="Footer Placeholder 4"/>
          <p:cNvSpPr>
            <a:spLocks noGrp="1"/>
          </p:cNvSpPr>
          <p:nvPr>
            <p:ph type="ftr" sz="quarter" idx="11"/>
          </p:nvPr>
        </p:nvSpPr>
        <p:spPr/>
        <p:txBody>
          <a:bodyPr/>
          <a:lstStyle/>
          <a:p>
            <a:r>
              <a:rPr lang="en-US"/>
              <a:t>http://www.slideshare.net/Dataversity/nosql-now-nosql-architecture-patterns-23589170</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1048938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CA"/>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CA"/>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p>
            <a:fld id="{69E1DAE5-0582-D144-84B4-BECD12B7371C}" type="datetime1">
              <a:rPr lang="en-CA" smtClean="0"/>
              <a:t>2025-12-02</a:t>
            </a:fld>
            <a:endParaRPr lang="en-US"/>
          </a:p>
        </p:txBody>
      </p:sp>
      <p:sp>
        <p:nvSpPr>
          <p:cNvPr id="5" name="Footer Placeholder 4"/>
          <p:cNvSpPr>
            <a:spLocks noGrp="1"/>
          </p:cNvSpPr>
          <p:nvPr>
            <p:ph type="ftr" sz="quarter" idx="11"/>
          </p:nvPr>
        </p:nvSpPr>
        <p:spPr/>
        <p:txBody>
          <a:bodyPr/>
          <a:lstStyle/>
          <a:p>
            <a:r>
              <a:rPr lang="en-US"/>
              <a:t>http://www.slideshare.net/Dataversity/nosql-now-nosql-architecture-patterns-23589170</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44E5C5-9508-7C47-A2BD-9789A299198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59373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CA"/>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CA"/>
              <a:t>Click to edit Master text styles</a:t>
            </a:r>
          </a:p>
        </p:txBody>
      </p:sp>
      <p:sp>
        <p:nvSpPr>
          <p:cNvPr id="5" name="Date Placeholder 4"/>
          <p:cNvSpPr>
            <a:spLocks noGrp="1"/>
          </p:cNvSpPr>
          <p:nvPr>
            <p:ph type="dt" sz="half" idx="10"/>
          </p:nvPr>
        </p:nvSpPr>
        <p:spPr/>
        <p:txBody>
          <a:bodyPr/>
          <a:lstStyle/>
          <a:p>
            <a:fld id="{44060C34-94DA-7E4E-8F23-A41C8F230AB2}" type="datetime1">
              <a:rPr lang="en-CA" smtClean="0"/>
              <a:t>2025-12-02</a:t>
            </a:fld>
            <a:endParaRPr lang="en-US"/>
          </a:p>
        </p:txBody>
      </p:sp>
      <p:sp>
        <p:nvSpPr>
          <p:cNvPr id="6" name="Footer Placeholder 5"/>
          <p:cNvSpPr>
            <a:spLocks noGrp="1"/>
          </p:cNvSpPr>
          <p:nvPr>
            <p:ph type="ftr" sz="quarter" idx="11"/>
          </p:nvPr>
        </p:nvSpPr>
        <p:spPr/>
        <p:txBody>
          <a:bodyPr/>
          <a:lstStyle/>
          <a:p>
            <a:r>
              <a:rPr lang="en-US"/>
              <a:t>http://www.slideshare.net/Dataversity/nosql-now-nosql-architecture-patterns-23589170</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11169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CA"/>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CA"/>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CA"/>
              <a:t>Click to edit Master text styles</a:t>
            </a:r>
          </a:p>
        </p:txBody>
      </p:sp>
      <p:sp>
        <p:nvSpPr>
          <p:cNvPr id="5" name="Date Placeholder 4"/>
          <p:cNvSpPr>
            <a:spLocks noGrp="1"/>
          </p:cNvSpPr>
          <p:nvPr>
            <p:ph type="dt" sz="half" idx="10"/>
          </p:nvPr>
        </p:nvSpPr>
        <p:spPr/>
        <p:txBody>
          <a:bodyPr/>
          <a:lstStyle/>
          <a:p>
            <a:fld id="{468D2CCC-F423-7B46-B5A7-4717349D8176}" type="datetime1">
              <a:rPr lang="en-CA" smtClean="0"/>
              <a:t>2025-12-02</a:t>
            </a:fld>
            <a:endParaRPr lang="en-US"/>
          </a:p>
        </p:txBody>
      </p:sp>
      <p:sp>
        <p:nvSpPr>
          <p:cNvPr id="6" name="Footer Placeholder 5"/>
          <p:cNvSpPr>
            <a:spLocks noGrp="1"/>
          </p:cNvSpPr>
          <p:nvPr>
            <p:ph type="ftr" sz="quarter" idx="11"/>
          </p:nvPr>
        </p:nvSpPr>
        <p:spPr/>
        <p:txBody>
          <a:bodyPr/>
          <a:lstStyle/>
          <a:p>
            <a:r>
              <a:rPr lang="en-US"/>
              <a:t>http://www.slideshare.net/Dataversity/nosql-now-nosql-architecture-patterns-23589170</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44E5C5-9508-7C47-A2BD-9789A299198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4295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CA"/>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CA"/>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CA"/>
              <a:t>Click to edit Master text styles</a:t>
            </a:r>
          </a:p>
        </p:txBody>
      </p:sp>
      <p:sp>
        <p:nvSpPr>
          <p:cNvPr id="5" name="Date Placeholder 4"/>
          <p:cNvSpPr>
            <a:spLocks noGrp="1"/>
          </p:cNvSpPr>
          <p:nvPr>
            <p:ph type="dt" sz="half" idx="10"/>
          </p:nvPr>
        </p:nvSpPr>
        <p:spPr/>
        <p:txBody>
          <a:bodyPr/>
          <a:lstStyle/>
          <a:p>
            <a:fld id="{617CE033-5187-3440-9E2F-AFF4752858B2}" type="datetime1">
              <a:rPr lang="en-CA" smtClean="0"/>
              <a:t>2025-12-02</a:t>
            </a:fld>
            <a:endParaRPr lang="en-US"/>
          </a:p>
        </p:txBody>
      </p:sp>
      <p:sp>
        <p:nvSpPr>
          <p:cNvPr id="6" name="Footer Placeholder 5"/>
          <p:cNvSpPr>
            <a:spLocks noGrp="1"/>
          </p:cNvSpPr>
          <p:nvPr>
            <p:ph type="ftr" sz="quarter" idx="11"/>
          </p:nvPr>
        </p:nvSpPr>
        <p:spPr/>
        <p:txBody>
          <a:bodyPr/>
          <a:lstStyle/>
          <a:p>
            <a:r>
              <a:rPr lang="en-US"/>
              <a:t>http://www.slideshare.net/Dataversity/nosql-now-nosql-architecture-patterns-23589170</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104852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Date Placeholder 3"/>
          <p:cNvSpPr>
            <a:spLocks noGrp="1"/>
          </p:cNvSpPr>
          <p:nvPr>
            <p:ph type="dt" sz="half" idx="10"/>
          </p:nvPr>
        </p:nvSpPr>
        <p:spPr/>
        <p:txBody>
          <a:bodyPr/>
          <a:lstStyle/>
          <a:p>
            <a:fld id="{02CF31C9-A034-E449-B1A6-71ED800E7D19}" type="datetime1">
              <a:rPr lang="en-CA" smtClean="0"/>
              <a:t>2025-12-02</a:t>
            </a:fld>
            <a:endParaRPr lang="en-US"/>
          </a:p>
        </p:txBody>
      </p:sp>
      <p:sp>
        <p:nvSpPr>
          <p:cNvPr id="5" name="Footer Placeholder 4"/>
          <p:cNvSpPr>
            <a:spLocks noGrp="1"/>
          </p:cNvSpPr>
          <p:nvPr>
            <p:ph type="ftr" sz="quarter" idx="11"/>
          </p:nvPr>
        </p:nvSpPr>
        <p:spPr/>
        <p:txBody>
          <a:bodyPr/>
          <a:lstStyle/>
          <a:p>
            <a:r>
              <a:rPr lang="en-US"/>
              <a:t>http://www.slideshare.net/Dataversity/nosql-now-nosql-architecture-patterns-23589170</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1814634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CA"/>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Date Placeholder 3"/>
          <p:cNvSpPr>
            <a:spLocks noGrp="1"/>
          </p:cNvSpPr>
          <p:nvPr>
            <p:ph type="dt" sz="half" idx="10"/>
          </p:nvPr>
        </p:nvSpPr>
        <p:spPr/>
        <p:txBody>
          <a:bodyPr/>
          <a:lstStyle/>
          <a:p>
            <a:fld id="{3D6450F6-9B4D-284A-BB03-C0E0E77B459F}" type="datetime1">
              <a:rPr lang="en-CA" smtClean="0"/>
              <a:t>2025-12-02</a:t>
            </a:fld>
            <a:endParaRPr lang="en-US"/>
          </a:p>
        </p:txBody>
      </p:sp>
      <p:sp>
        <p:nvSpPr>
          <p:cNvPr id="5" name="Footer Placeholder 4"/>
          <p:cNvSpPr>
            <a:spLocks noGrp="1"/>
          </p:cNvSpPr>
          <p:nvPr>
            <p:ph type="ftr" sz="quarter" idx="11"/>
          </p:nvPr>
        </p:nvSpPr>
        <p:spPr/>
        <p:txBody>
          <a:bodyPr/>
          <a:lstStyle/>
          <a:p>
            <a:r>
              <a:rPr lang="en-US"/>
              <a:t>http://www.slideshare.net/Dataversity/nosql-now-nosql-architecture-patterns-23589170</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44E5C5-9508-7C47-A2BD-9789A2991986}" type="slidenum">
              <a:rPr lang="en-US" smtClean="0"/>
              <a:t>‹#›</a:t>
            </a:fld>
            <a:endParaRPr lang="en-US"/>
          </a:p>
        </p:txBody>
      </p:sp>
    </p:spTree>
    <p:extLst>
      <p:ext uri="{BB962C8B-B14F-4D97-AF65-F5344CB8AC3E}">
        <p14:creationId xmlns:p14="http://schemas.microsoft.com/office/powerpoint/2010/main" val="1343457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CA"/>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0617930-7523-684C-8F7E-07B97B8719ED}" type="datetime1">
              <a:rPr lang="en-CA" smtClean="0"/>
              <a:t>2025-12-02</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http://www.slideshare.net/Dataversity/nosql-now-nosql-architecture-patterns-23589170</a:t>
            </a: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D44E5C5-9508-7C47-A2BD-9789A2991986}" type="slidenum">
              <a:rPr lang="en-US" smtClean="0"/>
              <a:t>‹#›</a:t>
            </a:fld>
            <a:endParaRPr lang="en-US"/>
          </a:p>
        </p:txBody>
      </p:sp>
    </p:spTree>
    <p:extLst>
      <p:ext uri="{BB962C8B-B14F-4D97-AF65-F5344CB8AC3E}">
        <p14:creationId xmlns:p14="http://schemas.microsoft.com/office/powerpoint/2010/main" val="1003463633"/>
      </p:ext>
    </p:extLst>
  </p:cSld>
  <p:clrMap bg1="lt1" tx1="dk1" bg2="lt2" tx2="dk2" accent1="accent1" accent2="accent2" accent3="accent3" accent4="accent4" accent5="accent5" accent6="accent6" hlink="hlink" folHlink="folHlink"/>
  <p:sldLayoutIdLst>
    <p:sldLayoutId id="2147484364" r:id="rId1"/>
    <p:sldLayoutId id="2147484365" r:id="rId2"/>
    <p:sldLayoutId id="2147484366" r:id="rId3"/>
    <p:sldLayoutId id="2147484367" r:id="rId4"/>
    <p:sldLayoutId id="2147484368" r:id="rId5"/>
    <p:sldLayoutId id="2147484369" r:id="rId6"/>
    <p:sldLayoutId id="2147484370" r:id="rId7"/>
    <p:sldLayoutId id="2147484371" r:id="rId8"/>
    <p:sldLayoutId id="2147484372" r:id="rId9"/>
    <p:sldLayoutId id="2147484373" r:id="rId10"/>
    <p:sldLayoutId id="2147484374" r:id="rId11"/>
    <p:sldLayoutId id="2147484375" r:id="rId12"/>
    <p:sldLayoutId id="2147484376" r:id="rId13"/>
    <p:sldLayoutId id="2147484377" r:id="rId14"/>
    <p:sldLayoutId id="2147484378" r:id="rId15"/>
    <p:sldLayoutId id="2147484379"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hyperlink" Target="http://searchcloudcomputing.techtarget.com/definition/Hadoop" TargetMode="External"/><Relationship Id="rId3" Type="http://schemas.openxmlformats.org/officeDocument/2006/relationships/hyperlink" Target="http://searchdatacenter.techtarget.com/definition/scalability" TargetMode="External"/><Relationship Id="rId7" Type="http://schemas.openxmlformats.org/officeDocument/2006/relationships/hyperlink" Target="http://searchsoa.techtarget.com/definition/tabl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earchsqlserver.techtarget.com/answer/What-is-SQL" TargetMode="External"/><Relationship Id="rId5" Type="http://schemas.openxmlformats.org/officeDocument/2006/relationships/hyperlink" Target="http://searchsqlserver.techtarget.com/definition/relational-database" TargetMode="External"/><Relationship Id="rId4" Type="http://schemas.openxmlformats.org/officeDocument/2006/relationships/hyperlink" Target="http://searchcloudcomputing.techtarget.com/definition/big-data-Big-Data" TargetMode="External"/><Relationship Id="rId9" Type="http://schemas.openxmlformats.org/officeDocument/2006/relationships/hyperlink" Target="http://searchcloudcomputing.techtarget.com/definition/MapReduc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wiki/Redis" TargetMode="External"/><Relationship Id="rId3" Type="http://schemas.openxmlformats.org/officeDocument/2006/relationships/hyperlink" Target="http://www.strozzi.it/cgi-bin/CSA/tw7/I/en_US/nosql/Home%20Page" TargetMode="External"/><Relationship Id="rId7" Type="http://schemas.openxmlformats.org/officeDocument/2006/relationships/hyperlink" Target="https://en.wikipedia.org/wiki/Apache_Cassandr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en.wikipedia.org/wiki/Datastax" TargetMode="External"/><Relationship Id="rId5" Type="http://schemas.openxmlformats.org/officeDocument/2006/relationships/hyperlink" Target="https://en.wikipedia.org/wiki/MongoDB" TargetMode="External"/><Relationship Id="rId4" Type="http://schemas.openxmlformats.org/officeDocument/2006/relationships/hyperlink" Target="https://en.wikipedia.org/wiki/MarkLogic"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www.slideshare.net/Dataversity/nosql-now-nosql-architecture-patterns-2358917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hyperlink" Target="http://www.w3resource.com/mongodb/nosql.php" TargetMode="External"/><Relationship Id="rId4" Type="http://schemas.openxmlformats.org/officeDocument/2006/relationships/hyperlink" Target="http://www.slideshare.net/Dataversity/nosql-now-nosql-architecture-patterns-23589170"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w3resource.com/mongodb/nosql.php" TargetMode="External"/><Relationship Id="rId2" Type="http://schemas.openxmlformats.org/officeDocument/2006/relationships/hyperlink" Target="http://www.slideshare.net/Dataversity/nosql-now-nosql-architecture-patterns-23589170" TargetMode="Externa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hyperlink" Target="http://www.3pillarglobal.com/insights/short-history-databases-rdbms-nosql-beyond"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oss.sonatype.org/content/repositories/releases/org/mongodb/mongo-java-driver/3.1.1/"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r>
              <a:rPr lang="en-US" sz="2800" b="1" dirty="0"/>
              <a:t>NoSQL Basics and </a:t>
            </a:r>
            <a:r>
              <a:rPr lang="en-US" sz="2800" b="1" dirty="0" err="1"/>
              <a:t>MongoDB</a:t>
            </a:r>
            <a:endParaRPr lang="en-US" sz="2800" b="1" dirty="0"/>
          </a:p>
        </p:txBody>
      </p:sp>
      <p:sp>
        <p:nvSpPr>
          <p:cNvPr id="3" name="Subtitle 2"/>
          <p:cNvSpPr>
            <a:spLocks noGrp="1"/>
          </p:cNvSpPr>
          <p:nvPr>
            <p:ph type="subTitle" idx="1"/>
          </p:nvPr>
        </p:nvSpPr>
        <p:spPr/>
        <p:txBody>
          <a:bodyPr>
            <a:normAutofit/>
          </a:bodyPr>
          <a:lstStyle/>
          <a:p>
            <a:endParaRPr lang="en-US" sz="1800" dirty="0"/>
          </a:p>
        </p:txBody>
      </p:sp>
    </p:spTree>
    <p:extLst>
      <p:ext uri="{BB962C8B-B14F-4D97-AF65-F5344CB8AC3E}">
        <p14:creationId xmlns:p14="http://schemas.microsoft.com/office/powerpoint/2010/main" val="1681692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4" name="Text Placeholder 3"/>
          <p:cNvSpPr>
            <a:spLocks noGrp="1"/>
          </p:cNvSpPr>
          <p:nvPr>
            <p:ph type="body" idx="1"/>
          </p:nvPr>
        </p:nvSpPr>
        <p:spPr/>
        <p:txBody>
          <a:bodyPr/>
          <a:lstStyle/>
          <a:p>
            <a:r>
              <a:rPr lang="en-US" dirty="0"/>
              <a:t>NoSQL Basics</a:t>
            </a:r>
          </a:p>
        </p:txBody>
      </p:sp>
      <p:sp>
        <p:nvSpPr>
          <p:cNvPr id="3" name="Content Placeholder 2"/>
          <p:cNvSpPr>
            <a:spLocks noGrp="1"/>
          </p:cNvSpPr>
          <p:nvPr>
            <p:ph sz="half" idx="2"/>
          </p:nvPr>
        </p:nvSpPr>
        <p:spPr/>
        <p:txBody>
          <a:bodyPr/>
          <a:lstStyle/>
          <a:p>
            <a:r>
              <a:rPr lang="en-US" dirty="0"/>
              <a:t>NoSQL Definition</a:t>
            </a:r>
          </a:p>
          <a:p>
            <a:r>
              <a:rPr lang="en-US" dirty="0"/>
              <a:t>Why NoSQL?</a:t>
            </a:r>
          </a:p>
          <a:p>
            <a:r>
              <a:rPr lang="en-US" dirty="0"/>
              <a:t>RDBMS vs NoSQL</a:t>
            </a:r>
          </a:p>
          <a:p>
            <a:r>
              <a:rPr lang="en-US" dirty="0"/>
              <a:t>Types of NoSQL</a:t>
            </a:r>
          </a:p>
          <a:p>
            <a:r>
              <a:rPr lang="en-US" dirty="0"/>
              <a:t>NoSQL pros and cons</a:t>
            </a:r>
          </a:p>
        </p:txBody>
      </p:sp>
      <p:sp>
        <p:nvSpPr>
          <p:cNvPr id="7" name="Text Placeholder 6"/>
          <p:cNvSpPr>
            <a:spLocks noGrp="1"/>
          </p:cNvSpPr>
          <p:nvPr>
            <p:ph type="body" sz="quarter" idx="3"/>
          </p:nvPr>
        </p:nvSpPr>
        <p:spPr/>
        <p:txBody>
          <a:bodyPr/>
          <a:lstStyle/>
          <a:p>
            <a:r>
              <a:rPr lang="en-US" dirty="0" err="1"/>
              <a:t>MongoDB</a:t>
            </a:r>
            <a:endParaRPr lang="en-US" dirty="0"/>
          </a:p>
        </p:txBody>
      </p:sp>
      <p:sp>
        <p:nvSpPr>
          <p:cNvPr id="8" name="Content Placeholder 7"/>
          <p:cNvSpPr>
            <a:spLocks noGrp="1"/>
          </p:cNvSpPr>
          <p:nvPr>
            <p:ph sz="quarter" idx="4"/>
          </p:nvPr>
        </p:nvSpPr>
        <p:spPr/>
        <p:txBody>
          <a:bodyPr/>
          <a:lstStyle/>
          <a:p>
            <a:r>
              <a:rPr lang="en-US" dirty="0" err="1"/>
              <a:t>MongoDB</a:t>
            </a:r>
            <a:r>
              <a:rPr lang="en-US" dirty="0"/>
              <a:t> Features</a:t>
            </a:r>
          </a:p>
          <a:p>
            <a:r>
              <a:rPr lang="en-US" dirty="0" err="1"/>
              <a:t>MongoDB</a:t>
            </a:r>
            <a:r>
              <a:rPr lang="en-US" dirty="0"/>
              <a:t> Nexus Architecture</a:t>
            </a:r>
          </a:p>
          <a:p>
            <a:r>
              <a:rPr lang="en-US" dirty="0" err="1"/>
              <a:t>MongoDB</a:t>
            </a:r>
            <a:r>
              <a:rPr lang="en-US" dirty="0"/>
              <a:t> Data Model</a:t>
            </a:r>
          </a:p>
          <a:p>
            <a:r>
              <a:rPr lang="en-US" dirty="0" err="1"/>
              <a:t>MongoDB</a:t>
            </a:r>
            <a:r>
              <a:rPr lang="en-US" dirty="0"/>
              <a:t> Query Model</a:t>
            </a:r>
          </a:p>
          <a:p>
            <a:r>
              <a:rPr lang="en-US" dirty="0"/>
              <a:t>Indexing</a:t>
            </a:r>
          </a:p>
          <a:p>
            <a:r>
              <a:rPr lang="en-US" dirty="0" err="1"/>
              <a:t>MongoDB</a:t>
            </a:r>
            <a:r>
              <a:rPr lang="en-US" dirty="0"/>
              <a:t> Data </a:t>
            </a:r>
            <a:r>
              <a:rPr lang="en-US" dirty="0" err="1"/>
              <a:t>ManageMent</a:t>
            </a:r>
            <a:endParaRPr lang="en-US" dirty="0"/>
          </a:p>
          <a:p>
            <a:r>
              <a:rPr lang="en-US" dirty="0"/>
              <a:t>Working Example</a:t>
            </a:r>
          </a:p>
          <a:p>
            <a:endParaRPr lang="en-US" dirty="0"/>
          </a:p>
          <a:p>
            <a:endParaRPr lang="en-US" dirty="0"/>
          </a:p>
        </p:txBody>
      </p:sp>
      <p:sp>
        <p:nvSpPr>
          <p:cNvPr id="6" name="Footer Placeholder 5"/>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D44E5C5-9508-7C47-A2BD-9789A2991986}" type="slidenum">
              <a:rPr lang="en-US" smtClean="0"/>
              <a:t>2</a:t>
            </a:fld>
            <a:endParaRPr lang="en-US"/>
          </a:p>
        </p:txBody>
      </p:sp>
    </p:spTree>
    <p:extLst>
      <p:ext uri="{BB962C8B-B14F-4D97-AF65-F5344CB8AC3E}">
        <p14:creationId xmlns:p14="http://schemas.microsoft.com/office/powerpoint/2010/main" val="1065103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NoSQL?</a:t>
            </a:r>
          </a:p>
        </p:txBody>
      </p:sp>
      <p:sp>
        <p:nvSpPr>
          <p:cNvPr id="3" name="Content Placeholder 2"/>
          <p:cNvSpPr>
            <a:spLocks noGrp="1"/>
          </p:cNvSpPr>
          <p:nvPr>
            <p:ph idx="1"/>
          </p:nvPr>
        </p:nvSpPr>
        <p:spPr/>
        <p:txBody>
          <a:bodyPr>
            <a:normAutofit fontScale="92500" lnSpcReduction="10000"/>
          </a:bodyPr>
          <a:lstStyle/>
          <a:p>
            <a:pPr>
              <a:buFont typeface="Wingdings" charset="2"/>
              <a:buChar char="Ø"/>
            </a:pPr>
            <a:r>
              <a:rPr lang="en-US" b="1" dirty="0"/>
              <a:t>NoSQL</a:t>
            </a:r>
            <a:r>
              <a:rPr lang="en-US" dirty="0"/>
              <a:t> database, also called </a:t>
            </a:r>
            <a:r>
              <a:rPr lang="en-US" b="1" dirty="0"/>
              <a:t>Not Only SQL</a:t>
            </a:r>
            <a:r>
              <a:rPr lang="en-US" dirty="0"/>
              <a:t>, is an approach to data management and database design that's useful for very large sets of distributed data.  </a:t>
            </a:r>
          </a:p>
          <a:p>
            <a:pPr>
              <a:buFont typeface="Wingdings" charset="2"/>
              <a:buChar char="Ø"/>
            </a:pPr>
            <a:r>
              <a:rPr lang="en-US" dirty="0"/>
              <a:t>This database system is </a:t>
            </a:r>
            <a:r>
              <a:rPr lang="en-US" b="1" dirty="0"/>
              <a:t>non-relational, distributed, open-source</a:t>
            </a:r>
            <a:r>
              <a:rPr lang="en-US" dirty="0"/>
              <a:t> and </a:t>
            </a:r>
            <a:r>
              <a:rPr lang="en-US" b="1" dirty="0"/>
              <a:t>horizontally scalable</a:t>
            </a:r>
            <a:r>
              <a:rPr lang="en-US" dirty="0"/>
              <a:t>. </a:t>
            </a:r>
          </a:p>
          <a:p>
            <a:pPr>
              <a:buFont typeface="Wingdings" charset="2"/>
              <a:buChar char="Ø"/>
            </a:pPr>
            <a:r>
              <a:rPr lang="en-US" dirty="0"/>
              <a:t>NoSQL, which encompasses a wide range of technologies and architectures, seeks to solve the </a:t>
            </a:r>
            <a:r>
              <a:rPr lang="en-US" dirty="0">
                <a:hlinkClick r:id="rId3"/>
              </a:rPr>
              <a:t>scalability</a:t>
            </a:r>
            <a:r>
              <a:rPr lang="en-US" dirty="0"/>
              <a:t> and </a:t>
            </a:r>
            <a:r>
              <a:rPr lang="en-US" dirty="0">
                <a:hlinkClick r:id="rId4"/>
              </a:rPr>
              <a:t>big data</a:t>
            </a:r>
            <a:r>
              <a:rPr lang="en-US" dirty="0"/>
              <a:t> performance issues that </a:t>
            </a:r>
            <a:r>
              <a:rPr lang="en-US" dirty="0">
                <a:hlinkClick r:id="rId5"/>
              </a:rPr>
              <a:t>relational databases</a:t>
            </a:r>
            <a:r>
              <a:rPr lang="en-US" dirty="0"/>
              <a:t> weren’t designed to address.</a:t>
            </a:r>
          </a:p>
          <a:p>
            <a:pPr>
              <a:buFont typeface="Wingdings" charset="2"/>
              <a:buChar char="Ø"/>
            </a:pPr>
            <a:r>
              <a:rPr lang="en-US" dirty="0"/>
              <a:t>NoSQL does not prohibit structured query language (</a:t>
            </a:r>
            <a:r>
              <a:rPr lang="en-US" dirty="0">
                <a:hlinkClick r:id="rId6"/>
              </a:rPr>
              <a:t>SQL</a:t>
            </a:r>
            <a:r>
              <a:rPr lang="en-US" dirty="0"/>
              <a:t>). Some NoSQL systems are entirely non-relational, others simply avoid selected relational functionality such as fixed </a:t>
            </a:r>
            <a:r>
              <a:rPr lang="en-US" dirty="0">
                <a:hlinkClick r:id="rId7"/>
              </a:rPr>
              <a:t>table</a:t>
            </a:r>
            <a:r>
              <a:rPr lang="en-US" dirty="0"/>
              <a:t> schemas and join operations. </a:t>
            </a:r>
          </a:p>
          <a:p>
            <a:pPr>
              <a:buFont typeface="Wingdings" charset="2"/>
              <a:buChar char="Ø"/>
            </a:pPr>
            <a:r>
              <a:rPr lang="en-US" dirty="0"/>
              <a:t>Popular NoSQL database is Apache Cassandra, </a:t>
            </a:r>
            <a:r>
              <a:rPr lang="en-US" dirty="0" err="1"/>
              <a:t>SimpleDB</a:t>
            </a:r>
            <a:r>
              <a:rPr lang="en-US" dirty="0"/>
              <a:t>, Google </a:t>
            </a:r>
            <a:r>
              <a:rPr lang="en-US" dirty="0" err="1"/>
              <a:t>BigTable</a:t>
            </a:r>
            <a:r>
              <a:rPr lang="en-US" dirty="0"/>
              <a:t>, Apache </a:t>
            </a:r>
            <a:r>
              <a:rPr lang="en-US" dirty="0">
                <a:hlinkClick r:id="rId8"/>
              </a:rPr>
              <a:t>Hadoop</a:t>
            </a:r>
            <a:r>
              <a:rPr lang="en-US" dirty="0"/>
              <a:t>, </a:t>
            </a:r>
            <a:r>
              <a:rPr lang="en-US" dirty="0">
                <a:hlinkClick r:id="rId9"/>
              </a:rPr>
              <a:t>MapReduce</a:t>
            </a:r>
            <a:r>
              <a:rPr lang="en-US" dirty="0"/>
              <a:t>, </a:t>
            </a:r>
            <a:r>
              <a:rPr lang="en-US" dirty="0" err="1"/>
              <a:t>MemcacheDB</a:t>
            </a:r>
            <a:r>
              <a:rPr lang="en-US" dirty="0"/>
              <a:t>, and Voldemort. </a:t>
            </a:r>
          </a:p>
        </p:txBody>
      </p:sp>
      <p:sp>
        <p:nvSpPr>
          <p:cNvPr id="5" name="Slide Number Placeholder 4"/>
          <p:cNvSpPr>
            <a:spLocks noGrp="1"/>
          </p:cNvSpPr>
          <p:nvPr>
            <p:ph type="sldNum" sz="quarter" idx="12"/>
          </p:nvPr>
        </p:nvSpPr>
        <p:spPr/>
        <p:txBody>
          <a:bodyPr/>
          <a:lstStyle/>
          <a:p>
            <a:fld id="{DD44E5C5-9508-7C47-A2BD-9789A2991986}" type="slidenum">
              <a:rPr lang="en-US" smtClean="0"/>
              <a:t>3</a:t>
            </a:fld>
            <a:endParaRPr lang="en-US"/>
          </a:p>
        </p:txBody>
      </p:sp>
      <p:sp>
        <p:nvSpPr>
          <p:cNvPr id="6" name="Footer Placeholder 5"/>
          <p:cNvSpPr>
            <a:spLocks noGrp="1"/>
          </p:cNvSpPr>
          <p:nvPr>
            <p:ph type="ftr" sz="quarter" idx="11"/>
          </p:nvPr>
        </p:nvSpPr>
        <p:spPr/>
        <p:txBody>
          <a:bodyPr/>
          <a:lstStyle/>
          <a:p>
            <a:r>
              <a:rPr lang="en-US" dirty="0"/>
              <a:t>http://</a:t>
            </a:r>
            <a:r>
              <a:rPr lang="en-US" dirty="0" err="1"/>
              <a:t>www.slideshare.net</a:t>
            </a:r>
            <a:r>
              <a:rPr lang="en-US" dirty="0"/>
              <a:t>/</a:t>
            </a:r>
            <a:r>
              <a:rPr lang="en-US" dirty="0" err="1"/>
              <a:t>Dataversity</a:t>
            </a:r>
            <a:r>
              <a:rPr lang="en-US" dirty="0"/>
              <a:t>/nosql-now-nosql-architecture-patterns-23589170</a:t>
            </a:r>
          </a:p>
        </p:txBody>
      </p:sp>
    </p:spTree>
    <p:extLst>
      <p:ext uri="{BB962C8B-B14F-4D97-AF65-F5344CB8AC3E}">
        <p14:creationId xmlns:p14="http://schemas.microsoft.com/office/powerpoint/2010/main" val="463480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NoSQL ? </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954028" y="2133600"/>
            <a:ext cx="3782860" cy="3777622"/>
          </a:xfrm>
        </p:spPr>
      </p:pic>
      <p:sp>
        <p:nvSpPr>
          <p:cNvPr id="5" name="Content Placeholder 2"/>
          <p:cNvSpPr txBox="1">
            <a:spLocks/>
          </p:cNvSpPr>
          <p:nvPr/>
        </p:nvSpPr>
        <p:spPr>
          <a:xfrm>
            <a:off x="2589212" y="2133600"/>
            <a:ext cx="5176925" cy="3777622"/>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t>In today’s world the </a:t>
            </a:r>
            <a:r>
              <a:rPr lang="en-US" b="1" dirty="0"/>
              <a:t>velocity and nature of data </a:t>
            </a:r>
            <a:r>
              <a:rPr lang="en-US" dirty="0"/>
              <a:t>used/generated over the Internet is </a:t>
            </a:r>
            <a:r>
              <a:rPr lang="en-US" b="1" dirty="0"/>
              <a:t>growing</a:t>
            </a:r>
            <a:r>
              <a:rPr lang="en-US" dirty="0"/>
              <a:t> </a:t>
            </a:r>
            <a:r>
              <a:rPr lang="en-US" b="1" dirty="0"/>
              <a:t>exponentially.</a:t>
            </a:r>
          </a:p>
          <a:p>
            <a:r>
              <a:rPr lang="en-US" dirty="0"/>
              <a:t>In areas like </a:t>
            </a:r>
            <a:r>
              <a:rPr lang="en-US" b="1" dirty="0"/>
              <a:t>social media</a:t>
            </a:r>
            <a:r>
              <a:rPr lang="en-US" dirty="0"/>
              <a:t>, the data has </a:t>
            </a:r>
            <a:r>
              <a:rPr lang="en-US" b="1" dirty="0"/>
              <a:t>no specific structure </a:t>
            </a:r>
            <a:r>
              <a:rPr lang="en-US" dirty="0"/>
              <a:t>boundary.</a:t>
            </a:r>
          </a:p>
          <a:p>
            <a:r>
              <a:rPr lang="en-US" dirty="0"/>
              <a:t>In order to handle </a:t>
            </a:r>
            <a:r>
              <a:rPr lang="en-US" b="1" dirty="0"/>
              <a:t>unstructured data </a:t>
            </a:r>
            <a:r>
              <a:rPr lang="en-US" dirty="0"/>
              <a:t>which is non-relational and schema-less in nature, it becomes a real </a:t>
            </a:r>
            <a:r>
              <a:rPr lang="en-US" b="1" dirty="0"/>
              <a:t>challenge for RDBMS </a:t>
            </a:r>
            <a:r>
              <a:rPr lang="en-US" dirty="0"/>
              <a:t>to provide the cost effective and fast CRUD operation as it has to deal with the </a:t>
            </a:r>
            <a:r>
              <a:rPr lang="en-US" b="1" dirty="0"/>
              <a:t>overhead</a:t>
            </a:r>
            <a:r>
              <a:rPr lang="en-US" dirty="0"/>
              <a:t> of </a:t>
            </a:r>
            <a:r>
              <a:rPr lang="en-US" b="1" dirty="0"/>
              <a:t>joins</a:t>
            </a:r>
            <a:r>
              <a:rPr lang="en-US" dirty="0"/>
              <a:t> and maintaining </a:t>
            </a:r>
            <a:r>
              <a:rPr lang="en-US" b="1" dirty="0"/>
              <a:t>relationships</a:t>
            </a:r>
            <a:r>
              <a:rPr lang="en-US" dirty="0"/>
              <a:t> amongst various data.</a:t>
            </a:r>
          </a:p>
          <a:p>
            <a:r>
              <a:rPr lang="en-US" dirty="0"/>
              <a:t>This is where </a:t>
            </a:r>
            <a:r>
              <a:rPr lang="en-US" b="1" dirty="0"/>
              <a:t>NoSQL</a:t>
            </a:r>
            <a:r>
              <a:rPr lang="en-US" dirty="0"/>
              <a:t> comes into the picture to </a:t>
            </a:r>
            <a:r>
              <a:rPr lang="en-US" b="1" dirty="0"/>
              <a:t>handle unstructured BIG data </a:t>
            </a:r>
            <a:r>
              <a:rPr lang="en-US" dirty="0"/>
              <a:t>in an efficient way to provide </a:t>
            </a:r>
            <a:r>
              <a:rPr lang="en-US" b="1" dirty="0"/>
              <a:t>maximum business value and customer satisfaction.</a:t>
            </a:r>
          </a:p>
          <a:p>
            <a:endParaRPr lang="en-US" dirty="0"/>
          </a:p>
        </p:txBody>
      </p:sp>
      <p:sp>
        <p:nvSpPr>
          <p:cNvPr id="7" name="Slide Number Placeholder 6"/>
          <p:cNvSpPr>
            <a:spLocks noGrp="1"/>
          </p:cNvSpPr>
          <p:nvPr>
            <p:ph type="sldNum" sz="quarter" idx="12"/>
          </p:nvPr>
        </p:nvSpPr>
        <p:spPr/>
        <p:txBody>
          <a:bodyPr/>
          <a:lstStyle/>
          <a:p>
            <a:fld id="{DD44E5C5-9508-7C47-A2BD-9789A2991986}" type="slidenum">
              <a:rPr lang="en-US" smtClean="0"/>
              <a:t>4</a:t>
            </a:fld>
            <a:endParaRPr lang="en-US"/>
          </a:p>
        </p:txBody>
      </p:sp>
      <p:sp>
        <p:nvSpPr>
          <p:cNvPr id="8" name="Footer Placeholder 7"/>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194064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Brief</a:t>
            </a:r>
            <a:r>
              <a:rPr lang="en-US" b="1" dirty="0"/>
              <a:t> </a:t>
            </a:r>
            <a:r>
              <a:rPr lang="en-US" dirty="0"/>
              <a:t>History of NoSQL</a:t>
            </a:r>
          </a:p>
        </p:txBody>
      </p:sp>
      <p:sp>
        <p:nvSpPr>
          <p:cNvPr id="3" name="Content Placeholder 2"/>
          <p:cNvSpPr>
            <a:spLocks noGrp="1"/>
          </p:cNvSpPr>
          <p:nvPr>
            <p:ph idx="1"/>
          </p:nvPr>
        </p:nvSpPr>
        <p:spPr/>
        <p:txBody>
          <a:bodyPr/>
          <a:lstStyle/>
          <a:p>
            <a:r>
              <a:rPr lang="en-US" dirty="0"/>
              <a:t>The name “</a:t>
            </a:r>
            <a:r>
              <a:rPr lang="en-US" b="1" dirty="0"/>
              <a:t>NoSQL</a:t>
            </a:r>
            <a:r>
              <a:rPr lang="en-US" dirty="0"/>
              <a:t>” was in fact first used by </a:t>
            </a:r>
            <a:r>
              <a:rPr lang="en-US" b="1" dirty="0"/>
              <a:t>Carlo </a:t>
            </a:r>
            <a:r>
              <a:rPr lang="en-US" b="1" dirty="0" err="1"/>
              <a:t>Strozzi</a:t>
            </a:r>
            <a:r>
              <a:rPr lang="en-US" b="1" dirty="0"/>
              <a:t> </a:t>
            </a:r>
            <a:r>
              <a:rPr lang="en-US" dirty="0"/>
              <a:t>in </a:t>
            </a:r>
            <a:r>
              <a:rPr lang="en-US" b="1" dirty="0"/>
              <a:t>1998</a:t>
            </a:r>
            <a:r>
              <a:rPr lang="en-US" dirty="0"/>
              <a:t> as the name of file-based </a:t>
            </a:r>
            <a:r>
              <a:rPr lang="en-US" u="sng" dirty="0">
                <a:solidFill>
                  <a:schemeClr val="tx1"/>
                </a:solidFill>
                <a:hlinkClick r:id="rId3" invalidUrl="http://www.strozzi.it/cgi-bin/CSA/tw7/I/en_US/nosql/Home Page"/>
              </a:rPr>
              <a:t>database he was developing</a:t>
            </a:r>
            <a:r>
              <a:rPr lang="en-US" dirty="0"/>
              <a:t>. Ironically it’s relational database just one without a SQL interface. As such it is not actually a part of the whole NoSQL movement we see today. </a:t>
            </a:r>
          </a:p>
          <a:p>
            <a:r>
              <a:rPr lang="en-US" dirty="0"/>
              <a:t>The term re-surfaced in </a:t>
            </a:r>
            <a:r>
              <a:rPr lang="en-US" b="1" dirty="0"/>
              <a:t>2009</a:t>
            </a:r>
            <a:r>
              <a:rPr lang="en-US" dirty="0"/>
              <a:t> when </a:t>
            </a:r>
            <a:r>
              <a:rPr lang="en-US" b="1" dirty="0"/>
              <a:t>Eric Eva</a:t>
            </a:r>
            <a:r>
              <a:rPr lang="en-US" dirty="0"/>
              <a:t>ns used it to name the current surge of covering a collection of </a:t>
            </a:r>
            <a:r>
              <a:rPr lang="en-US" b="1" dirty="0"/>
              <a:t>open-source distributed databases </a:t>
            </a:r>
            <a:r>
              <a:rPr lang="en-US" dirty="0"/>
              <a:t>in </a:t>
            </a:r>
            <a:r>
              <a:rPr lang="en-US" b="1" dirty="0"/>
              <a:t>non-relational databases</a:t>
            </a:r>
            <a:r>
              <a:rPr lang="en-US" dirty="0"/>
              <a:t>. It seems like the name has stuck for better or for worse.</a:t>
            </a:r>
          </a:p>
          <a:p>
            <a:r>
              <a:rPr lang="en-US" dirty="0"/>
              <a:t>Based on 2014 revenue, the NoSQL market leaders are </a:t>
            </a:r>
            <a:r>
              <a:rPr lang="en-US" dirty="0">
                <a:hlinkClick r:id="rId4" tooltip="MarkLogic"/>
              </a:rPr>
              <a:t>MarkLogic</a:t>
            </a:r>
            <a:r>
              <a:rPr lang="en-US" dirty="0"/>
              <a:t>, </a:t>
            </a:r>
            <a:r>
              <a:rPr lang="en-US" dirty="0">
                <a:hlinkClick r:id="rId5" tooltip="MongoDB"/>
              </a:rPr>
              <a:t>MongoDB</a:t>
            </a:r>
            <a:r>
              <a:rPr lang="en-US" dirty="0"/>
              <a:t>, and </a:t>
            </a:r>
            <a:r>
              <a:rPr lang="en-US" dirty="0">
                <a:hlinkClick r:id="rId6" tooltip="Datastax"/>
              </a:rPr>
              <a:t>Datastax</a:t>
            </a:r>
            <a:r>
              <a:rPr lang="en-US" dirty="0"/>
              <a:t>.</a:t>
            </a:r>
          </a:p>
          <a:p>
            <a:r>
              <a:rPr lang="en-US" dirty="0"/>
              <a:t>Based on 2015 popularity rankings, the most popular NoSQL databases are </a:t>
            </a:r>
            <a:r>
              <a:rPr lang="en-US" dirty="0">
                <a:hlinkClick r:id="rId5" tooltip="MongoDB"/>
              </a:rPr>
              <a:t>MongoDB</a:t>
            </a:r>
            <a:r>
              <a:rPr lang="en-US" dirty="0"/>
              <a:t>, </a:t>
            </a:r>
            <a:r>
              <a:rPr lang="en-US" dirty="0">
                <a:hlinkClick r:id="rId7" tooltip="Apache Cassandra"/>
              </a:rPr>
              <a:t>Apache Cassandra</a:t>
            </a:r>
            <a:r>
              <a:rPr lang="en-US" dirty="0"/>
              <a:t>, and </a:t>
            </a:r>
            <a:r>
              <a:rPr lang="en-US" dirty="0">
                <a:hlinkClick r:id="rId8" tooltip="Redis"/>
              </a:rPr>
              <a:t>Redis</a:t>
            </a:r>
            <a:r>
              <a:rPr lang="en-US" dirty="0"/>
              <a:t>.</a:t>
            </a:r>
          </a:p>
        </p:txBody>
      </p:sp>
      <p:sp>
        <p:nvSpPr>
          <p:cNvPr id="5" name="Slide Number Placeholder 4"/>
          <p:cNvSpPr>
            <a:spLocks noGrp="1"/>
          </p:cNvSpPr>
          <p:nvPr>
            <p:ph type="sldNum" sz="quarter" idx="12"/>
          </p:nvPr>
        </p:nvSpPr>
        <p:spPr/>
        <p:txBody>
          <a:bodyPr/>
          <a:lstStyle/>
          <a:p>
            <a:fld id="{DD44E5C5-9508-7C47-A2BD-9789A2991986}" type="slidenum">
              <a:rPr lang="en-US" smtClean="0"/>
              <a:t>5</a:t>
            </a:fld>
            <a:endParaRPr lang="en-US"/>
          </a:p>
        </p:txBody>
      </p:sp>
      <p:sp>
        <p:nvSpPr>
          <p:cNvPr id="6" name="Footer Placeholder 5"/>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1278792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Systems</a:t>
            </a:r>
          </a:p>
        </p:txBody>
      </p:sp>
      <p:sp>
        <p:nvSpPr>
          <p:cNvPr id="3" name="Content Placeholder 2"/>
          <p:cNvSpPr>
            <a:spLocks noGrp="1"/>
          </p:cNvSpPr>
          <p:nvPr>
            <p:ph idx="1"/>
          </p:nvPr>
        </p:nvSpPr>
        <p:spPr/>
        <p:txBody>
          <a:bodyPr>
            <a:normAutofit lnSpcReduction="10000"/>
          </a:bodyPr>
          <a:lstStyle/>
          <a:p>
            <a:r>
              <a:rPr lang="en-US" dirty="0"/>
              <a:t>A distributed system consists of multiple computers and software components that communicate through a computer network (a local network or by a wide area network).</a:t>
            </a:r>
          </a:p>
          <a:p>
            <a:r>
              <a:rPr lang="en-US" b="1" dirty="0"/>
              <a:t>Advantages of Distributed Computing </a:t>
            </a:r>
          </a:p>
          <a:p>
            <a:pPr lvl="1"/>
            <a:r>
              <a:rPr lang="en-US" b="1" dirty="0"/>
              <a:t>Reliability (fault tolerance) </a:t>
            </a:r>
          </a:p>
          <a:p>
            <a:pPr lvl="1"/>
            <a:r>
              <a:rPr lang="en-US" b="1" dirty="0"/>
              <a:t>Scalability </a:t>
            </a:r>
          </a:p>
          <a:p>
            <a:pPr lvl="1"/>
            <a:r>
              <a:rPr lang="en-US" b="1" dirty="0"/>
              <a:t>Sharing of Resources </a:t>
            </a:r>
          </a:p>
          <a:p>
            <a:pPr lvl="1"/>
            <a:r>
              <a:rPr lang="en-US" b="1" dirty="0"/>
              <a:t>Flexibility </a:t>
            </a:r>
          </a:p>
          <a:p>
            <a:pPr lvl="1"/>
            <a:r>
              <a:rPr lang="en-US" b="1" dirty="0"/>
              <a:t>Speed </a:t>
            </a:r>
          </a:p>
          <a:p>
            <a:pPr lvl="1"/>
            <a:r>
              <a:rPr lang="en-US" b="1" dirty="0"/>
              <a:t>Open system </a:t>
            </a:r>
          </a:p>
          <a:p>
            <a:pPr lvl="1"/>
            <a:r>
              <a:rPr lang="en-US" b="1" dirty="0"/>
              <a:t>Performance </a:t>
            </a:r>
          </a:p>
          <a:p>
            <a:pPr lvl="1"/>
            <a:endParaRPr lang="en-US" b="1" dirty="0"/>
          </a:p>
        </p:txBody>
      </p:sp>
      <p:sp>
        <p:nvSpPr>
          <p:cNvPr id="4" name="Content Placeholder 2"/>
          <p:cNvSpPr txBox="1">
            <a:spLocks/>
          </p:cNvSpPr>
          <p:nvPr/>
        </p:nvSpPr>
        <p:spPr>
          <a:xfrm>
            <a:off x="7428088" y="2997200"/>
            <a:ext cx="4662311"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b="1" dirty="0"/>
              <a:t>Disadvantages </a:t>
            </a:r>
            <a:r>
              <a:rPr lang="en-US" b="1"/>
              <a:t>of Distributed Computing </a:t>
            </a:r>
            <a:endParaRPr lang="en-US" b="1" dirty="0"/>
          </a:p>
          <a:p>
            <a:pPr lvl="1"/>
            <a:r>
              <a:rPr lang="en-US" b="1" dirty="0"/>
              <a:t>Troubleshooting</a:t>
            </a:r>
          </a:p>
          <a:p>
            <a:pPr lvl="1"/>
            <a:r>
              <a:rPr lang="en-US" b="1" dirty="0"/>
              <a:t>Software</a:t>
            </a:r>
          </a:p>
          <a:p>
            <a:pPr lvl="1"/>
            <a:r>
              <a:rPr lang="en-US" b="1" dirty="0"/>
              <a:t>Networking</a:t>
            </a:r>
          </a:p>
          <a:p>
            <a:pPr lvl="1"/>
            <a:r>
              <a:rPr lang="en-US" b="1" dirty="0"/>
              <a:t>Security</a:t>
            </a:r>
          </a:p>
          <a:p>
            <a:pPr lvl="1"/>
            <a:endParaRPr lang="en-US" b="1" dirty="0"/>
          </a:p>
        </p:txBody>
      </p:sp>
      <p:sp>
        <p:nvSpPr>
          <p:cNvPr id="7" name="Slide Number Placeholder 6"/>
          <p:cNvSpPr>
            <a:spLocks noGrp="1"/>
          </p:cNvSpPr>
          <p:nvPr>
            <p:ph type="sldNum" sz="quarter" idx="12"/>
          </p:nvPr>
        </p:nvSpPr>
        <p:spPr/>
        <p:txBody>
          <a:bodyPr/>
          <a:lstStyle/>
          <a:p>
            <a:fld id="{DD44E5C5-9508-7C47-A2BD-9789A2991986}" type="slidenum">
              <a:rPr lang="en-US" smtClean="0"/>
              <a:t>6</a:t>
            </a:fld>
            <a:endParaRPr lang="en-US"/>
          </a:p>
        </p:txBody>
      </p:sp>
      <p:sp>
        <p:nvSpPr>
          <p:cNvPr id="8" name="Footer Placeholder 7"/>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1045069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RDBMS vs NoSQL</a:t>
            </a:r>
          </a:p>
        </p:txBody>
      </p:sp>
      <p:sp>
        <p:nvSpPr>
          <p:cNvPr id="3" name="Content Placeholder 2"/>
          <p:cNvSpPr>
            <a:spLocks noGrp="1"/>
          </p:cNvSpPr>
          <p:nvPr>
            <p:ph idx="1"/>
          </p:nvPr>
        </p:nvSpPr>
        <p:spPr>
          <a:xfrm>
            <a:off x="2589212" y="2133600"/>
            <a:ext cx="4224947" cy="3777622"/>
          </a:xfrm>
        </p:spPr>
        <p:txBody>
          <a:bodyPr>
            <a:normAutofit/>
          </a:bodyPr>
          <a:lstStyle/>
          <a:p>
            <a:r>
              <a:rPr lang="en-US" b="1" dirty="0"/>
              <a:t>RDBMS </a:t>
            </a:r>
            <a:br>
              <a:rPr lang="en-US" dirty="0"/>
            </a:br>
            <a:r>
              <a:rPr lang="en-US" dirty="0"/>
              <a:t>- Structured and organized data </a:t>
            </a:r>
            <a:br>
              <a:rPr lang="en-US" dirty="0"/>
            </a:br>
            <a:r>
              <a:rPr lang="en-US" dirty="0"/>
              <a:t>- Structured query language (</a:t>
            </a:r>
            <a:r>
              <a:rPr lang="en-US" b="1" dirty="0"/>
              <a:t>SQL</a:t>
            </a:r>
            <a:r>
              <a:rPr lang="en-US" dirty="0"/>
              <a:t>) </a:t>
            </a:r>
            <a:br>
              <a:rPr lang="en-US" dirty="0"/>
            </a:br>
            <a:r>
              <a:rPr lang="en-US" dirty="0"/>
              <a:t>- Data and its relationships are stored in separate tables. </a:t>
            </a:r>
            <a:br>
              <a:rPr lang="en-US" dirty="0"/>
            </a:br>
            <a:r>
              <a:rPr lang="en-US" dirty="0"/>
              <a:t>- Data Manipulation Language, Data Definition Language </a:t>
            </a:r>
            <a:br>
              <a:rPr lang="en-US" dirty="0"/>
            </a:br>
            <a:r>
              <a:rPr lang="en-US" dirty="0"/>
              <a:t>- Tight </a:t>
            </a:r>
            <a:r>
              <a:rPr lang="en-US" b="1" dirty="0"/>
              <a:t>Consistency</a:t>
            </a:r>
            <a:r>
              <a:rPr lang="en-US" dirty="0"/>
              <a:t> </a:t>
            </a:r>
            <a:br>
              <a:rPr lang="en-US" dirty="0"/>
            </a:br>
            <a:r>
              <a:rPr lang="en-US" dirty="0"/>
              <a:t>- Follow the </a:t>
            </a:r>
            <a:r>
              <a:rPr lang="en-US" b="1" dirty="0"/>
              <a:t>ACID</a:t>
            </a:r>
            <a:r>
              <a:rPr lang="en-US" dirty="0"/>
              <a:t> property</a:t>
            </a:r>
          </a:p>
          <a:p>
            <a:endParaRPr lang="en-US" dirty="0"/>
          </a:p>
          <a:p>
            <a:pPr marL="0" indent="0">
              <a:buNone/>
            </a:pPr>
            <a:r>
              <a:rPr lang="en-US" dirty="0"/>
              <a:t>     </a:t>
            </a:r>
          </a:p>
        </p:txBody>
      </p:sp>
      <p:sp>
        <p:nvSpPr>
          <p:cNvPr id="4" name="Content Placeholder 2"/>
          <p:cNvSpPr txBox="1">
            <a:spLocks/>
          </p:cNvSpPr>
          <p:nvPr/>
        </p:nvSpPr>
        <p:spPr>
          <a:xfrm>
            <a:off x="7225930" y="2035479"/>
            <a:ext cx="4385697" cy="377762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b="1" dirty="0"/>
              <a:t>NoSQL </a:t>
            </a:r>
            <a:br>
              <a:rPr lang="en-US" dirty="0"/>
            </a:br>
            <a:r>
              <a:rPr lang="en-US" dirty="0"/>
              <a:t>- Stands for </a:t>
            </a:r>
            <a:r>
              <a:rPr lang="en-US" b="1" dirty="0"/>
              <a:t>Not Only SQL</a:t>
            </a:r>
            <a:br>
              <a:rPr lang="en-US" b="1" dirty="0"/>
            </a:br>
            <a:r>
              <a:rPr lang="en-US" dirty="0"/>
              <a:t>- No declarative query language</a:t>
            </a:r>
            <a:br>
              <a:rPr lang="en-US" dirty="0"/>
            </a:br>
            <a:r>
              <a:rPr lang="en-US" dirty="0"/>
              <a:t>- No predefined </a:t>
            </a:r>
            <a:r>
              <a:rPr lang="en-US" b="1" dirty="0"/>
              <a:t>schema</a:t>
            </a:r>
            <a:r>
              <a:rPr lang="en-US" dirty="0"/>
              <a:t> </a:t>
            </a:r>
            <a:br>
              <a:rPr lang="en-US" dirty="0"/>
            </a:br>
            <a:r>
              <a:rPr lang="en-US" dirty="0"/>
              <a:t>- Key-Value pair storage, Column Store, Document Store, Graph databases</a:t>
            </a:r>
            <a:br>
              <a:rPr lang="en-US" dirty="0"/>
            </a:br>
            <a:r>
              <a:rPr lang="en-US" dirty="0"/>
              <a:t>- Eventual consistency rather </a:t>
            </a:r>
            <a:r>
              <a:rPr lang="en-US" b="1" dirty="0"/>
              <a:t>ACID </a:t>
            </a:r>
            <a:r>
              <a:rPr lang="en-US" dirty="0"/>
              <a:t>property </a:t>
            </a:r>
            <a:br>
              <a:rPr lang="en-US" dirty="0"/>
            </a:br>
            <a:r>
              <a:rPr lang="en-US" dirty="0"/>
              <a:t>- Unstructured and unpredictable data</a:t>
            </a:r>
            <a:br>
              <a:rPr lang="en-US" dirty="0"/>
            </a:br>
            <a:r>
              <a:rPr lang="en-US" dirty="0"/>
              <a:t>- </a:t>
            </a:r>
            <a:r>
              <a:rPr lang="en-US" b="1" dirty="0"/>
              <a:t>CAP</a:t>
            </a:r>
            <a:r>
              <a:rPr lang="en-US" dirty="0"/>
              <a:t> Theorem </a:t>
            </a:r>
            <a:br>
              <a:rPr lang="en-US" dirty="0"/>
            </a:br>
            <a:r>
              <a:rPr lang="en-US" dirty="0"/>
              <a:t>- Prioritizes high performance, high </a:t>
            </a:r>
            <a:r>
              <a:rPr lang="en-US" b="1" dirty="0"/>
              <a:t>availability</a:t>
            </a:r>
            <a:r>
              <a:rPr lang="en-US" dirty="0"/>
              <a:t> and scalability</a:t>
            </a:r>
          </a:p>
        </p:txBody>
      </p:sp>
      <p:sp>
        <p:nvSpPr>
          <p:cNvPr id="6" name="Slide Number Placeholder 5"/>
          <p:cNvSpPr>
            <a:spLocks noGrp="1"/>
          </p:cNvSpPr>
          <p:nvPr>
            <p:ph type="sldNum" sz="quarter" idx="12"/>
          </p:nvPr>
        </p:nvSpPr>
        <p:spPr/>
        <p:txBody>
          <a:bodyPr/>
          <a:lstStyle/>
          <a:p>
            <a:fld id="{DD44E5C5-9508-7C47-A2BD-9789A2991986}" type="slidenum">
              <a:rPr lang="en-US" smtClean="0"/>
              <a:t>7</a:t>
            </a:fld>
            <a:endParaRPr lang="en-US"/>
          </a:p>
        </p:txBody>
      </p:sp>
      <p:sp>
        <p:nvSpPr>
          <p:cNvPr id="7" name="Footer Placeholder 6"/>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1353825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ACID Paradigm (RDBMS)</a:t>
            </a:r>
          </a:p>
        </p:txBody>
      </p:sp>
      <p:sp>
        <p:nvSpPr>
          <p:cNvPr id="3" name="Content Placeholder 2"/>
          <p:cNvSpPr>
            <a:spLocks noGrp="1"/>
          </p:cNvSpPr>
          <p:nvPr>
            <p:ph idx="1"/>
          </p:nvPr>
        </p:nvSpPr>
        <p:spPr/>
        <p:txBody>
          <a:bodyPr>
            <a:normAutofit/>
          </a:bodyPr>
          <a:lstStyle/>
          <a:p>
            <a:r>
              <a:rPr lang="en-US" b="1" dirty="0"/>
              <a:t>Atomic: </a:t>
            </a:r>
            <a:r>
              <a:rPr lang="en-US" dirty="0"/>
              <a:t>All </a:t>
            </a:r>
            <a:r>
              <a:rPr lang="en-US" b="1" dirty="0"/>
              <a:t>operations</a:t>
            </a:r>
            <a:r>
              <a:rPr lang="en-US" dirty="0"/>
              <a:t> of a transaction are executed, or none is.</a:t>
            </a:r>
          </a:p>
          <a:p>
            <a:r>
              <a:rPr lang="en-US" b="1" dirty="0"/>
              <a:t>Consistent: </a:t>
            </a:r>
            <a:r>
              <a:rPr lang="en-US" dirty="0"/>
              <a:t>At the end of the transaction, all </a:t>
            </a:r>
            <a:r>
              <a:rPr lang="en-US" b="1" dirty="0"/>
              <a:t>data</a:t>
            </a:r>
            <a:r>
              <a:rPr lang="en-US" dirty="0"/>
              <a:t> must be left in a </a:t>
            </a:r>
            <a:r>
              <a:rPr lang="en-US" b="1" dirty="0"/>
              <a:t>consistent</a:t>
            </a:r>
            <a:r>
              <a:rPr lang="en-US" dirty="0"/>
              <a:t> state.</a:t>
            </a:r>
          </a:p>
          <a:p>
            <a:r>
              <a:rPr lang="en-US" b="1" dirty="0"/>
              <a:t>Isolated: Modifications</a:t>
            </a:r>
            <a:r>
              <a:rPr lang="en-US" dirty="0"/>
              <a:t> of data performed by a </a:t>
            </a:r>
            <a:r>
              <a:rPr lang="en-US" b="1" dirty="0"/>
              <a:t>transaction</a:t>
            </a:r>
            <a:r>
              <a:rPr lang="en-US" dirty="0"/>
              <a:t> must be independent of another transaction.</a:t>
            </a:r>
          </a:p>
          <a:p>
            <a:r>
              <a:rPr lang="en-US" b="1" dirty="0"/>
              <a:t>Durability</a:t>
            </a:r>
            <a:r>
              <a:rPr lang="en-US" dirty="0"/>
              <a:t>: Durability refers to the </a:t>
            </a:r>
            <a:r>
              <a:rPr lang="en-US" b="1" dirty="0"/>
              <a:t>guarantee</a:t>
            </a:r>
            <a:r>
              <a:rPr lang="en-US" dirty="0"/>
              <a:t> that once the user has been notified of success, the </a:t>
            </a:r>
            <a:r>
              <a:rPr lang="en-US" b="1" dirty="0"/>
              <a:t>transaction</a:t>
            </a:r>
            <a:r>
              <a:rPr lang="en-US" dirty="0"/>
              <a:t> will persist and </a:t>
            </a:r>
            <a:r>
              <a:rPr lang="en-US" b="1" dirty="0"/>
              <a:t>not be undone</a:t>
            </a:r>
            <a:r>
              <a:rPr lang="en-US" dirty="0"/>
              <a:t>.</a:t>
            </a:r>
          </a:p>
          <a:p>
            <a:pPr marL="0" indent="0">
              <a:buNone/>
            </a:pPr>
            <a:endParaRPr lang="en-US" b="1" dirty="0"/>
          </a:p>
          <a:p>
            <a:endParaRPr lang="en-US" b="1" dirty="0"/>
          </a:p>
          <a:p>
            <a:pPr marL="0" indent="0">
              <a:buNone/>
            </a:pPr>
            <a:r>
              <a:rPr lang="en-US" b="1" dirty="0"/>
              <a:t> </a:t>
            </a:r>
          </a:p>
        </p:txBody>
      </p:sp>
      <p:sp>
        <p:nvSpPr>
          <p:cNvPr id="5" name="Slide Number Placeholder 4"/>
          <p:cNvSpPr>
            <a:spLocks noGrp="1"/>
          </p:cNvSpPr>
          <p:nvPr>
            <p:ph type="sldNum" sz="quarter" idx="12"/>
          </p:nvPr>
        </p:nvSpPr>
        <p:spPr/>
        <p:txBody>
          <a:bodyPr/>
          <a:lstStyle/>
          <a:p>
            <a:fld id="{DD44E5C5-9508-7C47-A2BD-9789A2991986}" type="slidenum">
              <a:rPr lang="en-US" smtClean="0"/>
              <a:t>8</a:t>
            </a:fld>
            <a:endParaRPr lang="en-US"/>
          </a:p>
        </p:txBody>
      </p:sp>
      <p:sp>
        <p:nvSpPr>
          <p:cNvPr id="6" name="Footer Placeholder 5"/>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1262486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 Theorem (NoSQL)</a:t>
            </a:r>
          </a:p>
        </p:txBody>
      </p:sp>
      <p:sp>
        <p:nvSpPr>
          <p:cNvPr id="3" name="Content Placeholder 2"/>
          <p:cNvSpPr>
            <a:spLocks noGrp="1"/>
          </p:cNvSpPr>
          <p:nvPr>
            <p:ph idx="1"/>
          </p:nvPr>
        </p:nvSpPr>
        <p:spPr/>
        <p:txBody>
          <a:bodyPr>
            <a:normAutofit/>
          </a:bodyPr>
          <a:lstStyle/>
          <a:p>
            <a:r>
              <a:rPr lang="en-US" b="1" dirty="0"/>
              <a:t>Eric Brewer </a:t>
            </a:r>
            <a:r>
              <a:rPr lang="en-US" dirty="0"/>
              <a:t>formulates the </a:t>
            </a:r>
            <a:r>
              <a:rPr lang="en-US" b="1" dirty="0"/>
              <a:t>CAP</a:t>
            </a:r>
            <a:r>
              <a:rPr lang="en-US" dirty="0"/>
              <a:t> theorem whose properties are used by </a:t>
            </a:r>
            <a:r>
              <a:rPr lang="en-US" b="1" dirty="0"/>
              <a:t>BASE</a:t>
            </a:r>
            <a:r>
              <a:rPr lang="en-US" dirty="0"/>
              <a:t> System.</a:t>
            </a:r>
          </a:p>
          <a:p>
            <a:r>
              <a:rPr lang="en-US" dirty="0"/>
              <a:t>The CAP theorem states that a </a:t>
            </a:r>
            <a:r>
              <a:rPr lang="en-US" b="1" dirty="0"/>
              <a:t>distributed</a:t>
            </a:r>
            <a:r>
              <a:rPr lang="en-US" dirty="0"/>
              <a:t> computer system </a:t>
            </a:r>
            <a:r>
              <a:rPr lang="en-US" b="1" dirty="0"/>
              <a:t>cannot</a:t>
            </a:r>
            <a:r>
              <a:rPr lang="en-US" dirty="0"/>
              <a:t> </a:t>
            </a:r>
            <a:r>
              <a:rPr lang="en-US" b="1" dirty="0"/>
              <a:t>guarantee</a:t>
            </a:r>
            <a:r>
              <a:rPr lang="en-US" dirty="0"/>
              <a:t> all of the following three properties at the same time:</a:t>
            </a:r>
          </a:p>
          <a:p>
            <a:pPr lvl="1"/>
            <a:r>
              <a:rPr lang="en-US" b="1" dirty="0"/>
              <a:t>Consistency (C)</a:t>
            </a:r>
            <a:r>
              <a:rPr lang="en-US" dirty="0"/>
              <a:t> – once data is written, all future read requests will contain that data</a:t>
            </a:r>
          </a:p>
          <a:p>
            <a:pPr lvl="1"/>
            <a:r>
              <a:rPr lang="en-US" b="1" dirty="0"/>
              <a:t>Availability (A)</a:t>
            </a:r>
            <a:r>
              <a:rPr lang="en-US" dirty="0"/>
              <a:t>– the database is always available and responsive</a:t>
            </a:r>
          </a:p>
          <a:p>
            <a:pPr lvl="1"/>
            <a:r>
              <a:rPr lang="en-US" b="1" dirty="0"/>
              <a:t>Partition tolerance (P)</a:t>
            </a:r>
            <a:r>
              <a:rPr lang="en-US" dirty="0"/>
              <a:t> – if one part of the database is unavailable, other parts are unaffected</a:t>
            </a:r>
          </a:p>
          <a:p>
            <a:r>
              <a:rPr lang="en-US" dirty="0"/>
              <a:t>Brewer originally described this impossibility result as forcing a choice of “two out of the three” CAP properties: </a:t>
            </a:r>
            <a:r>
              <a:rPr lang="en-US" b="1" dirty="0"/>
              <a:t>CP</a:t>
            </a:r>
            <a:r>
              <a:rPr lang="en-US" dirty="0"/>
              <a:t>, </a:t>
            </a:r>
            <a:r>
              <a:rPr lang="en-US" b="1" dirty="0"/>
              <a:t>AP</a:t>
            </a:r>
            <a:r>
              <a:rPr lang="en-US" dirty="0"/>
              <a:t> and </a:t>
            </a:r>
            <a:r>
              <a:rPr lang="en-US" b="1" dirty="0"/>
              <a:t>CA</a:t>
            </a:r>
            <a:endParaRPr lang="en-US" dirty="0"/>
          </a:p>
          <a:p>
            <a:pPr marL="457200" lvl="1" indent="0">
              <a:buNone/>
            </a:pPr>
            <a:endParaRPr lang="en-US" dirty="0"/>
          </a:p>
          <a:p>
            <a:pPr marL="457200" lvl="1" indent="0">
              <a:buNone/>
            </a:pPr>
            <a:endParaRPr lang="en-US" dirty="0"/>
          </a:p>
          <a:p>
            <a:pPr marL="457200" lvl="1" indent="0">
              <a:buNone/>
            </a:pPr>
            <a:endParaRPr lang="en-US" dirty="0"/>
          </a:p>
        </p:txBody>
      </p:sp>
      <p:sp>
        <p:nvSpPr>
          <p:cNvPr id="5" name="Slide Number Placeholder 4"/>
          <p:cNvSpPr>
            <a:spLocks noGrp="1"/>
          </p:cNvSpPr>
          <p:nvPr>
            <p:ph type="sldNum" sz="quarter" idx="12"/>
          </p:nvPr>
        </p:nvSpPr>
        <p:spPr/>
        <p:txBody>
          <a:bodyPr/>
          <a:lstStyle/>
          <a:p>
            <a:fld id="{DD44E5C5-9508-7C47-A2BD-9789A2991986}" type="slidenum">
              <a:rPr lang="en-US" smtClean="0"/>
              <a:t>9</a:t>
            </a:fld>
            <a:endParaRPr lang="en-US"/>
          </a:p>
        </p:txBody>
      </p:sp>
      <p:sp>
        <p:nvSpPr>
          <p:cNvPr id="6" name="Footer Placeholder 5"/>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284665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 Theorem</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45105" y="2133600"/>
            <a:ext cx="4403615" cy="3778250"/>
          </a:xfrm>
        </p:spPr>
      </p:pic>
      <p:sp>
        <p:nvSpPr>
          <p:cNvPr id="6" name="Slide Number Placeholder 5"/>
          <p:cNvSpPr>
            <a:spLocks noGrp="1"/>
          </p:cNvSpPr>
          <p:nvPr>
            <p:ph type="sldNum" sz="quarter" idx="12"/>
          </p:nvPr>
        </p:nvSpPr>
        <p:spPr/>
        <p:txBody>
          <a:bodyPr/>
          <a:lstStyle/>
          <a:p>
            <a:fld id="{DD44E5C5-9508-7C47-A2BD-9789A2991986}" type="slidenum">
              <a:rPr lang="en-US" smtClean="0"/>
              <a:t>10</a:t>
            </a:fld>
            <a:endParaRPr lang="en-US"/>
          </a:p>
        </p:txBody>
      </p:sp>
      <p:sp>
        <p:nvSpPr>
          <p:cNvPr id="7" name="Footer Placeholder 6"/>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535297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System (NoSQL)</a:t>
            </a:r>
          </a:p>
        </p:txBody>
      </p:sp>
      <p:sp>
        <p:nvSpPr>
          <p:cNvPr id="3" name="Content Placeholder 2"/>
          <p:cNvSpPr>
            <a:spLocks noGrp="1"/>
          </p:cNvSpPr>
          <p:nvPr>
            <p:ph idx="1"/>
          </p:nvPr>
        </p:nvSpPr>
        <p:spPr/>
        <p:txBody>
          <a:bodyPr/>
          <a:lstStyle/>
          <a:p>
            <a:r>
              <a:rPr lang="en-US" dirty="0"/>
              <a:t>A </a:t>
            </a:r>
            <a:r>
              <a:rPr lang="en-US" b="1" dirty="0"/>
              <a:t>BASE</a:t>
            </a:r>
            <a:r>
              <a:rPr lang="en-US" dirty="0"/>
              <a:t> system gives up on consistency so as to have greater Availability and Partition tolerance. A </a:t>
            </a:r>
            <a:r>
              <a:rPr lang="en-US" b="1" dirty="0"/>
              <a:t>BASE</a:t>
            </a:r>
            <a:r>
              <a:rPr lang="en-US" dirty="0"/>
              <a:t> can be defined as following:</a:t>
            </a:r>
          </a:p>
          <a:p>
            <a:pPr lvl="1"/>
            <a:r>
              <a:rPr lang="en-US" b="1" dirty="0"/>
              <a:t>B</a:t>
            </a:r>
            <a:r>
              <a:rPr lang="en-US" dirty="0"/>
              <a:t>asically </a:t>
            </a:r>
            <a:r>
              <a:rPr lang="en-US" b="1" dirty="0"/>
              <a:t>A</a:t>
            </a:r>
            <a:r>
              <a:rPr lang="en-US" dirty="0"/>
              <a:t>vailable indicates that the system does guarantee availability.</a:t>
            </a:r>
          </a:p>
          <a:p>
            <a:pPr lvl="1"/>
            <a:r>
              <a:rPr lang="en-US" b="1" dirty="0"/>
              <a:t>S</a:t>
            </a:r>
            <a:r>
              <a:rPr lang="en-US" dirty="0"/>
              <a:t>oft state indicates that the state of the system may change over time, even without input. This is because of the eventual consistency model.</a:t>
            </a:r>
          </a:p>
          <a:p>
            <a:pPr lvl="1"/>
            <a:r>
              <a:rPr lang="en-US" b="1" dirty="0"/>
              <a:t>E</a:t>
            </a:r>
            <a:r>
              <a:rPr lang="en-US" dirty="0"/>
              <a:t>ventual consistency indicates that the system will become consistent over time, given that the system doesn’t receive input during that time.</a:t>
            </a:r>
          </a:p>
          <a:p>
            <a:pPr lvl="1"/>
            <a:endParaRPr lang="en-US" dirty="0"/>
          </a:p>
        </p:txBody>
      </p:sp>
      <p:sp>
        <p:nvSpPr>
          <p:cNvPr id="5" name="Slide Number Placeholder 4"/>
          <p:cNvSpPr>
            <a:spLocks noGrp="1"/>
          </p:cNvSpPr>
          <p:nvPr>
            <p:ph type="sldNum" sz="quarter" idx="12"/>
          </p:nvPr>
        </p:nvSpPr>
        <p:spPr/>
        <p:txBody>
          <a:bodyPr/>
          <a:lstStyle/>
          <a:p>
            <a:fld id="{DD44E5C5-9508-7C47-A2BD-9789A2991986}" type="slidenum">
              <a:rPr lang="en-US" smtClean="0"/>
              <a:t>11</a:t>
            </a:fld>
            <a:endParaRPr lang="en-US"/>
          </a:p>
        </p:txBody>
      </p:sp>
      <p:sp>
        <p:nvSpPr>
          <p:cNvPr id="6" name="Footer Placeholder 5"/>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Tree>
    <p:extLst>
      <p:ext uri="{BB962C8B-B14F-4D97-AF65-F5344CB8AC3E}">
        <p14:creationId xmlns:p14="http://schemas.microsoft.com/office/powerpoint/2010/main" val="875470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NoSQL Database Types</a:t>
            </a:r>
          </a:p>
        </p:txBody>
      </p:sp>
      <p:sp>
        <p:nvSpPr>
          <p:cNvPr id="3" name="Content Placeholder 2"/>
          <p:cNvSpPr>
            <a:spLocks noGrp="1"/>
          </p:cNvSpPr>
          <p:nvPr>
            <p:ph idx="1"/>
          </p:nvPr>
        </p:nvSpPr>
        <p:spPr/>
        <p:txBody>
          <a:bodyPr/>
          <a:lstStyle/>
          <a:p>
            <a:r>
              <a:rPr lang="en-US" dirty="0"/>
              <a:t>Key-value stores</a:t>
            </a:r>
          </a:p>
          <a:p>
            <a:r>
              <a:rPr lang="en-US" dirty="0"/>
              <a:t>Column-oriented databases</a:t>
            </a:r>
          </a:p>
          <a:p>
            <a:r>
              <a:rPr lang="en-US" dirty="0"/>
              <a:t>Graph databases</a:t>
            </a:r>
          </a:p>
          <a:p>
            <a:r>
              <a:rPr lang="en-US" dirty="0"/>
              <a:t>Document Oriented databases</a:t>
            </a:r>
          </a:p>
        </p:txBody>
      </p:sp>
      <p:sp>
        <p:nvSpPr>
          <p:cNvPr id="5" name="Slide Number Placeholder 4"/>
          <p:cNvSpPr>
            <a:spLocks noGrp="1"/>
          </p:cNvSpPr>
          <p:nvPr>
            <p:ph type="sldNum" sz="quarter" idx="12"/>
          </p:nvPr>
        </p:nvSpPr>
        <p:spPr/>
        <p:txBody>
          <a:bodyPr/>
          <a:lstStyle/>
          <a:p>
            <a:fld id="{DD44E5C5-9508-7C47-A2BD-9789A2991986}" type="slidenum">
              <a:rPr lang="en-US" smtClean="0"/>
              <a:t>12</a:t>
            </a:fld>
            <a:endParaRPr lang="en-US"/>
          </a:p>
        </p:txBody>
      </p:sp>
      <p:sp>
        <p:nvSpPr>
          <p:cNvPr id="6" name="Footer Placeholder 5"/>
          <p:cNvSpPr>
            <a:spLocks noGrp="1"/>
          </p:cNvSpPr>
          <p:nvPr>
            <p:ph type="ftr" sz="quarter" idx="11"/>
          </p:nvPr>
        </p:nvSpPr>
        <p:spPr/>
        <p:txBody>
          <a:bodyPr/>
          <a:lstStyle/>
          <a:p>
            <a:r>
              <a:rPr lang="en-US"/>
              <a:t>http://www.slideshare.net/Dataversity/nosql-now-nosql-architecture-patterns-23589170</a:t>
            </a:r>
          </a:p>
        </p:txBody>
      </p:sp>
    </p:spTree>
    <p:extLst>
      <p:ext uri="{BB962C8B-B14F-4D97-AF65-F5344CB8AC3E}">
        <p14:creationId xmlns:p14="http://schemas.microsoft.com/office/powerpoint/2010/main" val="1309383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Key-value stores</a:t>
            </a:r>
            <a:br>
              <a:rPr lang="en-US" dirty="0"/>
            </a:br>
            <a:endParaRPr lang="en-US" dirty="0"/>
          </a:p>
        </p:txBody>
      </p:sp>
      <p:sp>
        <p:nvSpPr>
          <p:cNvPr id="3" name="Content Placeholder 2"/>
          <p:cNvSpPr>
            <a:spLocks noGrp="1"/>
          </p:cNvSpPr>
          <p:nvPr>
            <p:ph sz="half" idx="1"/>
          </p:nvPr>
        </p:nvSpPr>
        <p:spPr>
          <a:xfrm>
            <a:off x="2589211" y="2133600"/>
            <a:ext cx="5832300" cy="3777622"/>
          </a:xfrm>
        </p:spPr>
        <p:txBody>
          <a:bodyPr>
            <a:normAutofit fontScale="92500" lnSpcReduction="20000"/>
          </a:bodyPr>
          <a:lstStyle/>
          <a:p>
            <a:r>
              <a:rPr lang="en-US" dirty="0"/>
              <a:t>The key-value model is the </a:t>
            </a:r>
            <a:r>
              <a:rPr lang="en-US" b="1" dirty="0"/>
              <a:t>simplest</a:t>
            </a:r>
            <a:r>
              <a:rPr lang="en-US" dirty="0"/>
              <a:t> and </a:t>
            </a:r>
            <a:r>
              <a:rPr lang="en-US" b="1" dirty="0"/>
              <a:t>easiest</a:t>
            </a:r>
            <a:r>
              <a:rPr lang="en-US" dirty="0"/>
              <a:t> to implement. </a:t>
            </a:r>
          </a:p>
          <a:p>
            <a:r>
              <a:rPr lang="en-US" dirty="0"/>
              <a:t>It is a </a:t>
            </a:r>
            <a:r>
              <a:rPr lang="en-US" b="1" dirty="0"/>
              <a:t>schema-less</a:t>
            </a:r>
            <a:r>
              <a:rPr lang="en-US" dirty="0"/>
              <a:t> construct.</a:t>
            </a:r>
          </a:p>
          <a:p>
            <a:r>
              <a:rPr lang="en-US" dirty="0"/>
              <a:t>This model contains a </a:t>
            </a:r>
            <a:r>
              <a:rPr lang="en-US" b="1" dirty="0"/>
              <a:t>key</a:t>
            </a:r>
            <a:r>
              <a:rPr lang="en-US" dirty="0"/>
              <a:t> along with a piece of associated data or object as </a:t>
            </a:r>
            <a:r>
              <a:rPr lang="en-US" b="1" dirty="0"/>
              <a:t>value.</a:t>
            </a:r>
          </a:p>
          <a:p>
            <a:r>
              <a:rPr lang="en-US" dirty="0"/>
              <a:t>Key-Value stores follows the </a:t>
            </a:r>
            <a:r>
              <a:rPr lang="en-US" b="1" dirty="0"/>
              <a:t>'Availability</a:t>
            </a:r>
            <a:r>
              <a:rPr lang="en-US" dirty="0"/>
              <a:t>' and </a:t>
            </a:r>
            <a:r>
              <a:rPr lang="en-US" b="1" dirty="0"/>
              <a:t>'Partition</a:t>
            </a:r>
            <a:r>
              <a:rPr lang="en-US" dirty="0"/>
              <a:t>' aspects of </a:t>
            </a:r>
            <a:r>
              <a:rPr lang="en-US" b="1" dirty="0"/>
              <a:t>CAP</a:t>
            </a:r>
            <a:r>
              <a:rPr lang="en-US" dirty="0"/>
              <a:t> theorem.</a:t>
            </a:r>
          </a:p>
          <a:p>
            <a:r>
              <a:rPr lang="en-US" dirty="0"/>
              <a:t>Key-Value stores can be used as collections, </a:t>
            </a:r>
            <a:r>
              <a:rPr lang="en-US" b="1" dirty="0"/>
              <a:t>dictionaries</a:t>
            </a:r>
            <a:r>
              <a:rPr lang="en-US" dirty="0"/>
              <a:t>, associative arrays etc.</a:t>
            </a:r>
            <a:endParaRPr lang="en-US" b="1" dirty="0"/>
          </a:p>
          <a:p>
            <a:endParaRPr lang="en-US" dirty="0"/>
          </a:p>
          <a:p>
            <a:r>
              <a:rPr lang="en-US" b="1" dirty="0"/>
              <a:t>Pros: </a:t>
            </a:r>
            <a:r>
              <a:rPr lang="en-US" dirty="0"/>
              <a:t>Scalable, Simple API (put, get, delete).</a:t>
            </a:r>
          </a:p>
          <a:p>
            <a:r>
              <a:rPr lang="en-US" b="1" dirty="0"/>
              <a:t>Cons: </a:t>
            </a:r>
            <a:r>
              <a:rPr lang="en-US" dirty="0"/>
              <a:t>No way to query based on the content of the value.</a:t>
            </a:r>
          </a:p>
          <a:p>
            <a:endParaRPr lang="en-US" b="1" dirty="0"/>
          </a:p>
          <a:p>
            <a:pPr marL="0" indent="0">
              <a:buNone/>
            </a:pPr>
            <a:endParaRPr lang="en-US" b="1" dirty="0"/>
          </a:p>
          <a:p>
            <a:endParaRPr lang="en-US" dirty="0"/>
          </a:p>
        </p:txBody>
      </p:sp>
      <p:sp>
        <p:nvSpPr>
          <p:cNvPr id="12" name="Content Placeholder 11"/>
          <p:cNvSpPr>
            <a:spLocks noGrp="1"/>
          </p:cNvSpPr>
          <p:nvPr>
            <p:ph sz="half" idx="2"/>
          </p:nvPr>
        </p:nvSpPr>
        <p:spPr>
          <a:xfrm>
            <a:off x="8421511" y="4275326"/>
            <a:ext cx="3194755" cy="2043044"/>
          </a:xfrm>
        </p:spPr>
        <p:txBody>
          <a:bodyPr>
            <a:normAutofit fontScale="92500" lnSpcReduction="20000"/>
          </a:bodyPr>
          <a:lstStyle/>
          <a:p>
            <a:r>
              <a:rPr lang="en-US" sz="1600" b="1" dirty="0"/>
              <a:t>Example Databases:</a:t>
            </a:r>
          </a:p>
          <a:p>
            <a:pPr lvl="1">
              <a:buFont typeface="Arial" charset="0"/>
              <a:buChar char="•"/>
            </a:pPr>
            <a:r>
              <a:rPr lang="en-US" dirty="0"/>
              <a:t>Riak</a:t>
            </a:r>
          </a:p>
          <a:p>
            <a:pPr lvl="1">
              <a:buFont typeface="Arial" charset="0"/>
              <a:buChar char="•"/>
            </a:pPr>
            <a:r>
              <a:rPr lang="en-US" dirty="0"/>
              <a:t>Redis</a:t>
            </a:r>
          </a:p>
          <a:p>
            <a:pPr lvl="1">
              <a:buFont typeface="Arial" charset="0"/>
              <a:buChar char="•"/>
            </a:pPr>
            <a:r>
              <a:rPr lang="en-US" dirty="0"/>
              <a:t>Amazon’s </a:t>
            </a:r>
            <a:r>
              <a:rPr lang="en-US" dirty="0" err="1"/>
              <a:t>DynamoDB</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2589" y="2133600"/>
            <a:ext cx="2022122" cy="1498600"/>
          </a:xfrm>
          <a:prstGeom prst="rect">
            <a:avLst/>
          </a:prstGeom>
        </p:spPr>
      </p:pic>
      <p:sp>
        <p:nvSpPr>
          <p:cNvPr id="14" name="Slide Number Placeholder 13"/>
          <p:cNvSpPr>
            <a:spLocks noGrp="1"/>
          </p:cNvSpPr>
          <p:nvPr>
            <p:ph type="sldNum" sz="quarter" idx="12"/>
          </p:nvPr>
        </p:nvSpPr>
        <p:spPr/>
        <p:txBody>
          <a:bodyPr/>
          <a:lstStyle/>
          <a:p>
            <a:fld id="{DD44E5C5-9508-7C47-A2BD-9789A2991986}" type="slidenum">
              <a:rPr lang="en-US" smtClean="0"/>
              <a:t>13</a:t>
            </a:fld>
            <a:endParaRPr lang="en-US"/>
          </a:p>
        </p:txBody>
      </p:sp>
      <p:sp>
        <p:nvSpPr>
          <p:cNvPr id="15" name="Footer Placeholder 14"/>
          <p:cNvSpPr>
            <a:spLocks noGrp="1"/>
          </p:cNvSpPr>
          <p:nvPr>
            <p:ph type="ftr" sz="quarter" idx="11"/>
          </p:nvPr>
        </p:nvSpPr>
        <p:spPr/>
        <p:txBody>
          <a:bodyPr/>
          <a:lstStyle/>
          <a:p>
            <a:r>
              <a:rPr lang="en-US"/>
              <a:t>http://www.slideshare.net/Dataversity/nosql-now-nosql-architecture-patterns-23589170</a:t>
            </a:r>
          </a:p>
        </p:txBody>
      </p:sp>
    </p:spTree>
    <p:extLst>
      <p:ext uri="{BB962C8B-B14F-4D97-AF65-F5344CB8AC3E}">
        <p14:creationId xmlns:p14="http://schemas.microsoft.com/office/powerpoint/2010/main" val="1397489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2. Column-oriented databases</a:t>
            </a:r>
          </a:p>
        </p:txBody>
      </p:sp>
      <p:sp>
        <p:nvSpPr>
          <p:cNvPr id="6" name="Content Placeholder 5"/>
          <p:cNvSpPr>
            <a:spLocks noGrp="1"/>
          </p:cNvSpPr>
          <p:nvPr>
            <p:ph sz="half" idx="1"/>
          </p:nvPr>
        </p:nvSpPr>
        <p:spPr>
          <a:xfrm>
            <a:off x="2589211" y="2133600"/>
            <a:ext cx="5448477" cy="3777622"/>
          </a:xfrm>
        </p:spPr>
        <p:txBody>
          <a:bodyPr>
            <a:normAutofit lnSpcReduction="10000"/>
          </a:bodyPr>
          <a:lstStyle/>
          <a:p>
            <a:r>
              <a:rPr lang="en-US" dirty="0"/>
              <a:t>These were created to store and process very </a:t>
            </a:r>
            <a:r>
              <a:rPr lang="en-US" b="1" dirty="0"/>
              <a:t>large amounts </a:t>
            </a:r>
            <a:r>
              <a:rPr lang="en-US" dirty="0"/>
              <a:t>of data distributed over many </a:t>
            </a:r>
            <a:r>
              <a:rPr lang="en-US" b="1" dirty="0"/>
              <a:t>machines</a:t>
            </a:r>
            <a:r>
              <a:rPr lang="en-US" dirty="0"/>
              <a:t>. </a:t>
            </a:r>
          </a:p>
          <a:p>
            <a:r>
              <a:rPr lang="en-US" dirty="0"/>
              <a:t>There are still </a:t>
            </a:r>
            <a:r>
              <a:rPr lang="en-US" b="1" dirty="0"/>
              <a:t>keys</a:t>
            </a:r>
            <a:r>
              <a:rPr lang="en-US" dirty="0"/>
              <a:t> but they point to multiple columns.</a:t>
            </a:r>
          </a:p>
          <a:p>
            <a:r>
              <a:rPr lang="en-US" dirty="0"/>
              <a:t>The columns are arranged by </a:t>
            </a:r>
            <a:r>
              <a:rPr lang="en-US" b="1" dirty="0"/>
              <a:t>column</a:t>
            </a:r>
            <a:r>
              <a:rPr lang="en-US" dirty="0"/>
              <a:t> </a:t>
            </a:r>
            <a:r>
              <a:rPr lang="en-US" b="1" dirty="0"/>
              <a:t>family</a:t>
            </a:r>
            <a:r>
              <a:rPr lang="en-US" dirty="0"/>
              <a:t>. </a:t>
            </a:r>
          </a:p>
          <a:p>
            <a:endParaRPr lang="en-US" dirty="0"/>
          </a:p>
          <a:p>
            <a:r>
              <a:rPr lang="en-US" b="1" dirty="0"/>
              <a:t>Pros: </a:t>
            </a:r>
            <a:r>
              <a:rPr lang="en-US" dirty="0"/>
              <a:t>Good </a:t>
            </a:r>
            <a:r>
              <a:rPr lang="en-US" b="1" dirty="0"/>
              <a:t>Scale</a:t>
            </a:r>
            <a:r>
              <a:rPr lang="en-US" dirty="0"/>
              <a:t> out, </a:t>
            </a:r>
            <a:r>
              <a:rPr lang="en-US" b="1" dirty="0"/>
              <a:t>Versioning</a:t>
            </a:r>
            <a:r>
              <a:rPr lang="en-US" dirty="0"/>
              <a:t>.</a:t>
            </a:r>
          </a:p>
          <a:p>
            <a:r>
              <a:rPr lang="en-US" b="1" dirty="0"/>
              <a:t>Cons: </a:t>
            </a:r>
            <a:r>
              <a:rPr lang="en-US" dirty="0"/>
              <a:t>Row and column designs are critical.</a:t>
            </a:r>
            <a:endParaRPr lang="en-US" b="1" dirty="0"/>
          </a:p>
        </p:txBody>
      </p:sp>
      <p:sp>
        <p:nvSpPr>
          <p:cNvPr id="7" name="Content Placeholder 6"/>
          <p:cNvSpPr>
            <a:spLocks noGrp="1"/>
          </p:cNvSpPr>
          <p:nvPr>
            <p:ph sz="half" idx="2"/>
          </p:nvPr>
        </p:nvSpPr>
        <p:spPr>
          <a:xfrm>
            <a:off x="8240889" y="2126222"/>
            <a:ext cx="3263722" cy="3777622"/>
          </a:xfrm>
        </p:spPr>
        <p:txBody>
          <a:bodyPr>
            <a:normAutofit lnSpcReduction="10000"/>
          </a:bodyPr>
          <a:lstStyle/>
          <a:p>
            <a:endParaRPr lang="en-US" dirty="0"/>
          </a:p>
          <a:p>
            <a:endParaRPr lang="en-US" dirty="0"/>
          </a:p>
          <a:p>
            <a:endParaRPr lang="en-US" dirty="0"/>
          </a:p>
          <a:p>
            <a:endParaRPr lang="en-US" dirty="0"/>
          </a:p>
          <a:p>
            <a:endParaRPr lang="en-US" dirty="0"/>
          </a:p>
          <a:p>
            <a:pPr marL="0" indent="0">
              <a:buNone/>
            </a:pPr>
            <a:endParaRPr lang="en-US" dirty="0"/>
          </a:p>
          <a:p>
            <a:r>
              <a:rPr lang="en-US" b="1" dirty="0"/>
              <a:t>Example Databases:</a:t>
            </a:r>
          </a:p>
          <a:p>
            <a:pPr lvl="1"/>
            <a:r>
              <a:rPr lang="en-US" dirty="0" err="1"/>
              <a:t>BigTable</a:t>
            </a:r>
            <a:endParaRPr lang="en-US" dirty="0"/>
          </a:p>
          <a:p>
            <a:pPr lvl="1"/>
            <a:r>
              <a:rPr lang="en-US" dirty="0" err="1"/>
              <a:t>Hbase</a:t>
            </a:r>
            <a:endParaRPr lang="en-US" dirty="0"/>
          </a:p>
          <a:p>
            <a:pPr lvl="1"/>
            <a:r>
              <a:rPr lang="en-US" dirty="0"/>
              <a:t>Cassandra</a:t>
            </a:r>
          </a:p>
          <a:p>
            <a:pPr lvl="1"/>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3923" y="2133599"/>
            <a:ext cx="1751188" cy="1659467"/>
          </a:xfrm>
          <a:prstGeom prst="rect">
            <a:avLst/>
          </a:prstGeom>
        </p:spPr>
      </p:pic>
      <p:sp>
        <p:nvSpPr>
          <p:cNvPr id="12" name="Footer Placeholder 11"/>
          <p:cNvSpPr>
            <a:spLocks noGrp="1"/>
          </p:cNvSpPr>
          <p:nvPr>
            <p:ph type="ftr" sz="quarter" idx="11"/>
          </p:nvPr>
        </p:nvSpPr>
        <p:spPr/>
        <p:txBody>
          <a:bodyPr/>
          <a:lstStyle/>
          <a:p>
            <a:r>
              <a:rPr lang="en-US">
                <a:hlinkClick r:id="rId4"/>
              </a:rPr>
              <a:t>http://www.slideshare.net/Dataversity/nosql-now-nosql-architecture-patterns-23589170</a:t>
            </a:r>
            <a:endParaRPr lang="en-US" dirty="0"/>
          </a:p>
        </p:txBody>
      </p:sp>
      <p:sp>
        <p:nvSpPr>
          <p:cNvPr id="13" name="Slide Number Placeholder 12"/>
          <p:cNvSpPr>
            <a:spLocks noGrp="1"/>
          </p:cNvSpPr>
          <p:nvPr>
            <p:ph type="sldNum" sz="quarter" idx="12"/>
          </p:nvPr>
        </p:nvSpPr>
        <p:spPr/>
        <p:txBody>
          <a:bodyPr/>
          <a:lstStyle/>
          <a:p>
            <a:fld id="{DD44E5C5-9508-7C47-A2BD-9789A2991986}" type="slidenum">
              <a:rPr lang="en-US" smtClean="0"/>
              <a:t>14</a:t>
            </a:fld>
            <a:endParaRPr lang="en-US"/>
          </a:p>
        </p:txBody>
      </p:sp>
    </p:spTree>
    <p:extLst>
      <p:ext uri="{BB962C8B-B14F-4D97-AF65-F5344CB8AC3E}">
        <p14:creationId xmlns:p14="http://schemas.microsoft.com/office/powerpoint/2010/main" val="377108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in Column-oriented databases </a:t>
            </a:r>
          </a:p>
        </p:txBody>
      </p:sp>
      <p:sp>
        <p:nvSpPr>
          <p:cNvPr id="10" name="Text Placeholder 9"/>
          <p:cNvSpPr>
            <a:spLocks noGrp="1"/>
          </p:cNvSpPr>
          <p:nvPr>
            <p:ph type="body" idx="1"/>
          </p:nvPr>
        </p:nvSpPr>
        <p:spPr/>
        <p:txBody>
          <a:bodyPr/>
          <a:lstStyle/>
          <a:p>
            <a:r>
              <a:rPr lang="en-US" dirty="0"/>
              <a:t>Spreadsheets</a:t>
            </a:r>
          </a:p>
        </p:txBody>
      </p:sp>
      <p:sp>
        <p:nvSpPr>
          <p:cNvPr id="5" name="Content Placeholder 4"/>
          <p:cNvSpPr>
            <a:spLocks noGrp="1"/>
          </p:cNvSpPr>
          <p:nvPr>
            <p:ph sz="half" idx="2"/>
          </p:nvPr>
        </p:nvSpPr>
        <p:spPr/>
        <p:txBody>
          <a:bodyPr>
            <a:normAutofit/>
          </a:bodyPr>
          <a:lstStyle/>
          <a:p>
            <a:r>
              <a:rPr lang="en-US" sz="1600" dirty="0"/>
              <a:t>Spreadsheets use a Row/Column as a key</a:t>
            </a:r>
          </a:p>
          <a:p>
            <a:endParaRPr lang="en-US" sz="1600" dirty="0"/>
          </a:p>
        </p:txBody>
      </p:sp>
      <p:sp>
        <p:nvSpPr>
          <p:cNvPr id="11" name="Text Placeholder 10"/>
          <p:cNvSpPr>
            <a:spLocks noGrp="1"/>
          </p:cNvSpPr>
          <p:nvPr>
            <p:ph type="body" sz="quarter" idx="3"/>
          </p:nvPr>
        </p:nvSpPr>
        <p:spPr/>
        <p:txBody>
          <a:bodyPr/>
          <a:lstStyle/>
          <a:p>
            <a:r>
              <a:rPr lang="en-US" dirty="0" err="1"/>
              <a:t>BigTable</a:t>
            </a:r>
            <a:endParaRPr lang="en-US" dirty="0"/>
          </a:p>
        </p:txBody>
      </p:sp>
      <p:sp>
        <p:nvSpPr>
          <p:cNvPr id="6" name="Content Placeholder 5"/>
          <p:cNvSpPr>
            <a:spLocks noGrp="1"/>
          </p:cNvSpPr>
          <p:nvPr>
            <p:ph sz="quarter" idx="4"/>
          </p:nvPr>
        </p:nvSpPr>
        <p:spPr/>
        <p:txBody>
          <a:bodyPr>
            <a:normAutofit/>
          </a:bodyPr>
          <a:lstStyle/>
          <a:p>
            <a:r>
              <a:rPr lang="en-US" sz="1600" dirty="0" err="1"/>
              <a:t>Bigtable</a:t>
            </a:r>
            <a:r>
              <a:rPr lang="en-US" sz="1600" dirty="0"/>
              <a:t> systems use a combination of row and column information as a part of their key.</a:t>
            </a:r>
          </a:p>
          <a:p>
            <a:r>
              <a:rPr lang="en-US" sz="1600" dirty="0"/>
              <a:t>Key also include timestamps, which allows multiple versions of data.</a:t>
            </a:r>
          </a:p>
          <a:p>
            <a:r>
              <a:rPr lang="en-US" sz="1600" dirty="0"/>
              <a:t>Values are just ordered bytes.</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4733" y="3358600"/>
            <a:ext cx="4168343" cy="2552622"/>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0747" y="4482510"/>
            <a:ext cx="4313865" cy="778933"/>
          </a:xfrm>
          <a:prstGeom prst="rect">
            <a:avLst/>
          </a:prstGeom>
        </p:spPr>
      </p:pic>
      <p:sp>
        <p:nvSpPr>
          <p:cNvPr id="14" name="Footer Placeholder 13"/>
          <p:cNvSpPr>
            <a:spLocks noGrp="1"/>
          </p:cNvSpPr>
          <p:nvPr>
            <p:ph type="ftr" sz="quarter" idx="11"/>
          </p:nvPr>
        </p:nvSpPr>
        <p:spPr/>
        <p:txBody>
          <a:bodyPr/>
          <a:lstStyle/>
          <a:p>
            <a:r>
              <a:rPr lang="en-US"/>
              <a:t>http://www.slideshare.net/Dataversity/nosql-now-nosql-architecture-patterns-23589170</a:t>
            </a:r>
          </a:p>
        </p:txBody>
      </p:sp>
      <p:sp>
        <p:nvSpPr>
          <p:cNvPr id="15" name="Slide Number Placeholder 14"/>
          <p:cNvSpPr>
            <a:spLocks noGrp="1"/>
          </p:cNvSpPr>
          <p:nvPr>
            <p:ph type="sldNum" sz="quarter" idx="12"/>
          </p:nvPr>
        </p:nvSpPr>
        <p:spPr/>
        <p:txBody>
          <a:bodyPr/>
          <a:lstStyle/>
          <a:p>
            <a:fld id="{DD44E5C5-9508-7C47-A2BD-9789A2991986}" type="slidenum">
              <a:rPr lang="en-US" smtClean="0"/>
              <a:t>15</a:t>
            </a:fld>
            <a:endParaRPr lang="en-US"/>
          </a:p>
        </p:txBody>
      </p:sp>
    </p:spTree>
    <p:extLst>
      <p:ext uri="{BB962C8B-B14F-4D97-AF65-F5344CB8AC3E}">
        <p14:creationId xmlns:p14="http://schemas.microsoft.com/office/powerpoint/2010/main" val="1397208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3. Graph databases</a:t>
            </a:r>
            <a:br>
              <a:rPr lang="en-US" dirty="0"/>
            </a:br>
            <a:endParaRPr lang="en-US" dirty="0"/>
          </a:p>
        </p:txBody>
      </p:sp>
      <p:sp>
        <p:nvSpPr>
          <p:cNvPr id="8" name="Content Placeholder 7"/>
          <p:cNvSpPr>
            <a:spLocks noGrp="1"/>
          </p:cNvSpPr>
          <p:nvPr>
            <p:ph sz="half" idx="1"/>
          </p:nvPr>
        </p:nvSpPr>
        <p:spPr>
          <a:xfrm>
            <a:off x="2589212" y="2133600"/>
            <a:ext cx="4906610" cy="3777622"/>
          </a:xfrm>
        </p:spPr>
        <p:txBody>
          <a:bodyPr>
            <a:normAutofit fontScale="92500" lnSpcReduction="20000"/>
          </a:bodyPr>
          <a:lstStyle/>
          <a:p>
            <a:r>
              <a:rPr lang="en-US" dirty="0"/>
              <a:t>A graph database is a collection of </a:t>
            </a:r>
            <a:r>
              <a:rPr lang="en-US" b="1" dirty="0"/>
              <a:t>nodes</a:t>
            </a:r>
            <a:r>
              <a:rPr lang="en-US" dirty="0"/>
              <a:t> and </a:t>
            </a:r>
            <a:r>
              <a:rPr lang="en-US" b="1" dirty="0"/>
              <a:t>edges</a:t>
            </a:r>
            <a:r>
              <a:rPr lang="en-US" dirty="0"/>
              <a:t>.</a:t>
            </a:r>
          </a:p>
          <a:p>
            <a:r>
              <a:rPr lang="en-US" dirty="0"/>
              <a:t>Each </a:t>
            </a:r>
            <a:r>
              <a:rPr lang="en-US" b="1" dirty="0"/>
              <a:t>node</a:t>
            </a:r>
            <a:r>
              <a:rPr lang="en-US" dirty="0"/>
              <a:t> represents an </a:t>
            </a:r>
            <a:r>
              <a:rPr lang="en-US" b="1" dirty="0"/>
              <a:t>entity</a:t>
            </a:r>
            <a:r>
              <a:rPr lang="en-US" dirty="0"/>
              <a:t> (such as a student or business) and each </a:t>
            </a:r>
            <a:r>
              <a:rPr lang="en-US" b="1" dirty="0"/>
              <a:t>edge</a:t>
            </a:r>
            <a:r>
              <a:rPr lang="en-US" dirty="0"/>
              <a:t> represents a </a:t>
            </a:r>
            <a:r>
              <a:rPr lang="en-US" b="1" dirty="0"/>
              <a:t>connection</a:t>
            </a:r>
            <a:r>
              <a:rPr lang="en-US" dirty="0"/>
              <a:t> or </a:t>
            </a:r>
            <a:r>
              <a:rPr lang="en-US" b="1" dirty="0"/>
              <a:t>relationship</a:t>
            </a:r>
            <a:r>
              <a:rPr lang="en-US" dirty="0"/>
              <a:t> between two nodes.</a:t>
            </a:r>
          </a:p>
          <a:p>
            <a:r>
              <a:rPr lang="en-US" dirty="0"/>
              <a:t>Query are really </a:t>
            </a:r>
            <a:r>
              <a:rPr lang="en-US" b="1" dirty="0"/>
              <a:t>graph</a:t>
            </a:r>
            <a:r>
              <a:rPr lang="en-US" dirty="0"/>
              <a:t> </a:t>
            </a:r>
            <a:r>
              <a:rPr lang="en-US" b="1" dirty="0"/>
              <a:t>traversal</a:t>
            </a:r>
            <a:r>
              <a:rPr lang="en-US" dirty="0"/>
              <a:t>.</a:t>
            </a:r>
          </a:p>
          <a:p>
            <a:r>
              <a:rPr lang="en-US" dirty="0"/>
              <a:t>Ideal when relationships between data are keys: </a:t>
            </a:r>
            <a:r>
              <a:rPr lang="en-US" b="1" dirty="0"/>
              <a:t>Social</a:t>
            </a:r>
            <a:r>
              <a:rPr lang="en-US" dirty="0"/>
              <a:t> </a:t>
            </a:r>
            <a:r>
              <a:rPr lang="en-US" b="1" dirty="0"/>
              <a:t>Networks</a:t>
            </a:r>
            <a:r>
              <a:rPr lang="en-US" dirty="0"/>
              <a:t>.</a:t>
            </a:r>
          </a:p>
          <a:p>
            <a:endParaRPr lang="en-US" dirty="0"/>
          </a:p>
          <a:p>
            <a:r>
              <a:rPr lang="en-US" b="1" dirty="0"/>
              <a:t>Pros: </a:t>
            </a:r>
            <a:r>
              <a:rPr lang="en-US" dirty="0"/>
              <a:t>First </a:t>
            </a:r>
            <a:r>
              <a:rPr lang="en-US" b="1" dirty="0"/>
              <a:t>network</a:t>
            </a:r>
            <a:r>
              <a:rPr lang="en-US" dirty="0"/>
              <a:t> search.</a:t>
            </a:r>
          </a:p>
          <a:p>
            <a:r>
              <a:rPr lang="en-US" b="1" dirty="0"/>
              <a:t>Cons: Poor</a:t>
            </a:r>
            <a:r>
              <a:rPr lang="en-US" dirty="0"/>
              <a:t> </a:t>
            </a:r>
            <a:r>
              <a:rPr lang="en-US" b="1" dirty="0"/>
              <a:t>scalability</a:t>
            </a:r>
            <a:r>
              <a:rPr lang="en-US" dirty="0"/>
              <a:t> when graphs do not fit into RAM.</a:t>
            </a:r>
            <a:endParaRPr lang="en-US" b="1" dirty="0"/>
          </a:p>
        </p:txBody>
      </p:sp>
      <p:sp>
        <p:nvSpPr>
          <p:cNvPr id="12" name="Content Placeholder 11"/>
          <p:cNvSpPr>
            <a:spLocks noGrp="1"/>
          </p:cNvSpPr>
          <p:nvPr>
            <p:ph sz="half" idx="2"/>
          </p:nvPr>
        </p:nvSpPr>
        <p:spPr>
          <a:xfrm>
            <a:off x="7631289" y="2126222"/>
            <a:ext cx="3873322" cy="3777622"/>
          </a:xfrm>
        </p:spPr>
        <p:txBody>
          <a:bodyPr>
            <a:normAutofit fontScale="92500" lnSpcReduction="20000"/>
          </a:bodyPr>
          <a:lstStyle/>
          <a:p>
            <a:endParaRPr lang="en-US" dirty="0"/>
          </a:p>
          <a:p>
            <a:endParaRPr lang="en-US" dirty="0"/>
          </a:p>
          <a:p>
            <a:endParaRPr lang="en-US" dirty="0"/>
          </a:p>
          <a:p>
            <a:endParaRPr lang="en-US" dirty="0"/>
          </a:p>
          <a:p>
            <a:endParaRPr lang="en-US" dirty="0"/>
          </a:p>
          <a:p>
            <a:endParaRPr lang="en-US" dirty="0"/>
          </a:p>
          <a:p>
            <a:r>
              <a:rPr lang="en-US" dirty="0"/>
              <a:t>Example Databases:</a:t>
            </a:r>
          </a:p>
          <a:p>
            <a:pPr lvl="1">
              <a:buFont typeface="Arial" charset="0"/>
              <a:buChar char="•"/>
            </a:pPr>
            <a:r>
              <a:rPr lang="en-US" dirty="0"/>
              <a:t>Neo4j</a:t>
            </a:r>
          </a:p>
          <a:p>
            <a:pPr lvl="1">
              <a:buFont typeface="Arial" charset="0"/>
              <a:buChar char="•"/>
            </a:pPr>
            <a:r>
              <a:rPr lang="en-US" dirty="0"/>
              <a:t>OrientDB</a:t>
            </a:r>
          </a:p>
          <a:p>
            <a:pPr lvl="1">
              <a:buFont typeface="Arial" charset="0"/>
              <a:buChar char="•"/>
            </a:pPr>
            <a:r>
              <a:rPr lang="en-US" dirty="0"/>
              <a:t>AllegroGraph</a:t>
            </a:r>
          </a:p>
          <a:p>
            <a:endParaRPr lang="en-US" dirty="0"/>
          </a:p>
          <a:p>
            <a:endParaRPr lang="en-US" dirty="0"/>
          </a:p>
          <a:p>
            <a:endParaRPr lang="en-US" dirty="0"/>
          </a:p>
          <a:p>
            <a:endParaRPr lang="en-US" dirty="0"/>
          </a:p>
          <a:p>
            <a:endParaRPr lang="en-US" dirty="0"/>
          </a:p>
          <a:p>
            <a:pPr marL="0" indent="0">
              <a:buNone/>
            </a:pPr>
            <a:endParaRPr lang="en-US" dirty="0"/>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9233" y="2126222"/>
            <a:ext cx="1689100" cy="1638300"/>
          </a:xfrm>
          <a:prstGeom prst="rect">
            <a:avLst/>
          </a:prstGeom>
        </p:spPr>
      </p:pic>
      <p:sp>
        <p:nvSpPr>
          <p:cNvPr id="14" name="Slide Number Placeholder 13"/>
          <p:cNvSpPr>
            <a:spLocks noGrp="1"/>
          </p:cNvSpPr>
          <p:nvPr>
            <p:ph type="sldNum" sz="quarter" idx="12"/>
          </p:nvPr>
        </p:nvSpPr>
        <p:spPr/>
        <p:txBody>
          <a:bodyPr/>
          <a:lstStyle/>
          <a:p>
            <a:fld id="{DD44E5C5-9508-7C47-A2BD-9789A2991986}" type="slidenum">
              <a:rPr lang="en-US" smtClean="0"/>
              <a:t>16</a:t>
            </a:fld>
            <a:endParaRPr lang="en-US"/>
          </a:p>
        </p:txBody>
      </p:sp>
      <p:sp>
        <p:nvSpPr>
          <p:cNvPr id="15" name="Footer Placeholder 14"/>
          <p:cNvSpPr>
            <a:spLocks noGrp="1"/>
          </p:cNvSpPr>
          <p:nvPr>
            <p:ph type="ftr" sz="quarter" idx="11"/>
          </p:nvPr>
        </p:nvSpPr>
        <p:spPr/>
        <p:txBody>
          <a:bodyPr/>
          <a:lstStyle/>
          <a:p>
            <a:r>
              <a:rPr lang="en-US" dirty="0">
                <a:hlinkClick r:id="rId4"/>
              </a:rPr>
              <a:t>http://www.slideshare.net/Dataversity/nosql-now-nosql-architecture-patterns-23589170</a:t>
            </a:r>
            <a:r>
              <a:rPr lang="en-US" dirty="0"/>
              <a:t> and </a:t>
            </a:r>
            <a:r>
              <a:rPr lang="en-US" dirty="0">
                <a:hlinkClick r:id="rId5"/>
              </a:rPr>
              <a:t>http://www.w3resource.com/mongodb/nosql.php</a:t>
            </a:r>
            <a:r>
              <a:rPr lang="en-US" dirty="0"/>
              <a:t> </a:t>
            </a:r>
          </a:p>
        </p:txBody>
      </p:sp>
    </p:spTree>
    <p:extLst>
      <p:ext uri="{BB962C8B-B14F-4D97-AF65-F5344CB8AC3E}">
        <p14:creationId xmlns:p14="http://schemas.microsoft.com/office/powerpoint/2010/main" val="1379803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Graph Creation in Graph databases</a:t>
            </a:r>
            <a:br>
              <a:rPr lang="en-US" dirty="0"/>
            </a:br>
            <a:br>
              <a:rPr lang="en-US" dirty="0"/>
            </a:br>
            <a:endParaRPr lang="en-US" dirty="0"/>
          </a:p>
        </p:txBody>
      </p:sp>
      <p:sp>
        <p:nvSpPr>
          <p:cNvPr id="6" name="Content Placeholder 5"/>
          <p:cNvSpPr>
            <a:spLocks noGrp="1"/>
          </p:cNvSpPr>
          <p:nvPr>
            <p:ph idx="1"/>
          </p:nvPr>
        </p:nvSpPr>
        <p:spPr/>
        <p:txBody>
          <a:bodyPr/>
          <a:lstStyle/>
          <a:p>
            <a:r>
              <a:rPr lang="en-US" dirty="0"/>
              <a:t>Nodes are joined to create graph</a:t>
            </a:r>
          </a:p>
          <a:p>
            <a:pPr marL="0" indent="0">
              <a:buNone/>
            </a:pPr>
            <a:endParaRPr lang="en-US" dirty="0"/>
          </a:p>
          <a:p>
            <a:pPr marL="0" indent="0">
              <a:buNone/>
            </a:pPr>
            <a:endParaRPr lang="en-US" dirty="0"/>
          </a:p>
        </p:txBody>
      </p:sp>
      <p:sp>
        <p:nvSpPr>
          <p:cNvPr id="7" name="Slide Number Placeholder 6"/>
          <p:cNvSpPr>
            <a:spLocks noGrp="1"/>
          </p:cNvSpPr>
          <p:nvPr>
            <p:ph type="sldNum" sz="quarter" idx="12"/>
          </p:nvPr>
        </p:nvSpPr>
        <p:spPr/>
        <p:txBody>
          <a:bodyPr/>
          <a:lstStyle/>
          <a:p>
            <a:fld id="{DD44E5C5-9508-7C47-A2BD-9789A2991986}" type="slidenum">
              <a:rPr lang="en-US" smtClean="0"/>
              <a:t>17</a:t>
            </a:fld>
            <a:endParaRPr lang="en-US"/>
          </a:p>
        </p:txBody>
      </p:sp>
      <p:sp>
        <p:nvSpPr>
          <p:cNvPr id="8" name="Footer Placeholder 7"/>
          <p:cNvSpPr>
            <a:spLocks noGrp="1"/>
          </p:cNvSpPr>
          <p:nvPr>
            <p:ph type="ftr" sz="quarter" idx="11"/>
          </p:nvPr>
        </p:nvSpPr>
        <p:spPr/>
        <p:txBody>
          <a:bodyPr/>
          <a:lstStyle/>
          <a:p>
            <a:r>
              <a:rPr lang="en-US"/>
              <a:t>http://www.slideshare.net/Dataversity/nosql-now-nosql-architecture-patterns-23589170</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3390" y="2873022"/>
            <a:ext cx="7175500" cy="2489200"/>
          </a:xfrm>
          <a:prstGeom prst="rect">
            <a:avLst/>
          </a:prstGeom>
        </p:spPr>
      </p:pic>
    </p:spTree>
    <p:extLst>
      <p:ext uri="{BB962C8B-B14F-4D97-AF65-F5344CB8AC3E}">
        <p14:creationId xmlns:p14="http://schemas.microsoft.com/office/powerpoint/2010/main" val="563436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Terms Comparison between the classic relational model and the graph model </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9212" y="2766088"/>
            <a:ext cx="8101365" cy="2106873"/>
          </a:xfrm>
        </p:spPr>
      </p:pic>
      <p:sp>
        <p:nvSpPr>
          <p:cNvPr id="4" name="Footer Placeholder 3"/>
          <p:cNvSpPr>
            <a:spLocks noGrp="1"/>
          </p:cNvSpPr>
          <p:nvPr>
            <p:ph type="ftr" sz="quarter" idx="11"/>
          </p:nvPr>
        </p:nvSpPr>
        <p:spPr/>
        <p:txBody>
          <a:bodyPr/>
          <a:lstStyle/>
          <a:p>
            <a:r>
              <a:rPr lang="en-US" dirty="0"/>
              <a:t>http://www.w3resource.com/</a:t>
            </a:r>
            <a:r>
              <a:rPr lang="en-US" dirty="0" err="1"/>
              <a:t>mongodb</a:t>
            </a:r>
            <a:r>
              <a:rPr lang="en-US" dirty="0"/>
              <a:t>/</a:t>
            </a:r>
            <a:r>
              <a:rPr lang="en-US" dirty="0" err="1"/>
              <a:t>nosql.php</a:t>
            </a:r>
            <a:endParaRPr lang="en-US" dirty="0"/>
          </a:p>
        </p:txBody>
      </p:sp>
      <p:sp>
        <p:nvSpPr>
          <p:cNvPr id="5" name="Slide Number Placeholder 4"/>
          <p:cNvSpPr>
            <a:spLocks noGrp="1"/>
          </p:cNvSpPr>
          <p:nvPr>
            <p:ph type="sldNum" sz="quarter" idx="12"/>
          </p:nvPr>
        </p:nvSpPr>
        <p:spPr/>
        <p:txBody>
          <a:bodyPr/>
          <a:lstStyle/>
          <a:p>
            <a:fld id="{DD44E5C5-9508-7C47-A2BD-9789A2991986}" type="slidenum">
              <a:rPr lang="en-US" smtClean="0"/>
              <a:t>18</a:t>
            </a:fld>
            <a:endParaRPr lang="en-US"/>
          </a:p>
        </p:txBody>
      </p:sp>
    </p:spTree>
    <p:extLst>
      <p:ext uri="{BB962C8B-B14F-4D97-AF65-F5344CB8AC3E}">
        <p14:creationId xmlns:p14="http://schemas.microsoft.com/office/powerpoint/2010/main" val="464661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Document Oriented Databases</a:t>
            </a:r>
          </a:p>
        </p:txBody>
      </p:sp>
      <p:sp>
        <p:nvSpPr>
          <p:cNvPr id="3" name="Content Placeholder 2"/>
          <p:cNvSpPr>
            <a:spLocks noGrp="1"/>
          </p:cNvSpPr>
          <p:nvPr>
            <p:ph sz="half" idx="1"/>
          </p:nvPr>
        </p:nvSpPr>
        <p:spPr>
          <a:xfrm>
            <a:off x="2589212" y="2133600"/>
            <a:ext cx="5053366" cy="3777622"/>
          </a:xfrm>
        </p:spPr>
        <p:txBody>
          <a:bodyPr>
            <a:normAutofit fontScale="70000" lnSpcReduction="20000"/>
          </a:bodyPr>
          <a:lstStyle/>
          <a:p>
            <a:r>
              <a:rPr lang="en-US" dirty="0"/>
              <a:t>A collection of documents and data in this model is stored inside </a:t>
            </a:r>
            <a:r>
              <a:rPr lang="en-US" b="1" dirty="0"/>
              <a:t>documents</a:t>
            </a:r>
            <a:r>
              <a:rPr lang="en-US" dirty="0"/>
              <a:t>.</a:t>
            </a:r>
          </a:p>
          <a:p>
            <a:r>
              <a:rPr lang="en-US" dirty="0"/>
              <a:t>Document databases are essentially the </a:t>
            </a:r>
            <a:r>
              <a:rPr lang="en-US" b="1" dirty="0"/>
              <a:t>next level of key-value,</a:t>
            </a:r>
            <a:r>
              <a:rPr lang="en-US" dirty="0"/>
              <a:t> allowing nested values associated with each key.</a:t>
            </a:r>
          </a:p>
          <a:p>
            <a:r>
              <a:rPr lang="en-US" dirty="0"/>
              <a:t>The </a:t>
            </a:r>
            <a:r>
              <a:rPr lang="en-US" b="1" dirty="0"/>
              <a:t>semi-structured</a:t>
            </a:r>
            <a:r>
              <a:rPr lang="en-US" dirty="0"/>
              <a:t> documents are stored in formats like </a:t>
            </a:r>
            <a:r>
              <a:rPr lang="en-US" b="1" dirty="0"/>
              <a:t>JSON</a:t>
            </a:r>
            <a:r>
              <a:rPr lang="en-US" dirty="0"/>
              <a:t> or </a:t>
            </a:r>
            <a:r>
              <a:rPr lang="en-US" b="1" dirty="0"/>
              <a:t>XML</a:t>
            </a:r>
            <a:r>
              <a:rPr lang="en-US" dirty="0"/>
              <a:t>. </a:t>
            </a:r>
          </a:p>
          <a:p>
            <a:r>
              <a:rPr lang="en-US" dirty="0"/>
              <a:t>Document databases </a:t>
            </a:r>
            <a:r>
              <a:rPr lang="en-US" b="1" dirty="0"/>
              <a:t>support querying </a:t>
            </a:r>
            <a:r>
              <a:rPr lang="en-US" dirty="0"/>
              <a:t>more efficiently. </a:t>
            </a:r>
          </a:p>
          <a:p>
            <a:r>
              <a:rPr lang="en-US" dirty="0"/>
              <a:t>Documents are </a:t>
            </a:r>
            <a:r>
              <a:rPr lang="en-US" b="1" dirty="0"/>
              <a:t>not</a:t>
            </a:r>
            <a:r>
              <a:rPr lang="en-US" dirty="0"/>
              <a:t> typically forced to have a </a:t>
            </a:r>
            <a:r>
              <a:rPr lang="en-US" b="1" dirty="0"/>
              <a:t>schema </a:t>
            </a:r>
            <a:r>
              <a:rPr lang="en-US" dirty="0"/>
              <a:t>and therefore are </a:t>
            </a:r>
            <a:r>
              <a:rPr lang="en-US" b="1" dirty="0"/>
              <a:t>flexible</a:t>
            </a:r>
            <a:r>
              <a:rPr lang="en-US" dirty="0"/>
              <a:t> and easy to change. </a:t>
            </a:r>
          </a:p>
          <a:p>
            <a:r>
              <a:rPr lang="en-US" dirty="0"/>
              <a:t>Documents are stored into </a:t>
            </a:r>
            <a:r>
              <a:rPr lang="en-US" b="1" dirty="0"/>
              <a:t>collections</a:t>
            </a:r>
            <a:r>
              <a:rPr lang="en-US" dirty="0"/>
              <a:t> in order to group different kinds of data.</a:t>
            </a:r>
          </a:p>
          <a:p>
            <a:endParaRPr lang="en-US" dirty="0"/>
          </a:p>
          <a:p>
            <a:r>
              <a:rPr lang="en-US" dirty="0"/>
              <a:t>Pros: No </a:t>
            </a:r>
            <a:r>
              <a:rPr lang="en-US" b="1" dirty="0"/>
              <a:t>object-relational</a:t>
            </a:r>
            <a:r>
              <a:rPr lang="en-US" dirty="0"/>
              <a:t> mapping, ideal for </a:t>
            </a:r>
            <a:r>
              <a:rPr lang="en-US" b="1" dirty="0"/>
              <a:t>research</a:t>
            </a:r>
            <a:r>
              <a:rPr lang="en-US" dirty="0"/>
              <a:t>.</a:t>
            </a:r>
          </a:p>
          <a:p>
            <a:r>
              <a:rPr lang="en-US" dirty="0"/>
              <a:t>Cons: Complex to </a:t>
            </a:r>
            <a:r>
              <a:rPr lang="en-US" b="1" dirty="0"/>
              <a:t>implement</a:t>
            </a:r>
            <a:r>
              <a:rPr lang="en-US" dirty="0"/>
              <a:t> and incompatible with </a:t>
            </a:r>
            <a:r>
              <a:rPr lang="en-US" b="1" dirty="0"/>
              <a:t>SQL</a:t>
            </a:r>
            <a:r>
              <a:rPr lang="en-US" dirty="0"/>
              <a:t>. </a:t>
            </a:r>
          </a:p>
          <a:p>
            <a:pPr marL="0" indent="0">
              <a:buNone/>
            </a:pPr>
            <a:endParaRPr lang="en-US" dirty="0"/>
          </a:p>
        </p:txBody>
      </p:sp>
      <p:sp>
        <p:nvSpPr>
          <p:cNvPr id="6" name="Content Placeholder 5"/>
          <p:cNvSpPr>
            <a:spLocks noGrp="1"/>
          </p:cNvSpPr>
          <p:nvPr>
            <p:ph sz="half" idx="2"/>
          </p:nvPr>
        </p:nvSpPr>
        <p:spPr>
          <a:xfrm>
            <a:off x="7885111" y="2126222"/>
            <a:ext cx="3619500" cy="3777622"/>
          </a:xfrm>
        </p:spPr>
        <p:txBody>
          <a:bodyPr>
            <a:normAutofit fontScale="700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b="1" dirty="0"/>
          </a:p>
          <a:p>
            <a:endParaRPr lang="en-US" b="1" dirty="0"/>
          </a:p>
          <a:p>
            <a:r>
              <a:rPr lang="en-US" b="1" dirty="0"/>
              <a:t>Example Databases:</a:t>
            </a:r>
          </a:p>
          <a:p>
            <a:pPr lvl="1">
              <a:buFont typeface="Arial" charset="0"/>
              <a:buChar char="•"/>
            </a:pPr>
            <a:r>
              <a:rPr lang="en-US" dirty="0" err="1"/>
              <a:t>MongoDB</a:t>
            </a:r>
            <a:endParaRPr lang="en-US" dirty="0"/>
          </a:p>
          <a:p>
            <a:pPr lvl="1">
              <a:buFont typeface="Arial" charset="0"/>
              <a:buChar char="•"/>
            </a:pPr>
            <a:r>
              <a:rPr lang="en-US" dirty="0" err="1"/>
              <a:t>CouchDB</a:t>
            </a:r>
            <a:endParaRPr lang="en-US" dirty="0"/>
          </a:p>
          <a:p>
            <a:pPr lvl="1">
              <a:buFont typeface="Arial" charset="0"/>
              <a:buChar char="•"/>
            </a:pPr>
            <a:r>
              <a:rPr lang="en-US" dirty="0" err="1"/>
              <a:t>MarkLogic</a:t>
            </a:r>
            <a:endParaRPr lang="en-US" dirty="0"/>
          </a:p>
          <a:p>
            <a:endParaRPr lang="en-US" dirty="0"/>
          </a:p>
        </p:txBody>
      </p:sp>
      <p:sp>
        <p:nvSpPr>
          <p:cNvPr id="4" name="Footer Placeholder 3"/>
          <p:cNvSpPr>
            <a:spLocks noGrp="1"/>
          </p:cNvSpPr>
          <p:nvPr>
            <p:ph type="ftr" sz="quarter" idx="11"/>
          </p:nvPr>
        </p:nvSpPr>
        <p:spPr/>
        <p:txBody>
          <a:bodyPr/>
          <a:lstStyle/>
          <a:p>
            <a:r>
              <a:rPr lang="en-US" dirty="0">
                <a:hlinkClick r:id="rId2"/>
              </a:rPr>
              <a:t>http://www.slideshare.net/Dataversity/nosql-now-nosql-architecture-patterns-23589170</a:t>
            </a:r>
            <a:r>
              <a:rPr lang="en-US" dirty="0"/>
              <a:t>  </a:t>
            </a:r>
            <a:r>
              <a:rPr lang="en-US" dirty="0">
                <a:hlinkClick r:id="rId3"/>
              </a:rPr>
              <a:t>http://www.w3resource.com/mongodb/nosql.php</a:t>
            </a:r>
            <a:r>
              <a:rPr lang="en-US" dirty="0"/>
              <a:t> and </a:t>
            </a:r>
          </a:p>
          <a:p>
            <a:r>
              <a:rPr lang="en-US" dirty="0">
                <a:hlinkClick r:id="rId4"/>
              </a:rPr>
              <a:t>http://www.3pillarglobal.com/insights/short-history-databases-rdbms-nosql-beyond</a:t>
            </a:r>
            <a:r>
              <a:rPr lang="en-US" dirty="0"/>
              <a:t> </a:t>
            </a:r>
          </a:p>
        </p:txBody>
      </p:sp>
      <p:sp>
        <p:nvSpPr>
          <p:cNvPr id="5" name="Slide Number Placeholder 4"/>
          <p:cNvSpPr>
            <a:spLocks noGrp="1"/>
          </p:cNvSpPr>
          <p:nvPr>
            <p:ph type="sldNum" sz="quarter" idx="12"/>
          </p:nvPr>
        </p:nvSpPr>
        <p:spPr/>
        <p:txBody>
          <a:bodyPr/>
          <a:lstStyle/>
          <a:p>
            <a:fld id="{DD44E5C5-9508-7C47-A2BD-9789A2991986}" type="slidenum">
              <a:rPr lang="en-US" smtClean="0"/>
              <a:t>19</a:t>
            </a:fld>
            <a:endParaRPr lang="en-US"/>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5111" y="2126222"/>
            <a:ext cx="2324100" cy="2070100"/>
          </a:xfrm>
          <a:prstGeom prst="rect">
            <a:avLst/>
          </a:prstGeom>
        </p:spPr>
      </p:pic>
    </p:spTree>
    <p:extLst>
      <p:ext uri="{BB962C8B-B14F-4D97-AF65-F5344CB8AC3E}">
        <p14:creationId xmlns:p14="http://schemas.microsoft.com/office/powerpoint/2010/main" val="1685622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Relational Mapping or not</a:t>
            </a:r>
          </a:p>
        </p:txBody>
      </p:sp>
      <p:sp>
        <p:nvSpPr>
          <p:cNvPr id="7" name="Text Placeholder 6"/>
          <p:cNvSpPr>
            <a:spLocks noGrp="1"/>
          </p:cNvSpPr>
          <p:nvPr>
            <p:ph type="body" idx="1"/>
          </p:nvPr>
        </p:nvSpPr>
        <p:spPr/>
        <p:txBody>
          <a:bodyPr/>
          <a:lstStyle/>
          <a:p>
            <a:r>
              <a:rPr lang="en-US" sz="2000" dirty="0"/>
              <a:t>Object Relational Mapping</a:t>
            </a:r>
          </a:p>
        </p:txBody>
      </p:sp>
      <p:sp>
        <p:nvSpPr>
          <p:cNvPr id="8" name="Content Placeholder 7"/>
          <p:cNvSpPr>
            <a:spLocks noGrp="1"/>
          </p:cNvSpPr>
          <p:nvPr>
            <p:ph sz="half" idx="2"/>
          </p:nvPr>
        </p:nvSpPr>
        <p:spPr/>
        <p:txBody>
          <a:bodyPr>
            <a:normAutofit/>
          </a:bodyPr>
          <a:lstStyle/>
          <a:p>
            <a:pPr marL="0" indent="0">
              <a:buNone/>
            </a:pPr>
            <a:endParaRPr lang="en-US" sz="1600" dirty="0"/>
          </a:p>
          <a:p>
            <a:endParaRPr lang="en-US" sz="1600" dirty="0"/>
          </a:p>
          <a:p>
            <a:endParaRPr lang="en-US" sz="1600" dirty="0"/>
          </a:p>
          <a:p>
            <a:endParaRPr lang="en-US" sz="1600" dirty="0"/>
          </a:p>
          <a:p>
            <a:r>
              <a:rPr lang="en-US" sz="1600" dirty="0"/>
              <a:t>T</a:t>
            </a:r>
            <a:r>
              <a:rPr lang="en-US" sz="1600" baseline="-25000" dirty="0"/>
              <a:t>1</a:t>
            </a:r>
            <a:r>
              <a:rPr lang="en-US" sz="1600" dirty="0"/>
              <a:t> – HTML into object</a:t>
            </a:r>
          </a:p>
          <a:p>
            <a:r>
              <a:rPr lang="en-US" sz="1600" dirty="0"/>
              <a:t>T</a:t>
            </a:r>
            <a:r>
              <a:rPr lang="en-US" sz="1600" baseline="-25000" dirty="0"/>
              <a:t>2</a:t>
            </a:r>
            <a:r>
              <a:rPr lang="en-US" sz="1600" dirty="0"/>
              <a:t> – Object into SQL table</a:t>
            </a:r>
          </a:p>
          <a:p>
            <a:r>
              <a:rPr lang="en-US" sz="1600" dirty="0"/>
              <a:t>T</a:t>
            </a:r>
            <a:r>
              <a:rPr lang="en-US" sz="1600" baseline="-25000" dirty="0"/>
              <a:t>3</a:t>
            </a:r>
            <a:r>
              <a:rPr lang="en-US" sz="1600" dirty="0"/>
              <a:t> –  Table into object</a:t>
            </a:r>
          </a:p>
          <a:p>
            <a:r>
              <a:rPr lang="en-US" sz="1600" dirty="0"/>
              <a:t>T</a:t>
            </a:r>
            <a:r>
              <a:rPr lang="en-US" sz="1600" baseline="-25000" dirty="0"/>
              <a:t>4</a:t>
            </a:r>
            <a:r>
              <a:rPr lang="en-US" sz="1600" dirty="0"/>
              <a:t> –  Object into HTML</a:t>
            </a:r>
          </a:p>
        </p:txBody>
      </p:sp>
      <p:sp>
        <p:nvSpPr>
          <p:cNvPr id="9" name="Text Placeholder 8"/>
          <p:cNvSpPr>
            <a:spLocks noGrp="1"/>
          </p:cNvSpPr>
          <p:nvPr>
            <p:ph type="body" sz="quarter" idx="3"/>
          </p:nvPr>
        </p:nvSpPr>
        <p:spPr/>
        <p:txBody>
          <a:bodyPr/>
          <a:lstStyle/>
          <a:p>
            <a:r>
              <a:rPr lang="en-US" sz="2000" dirty="0"/>
              <a:t>Document Store</a:t>
            </a:r>
          </a:p>
        </p:txBody>
      </p:sp>
      <p:sp>
        <p:nvSpPr>
          <p:cNvPr id="10" name="Content Placeholder 9"/>
          <p:cNvSpPr>
            <a:spLocks noGrp="1"/>
          </p:cNvSpPr>
          <p:nvPr>
            <p:ph sz="quarter" idx="4"/>
          </p:nvPr>
        </p:nvSpPr>
        <p:spPr>
          <a:xfrm>
            <a:off x="7506629" y="2545738"/>
            <a:ext cx="3999002" cy="3354060"/>
          </a:xfrm>
        </p:spPr>
        <p:txBody>
          <a:bodyPr>
            <a:normAutofit/>
          </a:bodyPr>
          <a:lstStyle/>
          <a:p>
            <a:endParaRPr lang="en-US" sz="1600" dirty="0"/>
          </a:p>
          <a:p>
            <a:endParaRPr lang="en-US" sz="1600" dirty="0"/>
          </a:p>
          <a:p>
            <a:endParaRPr lang="en-US" sz="1600" dirty="0"/>
          </a:p>
          <a:p>
            <a:endParaRPr lang="en-US" sz="1600" dirty="0"/>
          </a:p>
          <a:p>
            <a:r>
              <a:rPr lang="en-US" sz="1600" dirty="0"/>
              <a:t>Documents in the application</a:t>
            </a:r>
          </a:p>
          <a:p>
            <a:r>
              <a:rPr lang="en-US" sz="1600" dirty="0"/>
              <a:t>Documents in the database</a:t>
            </a:r>
          </a:p>
          <a:p>
            <a:r>
              <a:rPr lang="en-US" sz="1600" dirty="0"/>
              <a:t>No object middle tier</a:t>
            </a:r>
          </a:p>
          <a:p>
            <a:r>
              <a:rPr lang="en-US" sz="1600" dirty="0"/>
              <a:t>No “shredding”</a:t>
            </a:r>
          </a:p>
          <a:p>
            <a:r>
              <a:rPr lang="en-US" sz="1600" dirty="0"/>
              <a:t>Simple</a:t>
            </a:r>
          </a:p>
        </p:txBody>
      </p:sp>
      <p:sp>
        <p:nvSpPr>
          <p:cNvPr id="5" name="Footer Placeholder 4"/>
          <p:cNvSpPr>
            <a:spLocks noGrp="1"/>
          </p:cNvSpPr>
          <p:nvPr>
            <p:ph type="ftr" sz="quarter" idx="11"/>
          </p:nvPr>
        </p:nvSpPr>
        <p:spPr/>
        <p:txBody>
          <a:bodyPr/>
          <a:lstStyle/>
          <a:p>
            <a:r>
              <a:rPr lang="en-US" dirty="0"/>
              <a:t>http://</a:t>
            </a:r>
            <a:r>
              <a:rPr lang="en-US" dirty="0" err="1"/>
              <a:t>www.slideshare.net</a:t>
            </a:r>
            <a:r>
              <a:rPr lang="en-US" dirty="0"/>
              <a:t>/</a:t>
            </a:r>
            <a:r>
              <a:rPr lang="en-US" dirty="0" err="1"/>
              <a:t>Dataversity</a:t>
            </a:r>
            <a:r>
              <a:rPr lang="en-US" dirty="0"/>
              <a:t>/nosql-now-nosql-architecture-patterns-23589170</a:t>
            </a:r>
          </a:p>
        </p:txBody>
      </p:sp>
      <p:sp>
        <p:nvSpPr>
          <p:cNvPr id="6" name="Slide Number Placeholder 5"/>
          <p:cNvSpPr>
            <a:spLocks noGrp="1"/>
          </p:cNvSpPr>
          <p:nvPr>
            <p:ph type="sldNum" sz="quarter" idx="12"/>
          </p:nvPr>
        </p:nvSpPr>
        <p:spPr/>
        <p:txBody>
          <a:bodyPr/>
          <a:lstStyle/>
          <a:p>
            <a:fld id="{DD44E5C5-9508-7C47-A2BD-9789A2991986}" type="slidenum">
              <a:rPr lang="en-US" smtClean="0"/>
              <a:t>20</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1449" y="2610212"/>
            <a:ext cx="3769360" cy="1347452"/>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4721" y="2610212"/>
            <a:ext cx="3962400" cy="1290320"/>
          </a:xfrm>
          <a:prstGeom prst="rect">
            <a:avLst/>
          </a:prstGeom>
        </p:spPr>
      </p:pic>
    </p:spTree>
    <p:extLst>
      <p:ext uri="{BB962C8B-B14F-4D97-AF65-F5344CB8AC3E}">
        <p14:creationId xmlns:p14="http://schemas.microsoft.com/office/powerpoint/2010/main" val="2050211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NoSQL pros and cons</a:t>
            </a:r>
          </a:p>
        </p:txBody>
      </p:sp>
      <p:sp>
        <p:nvSpPr>
          <p:cNvPr id="6" name="Text Placeholder 5"/>
          <p:cNvSpPr>
            <a:spLocks noGrp="1"/>
          </p:cNvSpPr>
          <p:nvPr>
            <p:ph type="body" idx="1"/>
          </p:nvPr>
        </p:nvSpPr>
        <p:spPr/>
        <p:txBody>
          <a:bodyPr/>
          <a:lstStyle/>
          <a:p>
            <a:r>
              <a:rPr lang="en-US" dirty="0"/>
              <a:t>Pros</a:t>
            </a:r>
          </a:p>
        </p:txBody>
      </p:sp>
      <p:sp>
        <p:nvSpPr>
          <p:cNvPr id="7" name="Content Placeholder 6"/>
          <p:cNvSpPr>
            <a:spLocks noGrp="1"/>
          </p:cNvSpPr>
          <p:nvPr>
            <p:ph sz="half" idx="2"/>
          </p:nvPr>
        </p:nvSpPr>
        <p:spPr/>
        <p:txBody>
          <a:bodyPr/>
          <a:lstStyle/>
          <a:p>
            <a:r>
              <a:rPr lang="en-US" dirty="0"/>
              <a:t>High scalability </a:t>
            </a:r>
          </a:p>
          <a:p>
            <a:r>
              <a:rPr lang="en-US" dirty="0"/>
              <a:t>Distributed Computing</a:t>
            </a:r>
          </a:p>
          <a:p>
            <a:r>
              <a:rPr lang="en-US" dirty="0"/>
              <a:t>Lower cost</a:t>
            </a:r>
          </a:p>
          <a:p>
            <a:r>
              <a:rPr lang="en-US" dirty="0"/>
              <a:t>Schema flexibility</a:t>
            </a:r>
          </a:p>
          <a:p>
            <a:r>
              <a:rPr lang="en-US" dirty="0"/>
              <a:t>Un/semi-structured data</a:t>
            </a:r>
          </a:p>
          <a:p>
            <a:r>
              <a:rPr lang="en-US" dirty="0"/>
              <a:t>No complex relationships</a:t>
            </a:r>
          </a:p>
          <a:p>
            <a:r>
              <a:rPr lang="en-US" dirty="0"/>
              <a:t>No join operations</a:t>
            </a:r>
          </a:p>
        </p:txBody>
      </p:sp>
      <p:sp>
        <p:nvSpPr>
          <p:cNvPr id="8" name="Text Placeholder 7"/>
          <p:cNvSpPr>
            <a:spLocks noGrp="1"/>
          </p:cNvSpPr>
          <p:nvPr>
            <p:ph type="body" sz="quarter" idx="3"/>
          </p:nvPr>
        </p:nvSpPr>
        <p:spPr/>
        <p:txBody>
          <a:bodyPr/>
          <a:lstStyle/>
          <a:p>
            <a:r>
              <a:rPr lang="en-US" dirty="0"/>
              <a:t>Cons</a:t>
            </a:r>
          </a:p>
        </p:txBody>
      </p:sp>
      <p:sp>
        <p:nvSpPr>
          <p:cNvPr id="9" name="Content Placeholder 8"/>
          <p:cNvSpPr>
            <a:spLocks noGrp="1"/>
          </p:cNvSpPr>
          <p:nvPr>
            <p:ph sz="quarter" idx="4"/>
          </p:nvPr>
        </p:nvSpPr>
        <p:spPr/>
        <p:txBody>
          <a:bodyPr/>
          <a:lstStyle/>
          <a:p>
            <a:r>
              <a:rPr lang="en-US" dirty="0"/>
              <a:t>No standardization</a:t>
            </a:r>
          </a:p>
          <a:p>
            <a:r>
              <a:rPr lang="en-US" dirty="0"/>
              <a:t>Limited query capabilities (so far)</a:t>
            </a:r>
          </a:p>
        </p:txBody>
      </p:sp>
      <p:sp>
        <p:nvSpPr>
          <p:cNvPr id="5" name="Footer Placeholder 4"/>
          <p:cNvSpPr>
            <a:spLocks noGrp="1"/>
          </p:cNvSpPr>
          <p:nvPr>
            <p:ph type="ftr" sz="quarter" idx="11"/>
          </p:nvPr>
        </p:nvSpPr>
        <p:spPr/>
        <p:txBody>
          <a:bodyPr/>
          <a:lstStyle/>
          <a:p>
            <a:r>
              <a:rPr lang="en-US"/>
              <a:t>http://www.3pillarglobal.com/insights/short-history-databases-rdbms-nosql-beyond</a:t>
            </a:r>
          </a:p>
        </p:txBody>
      </p:sp>
      <p:sp>
        <p:nvSpPr>
          <p:cNvPr id="4" name="Slide Number Placeholder 3"/>
          <p:cNvSpPr>
            <a:spLocks noGrp="1"/>
          </p:cNvSpPr>
          <p:nvPr>
            <p:ph type="sldNum" sz="quarter" idx="12"/>
          </p:nvPr>
        </p:nvSpPr>
        <p:spPr/>
        <p:txBody>
          <a:bodyPr/>
          <a:lstStyle/>
          <a:p>
            <a:fld id="{DD44E5C5-9508-7C47-A2BD-9789A2991986}" type="slidenum">
              <a:rPr lang="en-US" smtClean="0"/>
              <a:t>21</a:t>
            </a:fld>
            <a:endParaRPr lang="en-US"/>
          </a:p>
        </p:txBody>
      </p:sp>
    </p:spTree>
    <p:extLst>
      <p:ext uri="{BB962C8B-B14F-4D97-AF65-F5344CB8AC3E}">
        <p14:creationId xmlns:p14="http://schemas.microsoft.com/office/powerpoint/2010/main" val="1948377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t>
            </a:r>
            <a:r>
              <a:rPr lang="en-US" dirty="0" err="1"/>
              <a:t>MongoDB</a:t>
            </a:r>
            <a:r>
              <a:rPr lang="en-US" dirty="0"/>
              <a:t>?</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a:t>Document-oriented database</a:t>
            </a:r>
          </a:p>
          <a:p>
            <a:pPr lvl="1"/>
            <a:r>
              <a:rPr lang="en-US" dirty="0"/>
              <a:t>Uses JSON (BSON actually)</a:t>
            </a:r>
          </a:p>
          <a:p>
            <a:r>
              <a:rPr lang="en-US" dirty="0"/>
              <a:t>Schema-free</a:t>
            </a:r>
          </a:p>
          <a:p>
            <a:r>
              <a:rPr lang="en-US" dirty="0"/>
              <a:t>Performant</a:t>
            </a:r>
          </a:p>
          <a:p>
            <a:pPr lvl="1"/>
            <a:r>
              <a:rPr lang="en-US" dirty="0"/>
              <a:t>Written in C++</a:t>
            </a:r>
          </a:p>
          <a:p>
            <a:pPr lvl="1"/>
            <a:r>
              <a:rPr lang="en-US" dirty="0"/>
              <a:t>Full index support</a:t>
            </a:r>
          </a:p>
          <a:p>
            <a:pPr lvl="1"/>
            <a:r>
              <a:rPr lang="en-US" dirty="0"/>
              <a:t>No transactions (has atomic operation)</a:t>
            </a:r>
          </a:p>
          <a:p>
            <a:pPr lvl="1"/>
            <a:r>
              <a:rPr lang="en-US" dirty="0"/>
              <a:t>Memory-mapped files(delayed writes)</a:t>
            </a:r>
          </a:p>
          <a:p>
            <a:r>
              <a:rPr lang="en-US" dirty="0"/>
              <a:t>Scalable</a:t>
            </a:r>
          </a:p>
          <a:p>
            <a:pPr lvl="1"/>
            <a:r>
              <a:rPr lang="en-US" dirty="0"/>
              <a:t>Replication</a:t>
            </a:r>
          </a:p>
          <a:p>
            <a:pPr lvl="1"/>
            <a:r>
              <a:rPr lang="en-US" dirty="0"/>
              <a:t>Auto </a:t>
            </a:r>
            <a:r>
              <a:rPr lang="en-US" dirty="0" err="1"/>
              <a:t>Sharding</a:t>
            </a:r>
            <a:endParaRPr lang="en-US" dirty="0"/>
          </a:p>
          <a:p>
            <a:r>
              <a:rPr lang="en-US" dirty="0"/>
              <a:t>Commercially Supported</a:t>
            </a:r>
          </a:p>
          <a:p>
            <a:pPr lvl="1"/>
            <a:endParaRPr lang="en-US" dirty="0"/>
          </a:p>
          <a:p>
            <a:pPr lvl="1"/>
            <a:endParaRPr lang="en-US" dirty="0"/>
          </a:p>
        </p:txBody>
      </p:sp>
      <p:sp>
        <p:nvSpPr>
          <p:cNvPr id="4" name="Footer Placeholder 3"/>
          <p:cNvSpPr>
            <a:spLocks noGrp="1"/>
          </p:cNvSpPr>
          <p:nvPr>
            <p:ph type="ftr" sz="quarter" idx="11"/>
          </p:nvPr>
        </p:nvSpPr>
        <p:spPr/>
        <p:txBody>
          <a:bodyPr/>
          <a:lstStyle/>
          <a:p>
            <a:r>
              <a:rPr lang="en-US"/>
              <a:t>http://www.slideshare.net/ChrisEdwards357/updated-introduction-to-mongodb?qid=03b2845e-0dbc-455e-b6aa-02fac97dd646&amp;v=qf1&amp;b=&amp;from_search=10</a:t>
            </a:r>
          </a:p>
        </p:txBody>
      </p:sp>
      <p:sp>
        <p:nvSpPr>
          <p:cNvPr id="5" name="Slide Number Placeholder 4"/>
          <p:cNvSpPr>
            <a:spLocks noGrp="1"/>
          </p:cNvSpPr>
          <p:nvPr>
            <p:ph type="sldNum" sz="quarter" idx="12"/>
          </p:nvPr>
        </p:nvSpPr>
        <p:spPr/>
        <p:txBody>
          <a:bodyPr/>
          <a:lstStyle/>
          <a:p>
            <a:fld id="{DD44E5C5-9508-7C47-A2BD-9789A2991986}" type="slidenum">
              <a:rPr lang="en-US" smtClean="0"/>
              <a:t>22</a:t>
            </a:fld>
            <a:endParaRPr lang="en-US"/>
          </a:p>
        </p:txBody>
      </p:sp>
    </p:spTree>
    <p:extLst>
      <p:ext uri="{BB962C8B-B14F-4D97-AF65-F5344CB8AC3E}">
        <p14:creationId xmlns:p14="http://schemas.microsoft.com/office/powerpoint/2010/main" val="929783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Features of </a:t>
            </a:r>
            <a:r>
              <a:rPr lang="en-US" dirty="0" err="1"/>
              <a:t>MongoDB</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Fast, Iterative Development:</a:t>
            </a:r>
            <a:r>
              <a:rPr lang="en-US" dirty="0"/>
              <a:t> A flexible </a:t>
            </a:r>
            <a:r>
              <a:rPr lang="en-US" b="1" dirty="0"/>
              <a:t>data model </a:t>
            </a:r>
            <a:r>
              <a:rPr lang="en-US" dirty="0"/>
              <a:t>coupled with </a:t>
            </a:r>
            <a:r>
              <a:rPr lang="en-US" b="1" dirty="0"/>
              <a:t>dynamic schema and idiomatic drivers</a:t>
            </a:r>
            <a:r>
              <a:rPr lang="en-US" dirty="0"/>
              <a:t> make it fast for developers to build and evolve applications. </a:t>
            </a:r>
          </a:p>
          <a:p>
            <a:r>
              <a:rPr lang="en-US" b="1" dirty="0"/>
              <a:t>Flexible Data Model: </a:t>
            </a:r>
            <a:r>
              <a:rPr lang="en-US" dirty="0" err="1"/>
              <a:t>MongoDB's</a:t>
            </a:r>
            <a:r>
              <a:rPr lang="en-US" dirty="0"/>
              <a:t> </a:t>
            </a:r>
            <a:r>
              <a:rPr lang="en-US" b="1" dirty="0"/>
              <a:t>document data model </a:t>
            </a:r>
            <a:r>
              <a:rPr lang="en-US" dirty="0"/>
              <a:t>makes it easy for you to store and combine data of any structure, without giving up </a:t>
            </a:r>
            <a:r>
              <a:rPr lang="en-US" b="1" dirty="0"/>
              <a:t>sophisticated data access and rich indexing functionality</a:t>
            </a:r>
            <a:r>
              <a:rPr lang="en-US" dirty="0"/>
              <a:t>.</a:t>
            </a:r>
          </a:p>
          <a:p>
            <a:r>
              <a:rPr lang="en-US" b="1" dirty="0"/>
              <a:t>Pluggable Storage Architecture: </a:t>
            </a:r>
            <a:r>
              <a:rPr lang="en-US" dirty="0"/>
              <a:t>Users can leverage the same </a:t>
            </a:r>
            <a:r>
              <a:rPr lang="en-US" dirty="0" err="1"/>
              <a:t>MongoDB</a:t>
            </a:r>
            <a:r>
              <a:rPr lang="en-US" dirty="0"/>
              <a:t> </a:t>
            </a:r>
            <a:r>
              <a:rPr lang="en-US" b="1" dirty="0"/>
              <a:t>query language, data model, scaling, security and operational tooling </a:t>
            </a:r>
            <a:r>
              <a:rPr lang="en-US" dirty="0"/>
              <a:t>across different applications, each powered by different </a:t>
            </a:r>
            <a:r>
              <a:rPr lang="en-US" b="1" dirty="0"/>
              <a:t>pluggable </a:t>
            </a:r>
            <a:r>
              <a:rPr lang="en-US" b="1" dirty="0" err="1"/>
              <a:t>MongoDB</a:t>
            </a:r>
            <a:r>
              <a:rPr lang="en-US" b="1" dirty="0"/>
              <a:t> storage engines</a:t>
            </a:r>
            <a:r>
              <a:rPr lang="en-US" dirty="0"/>
              <a:t>. </a:t>
            </a:r>
          </a:p>
          <a:p>
            <a:r>
              <a:rPr lang="en-US" b="1" dirty="0"/>
              <a:t>Multi-Datacenter Scalability: </a:t>
            </a:r>
            <a:r>
              <a:rPr lang="en-US" dirty="0" err="1"/>
              <a:t>MongoDB</a:t>
            </a:r>
            <a:r>
              <a:rPr lang="en-US" dirty="0"/>
              <a:t> can be </a:t>
            </a:r>
            <a:r>
              <a:rPr lang="en-US" b="1" dirty="0"/>
              <a:t>scaled</a:t>
            </a:r>
            <a:r>
              <a:rPr lang="en-US" dirty="0"/>
              <a:t> within and across </a:t>
            </a:r>
            <a:r>
              <a:rPr lang="en-US" b="1" dirty="0"/>
              <a:t>multiple distributed data centers</a:t>
            </a:r>
            <a:r>
              <a:rPr lang="en-US" dirty="0"/>
              <a:t>, providing new levels of availability and scalability. </a:t>
            </a:r>
          </a:p>
          <a:p>
            <a:r>
              <a:rPr lang="en-US" b="1" dirty="0"/>
              <a:t>Integrated Feature Set: </a:t>
            </a:r>
            <a:r>
              <a:rPr lang="en-US" dirty="0"/>
              <a:t>Analytics, text search, </a:t>
            </a:r>
            <a:r>
              <a:rPr lang="en-US" b="1" dirty="0"/>
              <a:t>geospatial</a:t>
            </a:r>
            <a:r>
              <a:rPr lang="en-US" dirty="0"/>
              <a:t>, in-memory performance and </a:t>
            </a:r>
            <a:r>
              <a:rPr lang="en-US" b="1" dirty="0"/>
              <a:t>global</a:t>
            </a:r>
            <a:r>
              <a:rPr lang="en-US" dirty="0"/>
              <a:t> </a:t>
            </a:r>
            <a:r>
              <a:rPr lang="en-US" b="1" dirty="0"/>
              <a:t>replication</a:t>
            </a:r>
            <a:r>
              <a:rPr lang="en-US" dirty="0"/>
              <a:t> allow you to deliver a wide variety of real-time applications on one technology, reliably and securely.</a:t>
            </a:r>
          </a:p>
          <a:p>
            <a:r>
              <a:rPr lang="en-US" b="1" dirty="0"/>
              <a:t>Lower TCO: </a:t>
            </a:r>
            <a:r>
              <a:rPr lang="en-US" dirty="0" err="1"/>
              <a:t>MongoDB</a:t>
            </a:r>
            <a:r>
              <a:rPr lang="en-US" dirty="0"/>
              <a:t> runs on </a:t>
            </a:r>
            <a:r>
              <a:rPr lang="en-US" b="1" dirty="0"/>
              <a:t>commodity hardware</a:t>
            </a:r>
            <a:r>
              <a:rPr lang="en-US" dirty="0"/>
              <a:t>, dramatically </a:t>
            </a:r>
            <a:r>
              <a:rPr lang="en-US" b="1" dirty="0"/>
              <a:t>lowering</a:t>
            </a:r>
            <a:r>
              <a:rPr lang="en-US" dirty="0"/>
              <a:t> </a:t>
            </a:r>
            <a:r>
              <a:rPr lang="en-US" b="1" dirty="0"/>
              <a:t>costs</a:t>
            </a:r>
            <a:r>
              <a:rPr lang="en-US" dirty="0"/>
              <a:t>.</a:t>
            </a:r>
          </a:p>
          <a:p>
            <a:r>
              <a:rPr lang="en-US" b="1" dirty="0"/>
              <a:t>Long-Term Commitment: </a:t>
            </a:r>
            <a:r>
              <a:rPr lang="en-US" dirty="0" err="1"/>
              <a:t>MongoDB</a:t>
            </a:r>
            <a:r>
              <a:rPr lang="en-US" dirty="0"/>
              <a:t> </a:t>
            </a:r>
            <a:r>
              <a:rPr lang="en-US" dirty="0" err="1"/>
              <a:t>Inc</a:t>
            </a:r>
            <a:r>
              <a:rPr lang="en-US" dirty="0"/>
              <a:t> and the </a:t>
            </a:r>
            <a:r>
              <a:rPr lang="en-US" dirty="0" err="1"/>
              <a:t>MongoDB</a:t>
            </a:r>
            <a:r>
              <a:rPr lang="en-US" dirty="0"/>
              <a:t> ecosystem stand behind the world's fastest-growing database. 10M+ downloads. 2,000+ customers including more than 1/3rd of the Fortune 100. 1,000+ partners. </a:t>
            </a:r>
          </a:p>
          <a:p>
            <a:endParaRPr lang="en-US" dirty="0"/>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23</a:t>
            </a:fld>
            <a:endParaRPr lang="en-US"/>
          </a:p>
        </p:txBody>
      </p:sp>
    </p:spTree>
    <p:extLst>
      <p:ext uri="{BB962C8B-B14F-4D97-AF65-F5344CB8AC3E}">
        <p14:creationId xmlns:p14="http://schemas.microsoft.com/office/powerpoint/2010/main" val="495842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Nexus Architecture</a:t>
            </a:r>
            <a:br>
              <a:rPr lang="en-US" dirty="0"/>
            </a:br>
            <a:endParaRPr lang="en-US" dirty="0"/>
          </a:p>
        </p:txBody>
      </p:sp>
      <p:sp>
        <p:nvSpPr>
          <p:cNvPr id="3" name="Content Placeholder 2"/>
          <p:cNvSpPr>
            <a:spLocks noGrp="1"/>
          </p:cNvSpPr>
          <p:nvPr>
            <p:ph idx="1"/>
          </p:nvPr>
        </p:nvSpPr>
        <p:spPr/>
        <p:txBody>
          <a:bodyPr/>
          <a:lstStyle/>
          <a:p>
            <a:r>
              <a:rPr lang="en-US" dirty="0" err="1"/>
              <a:t>MongoDB’s</a:t>
            </a:r>
            <a:r>
              <a:rPr lang="en-US" dirty="0"/>
              <a:t> design philosophy is focused on combining</a:t>
            </a:r>
          </a:p>
          <a:p>
            <a:pPr lvl="1"/>
            <a:r>
              <a:rPr lang="en-US" dirty="0"/>
              <a:t>the critical capabilities of relational databases</a:t>
            </a:r>
          </a:p>
          <a:p>
            <a:pPr lvl="1"/>
            <a:r>
              <a:rPr lang="en-US" dirty="0"/>
              <a:t>the innovations of NoSQL technologies</a:t>
            </a:r>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24</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0492" y="3577582"/>
            <a:ext cx="4325619" cy="2320237"/>
          </a:xfrm>
          <a:prstGeom prst="rect">
            <a:avLst/>
          </a:prstGeom>
        </p:spPr>
      </p:pic>
    </p:spTree>
    <p:extLst>
      <p:ext uri="{BB962C8B-B14F-4D97-AF65-F5344CB8AC3E}">
        <p14:creationId xmlns:p14="http://schemas.microsoft.com/office/powerpoint/2010/main" val="588256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Nexus Architecture</a:t>
            </a:r>
            <a:br>
              <a:rPr lang="en-US" dirty="0"/>
            </a:br>
            <a:endParaRPr lang="en-US" dirty="0"/>
          </a:p>
        </p:txBody>
      </p:sp>
      <p:sp>
        <p:nvSpPr>
          <p:cNvPr id="6" name="Text Placeholder 5"/>
          <p:cNvSpPr>
            <a:spLocks noGrp="1"/>
          </p:cNvSpPr>
          <p:nvPr>
            <p:ph type="body" idx="1"/>
          </p:nvPr>
        </p:nvSpPr>
        <p:spPr/>
        <p:txBody>
          <a:bodyPr/>
          <a:lstStyle/>
          <a:p>
            <a:r>
              <a:rPr lang="en-US" dirty="0"/>
              <a:t>Relational Database</a:t>
            </a:r>
          </a:p>
        </p:txBody>
      </p:sp>
      <p:sp>
        <p:nvSpPr>
          <p:cNvPr id="7" name="Content Placeholder 6"/>
          <p:cNvSpPr>
            <a:spLocks noGrp="1"/>
          </p:cNvSpPr>
          <p:nvPr>
            <p:ph sz="half" idx="2"/>
          </p:nvPr>
        </p:nvSpPr>
        <p:spPr/>
        <p:txBody>
          <a:bodyPr/>
          <a:lstStyle/>
          <a:p>
            <a:r>
              <a:rPr lang="en-US" dirty="0"/>
              <a:t>Expressive query language</a:t>
            </a:r>
          </a:p>
          <a:p>
            <a:r>
              <a:rPr lang="en-US" dirty="0"/>
              <a:t>Secondary indexes</a:t>
            </a:r>
          </a:p>
          <a:p>
            <a:r>
              <a:rPr lang="en-US" dirty="0"/>
              <a:t>Strong consistency</a:t>
            </a:r>
          </a:p>
        </p:txBody>
      </p:sp>
      <p:sp>
        <p:nvSpPr>
          <p:cNvPr id="8" name="Text Placeholder 7"/>
          <p:cNvSpPr>
            <a:spLocks noGrp="1"/>
          </p:cNvSpPr>
          <p:nvPr>
            <p:ph type="body" sz="quarter" idx="3"/>
          </p:nvPr>
        </p:nvSpPr>
        <p:spPr/>
        <p:txBody>
          <a:bodyPr/>
          <a:lstStyle/>
          <a:p>
            <a:r>
              <a:rPr lang="en-US" dirty="0"/>
              <a:t>NoSQL</a:t>
            </a:r>
          </a:p>
        </p:txBody>
      </p:sp>
      <p:sp>
        <p:nvSpPr>
          <p:cNvPr id="9" name="Content Placeholder 8"/>
          <p:cNvSpPr>
            <a:spLocks noGrp="1"/>
          </p:cNvSpPr>
          <p:nvPr>
            <p:ph sz="quarter" idx="4"/>
          </p:nvPr>
        </p:nvSpPr>
        <p:spPr/>
        <p:txBody>
          <a:bodyPr/>
          <a:lstStyle/>
          <a:p>
            <a:r>
              <a:rPr lang="en-US" dirty="0"/>
              <a:t>Flexible Data Model</a:t>
            </a:r>
          </a:p>
          <a:p>
            <a:r>
              <a:rPr lang="en-US" dirty="0"/>
              <a:t>Elastic Scalability</a:t>
            </a:r>
          </a:p>
          <a:p>
            <a:r>
              <a:rPr lang="en-US" dirty="0"/>
              <a:t>High Performance</a:t>
            </a:r>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25</a:t>
            </a:fld>
            <a:endParaRPr lang="en-US"/>
          </a:p>
        </p:txBody>
      </p:sp>
    </p:spTree>
    <p:extLst>
      <p:ext uri="{BB962C8B-B14F-4D97-AF65-F5344CB8AC3E}">
        <p14:creationId xmlns:p14="http://schemas.microsoft.com/office/powerpoint/2010/main" val="2049255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Data Model</a:t>
            </a:r>
            <a:br>
              <a:rPr lang="en-US" dirty="0"/>
            </a:br>
            <a:endParaRPr lang="en-US" dirty="0"/>
          </a:p>
        </p:txBody>
      </p:sp>
      <p:sp>
        <p:nvSpPr>
          <p:cNvPr id="3" name="Content Placeholder 2"/>
          <p:cNvSpPr>
            <a:spLocks noGrp="1"/>
          </p:cNvSpPr>
          <p:nvPr>
            <p:ph sz="half" idx="1"/>
          </p:nvPr>
        </p:nvSpPr>
        <p:spPr>
          <a:xfrm>
            <a:off x="2589211" y="2133600"/>
            <a:ext cx="4601535" cy="3777622"/>
          </a:xfrm>
        </p:spPr>
        <p:txBody>
          <a:bodyPr>
            <a:normAutofit/>
          </a:bodyPr>
          <a:lstStyle/>
          <a:p>
            <a:r>
              <a:rPr lang="en-US" sz="1600" dirty="0"/>
              <a:t>Data As Documents 	</a:t>
            </a:r>
          </a:p>
          <a:p>
            <a:pPr lvl="1"/>
            <a:r>
              <a:rPr lang="en-US" sz="1400" dirty="0" err="1">
                <a:solidFill>
                  <a:schemeClr val="tx1"/>
                </a:solidFill>
              </a:rPr>
              <a:t>MongoDB</a:t>
            </a:r>
            <a:r>
              <a:rPr lang="en-US" sz="1400" dirty="0">
                <a:solidFill>
                  <a:schemeClr val="tx1"/>
                </a:solidFill>
              </a:rPr>
              <a:t> stores data as documents in a binary representation called </a:t>
            </a:r>
            <a:r>
              <a:rPr lang="en-US" sz="1400" b="1" dirty="0">
                <a:solidFill>
                  <a:schemeClr val="tx1"/>
                </a:solidFill>
              </a:rPr>
              <a:t>BSON</a:t>
            </a:r>
            <a:r>
              <a:rPr lang="en-US" sz="1400" dirty="0">
                <a:solidFill>
                  <a:schemeClr val="tx1"/>
                </a:solidFill>
              </a:rPr>
              <a:t> (Binary JSON). </a:t>
            </a:r>
          </a:p>
          <a:p>
            <a:pPr lvl="1"/>
            <a:r>
              <a:rPr lang="en-US" sz="1400" dirty="0">
                <a:solidFill>
                  <a:schemeClr val="tx1"/>
                </a:solidFill>
              </a:rPr>
              <a:t>BSON documents contain one or more </a:t>
            </a:r>
            <a:r>
              <a:rPr lang="en-US" sz="1400" b="1" dirty="0">
                <a:solidFill>
                  <a:schemeClr val="tx1"/>
                </a:solidFill>
              </a:rPr>
              <a:t>fields</a:t>
            </a:r>
            <a:r>
              <a:rPr lang="en-US" sz="1400" dirty="0">
                <a:solidFill>
                  <a:schemeClr val="tx1"/>
                </a:solidFill>
              </a:rPr>
              <a:t>, and each field contains a value of a </a:t>
            </a:r>
            <a:r>
              <a:rPr lang="en-US" sz="1400" b="1" dirty="0">
                <a:solidFill>
                  <a:schemeClr val="tx1"/>
                </a:solidFill>
              </a:rPr>
              <a:t>specific data type</a:t>
            </a:r>
            <a:r>
              <a:rPr lang="en-US" sz="1400" dirty="0">
                <a:solidFill>
                  <a:schemeClr val="tx1"/>
                </a:solidFill>
              </a:rPr>
              <a:t>, including arrays, binary data and sub-documents.</a:t>
            </a:r>
          </a:p>
          <a:p>
            <a:pPr lvl="1"/>
            <a:r>
              <a:rPr lang="en-US" sz="1400" dirty="0">
                <a:solidFill>
                  <a:schemeClr val="tx1"/>
                </a:solidFill>
              </a:rPr>
              <a:t> Documents that tend to share a </a:t>
            </a:r>
            <a:r>
              <a:rPr lang="en-US" sz="1400" b="1" dirty="0">
                <a:solidFill>
                  <a:schemeClr val="tx1"/>
                </a:solidFill>
              </a:rPr>
              <a:t>similar</a:t>
            </a:r>
            <a:r>
              <a:rPr lang="en-US" sz="1400" dirty="0">
                <a:solidFill>
                  <a:schemeClr val="tx1"/>
                </a:solidFill>
              </a:rPr>
              <a:t> </a:t>
            </a:r>
            <a:r>
              <a:rPr lang="en-US" sz="1400" b="1" dirty="0">
                <a:solidFill>
                  <a:schemeClr val="tx1"/>
                </a:solidFill>
              </a:rPr>
              <a:t>structure</a:t>
            </a:r>
            <a:r>
              <a:rPr lang="en-US" sz="1400" dirty="0">
                <a:solidFill>
                  <a:schemeClr val="tx1"/>
                </a:solidFill>
              </a:rPr>
              <a:t> are organized as </a:t>
            </a:r>
            <a:r>
              <a:rPr lang="en-US" sz="1400" b="1" dirty="0">
                <a:solidFill>
                  <a:schemeClr val="tx1"/>
                </a:solidFill>
              </a:rPr>
              <a:t>collections</a:t>
            </a:r>
            <a:r>
              <a:rPr lang="en-US" sz="1400" dirty="0"/>
              <a:t>.</a:t>
            </a:r>
          </a:p>
          <a:p>
            <a:pPr marL="457200" lvl="1" indent="0">
              <a:buNone/>
            </a:pPr>
            <a:r>
              <a:rPr lang="en-US" dirty="0"/>
              <a:t>	</a:t>
            </a:r>
          </a:p>
          <a:p>
            <a:pPr marL="0" indent="0">
              <a:buNone/>
            </a:pPr>
            <a:endParaRPr lang="en-US" dirty="0"/>
          </a:p>
        </p:txBody>
      </p:sp>
      <p:sp>
        <p:nvSpPr>
          <p:cNvPr id="8" name="Content Placeholder 7"/>
          <p:cNvSpPr>
            <a:spLocks noGrp="1"/>
          </p:cNvSpPr>
          <p:nvPr>
            <p:ph sz="half" idx="2"/>
          </p:nvPr>
        </p:nvSpPr>
        <p:spPr/>
        <p:txBody>
          <a:bodyPr>
            <a:normAutofit/>
          </a:bodyPr>
          <a:lstStyle/>
          <a:p>
            <a:r>
              <a:rPr lang="en-US" sz="1600" dirty="0"/>
              <a:t>Dynamic Schema</a:t>
            </a:r>
          </a:p>
          <a:p>
            <a:pPr lvl="1"/>
            <a:r>
              <a:rPr lang="en-US" sz="1400" b="1" dirty="0">
                <a:solidFill>
                  <a:schemeClr val="tx1"/>
                </a:solidFill>
              </a:rPr>
              <a:t>Fields</a:t>
            </a:r>
            <a:r>
              <a:rPr lang="en-US" sz="1400" dirty="0">
                <a:solidFill>
                  <a:schemeClr val="tx1"/>
                </a:solidFill>
              </a:rPr>
              <a:t> can vary from document to document.</a:t>
            </a:r>
            <a:endParaRPr lang="en-US" sz="1400" dirty="0"/>
          </a:p>
          <a:p>
            <a:pPr lvl="1"/>
            <a:r>
              <a:rPr lang="en-US" sz="1400" dirty="0">
                <a:solidFill>
                  <a:schemeClr val="tx1"/>
                </a:solidFill>
              </a:rPr>
              <a:t>There is no need to declare the structure of documents to the system – </a:t>
            </a:r>
            <a:r>
              <a:rPr lang="en-US" sz="1400" b="1" dirty="0">
                <a:solidFill>
                  <a:schemeClr val="tx1"/>
                </a:solidFill>
              </a:rPr>
              <a:t>documents are self describing</a:t>
            </a:r>
            <a:r>
              <a:rPr lang="en-US" sz="1400" dirty="0">
                <a:solidFill>
                  <a:schemeClr val="tx1"/>
                </a:solidFill>
              </a:rPr>
              <a:t>.</a:t>
            </a:r>
            <a:endParaRPr lang="en-US" sz="1400" dirty="0"/>
          </a:p>
          <a:p>
            <a:pPr lvl="1"/>
            <a:r>
              <a:rPr lang="en-US" sz="1400" dirty="0" err="1">
                <a:solidFill>
                  <a:schemeClr val="tx1"/>
                </a:solidFill>
              </a:rPr>
              <a:t>MongoDB</a:t>
            </a:r>
            <a:r>
              <a:rPr lang="en-US" sz="1400" dirty="0">
                <a:solidFill>
                  <a:schemeClr val="tx1"/>
                </a:solidFill>
              </a:rPr>
              <a:t> continues to store the </a:t>
            </a:r>
            <a:r>
              <a:rPr lang="en-US" sz="1400" b="1" dirty="0">
                <a:solidFill>
                  <a:schemeClr val="tx1"/>
                </a:solidFill>
              </a:rPr>
              <a:t>updated objects </a:t>
            </a:r>
            <a:r>
              <a:rPr lang="en-US" sz="1400" dirty="0">
                <a:solidFill>
                  <a:schemeClr val="tx1"/>
                </a:solidFill>
              </a:rPr>
              <a:t>without the need for performing costly </a:t>
            </a:r>
            <a:r>
              <a:rPr lang="en-US" sz="1400" b="1" dirty="0">
                <a:solidFill>
                  <a:schemeClr val="tx1"/>
                </a:solidFill>
              </a:rPr>
              <a:t>ALTER_TABLE </a:t>
            </a:r>
            <a:r>
              <a:rPr lang="en-US" sz="1400" dirty="0">
                <a:solidFill>
                  <a:schemeClr val="tx1"/>
                </a:solidFill>
              </a:rPr>
              <a:t>operations</a:t>
            </a:r>
            <a:endParaRPr lang="en-US" sz="1400" dirty="0"/>
          </a:p>
          <a:p>
            <a:r>
              <a:rPr lang="en-US" sz="1600" dirty="0"/>
              <a:t>Schema Design</a:t>
            </a:r>
          </a:p>
          <a:p>
            <a:pPr lvl="1"/>
            <a:r>
              <a:rPr lang="en-US" sz="1400" dirty="0">
                <a:solidFill>
                  <a:schemeClr val="tx1"/>
                </a:solidFill>
              </a:rPr>
              <a:t>Although </a:t>
            </a:r>
            <a:r>
              <a:rPr lang="en-US" sz="1400" dirty="0" err="1">
                <a:solidFill>
                  <a:schemeClr val="tx1"/>
                </a:solidFill>
              </a:rPr>
              <a:t>MongoDB</a:t>
            </a:r>
            <a:r>
              <a:rPr lang="en-US" sz="1400" dirty="0">
                <a:solidFill>
                  <a:schemeClr val="tx1"/>
                </a:solidFill>
              </a:rPr>
              <a:t> provides schema flexibility, schema design is still important</a:t>
            </a:r>
            <a:endParaRPr lang="en-US" sz="1400" dirty="0"/>
          </a:p>
          <a:p>
            <a:endParaRPr lang="en-US" dirty="0"/>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26</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351426360"/>
              </p:ext>
            </p:extLst>
          </p:nvPr>
        </p:nvGraphicFramePr>
        <p:xfrm>
          <a:off x="3129115" y="4871746"/>
          <a:ext cx="3270096" cy="1148080"/>
        </p:xfrm>
        <a:graphic>
          <a:graphicData uri="http://schemas.openxmlformats.org/drawingml/2006/table">
            <a:tbl>
              <a:tblPr firstRow="1" bandRow="1">
                <a:tableStyleId>{5C22544A-7EE6-4342-B048-85BDC9FD1C3A}</a:tableStyleId>
              </a:tblPr>
              <a:tblGrid>
                <a:gridCol w="1635048">
                  <a:extLst>
                    <a:ext uri="{9D8B030D-6E8A-4147-A177-3AD203B41FA5}">
                      <a16:colId xmlns:a16="http://schemas.microsoft.com/office/drawing/2014/main" val="20000"/>
                    </a:ext>
                  </a:extLst>
                </a:gridCol>
                <a:gridCol w="1635048">
                  <a:extLst>
                    <a:ext uri="{9D8B030D-6E8A-4147-A177-3AD203B41FA5}">
                      <a16:colId xmlns:a16="http://schemas.microsoft.com/office/drawing/2014/main" val="20001"/>
                    </a:ext>
                  </a:extLst>
                </a:gridCol>
              </a:tblGrid>
              <a:tr h="325120">
                <a:tc>
                  <a:txBody>
                    <a:bodyPr/>
                    <a:lstStyle/>
                    <a:p>
                      <a:r>
                        <a:rPr lang="en-US" sz="1400" dirty="0"/>
                        <a:t>RDBMS</a:t>
                      </a:r>
                    </a:p>
                  </a:txBody>
                  <a:tcPr/>
                </a:tc>
                <a:tc>
                  <a:txBody>
                    <a:bodyPr/>
                    <a:lstStyle/>
                    <a:p>
                      <a:r>
                        <a:rPr lang="en-US" sz="1400" dirty="0" err="1"/>
                        <a:t>MongoDB</a:t>
                      </a:r>
                      <a:endParaRPr lang="en-US" sz="1400" dirty="0"/>
                    </a:p>
                  </a:txBody>
                  <a:tcPr/>
                </a:tc>
                <a:extLst>
                  <a:ext uri="{0D108BD9-81ED-4DB2-BD59-A6C34878D82A}">
                    <a16:rowId xmlns:a16="http://schemas.microsoft.com/office/drawing/2014/main" val="10000"/>
                  </a:ext>
                </a:extLst>
              </a:tr>
              <a:tr h="244866">
                <a:tc>
                  <a:txBody>
                    <a:bodyPr/>
                    <a:lstStyle/>
                    <a:p>
                      <a:r>
                        <a:rPr lang="en-US" sz="1200" dirty="0"/>
                        <a:t>Table</a:t>
                      </a:r>
                    </a:p>
                  </a:txBody>
                  <a:tcPr/>
                </a:tc>
                <a:tc>
                  <a:txBody>
                    <a:bodyPr/>
                    <a:lstStyle/>
                    <a:p>
                      <a:r>
                        <a:rPr lang="en-US" sz="1200" dirty="0"/>
                        <a:t>Collection</a:t>
                      </a:r>
                    </a:p>
                  </a:txBody>
                  <a:tcPr/>
                </a:tc>
                <a:extLst>
                  <a:ext uri="{0D108BD9-81ED-4DB2-BD59-A6C34878D82A}">
                    <a16:rowId xmlns:a16="http://schemas.microsoft.com/office/drawing/2014/main" val="10001"/>
                  </a:ext>
                </a:extLst>
              </a:tr>
              <a:tr h="244866">
                <a:tc>
                  <a:txBody>
                    <a:bodyPr/>
                    <a:lstStyle/>
                    <a:p>
                      <a:r>
                        <a:rPr lang="en-US" sz="1200" dirty="0"/>
                        <a:t>Row</a:t>
                      </a:r>
                    </a:p>
                  </a:txBody>
                  <a:tcPr/>
                </a:tc>
                <a:tc>
                  <a:txBody>
                    <a:bodyPr/>
                    <a:lstStyle/>
                    <a:p>
                      <a:r>
                        <a:rPr lang="en-US" sz="1200" dirty="0"/>
                        <a:t>Document</a:t>
                      </a:r>
                    </a:p>
                  </a:txBody>
                  <a:tcPr/>
                </a:tc>
                <a:extLst>
                  <a:ext uri="{0D108BD9-81ED-4DB2-BD59-A6C34878D82A}">
                    <a16:rowId xmlns:a16="http://schemas.microsoft.com/office/drawing/2014/main" val="10002"/>
                  </a:ext>
                </a:extLst>
              </a:tr>
              <a:tr h="244866">
                <a:tc>
                  <a:txBody>
                    <a:bodyPr/>
                    <a:lstStyle/>
                    <a:p>
                      <a:r>
                        <a:rPr lang="en-US" sz="1200" dirty="0"/>
                        <a:t>Column</a:t>
                      </a:r>
                    </a:p>
                  </a:txBody>
                  <a:tcPr/>
                </a:tc>
                <a:tc>
                  <a:txBody>
                    <a:bodyPr/>
                    <a:lstStyle/>
                    <a:p>
                      <a:r>
                        <a:rPr lang="en-US" sz="1200" dirty="0"/>
                        <a:t>Field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6878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Data Model for a Blogging Application</a:t>
            </a:r>
          </a:p>
        </p:txBody>
      </p:sp>
      <p:sp>
        <p:nvSpPr>
          <p:cNvPr id="7" name="Text Placeholder 6"/>
          <p:cNvSpPr>
            <a:spLocks noGrp="1"/>
          </p:cNvSpPr>
          <p:nvPr>
            <p:ph type="body" idx="1"/>
          </p:nvPr>
        </p:nvSpPr>
        <p:spPr/>
        <p:txBody>
          <a:bodyPr/>
          <a:lstStyle/>
          <a:p>
            <a:r>
              <a:rPr lang="en-US" dirty="0"/>
              <a:t>Relational Data Model</a:t>
            </a:r>
          </a:p>
        </p:txBody>
      </p:sp>
      <p:pic>
        <p:nvPicPr>
          <p:cNvPr id="11" name="Content Placeholder 10"/>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801706" y="2549525"/>
            <a:ext cx="3918414" cy="3352800"/>
          </a:xfrm>
        </p:spPr>
      </p:pic>
      <p:sp>
        <p:nvSpPr>
          <p:cNvPr id="9" name="Text Placeholder 8"/>
          <p:cNvSpPr>
            <a:spLocks noGrp="1"/>
          </p:cNvSpPr>
          <p:nvPr>
            <p:ph type="body" sz="quarter" idx="3"/>
          </p:nvPr>
        </p:nvSpPr>
        <p:spPr/>
        <p:txBody>
          <a:bodyPr/>
          <a:lstStyle/>
          <a:p>
            <a:r>
              <a:rPr lang="en-US" dirty="0" err="1"/>
              <a:t>MongoDB</a:t>
            </a:r>
            <a:r>
              <a:rPr lang="en-US" dirty="0"/>
              <a:t> Data Model</a:t>
            </a:r>
          </a:p>
        </p:txBody>
      </p:sp>
      <p:pic>
        <p:nvPicPr>
          <p:cNvPr id="12" name="Content Placeholder 11"/>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8001883" y="2546350"/>
            <a:ext cx="2669996" cy="3352800"/>
          </a:xfrm>
        </p:spPr>
      </p:pic>
      <p:sp>
        <p:nvSpPr>
          <p:cNvPr id="5" name="Footer Placeholder 4"/>
          <p:cNvSpPr>
            <a:spLocks noGrp="1"/>
          </p:cNvSpPr>
          <p:nvPr>
            <p:ph type="ftr" sz="quarter" idx="11"/>
          </p:nvPr>
        </p:nvSpPr>
        <p:spPr/>
        <p:txBody>
          <a:bodyPr/>
          <a:lstStyle/>
          <a:p>
            <a:r>
              <a:rPr lang="en-US"/>
              <a:t>https://www.mongodb.com/mongodb-architecture</a:t>
            </a:r>
          </a:p>
        </p:txBody>
      </p:sp>
      <p:sp>
        <p:nvSpPr>
          <p:cNvPr id="6" name="Slide Number Placeholder 5"/>
          <p:cNvSpPr>
            <a:spLocks noGrp="1"/>
          </p:cNvSpPr>
          <p:nvPr>
            <p:ph type="sldNum" sz="quarter" idx="12"/>
          </p:nvPr>
        </p:nvSpPr>
        <p:spPr/>
        <p:txBody>
          <a:bodyPr/>
          <a:lstStyle/>
          <a:p>
            <a:fld id="{DD44E5C5-9508-7C47-A2BD-9789A2991986}" type="slidenum">
              <a:rPr lang="en-US" smtClean="0"/>
              <a:t>27</a:t>
            </a:fld>
            <a:endParaRPr lang="en-US"/>
          </a:p>
        </p:txBody>
      </p:sp>
    </p:spTree>
    <p:extLst>
      <p:ext uri="{BB962C8B-B14F-4D97-AF65-F5344CB8AC3E}">
        <p14:creationId xmlns:p14="http://schemas.microsoft.com/office/powerpoint/2010/main" val="1706790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Query Model</a:t>
            </a:r>
          </a:p>
        </p:txBody>
      </p:sp>
      <p:sp>
        <p:nvSpPr>
          <p:cNvPr id="3" name="Content Placeholder 2"/>
          <p:cNvSpPr>
            <a:spLocks noGrp="1"/>
          </p:cNvSpPr>
          <p:nvPr>
            <p:ph idx="1"/>
          </p:nvPr>
        </p:nvSpPr>
        <p:spPr/>
        <p:txBody>
          <a:bodyPr/>
          <a:lstStyle/>
          <a:p>
            <a:r>
              <a:rPr lang="en-US" dirty="0"/>
              <a:t>Idiomatic Drivers</a:t>
            </a:r>
          </a:p>
          <a:p>
            <a:r>
              <a:rPr lang="en-US" dirty="0"/>
              <a:t>Query types</a:t>
            </a:r>
          </a:p>
          <a:p>
            <a:r>
              <a:rPr lang="en-US" dirty="0"/>
              <a:t>Indexing</a:t>
            </a:r>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28</a:t>
            </a:fld>
            <a:endParaRPr lang="en-US"/>
          </a:p>
        </p:txBody>
      </p:sp>
    </p:spTree>
    <p:extLst>
      <p:ext uri="{BB962C8B-B14F-4D97-AF65-F5344CB8AC3E}">
        <p14:creationId xmlns:p14="http://schemas.microsoft.com/office/powerpoint/2010/main" val="669635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Idiomatic Drivers</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err="1"/>
              <a:t>MongoDB</a:t>
            </a:r>
            <a:r>
              <a:rPr lang="en-US" dirty="0"/>
              <a:t> provides </a:t>
            </a:r>
            <a:r>
              <a:rPr lang="en-US" b="1" dirty="0"/>
              <a:t>native drivers </a:t>
            </a:r>
            <a:r>
              <a:rPr lang="en-US" dirty="0"/>
              <a:t>for </a:t>
            </a:r>
            <a:r>
              <a:rPr lang="en-US" b="1" dirty="0"/>
              <a:t>all popular programming languages </a:t>
            </a:r>
            <a:r>
              <a:rPr lang="en-US" dirty="0"/>
              <a:t>and frameworks to make development natural.</a:t>
            </a:r>
          </a:p>
          <a:p>
            <a:r>
              <a:rPr lang="en-US" dirty="0"/>
              <a:t>Supported drivers include</a:t>
            </a:r>
          </a:p>
          <a:p>
            <a:pPr lvl="1"/>
            <a:r>
              <a:rPr lang="en-US" b="1" dirty="0"/>
              <a:t>Java </a:t>
            </a:r>
          </a:p>
          <a:p>
            <a:pPr lvl="1"/>
            <a:r>
              <a:rPr lang="en-US" dirty="0"/>
              <a:t>.NET </a:t>
            </a:r>
          </a:p>
          <a:p>
            <a:pPr lvl="1"/>
            <a:r>
              <a:rPr lang="en-US" dirty="0"/>
              <a:t>Ruby</a:t>
            </a:r>
          </a:p>
          <a:p>
            <a:pPr lvl="1"/>
            <a:r>
              <a:rPr lang="en-US" dirty="0"/>
              <a:t>PHP</a:t>
            </a:r>
          </a:p>
          <a:p>
            <a:pPr lvl="1"/>
            <a:r>
              <a:rPr lang="en-US" dirty="0"/>
              <a:t>JavaScript</a:t>
            </a:r>
          </a:p>
          <a:p>
            <a:pPr lvl="1"/>
            <a:r>
              <a:rPr lang="en-US" dirty="0" err="1"/>
              <a:t>node.js</a:t>
            </a:r>
            <a:r>
              <a:rPr lang="en-US" dirty="0"/>
              <a:t> </a:t>
            </a:r>
          </a:p>
          <a:p>
            <a:pPr lvl="1"/>
            <a:r>
              <a:rPr lang="en-US" dirty="0"/>
              <a:t>Python</a:t>
            </a:r>
          </a:p>
          <a:p>
            <a:pPr lvl="1"/>
            <a:r>
              <a:rPr lang="en-US" dirty="0"/>
              <a:t>Perl</a:t>
            </a:r>
          </a:p>
          <a:p>
            <a:pPr lvl="1"/>
            <a:r>
              <a:rPr lang="en-US" dirty="0"/>
              <a:t>Scala and others.</a:t>
            </a:r>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29</a:t>
            </a:fld>
            <a:endParaRPr lang="en-US"/>
          </a:p>
        </p:txBody>
      </p:sp>
    </p:spTree>
    <p:extLst>
      <p:ext uri="{BB962C8B-B14F-4D97-AF65-F5344CB8AC3E}">
        <p14:creationId xmlns:p14="http://schemas.microsoft.com/office/powerpoint/2010/main" val="573401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Types</a:t>
            </a:r>
            <a:br>
              <a:rPr lang="en-US" dirty="0"/>
            </a:br>
            <a:endParaRPr lang="en-US" dirty="0"/>
          </a:p>
        </p:txBody>
      </p:sp>
      <p:sp>
        <p:nvSpPr>
          <p:cNvPr id="3" name="Content Placeholder 2"/>
          <p:cNvSpPr>
            <a:spLocks noGrp="1"/>
          </p:cNvSpPr>
          <p:nvPr>
            <p:ph idx="1"/>
          </p:nvPr>
        </p:nvSpPr>
        <p:spPr/>
        <p:txBody>
          <a:bodyPr/>
          <a:lstStyle/>
          <a:p>
            <a:r>
              <a:rPr lang="en-US" dirty="0"/>
              <a:t>Key-value queries</a:t>
            </a:r>
          </a:p>
          <a:p>
            <a:r>
              <a:rPr lang="en-US" dirty="0"/>
              <a:t>Range queries  </a:t>
            </a:r>
          </a:p>
          <a:p>
            <a:r>
              <a:rPr lang="en-US" dirty="0"/>
              <a:t>Geospatial queries</a:t>
            </a:r>
          </a:p>
          <a:p>
            <a:r>
              <a:rPr lang="en-US" dirty="0"/>
              <a:t>Text Search queries</a:t>
            </a:r>
          </a:p>
          <a:p>
            <a:r>
              <a:rPr lang="en-US" dirty="0"/>
              <a:t>Aggregation Framework queries </a:t>
            </a:r>
          </a:p>
          <a:p>
            <a:r>
              <a:rPr lang="en-US" dirty="0" err="1"/>
              <a:t>MapReduce</a:t>
            </a:r>
            <a:r>
              <a:rPr lang="en-US" dirty="0"/>
              <a:t> queries </a:t>
            </a:r>
          </a:p>
          <a:p>
            <a:endParaRPr lang="en-US" dirty="0"/>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30</a:t>
            </a:fld>
            <a:endParaRPr lang="en-US"/>
          </a:p>
        </p:txBody>
      </p:sp>
    </p:spTree>
    <p:extLst>
      <p:ext uri="{BB962C8B-B14F-4D97-AF65-F5344CB8AC3E}">
        <p14:creationId xmlns:p14="http://schemas.microsoft.com/office/powerpoint/2010/main" val="1805620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Types</a:t>
            </a:r>
            <a:br>
              <a:rPr lang="en-US" dirty="0"/>
            </a:br>
            <a:endParaRPr lang="en-US" dirty="0"/>
          </a:p>
        </p:txBody>
      </p:sp>
      <p:sp>
        <p:nvSpPr>
          <p:cNvPr id="3" name="Content Placeholder 2"/>
          <p:cNvSpPr>
            <a:spLocks noGrp="1"/>
          </p:cNvSpPr>
          <p:nvPr>
            <p:ph idx="1"/>
          </p:nvPr>
        </p:nvSpPr>
        <p:spPr/>
        <p:txBody>
          <a:bodyPr/>
          <a:lstStyle/>
          <a:p>
            <a:r>
              <a:rPr lang="en-US" dirty="0"/>
              <a:t>Key-value queries</a:t>
            </a:r>
          </a:p>
          <a:p>
            <a:endParaRPr lang="en-US" dirty="0"/>
          </a:p>
        </p:txBody>
      </p:sp>
      <p:sp>
        <p:nvSpPr>
          <p:cNvPr id="4" name="Footer Placeholder 3"/>
          <p:cNvSpPr>
            <a:spLocks noGrp="1"/>
          </p:cNvSpPr>
          <p:nvPr>
            <p:ph type="ftr" sz="quarter" idx="11"/>
          </p:nvPr>
        </p:nvSpPr>
        <p:spPr/>
        <p:txBody>
          <a:bodyPr/>
          <a:lstStyle/>
          <a:p>
            <a:r>
              <a:rPr lang="en-US"/>
              <a:t>http://howtodoinjava.com/2014/05/29/mongodb-selectqueryfind-documents-examples/</a:t>
            </a:r>
          </a:p>
        </p:txBody>
      </p:sp>
      <p:sp>
        <p:nvSpPr>
          <p:cNvPr id="5" name="Slide Number Placeholder 4"/>
          <p:cNvSpPr>
            <a:spLocks noGrp="1"/>
          </p:cNvSpPr>
          <p:nvPr>
            <p:ph type="sldNum" sz="quarter" idx="12"/>
          </p:nvPr>
        </p:nvSpPr>
        <p:spPr/>
        <p:txBody>
          <a:bodyPr/>
          <a:lstStyle/>
          <a:p>
            <a:fld id="{DD44E5C5-9508-7C47-A2BD-9789A2991986}" type="slidenum">
              <a:rPr lang="en-US" smtClean="0"/>
              <a:t>31</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7852" y="2958151"/>
            <a:ext cx="8046720" cy="2128520"/>
          </a:xfrm>
          <a:prstGeom prst="rect">
            <a:avLst/>
          </a:prstGeom>
        </p:spPr>
      </p:pic>
      <p:sp>
        <p:nvSpPr>
          <p:cNvPr id="7" name="Rectangle 6"/>
          <p:cNvSpPr/>
          <p:nvPr/>
        </p:nvSpPr>
        <p:spPr>
          <a:xfrm>
            <a:off x="3483291" y="3403601"/>
            <a:ext cx="2915920" cy="20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918960" y="4754881"/>
            <a:ext cx="1422400" cy="2235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423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Types</a:t>
            </a:r>
            <a:br>
              <a:rPr lang="en-US" dirty="0"/>
            </a:br>
            <a:endParaRPr lang="en-US" dirty="0"/>
          </a:p>
        </p:txBody>
      </p:sp>
      <p:sp>
        <p:nvSpPr>
          <p:cNvPr id="3" name="Content Placeholder 2"/>
          <p:cNvSpPr>
            <a:spLocks noGrp="1"/>
          </p:cNvSpPr>
          <p:nvPr>
            <p:ph idx="1"/>
          </p:nvPr>
        </p:nvSpPr>
        <p:spPr/>
        <p:txBody>
          <a:bodyPr/>
          <a:lstStyle/>
          <a:p>
            <a:r>
              <a:rPr lang="en-US" dirty="0"/>
              <a:t>Range queries  </a:t>
            </a:r>
          </a:p>
          <a:p>
            <a:endParaRPr lang="en-US" dirty="0"/>
          </a:p>
        </p:txBody>
      </p:sp>
      <p:sp>
        <p:nvSpPr>
          <p:cNvPr id="4" name="Footer Placeholder 3"/>
          <p:cNvSpPr>
            <a:spLocks noGrp="1"/>
          </p:cNvSpPr>
          <p:nvPr>
            <p:ph type="ftr" sz="quarter" idx="11"/>
          </p:nvPr>
        </p:nvSpPr>
        <p:spPr/>
        <p:txBody>
          <a:bodyPr/>
          <a:lstStyle/>
          <a:p>
            <a:r>
              <a:rPr lang="en-US"/>
              <a:t>http://howtodoinjava.com/2014/05/29/mongodb-selectqueryfind-documents-examples/</a:t>
            </a:r>
          </a:p>
        </p:txBody>
      </p:sp>
      <p:sp>
        <p:nvSpPr>
          <p:cNvPr id="5" name="Slide Number Placeholder 4"/>
          <p:cNvSpPr>
            <a:spLocks noGrp="1"/>
          </p:cNvSpPr>
          <p:nvPr>
            <p:ph type="sldNum" sz="quarter" idx="12"/>
          </p:nvPr>
        </p:nvSpPr>
        <p:spPr/>
        <p:txBody>
          <a:bodyPr/>
          <a:lstStyle/>
          <a:p>
            <a:fld id="{DD44E5C5-9508-7C47-A2BD-9789A2991986}" type="slidenum">
              <a:rPr lang="en-US" smtClean="0"/>
              <a:t>32</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6572" y="2921000"/>
            <a:ext cx="8109268" cy="2402840"/>
          </a:xfrm>
          <a:prstGeom prst="rect">
            <a:avLst/>
          </a:prstGeom>
        </p:spPr>
      </p:pic>
      <p:sp>
        <p:nvSpPr>
          <p:cNvPr id="7" name="Rectangle 6"/>
          <p:cNvSpPr/>
          <p:nvPr/>
        </p:nvSpPr>
        <p:spPr>
          <a:xfrm>
            <a:off x="3402010" y="3352801"/>
            <a:ext cx="5589589" cy="1625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637971" y="4719320"/>
            <a:ext cx="2058989" cy="5232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8734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Indexing</a:t>
            </a:r>
          </a:p>
        </p:txBody>
      </p:sp>
      <p:sp>
        <p:nvSpPr>
          <p:cNvPr id="3" name="Content Placeholder 2"/>
          <p:cNvSpPr>
            <a:spLocks noGrp="1"/>
          </p:cNvSpPr>
          <p:nvPr>
            <p:ph idx="1"/>
          </p:nvPr>
        </p:nvSpPr>
        <p:spPr/>
        <p:txBody>
          <a:bodyPr>
            <a:normAutofit fontScale="85000" lnSpcReduction="20000"/>
          </a:bodyPr>
          <a:lstStyle/>
          <a:p>
            <a:r>
              <a:rPr lang="en-US" b="1" dirty="0"/>
              <a:t>Indexes</a:t>
            </a:r>
            <a:r>
              <a:rPr lang="en-US" dirty="0"/>
              <a:t> are a crucial </a:t>
            </a:r>
            <a:r>
              <a:rPr lang="en-US" b="1" dirty="0"/>
              <a:t>mechanism</a:t>
            </a:r>
            <a:r>
              <a:rPr lang="en-US" dirty="0"/>
              <a:t> for </a:t>
            </a:r>
            <a:r>
              <a:rPr lang="en-US" b="1" dirty="0"/>
              <a:t>optimizing</a:t>
            </a:r>
            <a:r>
              <a:rPr lang="en-US" dirty="0"/>
              <a:t> </a:t>
            </a:r>
            <a:r>
              <a:rPr lang="en-US" b="1" dirty="0"/>
              <a:t>system</a:t>
            </a:r>
            <a:r>
              <a:rPr lang="en-US" dirty="0"/>
              <a:t> </a:t>
            </a:r>
            <a:r>
              <a:rPr lang="en-US" b="1" dirty="0"/>
              <a:t>performance</a:t>
            </a:r>
            <a:r>
              <a:rPr lang="en-US" dirty="0"/>
              <a:t> and </a:t>
            </a:r>
            <a:r>
              <a:rPr lang="en-US" b="1" dirty="0"/>
              <a:t>scalability</a:t>
            </a:r>
            <a:r>
              <a:rPr lang="en-US" dirty="0"/>
              <a:t> while providing flexible access to the data.</a:t>
            </a:r>
          </a:p>
          <a:p>
            <a:pPr lvl="1"/>
            <a:r>
              <a:rPr lang="en-US" b="1" dirty="0"/>
              <a:t>Unique Indexes: </a:t>
            </a:r>
            <a:r>
              <a:rPr lang="en-US" dirty="0"/>
              <a:t>By specifying an index as unique, </a:t>
            </a:r>
            <a:r>
              <a:rPr lang="en-US" dirty="0" err="1"/>
              <a:t>MongoDB</a:t>
            </a:r>
            <a:r>
              <a:rPr lang="en-US" dirty="0"/>
              <a:t> will reject inserts of new documents or the update of a document with an existing value.</a:t>
            </a:r>
            <a:endParaRPr lang="en-US" b="1" dirty="0"/>
          </a:p>
          <a:p>
            <a:pPr lvl="1"/>
            <a:r>
              <a:rPr lang="en-US" b="1" dirty="0"/>
              <a:t>Compound Indexes: </a:t>
            </a:r>
            <a:r>
              <a:rPr lang="en-US" dirty="0"/>
              <a:t>It can be useful to create compound indexes for queries that specify multiple predicates.</a:t>
            </a:r>
            <a:endParaRPr lang="en-US" b="1" dirty="0"/>
          </a:p>
          <a:p>
            <a:pPr lvl="1"/>
            <a:r>
              <a:rPr lang="en-US" b="1" dirty="0"/>
              <a:t>Array Indexes: </a:t>
            </a:r>
            <a:r>
              <a:rPr lang="en-US" dirty="0"/>
              <a:t>For fields that contain an array, each array value is stored as a separate index entry</a:t>
            </a:r>
            <a:endParaRPr lang="en-US" b="1" dirty="0"/>
          </a:p>
          <a:p>
            <a:pPr lvl="1"/>
            <a:r>
              <a:rPr lang="en-US" b="1" dirty="0"/>
              <a:t>TTL Indexes: </a:t>
            </a:r>
            <a:r>
              <a:rPr lang="en-US" dirty="0"/>
              <a:t>Time to Live (TTL) indexes allow the user to specify a period of time after which the data will automatically be deleted from the database.</a:t>
            </a:r>
            <a:endParaRPr lang="en-US" b="1" dirty="0"/>
          </a:p>
          <a:p>
            <a:pPr lvl="1"/>
            <a:r>
              <a:rPr lang="en-US" b="1" dirty="0"/>
              <a:t>Geospatial Indexes: </a:t>
            </a:r>
            <a:r>
              <a:rPr lang="en-US" dirty="0" err="1"/>
              <a:t>MongoDB</a:t>
            </a:r>
            <a:r>
              <a:rPr lang="en-US" dirty="0"/>
              <a:t> provides geospatial indexes to optimize queries related to location within a two dimensional space, such as projection systems for the earth.</a:t>
            </a:r>
            <a:endParaRPr lang="en-US" b="1" dirty="0"/>
          </a:p>
          <a:p>
            <a:pPr lvl="1"/>
            <a:r>
              <a:rPr lang="en-US" b="1" dirty="0"/>
              <a:t>Sparse Indexes: </a:t>
            </a:r>
            <a:r>
              <a:rPr lang="en-US" dirty="0"/>
              <a:t>It only contain entries for documents that contain the specified field.</a:t>
            </a:r>
            <a:endParaRPr lang="en-US" b="1" dirty="0"/>
          </a:p>
          <a:p>
            <a:pPr lvl="1"/>
            <a:r>
              <a:rPr lang="en-US" b="1" dirty="0"/>
              <a:t>Text Search Indexes: </a:t>
            </a:r>
            <a:r>
              <a:rPr lang="en-US" dirty="0" err="1"/>
              <a:t>MongoDB</a:t>
            </a:r>
            <a:r>
              <a:rPr lang="en-US" dirty="0"/>
              <a:t> provides a specialized index for text search that uses advanced, language-specific linguistic rules for stemming, tokenization and stop words.</a:t>
            </a:r>
            <a:endParaRPr lang="en-US" b="1" dirty="0"/>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33</a:t>
            </a:fld>
            <a:endParaRPr lang="en-US"/>
          </a:p>
        </p:txBody>
      </p:sp>
    </p:spTree>
    <p:extLst>
      <p:ext uri="{BB962C8B-B14F-4D97-AF65-F5344CB8AC3E}">
        <p14:creationId xmlns:p14="http://schemas.microsoft.com/office/powerpoint/2010/main" val="1456764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Data Management</a:t>
            </a:r>
            <a:br>
              <a:rPr lang="en-US" dirty="0"/>
            </a:br>
            <a:endParaRPr lang="en-US" dirty="0"/>
          </a:p>
        </p:txBody>
      </p:sp>
      <p:sp>
        <p:nvSpPr>
          <p:cNvPr id="3" name="Content Placeholder 2"/>
          <p:cNvSpPr>
            <a:spLocks noGrp="1"/>
          </p:cNvSpPr>
          <p:nvPr>
            <p:ph idx="1"/>
          </p:nvPr>
        </p:nvSpPr>
        <p:spPr/>
        <p:txBody>
          <a:bodyPr/>
          <a:lstStyle/>
          <a:p>
            <a:r>
              <a:rPr lang="en-US" dirty="0"/>
              <a:t>Auto-</a:t>
            </a:r>
            <a:r>
              <a:rPr lang="en-US" dirty="0" err="1"/>
              <a:t>sharding</a:t>
            </a:r>
            <a:r>
              <a:rPr lang="en-US" dirty="0"/>
              <a:t> for linear scalability</a:t>
            </a:r>
          </a:p>
          <a:p>
            <a:r>
              <a:rPr lang="en-US" dirty="0"/>
              <a:t>Pluggable storage architecture for application flexibility</a:t>
            </a:r>
          </a:p>
          <a:p>
            <a:r>
              <a:rPr lang="en-US" dirty="0"/>
              <a:t>Storage efficiency </a:t>
            </a:r>
            <a:r>
              <a:rPr lang="en-US" dirty="0" err="1"/>
              <a:t>witih</a:t>
            </a:r>
            <a:r>
              <a:rPr lang="en-US" dirty="0"/>
              <a:t> compression</a:t>
            </a:r>
          </a:p>
          <a:p>
            <a:endParaRPr lang="en-US" dirty="0"/>
          </a:p>
          <a:p>
            <a:endParaRPr lang="en-US" dirty="0"/>
          </a:p>
        </p:txBody>
      </p:sp>
      <p:sp>
        <p:nvSpPr>
          <p:cNvPr id="4" name="Footer Placeholder 3"/>
          <p:cNvSpPr>
            <a:spLocks noGrp="1"/>
          </p:cNvSpPr>
          <p:nvPr>
            <p:ph type="ftr" sz="quarter" idx="11"/>
          </p:nvPr>
        </p:nvSpPr>
        <p:spPr/>
        <p:txBody>
          <a:bodyPr/>
          <a:lstStyle/>
          <a:p>
            <a:r>
              <a:rPr lang="en-US" dirty="0"/>
              <a:t>https://</a:t>
            </a:r>
            <a:r>
              <a:rPr lang="en-US" dirty="0" err="1"/>
              <a:t>www.mongodb.com</a:t>
            </a:r>
            <a:r>
              <a:rPr lang="en-US" dirty="0"/>
              <a:t>/</a:t>
            </a:r>
            <a:r>
              <a:rPr lang="en-US" dirty="0" err="1"/>
              <a:t>mongodb</a:t>
            </a:r>
            <a:r>
              <a:rPr lang="en-US" dirty="0"/>
              <a:t>-architecture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34</a:t>
            </a:fld>
            <a:endParaRPr lang="en-US"/>
          </a:p>
        </p:txBody>
      </p:sp>
    </p:spTree>
    <p:extLst>
      <p:ext uri="{BB962C8B-B14F-4D97-AF65-F5344CB8AC3E}">
        <p14:creationId xmlns:p14="http://schemas.microsoft.com/office/powerpoint/2010/main" val="1793588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a:t>
            </a:r>
            <a:r>
              <a:rPr lang="en-US" dirty="0" err="1"/>
              <a:t>sharding</a:t>
            </a:r>
            <a:r>
              <a:rPr lang="en-US" dirty="0"/>
              <a:t> for Linear Scalability</a:t>
            </a:r>
            <a:br>
              <a:rPr lang="en-US" dirty="0"/>
            </a:br>
            <a:endParaRPr lang="en-US" dirty="0"/>
          </a:p>
        </p:txBody>
      </p:sp>
      <p:sp>
        <p:nvSpPr>
          <p:cNvPr id="3" name="Content Placeholder 2"/>
          <p:cNvSpPr>
            <a:spLocks noGrp="1"/>
          </p:cNvSpPr>
          <p:nvPr>
            <p:ph idx="1"/>
          </p:nvPr>
        </p:nvSpPr>
        <p:spPr/>
        <p:txBody>
          <a:bodyPr/>
          <a:lstStyle/>
          <a:p>
            <a:r>
              <a:rPr lang="en-US" dirty="0" err="1"/>
              <a:t>Sharding</a:t>
            </a:r>
            <a:r>
              <a:rPr lang="en-US" dirty="0"/>
              <a:t> distributes </a:t>
            </a:r>
            <a:r>
              <a:rPr lang="en-US" b="1" dirty="0"/>
              <a:t>data</a:t>
            </a:r>
            <a:r>
              <a:rPr lang="en-US" dirty="0"/>
              <a:t> across </a:t>
            </a:r>
            <a:r>
              <a:rPr lang="en-US" b="1" dirty="0"/>
              <a:t>multiple</a:t>
            </a:r>
            <a:r>
              <a:rPr lang="en-US" dirty="0"/>
              <a:t> </a:t>
            </a:r>
            <a:r>
              <a:rPr lang="en-US" b="1" dirty="0"/>
              <a:t>physical</a:t>
            </a:r>
            <a:r>
              <a:rPr lang="en-US" dirty="0"/>
              <a:t> </a:t>
            </a:r>
            <a:r>
              <a:rPr lang="en-US" b="1" dirty="0"/>
              <a:t>partitions</a:t>
            </a:r>
            <a:r>
              <a:rPr lang="en-US" dirty="0"/>
              <a:t> called </a:t>
            </a:r>
            <a:r>
              <a:rPr lang="en-US" b="1" dirty="0"/>
              <a:t>shards</a:t>
            </a:r>
            <a:r>
              <a:rPr lang="en-US" dirty="0"/>
              <a:t>.</a:t>
            </a:r>
          </a:p>
          <a:p>
            <a:r>
              <a:rPr lang="en-US" dirty="0" err="1"/>
              <a:t>Sharding</a:t>
            </a:r>
            <a:r>
              <a:rPr lang="en-US" dirty="0"/>
              <a:t> allows </a:t>
            </a:r>
            <a:r>
              <a:rPr lang="en-US" dirty="0" err="1"/>
              <a:t>MongoDB</a:t>
            </a:r>
            <a:r>
              <a:rPr lang="en-US" dirty="0"/>
              <a:t> deployments to address the </a:t>
            </a:r>
            <a:r>
              <a:rPr lang="en-US" b="1" dirty="0"/>
              <a:t>hardware</a:t>
            </a:r>
            <a:r>
              <a:rPr lang="en-US" dirty="0"/>
              <a:t> </a:t>
            </a:r>
            <a:r>
              <a:rPr lang="en-US" b="1" dirty="0"/>
              <a:t>limitations</a:t>
            </a:r>
            <a:r>
              <a:rPr lang="en-US" dirty="0"/>
              <a:t> of a single server, such as bottlenecks in RAM or disk I/O.</a:t>
            </a:r>
          </a:p>
          <a:p>
            <a:r>
              <a:rPr lang="en-US" dirty="0"/>
              <a:t>Unlike relational databases, </a:t>
            </a:r>
            <a:r>
              <a:rPr lang="en-US" b="1" dirty="0" err="1"/>
              <a:t>sharding</a:t>
            </a:r>
            <a:r>
              <a:rPr lang="en-US" dirty="0"/>
              <a:t> is </a:t>
            </a:r>
            <a:r>
              <a:rPr lang="en-US" b="1" dirty="0"/>
              <a:t>automatic</a:t>
            </a:r>
            <a:r>
              <a:rPr lang="en-US" dirty="0"/>
              <a:t> and built into the database. </a:t>
            </a:r>
          </a:p>
          <a:p>
            <a:r>
              <a:rPr lang="en-US" dirty="0"/>
              <a:t>Developers don't face the </a:t>
            </a:r>
            <a:r>
              <a:rPr lang="en-US" b="1" dirty="0"/>
              <a:t>complexity</a:t>
            </a:r>
            <a:r>
              <a:rPr lang="en-US" dirty="0"/>
              <a:t> of building </a:t>
            </a:r>
            <a:r>
              <a:rPr lang="en-US" b="1" dirty="0" err="1"/>
              <a:t>sharding</a:t>
            </a:r>
            <a:r>
              <a:rPr lang="en-US" b="1" dirty="0"/>
              <a:t> logic</a:t>
            </a:r>
            <a:r>
              <a:rPr lang="en-US" dirty="0"/>
              <a:t> into their application code</a:t>
            </a:r>
          </a:p>
          <a:p>
            <a:endParaRPr lang="en-US" dirty="0"/>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35</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7560" y="4516762"/>
            <a:ext cx="6774142" cy="1394460"/>
          </a:xfrm>
          <a:prstGeom prst="rect">
            <a:avLst/>
          </a:prstGeom>
        </p:spPr>
      </p:pic>
    </p:spTree>
    <p:extLst>
      <p:ext uri="{BB962C8B-B14F-4D97-AF65-F5344CB8AC3E}">
        <p14:creationId xmlns:p14="http://schemas.microsoft.com/office/powerpoint/2010/main" val="1893916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a:t>
            </a:r>
            <a:r>
              <a:rPr lang="en-US" dirty="0" err="1"/>
              <a:t>sharding</a:t>
            </a:r>
            <a:r>
              <a:rPr lang="en-US" dirty="0"/>
              <a:t> for Linear Scalability</a:t>
            </a:r>
            <a:br>
              <a:rPr lang="en-US" dirty="0"/>
            </a:br>
            <a:endParaRPr lang="en-US" dirty="0"/>
          </a:p>
        </p:txBody>
      </p:sp>
      <p:sp>
        <p:nvSpPr>
          <p:cNvPr id="3" name="Content Placeholder 2"/>
          <p:cNvSpPr>
            <a:spLocks noGrp="1"/>
          </p:cNvSpPr>
          <p:nvPr>
            <p:ph idx="1"/>
          </p:nvPr>
        </p:nvSpPr>
        <p:spPr/>
        <p:txBody>
          <a:bodyPr/>
          <a:lstStyle/>
          <a:p>
            <a:r>
              <a:rPr lang="en-US" dirty="0"/>
              <a:t>Multiple </a:t>
            </a:r>
            <a:r>
              <a:rPr lang="en-US" dirty="0" err="1"/>
              <a:t>sharding</a:t>
            </a:r>
            <a:r>
              <a:rPr lang="en-US" dirty="0"/>
              <a:t> policies available – </a:t>
            </a:r>
            <a:r>
              <a:rPr lang="en-US" b="1" dirty="0"/>
              <a:t>hash-based</a:t>
            </a:r>
            <a:r>
              <a:rPr lang="en-US" dirty="0"/>
              <a:t>, </a:t>
            </a:r>
            <a:r>
              <a:rPr lang="en-US" b="1" dirty="0"/>
              <a:t>range-based</a:t>
            </a:r>
            <a:r>
              <a:rPr lang="en-US" dirty="0"/>
              <a:t> and </a:t>
            </a:r>
            <a:r>
              <a:rPr lang="en-US" b="1" dirty="0"/>
              <a:t>location-based.</a:t>
            </a:r>
          </a:p>
          <a:p>
            <a:pPr lvl="1"/>
            <a:r>
              <a:rPr lang="en-US" b="1" dirty="0"/>
              <a:t>Range-based </a:t>
            </a:r>
            <a:r>
              <a:rPr lang="en-US" b="1" dirty="0" err="1"/>
              <a:t>Sharding</a:t>
            </a:r>
            <a:r>
              <a:rPr lang="en-US" b="1" dirty="0"/>
              <a:t>.</a:t>
            </a:r>
            <a:r>
              <a:rPr lang="en-US" dirty="0"/>
              <a:t> Documents with shard </a:t>
            </a:r>
            <a:r>
              <a:rPr lang="en-US" b="1" dirty="0"/>
              <a:t>key values </a:t>
            </a:r>
            <a:r>
              <a:rPr lang="en-US" dirty="0"/>
              <a:t>close to one another are likely to </a:t>
            </a:r>
            <a:r>
              <a:rPr lang="en-US" b="1" dirty="0"/>
              <a:t>be co-located </a:t>
            </a:r>
            <a:r>
              <a:rPr lang="en-US" dirty="0"/>
              <a:t>on the same shard. This approach is well suited for applications that need to </a:t>
            </a:r>
            <a:r>
              <a:rPr lang="en-US" b="1" dirty="0"/>
              <a:t>optimize range based queries</a:t>
            </a:r>
            <a:r>
              <a:rPr lang="en-US" dirty="0"/>
              <a:t>. </a:t>
            </a:r>
          </a:p>
          <a:p>
            <a:pPr lvl="1"/>
            <a:r>
              <a:rPr lang="en-US" b="1" dirty="0"/>
              <a:t>Hash-based </a:t>
            </a:r>
            <a:r>
              <a:rPr lang="en-US" b="1" dirty="0" err="1"/>
              <a:t>Sharding</a:t>
            </a:r>
            <a:r>
              <a:rPr lang="en-US" b="1" dirty="0"/>
              <a:t>.</a:t>
            </a:r>
            <a:r>
              <a:rPr lang="en-US" dirty="0"/>
              <a:t> Documents are distributed according to an </a:t>
            </a:r>
            <a:r>
              <a:rPr lang="en-US" b="1" dirty="0"/>
              <a:t>MD5 hash </a:t>
            </a:r>
            <a:r>
              <a:rPr lang="en-US" dirty="0"/>
              <a:t>of the </a:t>
            </a:r>
            <a:r>
              <a:rPr lang="en-US" b="1" dirty="0"/>
              <a:t>shard key value</a:t>
            </a:r>
            <a:r>
              <a:rPr lang="en-US" dirty="0"/>
              <a:t>. This approach guarantees a </a:t>
            </a:r>
            <a:r>
              <a:rPr lang="en-US" b="1" dirty="0"/>
              <a:t>uniform distribution </a:t>
            </a:r>
            <a:r>
              <a:rPr lang="en-US" dirty="0"/>
              <a:t>of writes across shards, but is less optimal for range-based queries. </a:t>
            </a:r>
          </a:p>
          <a:p>
            <a:pPr lvl="1"/>
            <a:r>
              <a:rPr lang="en-US" b="1" dirty="0"/>
              <a:t>Location-based </a:t>
            </a:r>
            <a:r>
              <a:rPr lang="en-US" b="1" dirty="0" err="1"/>
              <a:t>Sharding</a:t>
            </a:r>
            <a:r>
              <a:rPr lang="en-US" b="1" dirty="0"/>
              <a:t>.</a:t>
            </a:r>
            <a:r>
              <a:rPr lang="en-US" dirty="0"/>
              <a:t> Documents are partitioned according to a user-specified configuration that associates shard key ranges with specific shards and hardware. </a:t>
            </a:r>
            <a:endParaRPr lang="en-US" b="1" dirty="0"/>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36</a:t>
            </a:fld>
            <a:endParaRPr lang="en-US"/>
          </a:p>
        </p:txBody>
      </p:sp>
    </p:spTree>
    <p:extLst>
      <p:ext uri="{BB962C8B-B14F-4D97-AF65-F5344CB8AC3E}">
        <p14:creationId xmlns:p14="http://schemas.microsoft.com/office/powerpoint/2010/main" val="3752835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Pluggable storage architecture for application flexibility</a:t>
            </a:r>
          </a:p>
        </p:txBody>
      </p:sp>
      <p:sp>
        <p:nvSpPr>
          <p:cNvPr id="3" name="Content Placeholder 2"/>
          <p:cNvSpPr>
            <a:spLocks noGrp="1"/>
          </p:cNvSpPr>
          <p:nvPr>
            <p:ph idx="1"/>
          </p:nvPr>
        </p:nvSpPr>
        <p:spPr/>
        <p:txBody>
          <a:bodyPr/>
          <a:lstStyle/>
          <a:p>
            <a:r>
              <a:rPr lang="en-US" dirty="0"/>
              <a:t>Through the use of a </a:t>
            </a:r>
            <a:r>
              <a:rPr lang="en-US" b="1" dirty="0"/>
              <a:t>pluggable storage architecture</a:t>
            </a:r>
            <a:r>
              <a:rPr lang="en-US" dirty="0"/>
              <a:t>, </a:t>
            </a:r>
            <a:r>
              <a:rPr lang="en-US" dirty="0" err="1"/>
              <a:t>MongoDB</a:t>
            </a:r>
            <a:r>
              <a:rPr lang="en-US" dirty="0"/>
              <a:t> can be extended with new capabilities, and configured for </a:t>
            </a:r>
            <a:r>
              <a:rPr lang="en-US" b="1" dirty="0"/>
              <a:t>optimal use </a:t>
            </a:r>
            <a:r>
              <a:rPr lang="en-US" dirty="0"/>
              <a:t>of specific </a:t>
            </a:r>
            <a:r>
              <a:rPr lang="en-US" b="1" dirty="0"/>
              <a:t>hardware architectures</a:t>
            </a:r>
            <a:r>
              <a:rPr lang="en-US" dirty="0"/>
              <a:t>.</a:t>
            </a:r>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37</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4512" y="3198539"/>
            <a:ext cx="4738677" cy="2612982"/>
          </a:xfrm>
          <a:prstGeom prst="rect">
            <a:avLst/>
          </a:prstGeom>
        </p:spPr>
      </p:pic>
    </p:spTree>
    <p:extLst>
      <p:ext uri="{BB962C8B-B14F-4D97-AF65-F5344CB8AC3E}">
        <p14:creationId xmlns:p14="http://schemas.microsoft.com/office/powerpoint/2010/main" val="663222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efficiency </a:t>
            </a:r>
            <a:r>
              <a:rPr lang="en-US" dirty="0" err="1"/>
              <a:t>witih</a:t>
            </a:r>
            <a:r>
              <a:rPr lang="en-US" dirty="0"/>
              <a:t> compression</a:t>
            </a:r>
            <a:br>
              <a:rPr lang="en-US" dirty="0"/>
            </a:br>
            <a:endParaRPr lang="en-US" dirty="0"/>
          </a:p>
        </p:txBody>
      </p:sp>
      <p:sp>
        <p:nvSpPr>
          <p:cNvPr id="3" name="Content Placeholder 2"/>
          <p:cNvSpPr>
            <a:spLocks noGrp="1"/>
          </p:cNvSpPr>
          <p:nvPr>
            <p:ph idx="1"/>
          </p:nvPr>
        </p:nvSpPr>
        <p:spPr/>
        <p:txBody>
          <a:bodyPr/>
          <a:lstStyle/>
          <a:p>
            <a:r>
              <a:rPr lang="en-US" dirty="0" err="1"/>
              <a:t>MongoDB</a:t>
            </a:r>
            <a:r>
              <a:rPr lang="en-US" dirty="0"/>
              <a:t> supports </a:t>
            </a:r>
            <a:r>
              <a:rPr lang="en-US" b="1" dirty="0"/>
              <a:t>native compression </a:t>
            </a:r>
            <a:r>
              <a:rPr lang="en-US" dirty="0"/>
              <a:t>when configured with the </a:t>
            </a:r>
            <a:r>
              <a:rPr lang="en-US" b="1" dirty="0" err="1"/>
              <a:t>WiredTiger</a:t>
            </a:r>
            <a:r>
              <a:rPr lang="en-US" b="1" dirty="0"/>
              <a:t> storage engine</a:t>
            </a:r>
            <a:r>
              <a:rPr lang="en-US" dirty="0"/>
              <a:t>, reducing </a:t>
            </a:r>
            <a:r>
              <a:rPr lang="en-US" b="1" dirty="0"/>
              <a:t>physical storage</a:t>
            </a:r>
            <a:r>
              <a:rPr lang="en-US" dirty="0"/>
              <a:t> footprint by as much as </a:t>
            </a:r>
            <a:r>
              <a:rPr lang="en-US" b="1" dirty="0"/>
              <a:t>80</a:t>
            </a:r>
            <a:r>
              <a:rPr lang="en-US" dirty="0"/>
              <a:t>%.</a:t>
            </a:r>
          </a:p>
          <a:p>
            <a:r>
              <a:rPr lang="en-US" dirty="0"/>
              <a:t>In addition to reduced storage space, </a:t>
            </a:r>
            <a:r>
              <a:rPr lang="en-US" b="1" dirty="0"/>
              <a:t>compression</a:t>
            </a:r>
            <a:r>
              <a:rPr lang="en-US" dirty="0"/>
              <a:t> enables much </a:t>
            </a:r>
            <a:r>
              <a:rPr lang="en-US" b="1" dirty="0"/>
              <a:t>higher</a:t>
            </a:r>
            <a:r>
              <a:rPr lang="en-US" dirty="0"/>
              <a:t> </a:t>
            </a:r>
            <a:r>
              <a:rPr lang="en-US" b="1" dirty="0"/>
              <a:t>storage I/O scalability </a:t>
            </a:r>
            <a:r>
              <a:rPr lang="en-US" dirty="0"/>
              <a:t>as </a:t>
            </a:r>
            <a:r>
              <a:rPr lang="en-US" b="1" dirty="0"/>
              <a:t>fewer bits </a:t>
            </a:r>
            <a:r>
              <a:rPr lang="en-US" dirty="0"/>
              <a:t>are read from disk.</a:t>
            </a:r>
          </a:p>
          <a:p>
            <a:r>
              <a:rPr lang="en-US" dirty="0"/>
              <a:t>Administrators have the flexibility to </a:t>
            </a:r>
            <a:r>
              <a:rPr lang="en-US" b="1" dirty="0"/>
              <a:t>configure</a:t>
            </a:r>
            <a:r>
              <a:rPr lang="en-US" dirty="0"/>
              <a:t> specific </a:t>
            </a:r>
            <a:r>
              <a:rPr lang="en-US" b="1" dirty="0"/>
              <a:t>compression</a:t>
            </a:r>
            <a:r>
              <a:rPr lang="en-US" dirty="0"/>
              <a:t> </a:t>
            </a:r>
            <a:r>
              <a:rPr lang="en-US" b="1" dirty="0"/>
              <a:t>algorithms</a:t>
            </a:r>
            <a:r>
              <a:rPr lang="en-US" dirty="0"/>
              <a:t> for collections, indexes.</a:t>
            </a:r>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38</a:t>
            </a:fld>
            <a:endParaRPr lang="en-US"/>
          </a:p>
        </p:txBody>
      </p:sp>
    </p:spTree>
    <p:extLst>
      <p:ext uri="{BB962C8B-B14F-4D97-AF65-F5344CB8AC3E}">
        <p14:creationId xmlns:p14="http://schemas.microsoft.com/office/powerpoint/2010/main" val="869265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MongoDB</a:t>
            </a:r>
            <a:r>
              <a:rPr lang="en-US" dirty="0"/>
              <a:t> Consistency &amp; Availability</a:t>
            </a:r>
            <a:br>
              <a:rPr lang="en-US" dirty="0"/>
            </a:b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Transaction model</a:t>
            </a:r>
          </a:p>
          <a:p>
            <a:pPr lvl="1"/>
            <a:r>
              <a:rPr lang="en-US" dirty="0"/>
              <a:t>The ACID guarantees provided by </a:t>
            </a:r>
            <a:r>
              <a:rPr lang="en-US" dirty="0" err="1"/>
              <a:t>MongoDB</a:t>
            </a:r>
            <a:r>
              <a:rPr lang="en-US" dirty="0"/>
              <a:t> ensure complete isolation as a document is updated.</a:t>
            </a:r>
          </a:p>
          <a:p>
            <a:r>
              <a:rPr lang="en-US" dirty="0"/>
              <a:t>Replica sets</a:t>
            </a:r>
          </a:p>
          <a:p>
            <a:pPr lvl="1"/>
            <a:r>
              <a:rPr lang="en-US" dirty="0" err="1"/>
              <a:t>MongoDB</a:t>
            </a:r>
            <a:r>
              <a:rPr lang="en-US" dirty="0"/>
              <a:t> maintains </a:t>
            </a:r>
            <a:r>
              <a:rPr lang="en-US" b="1" dirty="0"/>
              <a:t>multiple</a:t>
            </a:r>
            <a:r>
              <a:rPr lang="en-US" dirty="0"/>
              <a:t> copies of </a:t>
            </a:r>
            <a:r>
              <a:rPr lang="en-US" b="1" dirty="0"/>
              <a:t>data</a:t>
            </a:r>
            <a:r>
              <a:rPr lang="en-US" dirty="0"/>
              <a:t> called </a:t>
            </a:r>
            <a:r>
              <a:rPr lang="en-US" b="1" dirty="0"/>
              <a:t>replica</a:t>
            </a:r>
            <a:r>
              <a:rPr lang="en-US" dirty="0"/>
              <a:t> sets using native replication. A replica set is a fully self-healing shard that helps </a:t>
            </a:r>
            <a:r>
              <a:rPr lang="en-US" b="1" dirty="0"/>
              <a:t>prevent database downtime. </a:t>
            </a:r>
          </a:p>
          <a:p>
            <a:r>
              <a:rPr lang="en-US" dirty="0"/>
              <a:t>In-memory performance with on-disk capacity</a:t>
            </a:r>
          </a:p>
          <a:p>
            <a:pPr lvl="1"/>
            <a:r>
              <a:rPr lang="en-US" dirty="0" err="1"/>
              <a:t>MongoDB</a:t>
            </a:r>
            <a:r>
              <a:rPr lang="en-US" dirty="0"/>
              <a:t> makes extensive use of RAM to speed up database operations. In </a:t>
            </a:r>
            <a:r>
              <a:rPr lang="en-US" dirty="0" err="1"/>
              <a:t>MongoDB</a:t>
            </a:r>
            <a:r>
              <a:rPr lang="en-US" dirty="0"/>
              <a:t>, all data is read and manipulated through </a:t>
            </a:r>
            <a:r>
              <a:rPr lang="en-US" b="1" dirty="0"/>
              <a:t>memory-mapped files</a:t>
            </a:r>
            <a:r>
              <a:rPr lang="en-US" dirty="0"/>
              <a:t>.</a:t>
            </a:r>
          </a:p>
          <a:p>
            <a:r>
              <a:rPr lang="en-US" dirty="0"/>
              <a:t>Security</a:t>
            </a:r>
          </a:p>
          <a:p>
            <a:pPr lvl="1"/>
            <a:r>
              <a:rPr lang="en-US" dirty="0"/>
              <a:t>Authentication, Authorization, Auditing and Encryption.</a:t>
            </a:r>
          </a:p>
          <a:p>
            <a:endParaRPr lang="en-US" dirty="0"/>
          </a:p>
          <a:p>
            <a:endParaRPr lang="en-US" dirty="0"/>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https://www.mongodb.com/mongodb-architecture</a:t>
            </a:r>
          </a:p>
        </p:txBody>
      </p:sp>
      <p:sp>
        <p:nvSpPr>
          <p:cNvPr id="5" name="Slide Number Placeholder 4"/>
          <p:cNvSpPr>
            <a:spLocks noGrp="1"/>
          </p:cNvSpPr>
          <p:nvPr>
            <p:ph type="sldNum" sz="quarter" idx="12"/>
          </p:nvPr>
        </p:nvSpPr>
        <p:spPr/>
        <p:txBody>
          <a:bodyPr/>
          <a:lstStyle/>
          <a:p>
            <a:fld id="{DD44E5C5-9508-7C47-A2BD-9789A2991986}" type="slidenum">
              <a:rPr lang="en-US" smtClean="0"/>
              <a:t>39</a:t>
            </a:fld>
            <a:endParaRPr lang="en-US"/>
          </a:p>
        </p:txBody>
      </p:sp>
    </p:spTree>
    <p:extLst>
      <p:ext uri="{BB962C8B-B14F-4D97-AF65-F5344CB8AC3E}">
        <p14:creationId xmlns:p14="http://schemas.microsoft.com/office/powerpoint/2010/main" val="694185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Example: Using </a:t>
            </a:r>
            <a:r>
              <a:rPr lang="en-US" dirty="0" err="1"/>
              <a:t>MongDB</a:t>
            </a:r>
            <a:r>
              <a:rPr lang="en-US" dirty="0"/>
              <a:t> Java Driver on Mac OS X</a:t>
            </a:r>
          </a:p>
        </p:txBody>
      </p:sp>
      <p:sp>
        <p:nvSpPr>
          <p:cNvPr id="3" name="Content Placeholder 2"/>
          <p:cNvSpPr>
            <a:spLocks noGrp="1"/>
          </p:cNvSpPr>
          <p:nvPr>
            <p:ph idx="1"/>
          </p:nvPr>
        </p:nvSpPr>
        <p:spPr/>
        <p:txBody>
          <a:bodyPr>
            <a:normAutofit fontScale="92500" lnSpcReduction="10000"/>
          </a:bodyPr>
          <a:lstStyle/>
          <a:p>
            <a:r>
              <a:rPr lang="en-US" dirty="0"/>
              <a:t>Instructions to install </a:t>
            </a:r>
            <a:r>
              <a:rPr lang="en-US" dirty="0" err="1"/>
              <a:t>MongDB</a:t>
            </a:r>
            <a:r>
              <a:rPr lang="en-US" dirty="0"/>
              <a:t>:</a:t>
            </a:r>
          </a:p>
          <a:p>
            <a:pPr lvl="1"/>
            <a:r>
              <a:rPr lang="en-US" dirty="0"/>
              <a:t>Download </a:t>
            </a:r>
            <a:r>
              <a:rPr lang="hr-HR" b="1" dirty="0"/>
              <a:t>mongodb-osx-x86_64-3.0.7.tgz</a:t>
            </a:r>
            <a:r>
              <a:rPr lang="en-US" b="1" dirty="0"/>
              <a:t> </a:t>
            </a:r>
            <a:r>
              <a:rPr lang="en-US" dirty="0"/>
              <a:t>file and extract it.</a:t>
            </a:r>
          </a:p>
          <a:p>
            <a:pPr lvl="1"/>
            <a:r>
              <a:rPr lang="en-US" dirty="0"/>
              <a:t>Copy it into /</a:t>
            </a:r>
            <a:r>
              <a:rPr lang="en-US" dirty="0" err="1"/>
              <a:t>usr</a:t>
            </a:r>
            <a:r>
              <a:rPr lang="en-US" dirty="0"/>
              <a:t>/local/</a:t>
            </a:r>
            <a:r>
              <a:rPr lang="en-US" dirty="0" err="1"/>
              <a:t>mongdb</a:t>
            </a:r>
            <a:endParaRPr lang="en-US" dirty="0"/>
          </a:p>
          <a:p>
            <a:pPr lvl="1"/>
            <a:r>
              <a:rPr lang="en-US" dirty="0"/>
              <a:t>Go to terminal into this directory and command the followings</a:t>
            </a:r>
          </a:p>
          <a:p>
            <a:pPr lvl="1"/>
            <a:r>
              <a:rPr lang="en-US" b="1" dirty="0"/>
              <a:t>export</a:t>
            </a:r>
            <a:r>
              <a:rPr lang="en-US" dirty="0"/>
              <a:t> PATH=&lt;</a:t>
            </a:r>
            <a:r>
              <a:rPr lang="en-US" dirty="0" err="1"/>
              <a:t>mongodb</a:t>
            </a:r>
            <a:r>
              <a:rPr lang="en-US" dirty="0"/>
              <a:t>-install-directory&gt;/bin:$PATH</a:t>
            </a:r>
          </a:p>
          <a:p>
            <a:pPr lvl="1"/>
            <a:r>
              <a:rPr lang="en-US" b="1" dirty="0" err="1"/>
              <a:t>sudo</a:t>
            </a:r>
            <a:r>
              <a:rPr lang="en-US" dirty="0"/>
              <a:t> </a:t>
            </a:r>
            <a:r>
              <a:rPr lang="en-US" dirty="0" err="1"/>
              <a:t>chown</a:t>
            </a:r>
            <a:r>
              <a:rPr lang="en-US" dirty="0"/>
              <a:t> -R $USER /data/</a:t>
            </a:r>
            <a:r>
              <a:rPr lang="en-US" dirty="0" err="1"/>
              <a:t>db</a:t>
            </a:r>
            <a:endParaRPr lang="en-US" dirty="0"/>
          </a:p>
          <a:p>
            <a:pPr lvl="1"/>
            <a:r>
              <a:rPr lang="en-US" b="1" dirty="0" err="1"/>
              <a:t>Mongod</a:t>
            </a:r>
            <a:endParaRPr lang="en-US" b="1" dirty="0"/>
          </a:p>
          <a:p>
            <a:r>
              <a:rPr lang="en-US" dirty="0"/>
              <a:t>Coding in Java</a:t>
            </a:r>
          </a:p>
          <a:p>
            <a:pPr lvl="1"/>
            <a:r>
              <a:rPr lang="en-US" dirty="0"/>
              <a:t>You need to download the jar from the path Download </a:t>
            </a:r>
            <a:r>
              <a:rPr lang="en-US" b="1" dirty="0" err="1"/>
              <a:t>mongo.jar</a:t>
            </a:r>
            <a:r>
              <a:rPr lang="en-US" dirty="0"/>
              <a:t>. </a:t>
            </a:r>
            <a:r>
              <a:rPr lang="en-US" dirty="0">
                <a:hlinkClick r:id="rId2"/>
              </a:rPr>
              <a:t>https://oss.sonatype.org/content/repositories/releases/org/mongodb/mongo-java-driver/3.1.1/</a:t>
            </a:r>
            <a:r>
              <a:rPr lang="en-US" dirty="0"/>
              <a:t> </a:t>
            </a:r>
          </a:p>
          <a:p>
            <a:pPr lvl="1"/>
            <a:r>
              <a:rPr lang="en-US" dirty="0"/>
              <a:t>You need to include the </a:t>
            </a:r>
            <a:r>
              <a:rPr lang="en-US" b="1" dirty="0" err="1"/>
              <a:t>mongo.jar</a:t>
            </a:r>
            <a:r>
              <a:rPr lang="en-US" dirty="0"/>
              <a:t> into your </a:t>
            </a:r>
            <a:r>
              <a:rPr lang="en-US" b="1" dirty="0" err="1"/>
              <a:t>classpath</a:t>
            </a:r>
            <a:r>
              <a:rPr lang="en-US" dirty="0"/>
              <a:t>.</a:t>
            </a:r>
          </a:p>
        </p:txBody>
      </p:sp>
      <p:sp>
        <p:nvSpPr>
          <p:cNvPr id="4" name="Footer Placeholder 3"/>
          <p:cNvSpPr>
            <a:spLocks noGrp="1"/>
          </p:cNvSpPr>
          <p:nvPr>
            <p:ph type="ftr" sz="quarter" idx="11"/>
          </p:nvPr>
        </p:nvSpPr>
        <p:spPr/>
        <p:txBody>
          <a:bodyPr/>
          <a:lstStyle/>
          <a:p>
            <a:r>
              <a:rPr lang="en-US"/>
              <a:t>http://www.slideshare.net/Dataversity/nosql-now-nosql-architecture-patterns-23589170</a:t>
            </a:r>
          </a:p>
        </p:txBody>
      </p:sp>
      <p:sp>
        <p:nvSpPr>
          <p:cNvPr id="5" name="Slide Number Placeholder 4"/>
          <p:cNvSpPr>
            <a:spLocks noGrp="1"/>
          </p:cNvSpPr>
          <p:nvPr>
            <p:ph type="sldNum" sz="quarter" idx="12"/>
          </p:nvPr>
        </p:nvSpPr>
        <p:spPr/>
        <p:txBody>
          <a:bodyPr/>
          <a:lstStyle/>
          <a:p>
            <a:fld id="{DD44E5C5-9508-7C47-A2BD-9789A2991986}" type="slidenum">
              <a:rPr lang="en-US" smtClean="0"/>
              <a:t>40</a:t>
            </a:fld>
            <a:endParaRPr lang="en-US"/>
          </a:p>
        </p:txBody>
      </p:sp>
    </p:spTree>
    <p:extLst>
      <p:ext uri="{BB962C8B-B14F-4D97-AF65-F5344CB8AC3E}">
        <p14:creationId xmlns:p14="http://schemas.microsoft.com/office/powerpoint/2010/main" val="1251524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Code</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86240" y="1544320"/>
            <a:ext cx="3870159" cy="4265931"/>
          </a:xfrm>
        </p:spPr>
      </p:pic>
      <p:sp>
        <p:nvSpPr>
          <p:cNvPr id="4" name="Footer Placeholder 3"/>
          <p:cNvSpPr>
            <a:spLocks noGrp="1"/>
          </p:cNvSpPr>
          <p:nvPr>
            <p:ph type="ftr" sz="quarter" idx="11"/>
          </p:nvPr>
        </p:nvSpPr>
        <p:spPr/>
        <p:txBody>
          <a:bodyPr/>
          <a:lstStyle/>
          <a:p>
            <a:r>
              <a:rPr lang="en-US"/>
              <a:t>http://www.tutorialspoint.com/mongodb/mongodb_java.htm</a:t>
            </a:r>
          </a:p>
        </p:txBody>
      </p:sp>
      <p:sp>
        <p:nvSpPr>
          <p:cNvPr id="5" name="Slide Number Placeholder 4"/>
          <p:cNvSpPr>
            <a:spLocks noGrp="1"/>
          </p:cNvSpPr>
          <p:nvPr>
            <p:ph type="sldNum" sz="quarter" idx="12"/>
          </p:nvPr>
        </p:nvSpPr>
        <p:spPr/>
        <p:txBody>
          <a:bodyPr/>
          <a:lstStyle/>
          <a:p>
            <a:fld id="{DD44E5C5-9508-7C47-A2BD-9789A2991986}" type="slidenum">
              <a:rPr lang="en-US" smtClean="0"/>
              <a:t>41</a:t>
            </a:fld>
            <a:endParaRPr lang="en-US"/>
          </a:p>
        </p:txBody>
      </p:sp>
      <p:sp>
        <p:nvSpPr>
          <p:cNvPr id="7" name="Right Bracket 6"/>
          <p:cNvSpPr/>
          <p:nvPr/>
        </p:nvSpPr>
        <p:spPr>
          <a:xfrm>
            <a:off x="4368800" y="1442720"/>
            <a:ext cx="238759" cy="75692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p:cNvCxnSpPr/>
          <p:nvPr/>
        </p:nvCxnSpPr>
        <p:spPr>
          <a:xfrm flipH="1">
            <a:off x="4607559" y="1818641"/>
            <a:ext cx="2280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888479" y="1557031"/>
            <a:ext cx="2072640" cy="523220"/>
          </a:xfrm>
          <a:prstGeom prst="rect">
            <a:avLst/>
          </a:prstGeom>
          <a:noFill/>
        </p:spPr>
        <p:txBody>
          <a:bodyPr wrap="square" rtlCol="0">
            <a:spAutoFit/>
          </a:bodyPr>
          <a:lstStyle/>
          <a:p>
            <a:r>
              <a:rPr lang="en-US" sz="1400"/>
              <a:t>Include these </a:t>
            </a:r>
            <a:r>
              <a:rPr lang="en-US" sz="1400" dirty="0"/>
              <a:t>import statements.</a:t>
            </a:r>
          </a:p>
        </p:txBody>
      </p:sp>
      <p:sp>
        <p:nvSpPr>
          <p:cNvPr id="12" name="Right Bracket 11"/>
          <p:cNvSpPr/>
          <p:nvPr/>
        </p:nvSpPr>
        <p:spPr>
          <a:xfrm>
            <a:off x="6004560" y="2950845"/>
            <a:ext cx="238759" cy="75692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p:cNvCxnSpPr/>
          <p:nvPr/>
        </p:nvCxnSpPr>
        <p:spPr>
          <a:xfrm flipH="1">
            <a:off x="6243319" y="3329305"/>
            <a:ext cx="8054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048768" y="3147731"/>
            <a:ext cx="2217152" cy="307777"/>
          </a:xfrm>
          <a:prstGeom prst="rect">
            <a:avLst/>
          </a:prstGeom>
          <a:noFill/>
        </p:spPr>
        <p:txBody>
          <a:bodyPr wrap="square" rtlCol="0">
            <a:spAutoFit/>
          </a:bodyPr>
          <a:lstStyle/>
          <a:p>
            <a:r>
              <a:rPr lang="en-US" sz="1400"/>
              <a:t>Database Connectivity</a:t>
            </a:r>
            <a:endParaRPr lang="en-US" sz="1400" dirty="0"/>
          </a:p>
        </p:txBody>
      </p:sp>
      <p:sp>
        <p:nvSpPr>
          <p:cNvPr id="16" name="Right Bracket 15"/>
          <p:cNvSpPr/>
          <p:nvPr/>
        </p:nvSpPr>
        <p:spPr>
          <a:xfrm>
            <a:off x="6004560" y="3789045"/>
            <a:ext cx="238759" cy="902137"/>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p:cNvCxnSpPr/>
          <p:nvPr/>
        </p:nvCxnSpPr>
        <p:spPr>
          <a:xfrm flipH="1">
            <a:off x="6243319" y="4335145"/>
            <a:ext cx="8054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048768" y="4181256"/>
            <a:ext cx="2217152" cy="307777"/>
          </a:xfrm>
          <a:prstGeom prst="rect">
            <a:avLst/>
          </a:prstGeom>
          <a:noFill/>
        </p:spPr>
        <p:txBody>
          <a:bodyPr wrap="square" rtlCol="0">
            <a:spAutoFit/>
          </a:bodyPr>
          <a:lstStyle/>
          <a:p>
            <a:r>
              <a:rPr lang="en-US" sz="1400" dirty="0"/>
              <a:t>Insertion</a:t>
            </a:r>
          </a:p>
        </p:txBody>
      </p:sp>
    </p:spTree>
    <p:extLst>
      <p:ext uri="{BB962C8B-B14F-4D97-AF65-F5344CB8AC3E}">
        <p14:creationId xmlns:p14="http://schemas.microsoft.com/office/powerpoint/2010/main" val="1563714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9213" y="3139596"/>
            <a:ext cx="8915400" cy="1766258"/>
          </a:xfrm>
        </p:spPr>
      </p:pic>
      <p:sp>
        <p:nvSpPr>
          <p:cNvPr id="5" name="Slide Number Placeholder 4"/>
          <p:cNvSpPr>
            <a:spLocks noGrp="1"/>
          </p:cNvSpPr>
          <p:nvPr>
            <p:ph type="sldNum" sz="quarter" idx="12"/>
          </p:nvPr>
        </p:nvSpPr>
        <p:spPr/>
        <p:txBody>
          <a:bodyPr/>
          <a:lstStyle/>
          <a:p>
            <a:fld id="{DD44E5C5-9508-7C47-A2BD-9789A2991986}" type="slidenum">
              <a:rPr lang="en-US" smtClean="0"/>
              <a:t>42</a:t>
            </a:fld>
            <a:endParaRPr lang="en-US"/>
          </a:p>
        </p:txBody>
      </p:sp>
    </p:spTree>
    <p:extLst>
      <p:ext uri="{BB962C8B-B14F-4D97-AF65-F5344CB8AC3E}">
        <p14:creationId xmlns:p14="http://schemas.microsoft.com/office/powerpoint/2010/main" val="2001439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NoSQL, its characteristics and its types.</a:t>
            </a:r>
          </a:p>
          <a:p>
            <a:r>
              <a:rPr lang="en-US" dirty="0" err="1"/>
              <a:t>MongoDB</a:t>
            </a:r>
            <a:r>
              <a:rPr lang="en-US" dirty="0"/>
              <a:t>, its characteristics and working example with </a:t>
            </a:r>
            <a:r>
              <a:rPr lang="en-US" dirty="0" err="1"/>
              <a:t>MongoDB</a:t>
            </a:r>
            <a:r>
              <a:rPr lang="en-US" dirty="0"/>
              <a:t> java.</a:t>
            </a:r>
          </a:p>
        </p:txBody>
      </p:sp>
      <p:sp>
        <p:nvSpPr>
          <p:cNvPr id="5" name="Slide Number Placeholder 4"/>
          <p:cNvSpPr>
            <a:spLocks noGrp="1"/>
          </p:cNvSpPr>
          <p:nvPr>
            <p:ph type="sldNum" sz="quarter" idx="12"/>
          </p:nvPr>
        </p:nvSpPr>
        <p:spPr/>
        <p:txBody>
          <a:bodyPr/>
          <a:lstStyle/>
          <a:p>
            <a:fld id="{DD44E5C5-9508-7C47-A2BD-9789A2991986}" type="slidenum">
              <a:rPr lang="en-US" smtClean="0"/>
              <a:t>43</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7520" y="3169920"/>
            <a:ext cx="3556000" cy="22860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6700" y="3474720"/>
            <a:ext cx="1369060" cy="1509804"/>
          </a:xfrm>
          <a:prstGeom prst="rect">
            <a:avLst/>
          </a:prstGeom>
        </p:spPr>
      </p:pic>
    </p:spTree>
    <p:extLst>
      <p:ext uri="{BB962C8B-B14F-4D97-AF65-F5344CB8AC3E}">
        <p14:creationId xmlns:p14="http://schemas.microsoft.com/office/powerpoint/2010/main" val="125505923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7031</TotalTime>
  <Words>4640</Words>
  <Application>Microsoft Office PowerPoint</Application>
  <PresentationFormat>Widescreen</PresentationFormat>
  <Paragraphs>517</Paragraphs>
  <Slides>43</Slides>
  <Notes>37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Century Gothic</vt:lpstr>
      <vt:lpstr>Wingdings</vt:lpstr>
      <vt:lpstr>Wingdings 3</vt:lpstr>
      <vt:lpstr>Wisp</vt:lpstr>
      <vt:lpstr>        NoSQL Basics and MongoDB</vt:lpstr>
      <vt:lpstr>Contents</vt:lpstr>
      <vt:lpstr>What is NoSQL?</vt:lpstr>
      <vt:lpstr>Why NoSQL ? </vt:lpstr>
      <vt:lpstr>Brief History of NoSQL</vt:lpstr>
      <vt:lpstr>Distributed Systems</vt:lpstr>
      <vt:lpstr>RDBMS vs NoSQL</vt:lpstr>
      <vt:lpstr>ACID Paradigm (RDBMS)</vt:lpstr>
      <vt:lpstr>CAP Theorem (NoSQL)</vt:lpstr>
      <vt:lpstr>CAP Theorem</vt:lpstr>
      <vt:lpstr>BASE System (NoSQL)</vt:lpstr>
      <vt:lpstr>NoSQL Database Types</vt:lpstr>
      <vt:lpstr>1. Key-value stores </vt:lpstr>
      <vt:lpstr>2. Column-oriented databases</vt:lpstr>
      <vt:lpstr>Key in Column-oriented databases </vt:lpstr>
      <vt:lpstr>3. Graph databases </vt:lpstr>
      <vt:lpstr>Graph Creation in Graph databases  </vt:lpstr>
      <vt:lpstr>Terms Comparison between the classic relational model and the graph model </vt:lpstr>
      <vt:lpstr>4. Document Oriented Databases</vt:lpstr>
      <vt:lpstr>Object Relational Mapping or not</vt:lpstr>
      <vt:lpstr>NoSQL pros and cons</vt:lpstr>
      <vt:lpstr>What is MongoDB? </vt:lpstr>
      <vt:lpstr>Other Features of MongoDB</vt:lpstr>
      <vt:lpstr>MongoDB Nexus Architecture </vt:lpstr>
      <vt:lpstr>MongoDB Nexus Architecture </vt:lpstr>
      <vt:lpstr>MongoDB Data Model </vt:lpstr>
      <vt:lpstr>An Example Data Model for a Blogging Application</vt:lpstr>
      <vt:lpstr>MongoDB Query Model</vt:lpstr>
      <vt:lpstr>Idiomatic Drivers </vt:lpstr>
      <vt:lpstr>Query Types </vt:lpstr>
      <vt:lpstr>Query Types </vt:lpstr>
      <vt:lpstr>Query Types </vt:lpstr>
      <vt:lpstr>Indexing</vt:lpstr>
      <vt:lpstr>MongoDB Data Management </vt:lpstr>
      <vt:lpstr>Auto-sharding for Linear Scalability </vt:lpstr>
      <vt:lpstr>Auto-sharding for Linear Scalability </vt:lpstr>
      <vt:lpstr>Pluggable storage architecture for application flexibility</vt:lpstr>
      <vt:lpstr>Storage efficiency witih compression </vt:lpstr>
      <vt:lpstr>MongoDB Consistency &amp; Availability  </vt:lpstr>
      <vt:lpstr>Working Example: Using MongDB Java Driver on Mac OS X</vt:lpstr>
      <vt:lpstr>Java Code</vt:lpstr>
      <vt:lpstr>Output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dc:title>
  <dc:creator>shamima yeasmin</dc:creator>
  <cp:lastModifiedBy>Manish Kumar Giri</cp:lastModifiedBy>
  <cp:revision>171</cp:revision>
  <dcterms:created xsi:type="dcterms:W3CDTF">2015-11-27T02:22:18Z</dcterms:created>
  <dcterms:modified xsi:type="dcterms:W3CDTF">2025-12-02T10:54:19Z</dcterms:modified>
</cp:coreProperties>
</file>